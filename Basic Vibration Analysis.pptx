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4" r:id="rId1"/>
  </p:sldMasterIdLst>
  <p:notesMasterIdLst>
    <p:notesMasterId r:id="rId109"/>
  </p:notesMasterIdLst>
  <p:handoutMasterIdLst>
    <p:handoutMasterId r:id="rId110"/>
  </p:handoutMasterIdLst>
  <p:sldIdLst>
    <p:sldId id="571" r:id="rId2"/>
    <p:sldId id="577" r:id="rId3"/>
    <p:sldId id="578" r:id="rId4"/>
    <p:sldId id="579" r:id="rId5"/>
    <p:sldId id="580" r:id="rId6"/>
    <p:sldId id="475" r:id="rId7"/>
    <p:sldId id="476" r:id="rId8"/>
    <p:sldId id="477" r:id="rId9"/>
    <p:sldId id="478" r:id="rId10"/>
    <p:sldId id="479" r:id="rId11"/>
    <p:sldId id="480" r:id="rId12"/>
    <p:sldId id="481" r:id="rId13"/>
    <p:sldId id="482" r:id="rId14"/>
    <p:sldId id="483" r:id="rId15"/>
    <p:sldId id="581" r:id="rId16"/>
    <p:sldId id="484" r:id="rId17"/>
    <p:sldId id="485" r:id="rId18"/>
    <p:sldId id="486" r:id="rId19"/>
    <p:sldId id="487" r:id="rId20"/>
    <p:sldId id="488" r:id="rId21"/>
    <p:sldId id="489" r:id="rId22"/>
    <p:sldId id="490" r:id="rId23"/>
    <p:sldId id="491" r:id="rId24"/>
    <p:sldId id="492" r:id="rId25"/>
    <p:sldId id="493" r:id="rId26"/>
    <p:sldId id="494" r:id="rId27"/>
    <p:sldId id="495" r:id="rId28"/>
    <p:sldId id="496" r:id="rId29"/>
    <p:sldId id="497" r:id="rId30"/>
    <p:sldId id="498" r:id="rId31"/>
    <p:sldId id="499" r:id="rId32"/>
    <p:sldId id="500" r:id="rId33"/>
    <p:sldId id="567" r:id="rId34"/>
    <p:sldId id="501" r:id="rId35"/>
    <p:sldId id="502" r:id="rId36"/>
    <p:sldId id="503" r:id="rId37"/>
    <p:sldId id="504" r:id="rId38"/>
    <p:sldId id="505" r:id="rId39"/>
    <p:sldId id="506" r:id="rId40"/>
    <p:sldId id="507" r:id="rId41"/>
    <p:sldId id="508" r:id="rId42"/>
    <p:sldId id="509" r:id="rId43"/>
    <p:sldId id="584" r:id="rId44"/>
    <p:sldId id="510" r:id="rId45"/>
    <p:sldId id="511" r:id="rId46"/>
    <p:sldId id="512" r:id="rId47"/>
    <p:sldId id="513" r:id="rId48"/>
    <p:sldId id="514" r:id="rId49"/>
    <p:sldId id="515" r:id="rId50"/>
    <p:sldId id="516" r:id="rId51"/>
    <p:sldId id="517" r:id="rId52"/>
    <p:sldId id="583" r:id="rId53"/>
    <p:sldId id="518" r:id="rId54"/>
    <p:sldId id="519" r:id="rId55"/>
    <p:sldId id="520" r:id="rId56"/>
    <p:sldId id="521" r:id="rId57"/>
    <p:sldId id="522" r:id="rId58"/>
    <p:sldId id="523" r:id="rId59"/>
    <p:sldId id="524" r:id="rId60"/>
    <p:sldId id="525" r:id="rId61"/>
    <p:sldId id="526" r:id="rId62"/>
    <p:sldId id="527" r:id="rId63"/>
    <p:sldId id="528" r:id="rId64"/>
    <p:sldId id="529" r:id="rId65"/>
    <p:sldId id="586" r:id="rId66"/>
    <p:sldId id="587" r:id="rId67"/>
    <p:sldId id="588" r:id="rId68"/>
    <p:sldId id="530" r:id="rId69"/>
    <p:sldId id="531" r:id="rId70"/>
    <p:sldId id="532" r:id="rId71"/>
    <p:sldId id="533" r:id="rId72"/>
    <p:sldId id="534" r:id="rId73"/>
    <p:sldId id="535" r:id="rId74"/>
    <p:sldId id="536" r:id="rId75"/>
    <p:sldId id="537" r:id="rId76"/>
    <p:sldId id="568" r:id="rId77"/>
    <p:sldId id="538" r:id="rId78"/>
    <p:sldId id="539" r:id="rId79"/>
    <p:sldId id="540" r:id="rId80"/>
    <p:sldId id="541" r:id="rId81"/>
    <p:sldId id="542" r:id="rId82"/>
    <p:sldId id="543" r:id="rId83"/>
    <p:sldId id="544" r:id="rId84"/>
    <p:sldId id="545" r:id="rId85"/>
    <p:sldId id="546" r:id="rId86"/>
    <p:sldId id="547" r:id="rId87"/>
    <p:sldId id="548" r:id="rId88"/>
    <p:sldId id="549" r:id="rId89"/>
    <p:sldId id="550" r:id="rId90"/>
    <p:sldId id="551" r:id="rId91"/>
    <p:sldId id="552" r:id="rId92"/>
    <p:sldId id="553" r:id="rId93"/>
    <p:sldId id="554" r:id="rId94"/>
    <p:sldId id="555" r:id="rId95"/>
    <p:sldId id="556" r:id="rId96"/>
    <p:sldId id="557" r:id="rId97"/>
    <p:sldId id="558" r:id="rId98"/>
    <p:sldId id="559" r:id="rId99"/>
    <p:sldId id="560" r:id="rId100"/>
    <p:sldId id="561" r:id="rId101"/>
    <p:sldId id="562" r:id="rId102"/>
    <p:sldId id="563" r:id="rId103"/>
    <p:sldId id="564" r:id="rId104"/>
    <p:sldId id="565" r:id="rId105"/>
    <p:sldId id="566" r:id="rId106"/>
    <p:sldId id="585" r:id="rId107"/>
    <p:sldId id="572" r:id="rId108"/>
  </p:sldIdLst>
  <p:sldSz cx="9144000" cy="6858000" type="screen4x3"/>
  <p:notesSz cx="6858000" cy="8912225"/>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07">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8FB2"/>
    <a:srgbClr val="406CBC"/>
    <a:srgbClr val="2B5899"/>
    <a:srgbClr val="1E4BA6"/>
    <a:srgbClr val="780025"/>
    <a:srgbClr val="60001E"/>
    <a:srgbClr val="66CCFF"/>
    <a:srgbClr val="D52D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34612" autoAdjust="0"/>
    <p:restoredTop sz="90929"/>
  </p:normalViewPr>
  <p:slideViewPr>
    <p:cSldViewPr>
      <p:cViewPr varScale="1">
        <p:scale>
          <a:sx n="66" d="100"/>
          <a:sy n="66" d="100"/>
        </p:scale>
        <p:origin x="1596" y="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5512"/>
    </p:cViewPr>
  </p:sorterViewPr>
  <p:notesViewPr>
    <p:cSldViewPr>
      <p:cViewPr varScale="1">
        <p:scale>
          <a:sx n="84" d="100"/>
          <a:sy n="84" d="100"/>
        </p:scale>
        <p:origin x="-1884" y="-72"/>
      </p:cViewPr>
      <p:guideLst>
        <p:guide orient="horz" pos="2807"/>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1.wmf"/><Relationship Id="rId7" Type="http://schemas.openxmlformats.org/officeDocument/2006/relationships/image" Target="../media/image25.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7.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1.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8.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9.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0.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1.png"/></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4.png"/></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5.png"/></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6.png"/></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7.png"/></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image" Target="../media/image48.png"/></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57.png"/></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58.png"/></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59.png"/></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60.png"/></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61.png"/></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62.png"/></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image" Target="../media/image6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1618" name="Rectangle 2"/>
          <p:cNvSpPr>
            <a:spLocks noGrp="1" noChangeArrowheads="1"/>
          </p:cNvSpPr>
          <p:nvPr>
            <p:ph type="hdr" sz="quarter"/>
          </p:nvPr>
        </p:nvSpPr>
        <p:spPr bwMode="auto">
          <a:xfrm>
            <a:off x="0" y="0"/>
            <a:ext cx="2970213" cy="444500"/>
          </a:xfrm>
          <a:prstGeom prst="rect">
            <a:avLst/>
          </a:prstGeom>
          <a:noFill/>
          <a:ln w="9525">
            <a:noFill/>
            <a:miter lim="800000"/>
            <a:headEnd/>
            <a:tailEnd/>
          </a:ln>
          <a:effectLst/>
        </p:spPr>
        <p:txBody>
          <a:bodyPr vert="horz" wrap="square" lIns="92141" tIns="46070" rIns="92141" bIns="46070" numCol="1" anchor="t" anchorCtr="0" compatLnSpc="1">
            <a:prstTxWarp prst="textNoShape">
              <a:avLst/>
            </a:prstTxWarp>
          </a:bodyPr>
          <a:lstStyle>
            <a:lvl1pPr defTabSz="920750">
              <a:defRPr sz="1200"/>
            </a:lvl1pPr>
          </a:lstStyle>
          <a:p>
            <a:r>
              <a:rPr lang="en-US" altLang="en-US"/>
              <a:t>SKF492E</a:t>
            </a:r>
          </a:p>
        </p:txBody>
      </p:sp>
      <p:sp>
        <p:nvSpPr>
          <p:cNvPr id="111619" name="Rectangle 3"/>
          <p:cNvSpPr>
            <a:spLocks noGrp="1" noChangeArrowheads="1"/>
          </p:cNvSpPr>
          <p:nvPr>
            <p:ph type="dt" sz="quarter" idx="1"/>
          </p:nvPr>
        </p:nvSpPr>
        <p:spPr bwMode="auto">
          <a:xfrm>
            <a:off x="3887788" y="0"/>
            <a:ext cx="2970212" cy="444500"/>
          </a:xfrm>
          <a:prstGeom prst="rect">
            <a:avLst/>
          </a:prstGeom>
          <a:noFill/>
          <a:ln w="9525">
            <a:noFill/>
            <a:miter lim="800000"/>
            <a:headEnd/>
            <a:tailEnd/>
          </a:ln>
          <a:effectLst/>
        </p:spPr>
        <p:txBody>
          <a:bodyPr vert="horz" wrap="square" lIns="92141" tIns="46070" rIns="92141" bIns="46070" numCol="1" anchor="t" anchorCtr="0" compatLnSpc="1">
            <a:prstTxWarp prst="textNoShape">
              <a:avLst/>
            </a:prstTxWarp>
          </a:bodyPr>
          <a:lstStyle>
            <a:lvl1pPr algn="r" defTabSz="920750">
              <a:defRPr sz="1200"/>
            </a:lvl1pPr>
          </a:lstStyle>
          <a:p>
            <a:fld id="{28FE1E19-B135-4BE3-B5A0-5942D03F2A89}" type="datetime1">
              <a:rPr lang="en-US" altLang="en-US"/>
              <a:pPr/>
              <a:t>4/1/2026</a:t>
            </a:fld>
            <a:endParaRPr lang="en-US" altLang="en-US"/>
          </a:p>
        </p:txBody>
      </p:sp>
      <p:sp>
        <p:nvSpPr>
          <p:cNvPr id="111620" name="Rectangle 4"/>
          <p:cNvSpPr>
            <a:spLocks noGrp="1" noChangeArrowheads="1"/>
          </p:cNvSpPr>
          <p:nvPr>
            <p:ph type="ftr" sz="quarter" idx="2"/>
          </p:nvPr>
        </p:nvSpPr>
        <p:spPr bwMode="auto">
          <a:xfrm>
            <a:off x="0" y="8467725"/>
            <a:ext cx="2970213" cy="444500"/>
          </a:xfrm>
          <a:prstGeom prst="rect">
            <a:avLst/>
          </a:prstGeom>
          <a:noFill/>
          <a:ln w="9525">
            <a:noFill/>
            <a:miter lim="800000"/>
            <a:headEnd/>
            <a:tailEnd/>
          </a:ln>
          <a:effectLst/>
        </p:spPr>
        <p:txBody>
          <a:bodyPr vert="horz" wrap="square" lIns="92141" tIns="46070" rIns="92141" bIns="46070" numCol="1" anchor="b" anchorCtr="0" compatLnSpc="1">
            <a:prstTxWarp prst="textNoShape">
              <a:avLst/>
            </a:prstTxWarp>
          </a:bodyPr>
          <a:lstStyle>
            <a:lvl1pPr defTabSz="920750">
              <a:defRPr sz="1200"/>
            </a:lvl1pPr>
          </a:lstStyle>
          <a:p>
            <a:endParaRPr lang="en-US" altLang="en-US"/>
          </a:p>
        </p:txBody>
      </p:sp>
      <p:sp>
        <p:nvSpPr>
          <p:cNvPr id="111621" name="Rectangle 5"/>
          <p:cNvSpPr>
            <a:spLocks noGrp="1" noChangeArrowheads="1"/>
          </p:cNvSpPr>
          <p:nvPr>
            <p:ph type="sldNum" sz="quarter" idx="3"/>
          </p:nvPr>
        </p:nvSpPr>
        <p:spPr bwMode="auto">
          <a:xfrm>
            <a:off x="3887788" y="8467725"/>
            <a:ext cx="2970212" cy="444500"/>
          </a:xfrm>
          <a:prstGeom prst="rect">
            <a:avLst/>
          </a:prstGeom>
          <a:noFill/>
          <a:ln w="9525">
            <a:noFill/>
            <a:miter lim="800000"/>
            <a:headEnd/>
            <a:tailEnd/>
          </a:ln>
          <a:effectLst/>
        </p:spPr>
        <p:txBody>
          <a:bodyPr vert="horz" wrap="square" lIns="92141" tIns="46070" rIns="92141" bIns="46070" numCol="1" anchor="b" anchorCtr="0" compatLnSpc="1">
            <a:prstTxWarp prst="textNoShape">
              <a:avLst/>
            </a:prstTxWarp>
          </a:bodyPr>
          <a:lstStyle>
            <a:lvl1pPr algn="r" defTabSz="920750">
              <a:defRPr sz="1200"/>
            </a:lvl1pPr>
          </a:lstStyle>
          <a:p>
            <a:fld id="{9F429AD5-3EB4-4AC2-A8D7-F3CC20B6D878}"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0338" name="Rectangle 2"/>
          <p:cNvSpPr>
            <a:spLocks noGrp="1" noChangeArrowheads="1"/>
          </p:cNvSpPr>
          <p:nvPr>
            <p:ph type="hdr" sz="quarter"/>
          </p:nvPr>
        </p:nvSpPr>
        <p:spPr bwMode="auto">
          <a:xfrm>
            <a:off x="0" y="0"/>
            <a:ext cx="2944813" cy="465138"/>
          </a:xfrm>
          <a:prstGeom prst="rect">
            <a:avLst/>
          </a:prstGeom>
          <a:noFill/>
          <a:ln w="9525">
            <a:noFill/>
            <a:miter lim="800000"/>
            <a:headEnd/>
            <a:tailEnd/>
          </a:ln>
          <a:effectLst/>
        </p:spPr>
        <p:txBody>
          <a:bodyPr vert="horz" wrap="square" lIns="85070" tIns="42535" rIns="85070" bIns="42535" numCol="1" anchor="t" anchorCtr="0" compatLnSpc="1">
            <a:prstTxWarp prst="textNoShape">
              <a:avLst/>
            </a:prstTxWarp>
          </a:bodyPr>
          <a:lstStyle>
            <a:lvl1pPr defTabSz="850900">
              <a:defRPr sz="1200"/>
            </a:lvl1pPr>
          </a:lstStyle>
          <a:p>
            <a:r>
              <a:rPr lang="en-GB"/>
              <a:t>SKF492E</a:t>
            </a:r>
          </a:p>
        </p:txBody>
      </p:sp>
      <p:sp>
        <p:nvSpPr>
          <p:cNvPr id="270339" name="Rectangle 3"/>
          <p:cNvSpPr>
            <a:spLocks noGrp="1" noChangeArrowheads="1"/>
          </p:cNvSpPr>
          <p:nvPr>
            <p:ph type="dt" idx="1"/>
          </p:nvPr>
        </p:nvSpPr>
        <p:spPr bwMode="auto">
          <a:xfrm>
            <a:off x="3902075" y="0"/>
            <a:ext cx="2943225" cy="465138"/>
          </a:xfrm>
          <a:prstGeom prst="rect">
            <a:avLst/>
          </a:prstGeom>
          <a:noFill/>
          <a:ln w="9525">
            <a:noFill/>
            <a:miter lim="800000"/>
            <a:headEnd/>
            <a:tailEnd/>
          </a:ln>
          <a:effectLst/>
        </p:spPr>
        <p:txBody>
          <a:bodyPr vert="horz" wrap="square" lIns="85070" tIns="42535" rIns="85070" bIns="42535" numCol="1" anchor="t" anchorCtr="0" compatLnSpc="1">
            <a:prstTxWarp prst="textNoShape">
              <a:avLst/>
            </a:prstTxWarp>
          </a:bodyPr>
          <a:lstStyle>
            <a:lvl1pPr algn="r" defTabSz="850900">
              <a:defRPr sz="1200"/>
            </a:lvl1pPr>
          </a:lstStyle>
          <a:p>
            <a:fld id="{60300EDD-04FF-49D4-B030-B4E6E78DFFF8}" type="datetime1">
              <a:rPr lang="en-GB"/>
              <a:pPr/>
              <a:t>01/04/2026</a:t>
            </a:fld>
            <a:endParaRPr lang="en-GB"/>
          </a:p>
        </p:txBody>
      </p:sp>
      <p:sp>
        <p:nvSpPr>
          <p:cNvPr id="270340" name="Rectangle 4"/>
          <p:cNvSpPr>
            <a:spLocks noGrp="1" noRot="1" noChangeAspect="1" noChangeArrowheads="1" noTextEdit="1"/>
          </p:cNvSpPr>
          <p:nvPr>
            <p:ph type="sldImg" idx="2"/>
          </p:nvPr>
        </p:nvSpPr>
        <p:spPr bwMode="auto">
          <a:xfrm>
            <a:off x="1249363" y="665163"/>
            <a:ext cx="4421187" cy="3316287"/>
          </a:xfrm>
          <a:prstGeom prst="rect">
            <a:avLst/>
          </a:prstGeom>
          <a:noFill/>
          <a:ln w="9525">
            <a:solidFill>
              <a:srgbClr val="000000"/>
            </a:solidFill>
            <a:miter lim="800000"/>
            <a:headEnd/>
            <a:tailEnd/>
          </a:ln>
          <a:effectLst/>
        </p:spPr>
      </p:sp>
      <p:sp>
        <p:nvSpPr>
          <p:cNvPr id="270341" name="Rectangle 5"/>
          <p:cNvSpPr>
            <a:spLocks noGrp="1" noChangeArrowheads="1"/>
          </p:cNvSpPr>
          <p:nvPr>
            <p:ph type="body" sz="quarter" idx="3"/>
          </p:nvPr>
        </p:nvSpPr>
        <p:spPr bwMode="auto">
          <a:xfrm>
            <a:off x="882650" y="4246563"/>
            <a:ext cx="5078413" cy="3981450"/>
          </a:xfrm>
          <a:prstGeom prst="rect">
            <a:avLst/>
          </a:prstGeom>
          <a:noFill/>
          <a:ln w="9525">
            <a:noFill/>
            <a:miter lim="800000"/>
            <a:headEnd/>
            <a:tailEnd/>
          </a:ln>
          <a:effectLst/>
        </p:spPr>
        <p:txBody>
          <a:bodyPr vert="horz" wrap="square" lIns="85070" tIns="42535" rIns="85070" bIns="42535"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70342" name="Rectangle 6"/>
          <p:cNvSpPr>
            <a:spLocks noGrp="1" noChangeArrowheads="1"/>
          </p:cNvSpPr>
          <p:nvPr>
            <p:ph type="ftr" sz="quarter" idx="4"/>
          </p:nvPr>
        </p:nvSpPr>
        <p:spPr bwMode="auto">
          <a:xfrm>
            <a:off x="0" y="8493125"/>
            <a:ext cx="2944813" cy="398463"/>
          </a:xfrm>
          <a:prstGeom prst="rect">
            <a:avLst/>
          </a:prstGeom>
          <a:noFill/>
          <a:ln w="9525">
            <a:noFill/>
            <a:miter lim="800000"/>
            <a:headEnd/>
            <a:tailEnd/>
          </a:ln>
          <a:effectLst/>
        </p:spPr>
        <p:txBody>
          <a:bodyPr vert="horz" wrap="square" lIns="85070" tIns="42535" rIns="85070" bIns="42535" numCol="1" anchor="b" anchorCtr="0" compatLnSpc="1">
            <a:prstTxWarp prst="textNoShape">
              <a:avLst/>
            </a:prstTxWarp>
          </a:bodyPr>
          <a:lstStyle>
            <a:lvl1pPr defTabSz="850900">
              <a:defRPr sz="1200"/>
            </a:lvl1pPr>
          </a:lstStyle>
          <a:p>
            <a:endParaRPr lang="en-GB"/>
          </a:p>
        </p:txBody>
      </p:sp>
      <p:sp>
        <p:nvSpPr>
          <p:cNvPr id="270343" name="Rectangle 7"/>
          <p:cNvSpPr>
            <a:spLocks noGrp="1" noChangeArrowheads="1"/>
          </p:cNvSpPr>
          <p:nvPr>
            <p:ph type="sldNum" sz="quarter" idx="5"/>
          </p:nvPr>
        </p:nvSpPr>
        <p:spPr bwMode="auto">
          <a:xfrm>
            <a:off x="3902075" y="8493125"/>
            <a:ext cx="2943225" cy="398463"/>
          </a:xfrm>
          <a:prstGeom prst="rect">
            <a:avLst/>
          </a:prstGeom>
          <a:noFill/>
          <a:ln w="9525">
            <a:noFill/>
            <a:miter lim="800000"/>
            <a:headEnd/>
            <a:tailEnd/>
          </a:ln>
          <a:effectLst/>
        </p:spPr>
        <p:txBody>
          <a:bodyPr vert="horz" wrap="square" lIns="85070" tIns="42535" rIns="85070" bIns="42535" numCol="1" anchor="b" anchorCtr="0" compatLnSpc="1">
            <a:prstTxWarp prst="textNoShape">
              <a:avLst/>
            </a:prstTxWarp>
          </a:bodyPr>
          <a:lstStyle>
            <a:lvl1pPr algn="r" defTabSz="850900">
              <a:defRPr sz="1200"/>
            </a:lvl1pPr>
          </a:lstStyle>
          <a:p>
            <a:fld id="{F13D99EC-D95F-4565-9A94-E4B697A15A9F}" type="slidenum">
              <a:rPr lang="en-GB"/>
              <a:pPr/>
              <a:t>‹#›</a:t>
            </a:fld>
            <a:endParaRPr lang="en-GB"/>
          </a:p>
        </p:txBody>
      </p:sp>
    </p:spTree>
  </p:cSld>
  <p:clrMap bg1="lt1" tx1="dk1" bg2="lt2" tx2="dk2" accent1="accent1" accent2="accent2" accent3="accent3" accent4="accent4" accent5="accent5" accent6="accent6" hlink="hlink" folHlink="folHlink"/>
  <p:hf ft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68DE7161-6AF6-4A01-9E1B-385B45C8BC9B}"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63ADA440-DFE8-4534-B480-81B1FD68CF4D}" type="slidenum">
              <a:rPr lang="en-GB"/>
              <a:pPr/>
              <a:t>1</a:t>
            </a:fld>
            <a:endParaRPr lang="en-GB"/>
          </a:p>
        </p:txBody>
      </p:sp>
      <p:sp>
        <p:nvSpPr>
          <p:cNvPr id="1015810" name="Rectangle 2"/>
          <p:cNvSpPr>
            <a:spLocks noGrp="1" noRot="1" noChangeAspect="1" noChangeArrowheads="1" noTextEdit="1"/>
          </p:cNvSpPr>
          <p:nvPr>
            <p:ph type="sldImg"/>
          </p:nvPr>
        </p:nvSpPr>
        <p:spPr bwMode="auto">
          <a:xfrm>
            <a:off x="1249363" y="665163"/>
            <a:ext cx="4421187" cy="3316287"/>
          </a:xfrm>
          <a:prstGeom prst="rect">
            <a:avLst/>
          </a:prstGeom>
          <a:solidFill>
            <a:srgbClr val="FFFFFF"/>
          </a:solidFill>
          <a:ln>
            <a:solidFill>
              <a:srgbClr val="000000"/>
            </a:solidFill>
            <a:miter lim="800000"/>
            <a:headEnd/>
            <a:tailEnd/>
          </a:ln>
        </p:spPr>
      </p:sp>
      <p:sp>
        <p:nvSpPr>
          <p:cNvPr id="1015811" name="Rectangle 3"/>
          <p:cNvSpPr>
            <a:spLocks noGrp="1" noChangeArrowheads="1"/>
          </p:cNvSpPr>
          <p:nvPr>
            <p:ph type="body" idx="1"/>
          </p:nvPr>
        </p:nvSpPr>
        <p:spPr bwMode="auto">
          <a:xfrm>
            <a:off x="882650" y="4246563"/>
            <a:ext cx="5078413" cy="398145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B07D6132-2D74-4956-B7F5-E735D70F39C2}"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788331A0-6674-4247-9614-8A1FC06A051A}" type="slidenum">
              <a:rPr lang="en-GB"/>
              <a:pPr/>
              <a:t>6</a:t>
            </a:fld>
            <a:endParaRPr lang="en-GB"/>
          </a:p>
        </p:txBody>
      </p:sp>
      <p:sp>
        <p:nvSpPr>
          <p:cNvPr id="1027074" name="Rectangle 2"/>
          <p:cNvSpPr>
            <a:spLocks noGrp="1" noRot="1" noChangeAspect="1" noChangeArrowheads="1" noTextEdit="1"/>
          </p:cNvSpPr>
          <p:nvPr>
            <p:ph type="sldImg"/>
          </p:nvPr>
        </p:nvSpPr>
        <p:spPr>
          <a:ln/>
        </p:spPr>
      </p:sp>
      <p:sp>
        <p:nvSpPr>
          <p:cNvPr id="10270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hdr" sz="quarter"/>
          </p:nvPr>
        </p:nvSpPr>
        <p:spPr>
          <a:ln/>
        </p:spPr>
        <p:txBody>
          <a:bodyPr/>
          <a:lstStyle/>
          <a:p>
            <a:r>
              <a:rPr lang="en-GB"/>
              <a:t>SKF492E</a:t>
            </a:r>
          </a:p>
        </p:txBody>
      </p:sp>
      <p:sp>
        <p:nvSpPr>
          <p:cNvPr id="3" name="Rectangle 3"/>
          <p:cNvSpPr>
            <a:spLocks noGrp="1" noChangeArrowheads="1"/>
          </p:cNvSpPr>
          <p:nvPr>
            <p:ph type="dt" idx="1"/>
          </p:nvPr>
        </p:nvSpPr>
        <p:spPr>
          <a:ln/>
        </p:spPr>
        <p:txBody>
          <a:bodyPr/>
          <a:lstStyle/>
          <a:p>
            <a:fld id="{E3AF5FC1-1B37-4B2D-BDE2-760F11D1F332}" type="datetime1">
              <a:rPr lang="en-GB"/>
              <a:pPr/>
              <a:t>01/04/2026</a:t>
            </a:fld>
            <a:endParaRPr lang="en-GB"/>
          </a:p>
        </p:txBody>
      </p:sp>
      <p:sp>
        <p:nvSpPr>
          <p:cNvPr id="5" name="Rectangle 7"/>
          <p:cNvSpPr>
            <a:spLocks noGrp="1" noChangeArrowheads="1"/>
          </p:cNvSpPr>
          <p:nvPr>
            <p:ph type="sldNum" sz="quarter" idx="5"/>
          </p:nvPr>
        </p:nvSpPr>
        <p:spPr>
          <a:ln/>
        </p:spPr>
        <p:txBody>
          <a:bodyPr/>
          <a:lstStyle/>
          <a:p>
            <a:fld id="{2C520132-D860-49BB-91DD-289DD55D866A}" type="slidenum">
              <a:rPr lang="en-GB"/>
              <a:pPr/>
              <a:t>7</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180A5CB7-5B20-49AD-8E08-8002618B0FE0}"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FF1206BB-5EAA-4761-9E67-964E6FC7C453}" type="slidenum">
              <a:rPr lang="en-GB"/>
              <a:pPr/>
              <a:t>8</a:t>
            </a:fld>
            <a:endParaRPr lang="en-GB"/>
          </a:p>
        </p:txBody>
      </p:sp>
      <p:sp>
        <p:nvSpPr>
          <p:cNvPr id="1026050" name="Rectangle 2"/>
          <p:cNvSpPr>
            <a:spLocks noGrp="1" noRot="1" noChangeAspect="1" noChangeArrowheads="1" noTextEdit="1"/>
          </p:cNvSpPr>
          <p:nvPr>
            <p:ph type="sldImg"/>
          </p:nvPr>
        </p:nvSpPr>
        <p:spPr>
          <a:ln/>
        </p:spPr>
      </p:sp>
      <p:sp>
        <p:nvSpPr>
          <p:cNvPr id="10260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B44E1658-FA79-49EC-BC94-F753A4534565}"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C0B3DA1D-8C3D-475A-ABED-250B3452FF0A}" type="slidenum">
              <a:rPr lang="en-GB"/>
              <a:pPr/>
              <a:t>9</a:t>
            </a:fld>
            <a:endParaRPr lang="en-GB"/>
          </a:p>
        </p:txBody>
      </p:sp>
      <p:sp>
        <p:nvSpPr>
          <p:cNvPr id="1025026" name="Rectangle 2"/>
          <p:cNvSpPr>
            <a:spLocks noGrp="1" noRot="1" noChangeAspect="1" noChangeArrowheads="1" noTextEdit="1"/>
          </p:cNvSpPr>
          <p:nvPr>
            <p:ph type="sldImg"/>
          </p:nvPr>
        </p:nvSpPr>
        <p:spPr>
          <a:ln/>
        </p:spPr>
      </p:sp>
      <p:sp>
        <p:nvSpPr>
          <p:cNvPr id="10250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CF9966C1-9611-4D10-AB45-042B971F4238}"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9A48B05E-1822-469A-B9EC-8D3A2582EEE1}" type="slidenum">
              <a:rPr lang="en-GB"/>
              <a:pPr/>
              <a:t>10</a:t>
            </a:fld>
            <a:endParaRPr lang="en-GB"/>
          </a:p>
        </p:txBody>
      </p:sp>
      <p:sp>
        <p:nvSpPr>
          <p:cNvPr id="1024002" name="Rectangle 2"/>
          <p:cNvSpPr>
            <a:spLocks noGrp="1" noRot="1" noChangeAspect="1" noChangeArrowheads="1" noTextEdit="1"/>
          </p:cNvSpPr>
          <p:nvPr>
            <p:ph type="sldImg"/>
          </p:nvPr>
        </p:nvSpPr>
        <p:spPr>
          <a:ln/>
        </p:spPr>
      </p:sp>
      <p:sp>
        <p:nvSpPr>
          <p:cNvPr id="10240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31C6C9D6-8877-4618-8FB8-DBD4296EF62D}"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E191835D-BA36-4FF6-9C6E-592F11A2E28B}" type="slidenum">
              <a:rPr lang="en-GB"/>
              <a:pPr/>
              <a:t>11</a:t>
            </a:fld>
            <a:endParaRPr lang="en-GB"/>
          </a:p>
        </p:txBody>
      </p:sp>
      <p:sp>
        <p:nvSpPr>
          <p:cNvPr id="1022978" name="Rectangle 2"/>
          <p:cNvSpPr>
            <a:spLocks noGrp="1" noRot="1" noChangeAspect="1" noChangeArrowheads="1" noTextEdit="1"/>
          </p:cNvSpPr>
          <p:nvPr>
            <p:ph type="sldImg"/>
          </p:nvPr>
        </p:nvSpPr>
        <p:spPr>
          <a:ln/>
        </p:spPr>
      </p:sp>
      <p:sp>
        <p:nvSpPr>
          <p:cNvPr id="10229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46EFADCA-A34C-4E23-BE81-37E2460B06B0}"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567646D5-C42B-4C07-8B02-50386274C81B}" type="slidenum">
              <a:rPr lang="en-GB"/>
              <a:pPr/>
              <a:t>12</a:t>
            </a:fld>
            <a:endParaRPr lang="en-GB"/>
          </a:p>
        </p:txBody>
      </p:sp>
      <p:sp>
        <p:nvSpPr>
          <p:cNvPr id="1021954" name="Rectangle 2"/>
          <p:cNvSpPr>
            <a:spLocks noGrp="1" noRot="1" noChangeAspect="1" noChangeArrowheads="1" noTextEdit="1"/>
          </p:cNvSpPr>
          <p:nvPr>
            <p:ph type="sldImg"/>
          </p:nvPr>
        </p:nvSpPr>
        <p:spPr>
          <a:ln/>
        </p:spPr>
      </p:sp>
      <p:sp>
        <p:nvSpPr>
          <p:cNvPr id="10219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F94EE0FB-C8A6-4B76-964F-445A3697C9EF}"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F384830D-A505-4B12-B872-5B03B6FAF6FE}" type="slidenum">
              <a:rPr lang="en-GB"/>
              <a:pPr/>
              <a:t>13</a:t>
            </a:fld>
            <a:endParaRPr lang="en-GB"/>
          </a:p>
        </p:txBody>
      </p:sp>
      <p:sp>
        <p:nvSpPr>
          <p:cNvPr id="1020930" name="Rectangle 2"/>
          <p:cNvSpPr>
            <a:spLocks noGrp="1" noRot="1" noChangeAspect="1" noChangeArrowheads="1" noTextEdit="1"/>
          </p:cNvSpPr>
          <p:nvPr>
            <p:ph type="sldImg"/>
          </p:nvPr>
        </p:nvSpPr>
        <p:spPr>
          <a:ln/>
        </p:spPr>
      </p:sp>
      <p:sp>
        <p:nvSpPr>
          <p:cNvPr id="10209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6D96B5ED-84CD-46D1-AE33-74DB1C38D43A}"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0B76D3D8-B7D3-4C3A-833A-787074A11680}" type="slidenum">
              <a:rPr lang="en-GB"/>
              <a:pPr/>
              <a:t>14</a:t>
            </a:fld>
            <a:endParaRPr lang="en-GB"/>
          </a:p>
        </p:txBody>
      </p:sp>
      <p:sp>
        <p:nvSpPr>
          <p:cNvPr id="1019906" name="Rectangle 2"/>
          <p:cNvSpPr>
            <a:spLocks noGrp="1" noRot="1" noChangeAspect="1" noChangeArrowheads="1" noTextEdit="1"/>
          </p:cNvSpPr>
          <p:nvPr>
            <p:ph type="sldImg"/>
          </p:nvPr>
        </p:nvSpPr>
        <p:spPr>
          <a:ln/>
        </p:spPr>
      </p:sp>
      <p:sp>
        <p:nvSpPr>
          <p:cNvPr id="10199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8DCF1723-3DF9-4A21-B614-AF8CE212529E}"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F70FFA68-6C13-41D2-8D61-39B69A53E40F}" type="slidenum">
              <a:rPr lang="en-GB"/>
              <a:pPr/>
              <a:t>16</a:t>
            </a:fld>
            <a:endParaRPr lang="en-GB"/>
          </a:p>
        </p:txBody>
      </p:sp>
      <p:sp>
        <p:nvSpPr>
          <p:cNvPr id="1016834" name="Rectangle 2"/>
          <p:cNvSpPr>
            <a:spLocks noGrp="1" noRot="1" noChangeAspect="1" noChangeArrowheads="1" noTextEdit="1"/>
          </p:cNvSpPr>
          <p:nvPr>
            <p:ph type="sldImg"/>
          </p:nvPr>
        </p:nvSpPr>
        <p:spPr>
          <a:ln/>
        </p:spPr>
      </p:sp>
      <p:sp>
        <p:nvSpPr>
          <p:cNvPr id="10168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D0DFE320-AF75-45A9-BB7E-BFCD84B5A032}"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C64EE3FF-74D4-4CD8-88B3-9DC06EC6E6FC}" type="slidenum">
              <a:rPr lang="en-GB"/>
              <a:pPr/>
              <a:t>17</a:t>
            </a:fld>
            <a:endParaRPr lang="en-GB"/>
          </a:p>
        </p:txBody>
      </p:sp>
      <p:sp>
        <p:nvSpPr>
          <p:cNvPr id="1017858" name="Rectangle 2"/>
          <p:cNvSpPr>
            <a:spLocks noGrp="1" noRot="1" noChangeAspect="1" noChangeArrowheads="1" noTextEdit="1"/>
          </p:cNvSpPr>
          <p:nvPr>
            <p:ph type="sldImg"/>
          </p:nvPr>
        </p:nvSpPr>
        <p:spPr>
          <a:ln/>
        </p:spPr>
      </p:sp>
      <p:sp>
        <p:nvSpPr>
          <p:cNvPr id="10178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CA872780-5C0F-41D0-BF40-5B110AF9AABB}"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957E9499-1350-4243-BD52-271212FF63B1}" type="slidenum">
              <a:rPr lang="en-GB"/>
              <a:pPr/>
              <a:t>18</a:t>
            </a:fld>
            <a:endParaRPr lang="en-GB"/>
          </a:p>
        </p:txBody>
      </p:sp>
      <p:sp>
        <p:nvSpPr>
          <p:cNvPr id="1018882" name="Rectangle 2"/>
          <p:cNvSpPr>
            <a:spLocks noGrp="1" noRot="1" noChangeAspect="1" noChangeArrowheads="1" noTextEdit="1"/>
          </p:cNvSpPr>
          <p:nvPr>
            <p:ph type="sldImg"/>
          </p:nvPr>
        </p:nvSpPr>
        <p:spPr>
          <a:ln/>
        </p:spPr>
      </p:sp>
      <p:sp>
        <p:nvSpPr>
          <p:cNvPr id="10188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hdr" sz="quarter"/>
          </p:nvPr>
        </p:nvSpPr>
        <p:spPr>
          <a:ln/>
        </p:spPr>
        <p:txBody>
          <a:bodyPr/>
          <a:lstStyle/>
          <a:p>
            <a:r>
              <a:rPr lang="en-GB"/>
              <a:t>SKF492E</a:t>
            </a:r>
          </a:p>
        </p:txBody>
      </p:sp>
      <p:sp>
        <p:nvSpPr>
          <p:cNvPr id="3" name="Rectangle 3"/>
          <p:cNvSpPr>
            <a:spLocks noGrp="1" noChangeArrowheads="1"/>
          </p:cNvSpPr>
          <p:nvPr>
            <p:ph type="dt" idx="1"/>
          </p:nvPr>
        </p:nvSpPr>
        <p:spPr>
          <a:ln/>
        </p:spPr>
        <p:txBody>
          <a:bodyPr/>
          <a:lstStyle/>
          <a:p>
            <a:fld id="{F5675602-382D-47E9-8509-C5CEE3777C3D}" type="datetime1">
              <a:rPr lang="en-GB"/>
              <a:pPr/>
              <a:t>01/04/2026</a:t>
            </a:fld>
            <a:endParaRPr lang="en-GB"/>
          </a:p>
        </p:txBody>
      </p:sp>
      <p:sp>
        <p:nvSpPr>
          <p:cNvPr id="5" name="Rectangle 7"/>
          <p:cNvSpPr>
            <a:spLocks noGrp="1" noChangeArrowheads="1"/>
          </p:cNvSpPr>
          <p:nvPr>
            <p:ph type="sldNum" sz="quarter" idx="5"/>
          </p:nvPr>
        </p:nvSpPr>
        <p:spPr>
          <a:ln/>
        </p:spPr>
        <p:txBody>
          <a:bodyPr/>
          <a:lstStyle/>
          <a:p>
            <a:fld id="{200DB954-C2CE-4A68-BF94-1C9A97C1F78A}" type="slidenum">
              <a:rPr lang="en-GB"/>
              <a:pPr/>
              <a:t>26</a:t>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hdr" sz="quarter"/>
          </p:nvPr>
        </p:nvSpPr>
        <p:spPr>
          <a:ln/>
        </p:spPr>
        <p:txBody>
          <a:bodyPr/>
          <a:lstStyle/>
          <a:p>
            <a:r>
              <a:rPr lang="en-GB"/>
              <a:t>SKF492E</a:t>
            </a:r>
          </a:p>
        </p:txBody>
      </p:sp>
      <p:sp>
        <p:nvSpPr>
          <p:cNvPr id="3" name="Rectangle 3"/>
          <p:cNvSpPr>
            <a:spLocks noGrp="1" noChangeArrowheads="1"/>
          </p:cNvSpPr>
          <p:nvPr>
            <p:ph type="dt" idx="1"/>
          </p:nvPr>
        </p:nvSpPr>
        <p:spPr>
          <a:ln/>
        </p:spPr>
        <p:txBody>
          <a:bodyPr/>
          <a:lstStyle/>
          <a:p>
            <a:fld id="{EA431506-6886-4C47-98B5-A32A9D23746E}" type="datetime1">
              <a:rPr lang="en-GB"/>
              <a:pPr/>
              <a:t>01/04/2026</a:t>
            </a:fld>
            <a:endParaRPr lang="en-GB"/>
          </a:p>
        </p:txBody>
      </p:sp>
      <p:sp>
        <p:nvSpPr>
          <p:cNvPr id="5" name="Rectangle 7"/>
          <p:cNvSpPr>
            <a:spLocks noGrp="1" noChangeArrowheads="1"/>
          </p:cNvSpPr>
          <p:nvPr>
            <p:ph type="sldNum" sz="quarter" idx="5"/>
          </p:nvPr>
        </p:nvSpPr>
        <p:spPr>
          <a:ln/>
        </p:spPr>
        <p:txBody>
          <a:bodyPr/>
          <a:lstStyle/>
          <a:p>
            <a:fld id="{D233329D-4228-48BE-9F0C-FEBC0C0BFDB7}" type="slidenum">
              <a:rPr lang="en-GB"/>
              <a:pPr/>
              <a:t>31</a:t>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hdr" sz="quarter"/>
          </p:nvPr>
        </p:nvSpPr>
        <p:spPr>
          <a:ln/>
        </p:spPr>
        <p:txBody>
          <a:bodyPr/>
          <a:lstStyle/>
          <a:p>
            <a:r>
              <a:rPr lang="en-GB"/>
              <a:t>SKF492E</a:t>
            </a:r>
          </a:p>
        </p:txBody>
      </p:sp>
      <p:sp>
        <p:nvSpPr>
          <p:cNvPr id="3" name="Rectangle 3"/>
          <p:cNvSpPr>
            <a:spLocks noGrp="1" noChangeArrowheads="1"/>
          </p:cNvSpPr>
          <p:nvPr>
            <p:ph type="dt" idx="1"/>
          </p:nvPr>
        </p:nvSpPr>
        <p:spPr>
          <a:ln/>
        </p:spPr>
        <p:txBody>
          <a:bodyPr/>
          <a:lstStyle/>
          <a:p>
            <a:fld id="{F38C6CDD-8850-4BE5-9634-0DFA0A449BCB}" type="datetime1">
              <a:rPr lang="en-GB"/>
              <a:pPr/>
              <a:t>01/04/2026</a:t>
            </a:fld>
            <a:endParaRPr lang="en-GB"/>
          </a:p>
        </p:txBody>
      </p:sp>
      <p:sp>
        <p:nvSpPr>
          <p:cNvPr id="5" name="Rectangle 7"/>
          <p:cNvSpPr>
            <a:spLocks noGrp="1" noChangeArrowheads="1"/>
          </p:cNvSpPr>
          <p:nvPr>
            <p:ph type="sldNum" sz="quarter" idx="5"/>
          </p:nvPr>
        </p:nvSpPr>
        <p:spPr>
          <a:ln/>
        </p:spPr>
        <p:txBody>
          <a:bodyPr/>
          <a:lstStyle/>
          <a:p>
            <a:fld id="{3026075D-1D45-40D3-9A40-1F31B02C6566}" type="slidenum">
              <a:rPr lang="en-GB"/>
              <a:pPr/>
              <a:t>46</a:t>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hdr" sz="quarter"/>
          </p:nvPr>
        </p:nvSpPr>
        <p:spPr>
          <a:ln/>
        </p:spPr>
        <p:txBody>
          <a:bodyPr/>
          <a:lstStyle/>
          <a:p>
            <a:r>
              <a:rPr lang="en-GB"/>
              <a:t>SKF492E</a:t>
            </a:r>
          </a:p>
        </p:txBody>
      </p:sp>
      <p:sp>
        <p:nvSpPr>
          <p:cNvPr id="3" name="Rectangle 3"/>
          <p:cNvSpPr>
            <a:spLocks noGrp="1" noChangeArrowheads="1"/>
          </p:cNvSpPr>
          <p:nvPr>
            <p:ph type="dt" idx="1"/>
          </p:nvPr>
        </p:nvSpPr>
        <p:spPr>
          <a:ln/>
        </p:spPr>
        <p:txBody>
          <a:bodyPr/>
          <a:lstStyle/>
          <a:p>
            <a:fld id="{6921EF7B-0E1E-4033-8734-6EB2AABF3EE3}" type="datetime1">
              <a:rPr lang="en-GB"/>
              <a:pPr/>
              <a:t>01/04/2026</a:t>
            </a:fld>
            <a:endParaRPr lang="en-GB"/>
          </a:p>
        </p:txBody>
      </p:sp>
      <p:sp>
        <p:nvSpPr>
          <p:cNvPr id="5" name="Rectangle 7"/>
          <p:cNvSpPr>
            <a:spLocks noGrp="1" noChangeArrowheads="1"/>
          </p:cNvSpPr>
          <p:nvPr>
            <p:ph type="sldNum" sz="quarter" idx="5"/>
          </p:nvPr>
        </p:nvSpPr>
        <p:spPr>
          <a:ln/>
        </p:spPr>
        <p:txBody>
          <a:bodyPr/>
          <a:lstStyle/>
          <a:p>
            <a:fld id="{01124C9C-4494-4D8A-8582-7661A4C4D33D}" type="slidenum">
              <a:rPr lang="en-GB"/>
              <a:pPr/>
              <a:t>50</a:t>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hdr" sz="quarter"/>
          </p:nvPr>
        </p:nvSpPr>
        <p:spPr>
          <a:ln/>
        </p:spPr>
        <p:txBody>
          <a:bodyPr/>
          <a:lstStyle/>
          <a:p>
            <a:r>
              <a:rPr lang="en-GB"/>
              <a:t>SKF492E</a:t>
            </a:r>
          </a:p>
        </p:txBody>
      </p:sp>
      <p:sp>
        <p:nvSpPr>
          <p:cNvPr id="3" name="Rectangle 3"/>
          <p:cNvSpPr>
            <a:spLocks noGrp="1" noChangeArrowheads="1"/>
          </p:cNvSpPr>
          <p:nvPr>
            <p:ph type="dt" idx="1"/>
          </p:nvPr>
        </p:nvSpPr>
        <p:spPr>
          <a:ln/>
        </p:spPr>
        <p:txBody>
          <a:bodyPr/>
          <a:lstStyle/>
          <a:p>
            <a:fld id="{8726A1D4-AD74-4239-837F-A9A0BD21ABC1}" type="datetime1">
              <a:rPr lang="en-GB"/>
              <a:pPr/>
              <a:t>01/04/2026</a:t>
            </a:fld>
            <a:endParaRPr lang="en-GB"/>
          </a:p>
        </p:txBody>
      </p:sp>
      <p:sp>
        <p:nvSpPr>
          <p:cNvPr id="5" name="Rectangle 7"/>
          <p:cNvSpPr>
            <a:spLocks noGrp="1" noChangeArrowheads="1"/>
          </p:cNvSpPr>
          <p:nvPr>
            <p:ph type="sldNum" sz="quarter" idx="5"/>
          </p:nvPr>
        </p:nvSpPr>
        <p:spPr>
          <a:ln/>
        </p:spPr>
        <p:txBody>
          <a:bodyPr/>
          <a:lstStyle/>
          <a:p>
            <a:fld id="{B0B12EF9-8ECE-4710-B694-140855486DAD}" type="slidenum">
              <a:rPr lang="en-GB"/>
              <a:pPr/>
              <a:t>51</a:t>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hdr" sz="quarter"/>
          </p:nvPr>
        </p:nvSpPr>
        <p:spPr>
          <a:ln/>
        </p:spPr>
        <p:txBody>
          <a:bodyPr/>
          <a:lstStyle/>
          <a:p>
            <a:r>
              <a:rPr lang="en-GB"/>
              <a:t>SKF492E</a:t>
            </a:r>
          </a:p>
        </p:txBody>
      </p:sp>
      <p:sp>
        <p:nvSpPr>
          <p:cNvPr id="3" name="Rectangle 3"/>
          <p:cNvSpPr>
            <a:spLocks noGrp="1" noChangeArrowheads="1"/>
          </p:cNvSpPr>
          <p:nvPr>
            <p:ph type="dt" idx="1"/>
          </p:nvPr>
        </p:nvSpPr>
        <p:spPr>
          <a:ln/>
        </p:spPr>
        <p:txBody>
          <a:bodyPr/>
          <a:lstStyle/>
          <a:p>
            <a:fld id="{DE39FA3D-BBFE-4E40-89A4-E557B1A89224}" type="datetime1">
              <a:rPr lang="en-GB"/>
              <a:pPr/>
              <a:t>01/04/2026</a:t>
            </a:fld>
            <a:endParaRPr lang="en-GB"/>
          </a:p>
        </p:txBody>
      </p:sp>
      <p:sp>
        <p:nvSpPr>
          <p:cNvPr id="5" name="Rectangle 7"/>
          <p:cNvSpPr>
            <a:spLocks noGrp="1" noChangeArrowheads="1"/>
          </p:cNvSpPr>
          <p:nvPr>
            <p:ph type="sldNum" sz="quarter" idx="5"/>
          </p:nvPr>
        </p:nvSpPr>
        <p:spPr>
          <a:ln/>
        </p:spPr>
        <p:txBody>
          <a:bodyPr/>
          <a:lstStyle/>
          <a:p>
            <a:fld id="{E9E56278-E0DD-4926-85E6-7E7E970914EA}" type="slidenum">
              <a:rPr lang="en-GB"/>
              <a:pPr/>
              <a:t>53</a:t>
            </a:fld>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hdr" sz="quarter"/>
          </p:nvPr>
        </p:nvSpPr>
        <p:spPr>
          <a:ln/>
        </p:spPr>
        <p:txBody>
          <a:bodyPr/>
          <a:lstStyle/>
          <a:p>
            <a:r>
              <a:rPr lang="en-GB"/>
              <a:t>SKF492E</a:t>
            </a:r>
          </a:p>
        </p:txBody>
      </p:sp>
      <p:sp>
        <p:nvSpPr>
          <p:cNvPr id="3" name="Rectangle 3"/>
          <p:cNvSpPr>
            <a:spLocks noGrp="1" noChangeArrowheads="1"/>
          </p:cNvSpPr>
          <p:nvPr>
            <p:ph type="dt" idx="1"/>
          </p:nvPr>
        </p:nvSpPr>
        <p:spPr>
          <a:ln/>
        </p:spPr>
        <p:txBody>
          <a:bodyPr/>
          <a:lstStyle/>
          <a:p>
            <a:fld id="{60D10988-DFEA-4322-B872-FA7AF0890A0C}" type="datetime1">
              <a:rPr lang="en-GB"/>
              <a:pPr/>
              <a:t>01/04/2026</a:t>
            </a:fld>
            <a:endParaRPr lang="en-GB"/>
          </a:p>
        </p:txBody>
      </p:sp>
      <p:sp>
        <p:nvSpPr>
          <p:cNvPr id="5" name="Rectangle 7"/>
          <p:cNvSpPr>
            <a:spLocks noGrp="1" noChangeArrowheads="1"/>
          </p:cNvSpPr>
          <p:nvPr>
            <p:ph type="sldNum" sz="quarter" idx="5"/>
          </p:nvPr>
        </p:nvSpPr>
        <p:spPr>
          <a:ln/>
        </p:spPr>
        <p:txBody>
          <a:bodyPr/>
          <a:lstStyle/>
          <a:p>
            <a:fld id="{5BCCE0E5-01FE-4FEA-B774-AF74658F07E0}" type="slidenum">
              <a:rPr lang="en-GB"/>
              <a:pPr/>
              <a:t>57</a:t>
            </a:fld>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hdr" sz="quarter"/>
          </p:nvPr>
        </p:nvSpPr>
        <p:spPr>
          <a:ln/>
        </p:spPr>
        <p:txBody>
          <a:bodyPr/>
          <a:lstStyle/>
          <a:p>
            <a:r>
              <a:rPr lang="en-GB"/>
              <a:t>SKF492E</a:t>
            </a:r>
          </a:p>
        </p:txBody>
      </p:sp>
      <p:sp>
        <p:nvSpPr>
          <p:cNvPr id="3" name="Rectangle 3"/>
          <p:cNvSpPr>
            <a:spLocks noGrp="1" noChangeArrowheads="1"/>
          </p:cNvSpPr>
          <p:nvPr>
            <p:ph type="dt" idx="1"/>
          </p:nvPr>
        </p:nvSpPr>
        <p:spPr>
          <a:ln/>
        </p:spPr>
        <p:txBody>
          <a:bodyPr/>
          <a:lstStyle/>
          <a:p>
            <a:fld id="{F5DC05DA-ECD5-4C65-8ADA-515AFE5DA3E7}" type="datetime1">
              <a:rPr lang="en-GB"/>
              <a:pPr/>
              <a:t>01/04/2026</a:t>
            </a:fld>
            <a:endParaRPr lang="en-GB"/>
          </a:p>
        </p:txBody>
      </p:sp>
      <p:sp>
        <p:nvSpPr>
          <p:cNvPr id="5" name="Rectangle 7"/>
          <p:cNvSpPr>
            <a:spLocks noGrp="1" noChangeArrowheads="1"/>
          </p:cNvSpPr>
          <p:nvPr>
            <p:ph type="sldNum" sz="quarter" idx="5"/>
          </p:nvPr>
        </p:nvSpPr>
        <p:spPr>
          <a:ln/>
        </p:spPr>
        <p:txBody>
          <a:bodyPr/>
          <a:lstStyle/>
          <a:p>
            <a:fld id="{32FF2E6B-ABC5-4FB2-9AEE-8A5C72B8830B}" type="slidenum">
              <a:rPr lang="en-GB"/>
              <a:pPr/>
              <a:t>62</a:t>
            </a:fld>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DAD15A36-868F-4516-957E-DECFAB9B6661}"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0B4C094E-22B1-4265-9061-02C28991AC9B}" type="slidenum">
              <a:rPr lang="en-GB"/>
              <a:pPr/>
              <a:t>96</a:t>
            </a:fld>
            <a:endParaRPr lang="en-GB"/>
          </a:p>
        </p:txBody>
      </p:sp>
      <p:sp>
        <p:nvSpPr>
          <p:cNvPr id="987138" name="Rectangle 2"/>
          <p:cNvSpPr>
            <a:spLocks noGrp="1" noRot="1" noChangeAspect="1" noChangeArrowheads="1"/>
          </p:cNvSpPr>
          <p:nvPr>
            <p:ph type="sldImg"/>
          </p:nvPr>
        </p:nvSpPr>
        <p:spPr bwMode="auto">
          <a:xfrm>
            <a:off x="1349375" y="779463"/>
            <a:ext cx="4159250" cy="3119437"/>
          </a:xfrm>
          <a:prstGeom prst="rect">
            <a:avLst/>
          </a:prstGeom>
          <a:noFill/>
          <a:ln w="12700" cap="flat">
            <a:solidFill>
              <a:schemeClr val="tx1"/>
            </a:solidFill>
            <a:miter lim="800000"/>
            <a:headEnd/>
            <a:tailEnd/>
          </a:ln>
        </p:spPr>
      </p:sp>
      <p:sp>
        <p:nvSpPr>
          <p:cNvPr id="987139" name="Rectangle 3"/>
          <p:cNvSpPr>
            <a:spLocks noGrp="1" noChangeArrowheads="1"/>
          </p:cNvSpPr>
          <p:nvPr>
            <p:ph type="body" idx="1"/>
          </p:nvPr>
        </p:nvSpPr>
        <p:spPr bwMode="auto">
          <a:xfrm>
            <a:off x="914400" y="4237038"/>
            <a:ext cx="5027613" cy="3751262"/>
          </a:xfrm>
          <a:prstGeom prst="rect">
            <a:avLst/>
          </a:prstGeom>
          <a:noFill/>
          <a:ln>
            <a:miter lim="800000"/>
            <a:headEnd/>
            <a:tailEnd/>
          </a:ln>
        </p:spPr>
        <p:txBody>
          <a:bodyPr lIns="85238" tIns="42619" rIns="85238" bIns="42619"/>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EB4E0C75-EF18-421F-B093-A157BCD4083A}"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C6D47975-88B1-4F62-B9F5-57C7C3048E59}" type="slidenum">
              <a:rPr lang="en-GB"/>
              <a:pPr/>
              <a:t>97</a:t>
            </a:fld>
            <a:endParaRPr lang="en-GB"/>
          </a:p>
        </p:txBody>
      </p:sp>
      <p:sp>
        <p:nvSpPr>
          <p:cNvPr id="989186" name="Rectangle 2"/>
          <p:cNvSpPr>
            <a:spLocks noGrp="1" noRot="1" noChangeAspect="1" noChangeArrowheads="1"/>
          </p:cNvSpPr>
          <p:nvPr>
            <p:ph type="sldImg"/>
          </p:nvPr>
        </p:nvSpPr>
        <p:spPr bwMode="auto">
          <a:xfrm>
            <a:off x="1349375" y="779463"/>
            <a:ext cx="4159250" cy="3119437"/>
          </a:xfrm>
          <a:prstGeom prst="rect">
            <a:avLst/>
          </a:prstGeom>
          <a:noFill/>
          <a:ln w="12700" cap="flat">
            <a:solidFill>
              <a:schemeClr val="tx1"/>
            </a:solidFill>
            <a:miter lim="800000"/>
            <a:headEnd/>
            <a:tailEnd/>
          </a:ln>
        </p:spPr>
      </p:sp>
      <p:sp>
        <p:nvSpPr>
          <p:cNvPr id="989187" name="Rectangle 3"/>
          <p:cNvSpPr>
            <a:spLocks noGrp="1" noChangeArrowheads="1"/>
          </p:cNvSpPr>
          <p:nvPr>
            <p:ph type="body" idx="1"/>
          </p:nvPr>
        </p:nvSpPr>
        <p:spPr bwMode="auto">
          <a:xfrm>
            <a:off x="914400" y="4237038"/>
            <a:ext cx="5027613" cy="3751262"/>
          </a:xfrm>
          <a:prstGeom prst="rect">
            <a:avLst/>
          </a:prstGeom>
          <a:noFill/>
          <a:ln>
            <a:miter lim="800000"/>
            <a:headEnd/>
            <a:tailEnd/>
          </a:ln>
        </p:spPr>
        <p:txBody>
          <a:bodyPr lIns="85238" tIns="42619" rIns="85238" bIns="42619"/>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1E31D59B-E1F3-4E99-9D3B-5E27A3B87A53}"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564B7303-1424-41AA-9DBA-7AD541414EA5}" type="slidenum">
              <a:rPr lang="en-GB"/>
              <a:pPr/>
              <a:t>98</a:t>
            </a:fld>
            <a:endParaRPr lang="en-GB"/>
          </a:p>
        </p:txBody>
      </p:sp>
      <p:sp>
        <p:nvSpPr>
          <p:cNvPr id="991234" name="Rectangle 2"/>
          <p:cNvSpPr>
            <a:spLocks noGrp="1" noRot="1" noChangeAspect="1" noChangeArrowheads="1"/>
          </p:cNvSpPr>
          <p:nvPr>
            <p:ph type="sldImg"/>
          </p:nvPr>
        </p:nvSpPr>
        <p:spPr bwMode="auto">
          <a:xfrm>
            <a:off x="1349375" y="779463"/>
            <a:ext cx="4159250" cy="3119437"/>
          </a:xfrm>
          <a:prstGeom prst="rect">
            <a:avLst/>
          </a:prstGeom>
          <a:noFill/>
          <a:ln w="12700" cap="flat">
            <a:solidFill>
              <a:schemeClr val="tx1"/>
            </a:solidFill>
            <a:miter lim="800000"/>
            <a:headEnd/>
            <a:tailEnd/>
          </a:ln>
        </p:spPr>
      </p:sp>
      <p:sp>
        <p:nvSpPr>
          <p:cNvPr id="991235" name="Rectangle 3"/>
          <p:cNvSpPr>
            <a:spLocks noGrp="1" noChangeArrowheads="1"/>
          </p:cNvSpPr>
          <p:nvPr>
            <p:ph type="body" idx="1"/>
          </p:nvPr>
        </p:nvSpPr>
        <p:spPr bwMode="auto">
          <a:xfrm>
            <a:off x="914400" y="4237038"/>
            <a:ext cx="5027613" cy="3751262"/>
          </a:xfrm>
          <a:prstGeom prst="rect">
            <a:avLst/>
          </a:prstGeom>
          <a:noFill/>
          <a:ln>
            <a:miter lim="800000"/>
            <a:headEnd/>
            <a:tailEnd/>
          </a:ln>
        </p:spPr>
        <p:txBody>
          <a:bodyPr lIns="85238" tIns="42619" rIns="85238" bIns="42619"/>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5BDC2F4A-26C6-4033-AB5E-7508FA6A4AA3}"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891DA597-5D03-4593-AED2-E439B79E5688}" type="slidenum">
              <a:rPr lang="en-GB"/>
              <a:pPr/>
              <a:t>99</a:t>
            </a:fld>
            <a:endParaRPr lang="en-GB"/>
          </a:p>
        </p:txBody>
      </p:sp>
      <p:sp>
        <p:nvSpPr>
          <p:cNvPr id="993282" name="Rectangle 2"/>
          <p:cNvSpPr>
            <a:spLocks noGrp="1" noRot="1" noChangeAspect="1" noChangeArrowheads="1"/>
          </p:cNvSpPr>
          <p:nvPr>
            <p:ph type="sldImg"/>
          </p:nvPr>
        </p:nvSpPr>
        <p:spPr bwMode="auto">
          <a:xfrm>
            <a:off x="1349375" y="779463"/>
            <a:ext cx="4159250" cy="3119437"/>
          </a:xfrm>
          <a:prstGeom prst="rect">
            <a:avLst/>
          </a:prstGeom>
          <a:noFill/>
          <a:ln w="12700" cap="flat">
            <a:solidFill>
              <a:schemeClr val="tx1"/>
            </a:solidFill>
            <a:miter lim="800000"/>
            <a:headEnd/>
            <a:tailEnd/>
          </a:ln>
        </p:spPr>
      </p:sp>
      <p:sp>
        <p:nvSpPr>
          <p:cNvPr id="993283" name="Rectangle 3"/>
          <p:cNvSpPr>
            <a:spLocks noGrp="1" noChangeArrowheads="1"/>
          </p:cNvSpPr>
          <p:nvPr>
            <p:ph type="body" idx="1"/>
          </p:nvPr>
        </p:nvSpPr>
        <p:spPr bwMode="auto">
          <a:xfrm>
            <a:off x="914400" y="4237038"/>
            <a:ext cx="5027613" cy="3751262"/>
          </a:xfrm>
          <a:prstGeom prst="rect">
            <a:avLst/>
          </a:prstGeom>
          <a:noFill/>
          <a:ln>
            <a:miter lim="800000"/>
            <a:headEnd/>
            <a:tailEnd/>
          </a:ln>
        </p:spPr>
        <p:txBody>
          <a:bodyPr lIns="85238" tIns="42619" rIns="85238" bIns="42619"/>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586149E0-7905-43E2-816A-7824280E53D8}"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789E8F20-3AC2-4C17-A902-8B453F8E20CE}" type="slidenum">
              <a:rPr lang="en-GB"/>
              <a:pPr/>
              <a:t>100</a:t>
            </a:fld>
            <a:endParaRPr lang="en-GB"/>
          </a:p>
        </p:txBody>
      </p:sp>
      <p:sp>
        <p:nvSpPr>
          <p:cNvPr id="995330" name="Rectangle 2"/>
          <p:cNvSpPr>
            <a:spLocks noGrp="1" noRot="1" noChangeAspect="1" noChangeArrowheads="1"/>
          </p:cNvSpPr>
          <p:nvPr>
            <p:ph type="sldImg"/>
          </p:nvPr>
        </p:nvSpPr>
        <p:spPr bwMode="auto">
          <a:xfrm>
            <a:off x="1349375" y="779463"/>
            <a:ext cx="4159250" cy="3119437"/>
          </a:xfrm>
          <a:prstGeom prst="rect">
            <a:avLst/>
          </a:prstGeom>
          <a:noFill/>
          <a:ln w="12700" cap="flat">
            <a:solidFill>
              <a:schemeClr val="tx1"/>
            </a:solidFill>
            <a:miter lim="800000"/>
            <a:headEnd/>
            <a:tailEnd/>
          </a:ln>
        </p:spPr>
      </p:sp>
      <p:sp>
        <p:nvSpPr>
          <p:cNvPr id="995331" name="Rectangle 3"/>
          <p:cNvSpPr>
            <a:spLocks noGrp="1" noChangeArrowheads="1"/>
          </p:cNvSpPr>
          <p:nvPr>
            <p:ph type="body" idx="1"/>
          </p:nvPr>
        </p:nvSpPr>
        <p:spPr bwMode="auto">
          <a:xfrm>
            <a:off x="914400" y="4237038"/>
            <a:ext cx="5027613" cy="3751262"/>
          </a:xfrm>
          <a:prstGeom prst="rect">
            <a:avLst/>
          </a:prstGeom>
          <a:noFill/>
          <a:ln>
            <a:miter lim="800000"/>
            <a:headEnd/>
            <a:tailEnd/>
          </a:ln>
        </p:spPr>
        <p:txBody>
          <a:bodyPr lIns="85238" tIns="42619" rIns="85238" bIns="42619"/>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74F2A889-D1DE-4CB5-A996-7211B42A3087}"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D4D96AA2-A307-4486-B1A7-C113E217F77B}" type="slidenum">
              <a:rPr lang="en-GB"/>
              <a:pPr/>
              <a:t>101</a:t>
            </a:fld>
            <a:endParaRPr lang="en-GB"/>
          </a:p>
        </p:txBody>
      </p:sp>
      <p:sp>
        <p:nvSpPr>
          <p:cNvPr id="997378" name="Rectangle 2"/>
          <p:cNvSpPr>
            <a:spLocks noGrp="1" noChangeArrowheads="1"/>
          </p:cNvSpPr>
          <p:nvPr>
            <p:ph type="body" idx="1"/>
          </p:nvPr>
        </p:nvSpPr>
        <p:spPr bwMode="auto">
          <a:xfrm>
            <a:off x="914400" y="4237038"/>
            <a:ext cx="5027613" cy="3751262"/>
          </a:xfrm>
          <a:prstGeom prst="rect">
            <a:avLst/>
          </a:prstGeom>
          <a:noFill/>
          <a:ln>
            <a:miter lim="800000"/>
            <a:headEnd/>
            <a:tailEnd/>
          </a:ln>
        </p:spPr>
        <p:txBody>
          <a:bodyPr lIns="85238" tIns="42619" rIns="85238" bIns="42619"/>
          <a:lstStyle/>
          <a:p>
            <a:endParaRPr lang="en-US"/>
          </a:p>
        </p:txBody>
      </p:sp>
      <p:sp>
        <p:nvSpPr>
          <p:cNvPr id="997379" name="Rectangle 3"/>
          <p:cNvSpPr>
            <a:spLocks noGrp="1" noRot="1" noChangeAspect="1" noChangeArrowheads="1"/>
          </p:cNvSpPr>
          <p:nvPr>
            <p:ph type="sldImg"/>
          </p:nvPr>
        </p:nvSpPr>
        <p:spPr bwMode="auto">
          <a:xfrm>
            <a:off x="1349375" y="779463"/>
            <a:ext cx="4159250" cy="3119437"/>
          </a:xfrm>
          <a:prstGeom prst="rect">
            <a:avLst/>
          </a:prstGeom>
          <a:noFill/>
          <a:ln w="12700" cap="flat">
            <a:solidFill>
              <a:schemeClr val="tx1"/>
            </a:solidFill>
            <a:miter lim="800000"/>
            <a:headEnd/>
            <a:tailEnd/>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4C72CEEC-2744-42FD-A168-F4F4CB6B2A33}"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F8E13149-5FBE-46F6-A1AA-A58A0BC86AD4}" type="slidenum">
              <a:rPr lang="en-GB"/>
              <a:pPr/>
              <a:t>102</a:t>
            </a:fld>
            <a:endParaRPr lang="en-GB"/>
          </a:p>
        </p:txBody>
      </p:sp>
      <p:sp>
        <p:nvSpPr>
          <p:cNvPr id="999426" name="Rectangle 2"/>
          <p:cNvSpPr>
            <a:spLocks noGrp="1" noRot="1" noChangeAspect="1" noChangeArrowheads="1"/>
          </p:cNvSpPr>
          <p:nvPr>
            <p:ph type="sldImg"/>
          </p:nvPr>
        </p:nvSpPr>
        <p:spPr bwMode="auto">
          <a:xfrm>
            <a:off x="1349375" y="779463"/>
            <a:ext cx="4159250" cy="3119437"/>
          </a:xfrm>
          <a:prstGeom prst="rect">
            <a:avLst/>
          </a:prstGeom>
          <a:noFill/>
          <a:ln w="12700" cap="flat">
            <a:solidFill>
              <a:schemeClr val="tx1"/>
            </a:solidFill>
            <a:miter lim="800000"/>
            <a:headEnd/>
            <a:tailEnd/>
          </a:ln>
        </p:spPr>
      </p:sp>
      <p:sp>
        <p:nvSpPr>
          <p:cNvPr id="999427" name="Rectangle 3"/>
          <p:cNvSpPr>
            <a:spLocks noGrp="1" noChangeArrowheads="1"/>
          </p:cNvSpPr>
          <p:nvPr>
            <p:ph type="body" idx="1"/>
          </p:nvPr>
        </p:nvSpPr>
        <p:spPr bwMode="auto">
          <a:xfrm>
            <a:off x="914400" y="4237038"/>
            <a:ext cx="5027613" cy="3751262"/>
          </a:xfrm>
          <a:prstGeom prst="rect">
            <a:avLst/>
          </a:prstGeom>
          <a:noFill/>
          <a:ln>
            <a:miter lim="800000"/>
            <a:headEnd/>
            <a:tailEnd/>
          </a:ln>
        </p:spPr>
        <p:txBody>
          <a:bodyPr lIns="85238" tIns="42619" rIns="85238" bIns="42619"/>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FCE609C9-EB09-4FEB-A322-DE97542C9FDF}"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0C412DBB-3C69-470F-9351-790B761F3E5F}" type="slidenum">
              <a:rPr lang="en-GB"/>
              <a:pPr/>
              <a:t>105</a:t>
            </a:fld>
            <a:endParaRPr lang="en-GB"/>
          </a:p>
        </p:txBody>
      </p:sp>
      <p:sp>
        <p:nvSpPr>
          <p:cNvPr id="1003522" name="Rectangle 2"/>
          <p:cNvSpPr>
            <a:spLocks noGrp="1" noChangeArrowheads="1"/>
          </p:cNvSpPr>
          <p:nvPr>
            <p:ph type="body" idx="1"/>
          </p:nvPr>
        </p:nvSpPr>
        <p:spPr bwMode="auto">
          <a:xfrm>
            <a:off x="914400" y="4237038"/>
            <a:ext cx="5027613" cy="3751262"/>
          </a:xfrm>
          <a:prstGeom prst="rect">
            <a:avLst/>
          </a:prstGeom>
          <a:noFill/>
          <a:ln>
            <a:miter lim="800000"/>
            <a:headEnd/>
            <a:tailEnd/>
          </a:ln>
        </p:spPr>
        <p:txBody>
          <a:bodyPr lIns="85238" tIns="42619" rIns="85238" bIns="42619"/>
          <a:lstStyle/>
          <a:p>
            <a:endParaRPr lang="en-US"/>
          </a:p>
        </p:txBody>
      </p:sp>
      <p:sp>
        <p:nvSpPr>
          <p:cNvPr id="1003523" name="Rectangle 3"/>
          <p:cNvSpPr>
            <a:spLocks noGrp="1" noRot="1" noChangeAspect="1" noChangeArrowheads="1"/>
          </p:cNvSpPr>
          <p:nvPr>
            <p:ph type="sldImg"/>
          </p:nvPr>
        </p:nvSpPr>
        <p:spPr bwMode="auto">
          <a:xfrm>
            <a:off x="1349375" y="779463"/>
            <a:ext cx="4159250" cy="3119437"/>
          </a:xfrm>
          <a:prstGeom prst="rect">
            <a:avLst/>
          </a:prstGeom>
          <a:noFill/>
          <a:ln w="12700" cap="flat">
            <a:solidFill>
              <a:schemeClr val="tx1"/>
            </a:solidFill>
            <a:miter lim="800000"/>
            <a:headEnd/>
            <a:tailEnd/>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SKF492E</a:t>
            </a:r>
          </a:p>
        </p:txBody>
      </p:sp>
      <p:sp>
        <p:nvSpPr>
          <p:cNvPr id="5" name="Rectangle 3"/>
          <p:cNvSpPr>
            <a:spLocks noGrp="1" noChangeArrowheads="1"/>
          </p:cNvSpPr>
          <p:nvPr>
            <p:ph type="dt" idx="1"/>
          </p:nvPr>
        </p:nvSpPr>
        <p:spPr>
          <a:ln/>
        </p:spPr>
        <p:txBody>
          <a:bodyPr/>
          <a:lstStyle/>
          <a:p>
            <a:fld id="{C4179FA7-97BF-4865-A58C-FD27C945D879}" type="datetime1">
              <a:rPr lang="en-GB"/>
              <a:pPr/>
              <a:t>01/04/2026</a:t>
            </a:fld>
            <a:endParaRPr lang="en-GB"/>
          </a:p>
        </p:txBody>
      </p:sp>
      <p:sp>
        <p:nvSpPr>
          <p:cNvPr id="7" name="Rectangle 7"/>
          <p:cNvSpPr>
            <a:spLocks noGrp="1" noChangeArrowheads="1"/>
          </p:cNvSpPr>
          <p:nvPr>
            <p:ph type="sldNum" sz="quarter" idx="5"/>
          </p:nvPr>
        </p:nvSpPr>
        <p:spPr>
          <a:ln/>
        </p:spPr>
        <p:txBody>
          <a:bodyPr/>
          <a:lstStyle/>
          <a:p>
            <a:fld id="{79C6A692-DA07-4BD1-A5C8-7AD9AD426086}" type="slidenum">
              <a:rPr lang="en-GB"/>
              <a:pPr/>
              <a:t>107</a:t>
            </a:fld>
            <a:endParaRPr lang="en-GB"/>
          </a:p>
        </p:txBody>
      </p:sp>
      <p:sp>
        <p:nvSpPr>
          <p:cNvPr id="1029122" name="Rectangle 2"/>
          <p:cNvSpPr>
            <a:spLocks noGrp="1" noChangeArrowheads="1"/>
          </p:cNvSpPr>
          <p:nvPr>
            <p:ph type="body" idx="1"/>
          </p:nvPr>
        </p:nvSpPr>
        <p:spPr bwMode="auto">
          <a:xfrm>
            <a:off x="914400" y="4237038"/>
            <a:ext cx="5027613" cy="3751262"/>
          </a:xfrm>
          <a:prstGeom prst="rect">
            <a:avLst/>
          </a:prstGeom>
          <a:noFill/>
          <a:ln>
            <a:miter lim="800000"/>
            <a:headEnd/>
            <a:tailEnd/>
          </a:ln>
        </p:spPr>
        <p:txBody>
          <a:bodyPr lIns="85238" tIns="42619" rIns="85238" bIns="42619"/>
          <a:lstStyle/>
          <a:p>
            <a:endParaRPr lang="en-US"/>
          </a:p>
        </p:txBody>
      </p:sp>
      <p:sp>
        <p:nvSpPr>
          <p:cNvPr id="1029123" name="Rectangle 3"/>
          <p:cNvSpPr>
            <a:spLocks noGrp="1" noRot="1" noChangeAspect="1" noChangeArrowheads="1"/>
          </p:cNvSpPr>
          <p:nvPr>
            <p:ph type="sldImg"/>
          </p:nvPr>
        </p:nvSpPr>
        <p:spPr bwMode="auto">
          <a:xfrm>
            <a:off x="1349375" y="779463"/>
            <a:ext cx="4159250" cy="3119437"/>
          </a:xfrm>
          <a:prstGeom prst="rect">
            <a:avLst/>
          </a:prstGeom>
          <a:noFill/>
          <a:ln w="12700" cap="flat">
            <a:solidFill>
              <a:schemeClr val="tx1"/>
            </a:solidFill>
            <a:miter lim="800000"/>
            <a:headEnd/>
            <a:tailEnd/>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09666" name="Rectangle 1026"/>
          <p:cNvSpPr>
            <a:spLocks noGrp="1" noChangeArrowheads="1"/>
          </p:cNvSpPr>
          <p:nvPr>
            <p:ph type="ctrTitle"/>
          </p:nvPr>
        </p:nvSpPr>
        <p:spPr>
          <a:xfrm>
            <a:off x="609600" y="390525"/>
            <a:ext cx="8001000" cy="1143000"/>
          </a:xfrm>
        </p:spPr>
        <p:txBody>
          <a:bodyPr/>
          <a:lstStyle>
            <a:lvl1pPr>
              <a:defRPr/>
            </a:lvl1pPr>
          </a:lstStyle>
          <a:p>
            <a:r>
              <a:rPr lang="en-US"/>
              <a:t>Click to edit Master title style</a:t>
            </a:r>
          </a:p>
        </p:txBody>
      </p:sp>
      <p:sp>
        <p:nvSpPr>
          <p:cNvPr id="1009667" name="Rectangle 1027"/>
          <p:cNvSpPr>
            <a:spLocks noGrp="1" noChangeArrowheads="1"/>
          </p:cNvSpPr>
          <p:nvPr>
            <p:ph type="dt" sz="half" idx="2"/>
          </p:nvPr>
        </p:nvSpPr>
        <p:spPr bwMode="auto">
          <a:xfrm>
            <a:off x="609600" y="6096000"/>
            <a:ext cx="1905000" cy="45720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defRPr sz="700"/>
            </a:lvl1pPr>
          </a:lstStyle>
          <a:p>
            <a:r>
              <a:rPr lang="en-US"/>
              <a:t>April 24, 2000</a:t>
            </a:r>
            <a:endParaRPr lang="en-US" sz="1400"/>
          </a:p>
        </p:txBody>
      </p:sp>
      <p:grpSp>
        <p:nvGrpSpPr>
          <p:cNvPr id="1009668" name="Group 1028"/>
          <p:cNvGrpSpPr>
            <a:grpSpLocks/>
          </p:cNvGrpSpPr>
          <p:nvPr/>
        </p:nvGrpSpPr>
        <p:grpSpPr bwMode="auto">
          <a:xfrm>
            <a:off x="0" y="6573838"/>
            <a:ext cx="9164638" cy="295275"/>
            <a:chOff x="0" y="4032"/>
            <a:chExt cx="5760" cy="186"/>
          </a:xfrm>
        </p:grpSpPr>
        <p:pic>
          <p:nvPicPr>
            <p:cNvPr id="1009669" name="Picture 1029"/>
            <p:cNvPicPr>
              <a:picLocks noChangeAspect="1" noChangeArrowheads="1"/>
            </p:cNvPicPr>
            <p:nvPr/>
          </p:nvPicPr>
          <p:blipFill>
            <a:blip r:embed="rId2" cstate="print"/>
            <a:srcRect/>
            <a:stretch>
              <a:fillRect/>
            </a:stretch>
          </p:blipFill>
          <p:spPr bwMode="auto">
            <a:xfrm>
              <a:off x="0" y="4032"/>
              <a:ext cx="5760" cy="186"/>
            </a:xfrm>
            <a:prstGeom prst="rect">
              <a:avLst/>
            </a:prstGeom>
            <a:noFill/>
            <a:ln w="12700">
              <a:noFill/>
              <a:miter lim="800000"/>
              <a:headEnd type="none" w="sm" len="sm"/>
              <a:tailEnd type="none" w="sm" len="sm"/>
            </a:ln>
            <a:effectLst/>
          </p:spPr>
        </p:pic>
        <p:pic>
          <p:nvPicPr>
            <p:cNvPr id="1009670" name="Picture 1030"/>
            <p:cNvPicPr>
              <a:picLocks noChangeAspect="1" noChangeArrowheads="1"/>
            </p:cNvPicPr>
            <p:nvPr/>
          </p:nvPicPr>
          <p:blipFill>
            <a:blip r:embed="rId3" cstate="print"/>
            <a:srcRect/>
            <a:stretch>
              <a:fillRect/>
            </a:stretch>
          </p:blipFill>
          <p:spPr bwMode="auto">
            <a:xfrm>
              <a:off x="5232" y="4064"/>
              <a:ext cx="365" cy="90"/>
            </a:xfrm>
            <a:prstGeom prst="rect">
              <a:avLst/>
            </a:prstGeom>
            <a:noFill/>
            <a:ln w="12700">
              <a:noFill/>
              <a:miter lim="800000"/>
              <a:headEnd type="none" w="sm" len="sm"/>
              <a:tailEnd type="none" w="sm" len="sm"/>
            </a:ln>
            <a:effectLst/>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endParaRPr lang="sv-S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vl1pPr>
          </a:lstStyle>
          <a:p>
            <a:endParaRPr lang="sv-S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4478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478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p:txBody>
          <a:bodyPr/>
          <a:lstStyle>
            <a:lvl1pPr>
              <a:defRPr/>
            </a:lvl1pPr>
          </a:lstStyle>
          <a:p>
            <a:endParaRPr lang="sv-S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p:txBody>
          <a:bodyPr/>
          <a:lstStyle>
            <a:lvl1pPr>
              <a:defRPr/>
            </a:lvl1pPr>
          </a:lstStyle>
          <a:p>
            <a:endParaRPr lang="sv-S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lvl1pPr>
              <a:defRPr/>
            </a:lvl1pPr>
          </a:lstStyle>
          <a:p>
            <a:endParaRPr lang="sv-S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endParaRPr lang="sv-S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endParaRPr lang="sv-S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endParaRPr lang="sv-S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endParaRPr lang="sv-S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90525"/>
            <a:ext cx="1943100" cy="57054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90525"/>
            <a:ext cx="5676900" cy="57054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endParaRPr lang="sv-S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390525"/>
            <a:ext cx="7772400" cy="828675"/>
          </a:xfrm>
        </p:spPr>
        <p:txBody>
          <a:bodyPr/>
          <a:lstStyle/>
          <a:p>
            <a:r>
              <a:rPr lang="en-US"/>
              <a:t>Click to edit Master title style</a:t>
            </a:r>
          </a:p>
        </p:txBody>
      </p:sp>
      <p:sp>
        <p:nvSpPr>
          <p:cNvPr id="3" name="Text Placeholder 2"/>
          <p:cNvSpPr>
            <a:spLocks noGrp="1"/>
          </p:cNvSpPr>
          <p:nvPr>
            <p:ph type="body" sz="half" idx="1"/>
          </p:nvPr>
        </p:nvSpPr>
        <p:spPr>
          <a:xfrm>
            <a:off x="685800" y="14478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447800"/>
            <a:ext cx="3810000" cy="4648200"/>
          </a:xfrm>
        </p:spPr>
        <p:txBody>
          <a:bodyPr/>
          <a:lstStyle/>
          <a:p>
            <a:endParaRPr lang="en-US"/>
          </a:p>
        </p:txBody>
      </p:sp>
      <p:sp>
        <p:nvSpPr>
          <p:cNvPr id="5" name="Footer Placeholder 4"/>
          <p:cNvSpPr>
            <a:spLocks noGrp="1"/>
          </p:cNvSpPr>
          <p:nvPr>
            <p:ph type="ftr" sz="quarter" idx="10"/>
          </p:nvPr>
        </p:nvSpPr>
        <p:spPr>
          <a:xfrm>
            <a:off x="2989263" y="6550025"/>
            <a:ext cx="2892425" cy="231775"/>
          </a:xfrm>
        </p:spPr>
        <p:txBody>
          <a:bodyPr/>
          <a:lstStyle>
            <a:lvl1pPr>
              <a:defRPr/>
            </a:lvl1pPr>
          </a:lstStyle>
          <a:p>
            <a:endParaRPr lang="sv-S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390525"/>
            <a:ext cx="7772400" cy="828675"/>
          </a:xfrm>
        </p:spPr>
        <p:txBody>
          <a:bodyPr/>
          <a:lstStyle/>
          <a:p>
            <a:r>
              <a:rPr lang="en-US"/>
              <a:t>Click to edit Master title style</a:t>
            </a:r>
          </a:p>
        </p:txBody>
      </p:sp>
      <p:sp>
        <p:nvSpPr>
          <p:cNvPr id="3" name="ClipArt Placeholder 2"/>
          <p:cNvSpPr>
            <a:spLocks noGrp="1"/>
          </p:cNvSpPr>
          <p:nvPr>
            <p:ph type="clipArt" sz="half" idx="1"/>
          </p:nvPr>
        </p:nvSpPr>
        <p:spPr>
          <a:xfrm>
            <a:off x="685800" y="1447800"/>
            <a:ext cx="3810000" cy="4648200"/>
          </a:xfrm>
        </p:spPr>
        <p:txBody>
          <a:bodyPr/>
          <a:lstStyle/>
          <a:p>
            <a:endParaRPr lang="en-US"/>
          </a:p>
        </p:txBody>
      </p:sp>
      <p:sp>
        <p:nvSpPr>
          <p:cNvPr id="4" name="Text Placeholder 3"/>
          <p:cNvSpPr>
            <a:spLocks noGrp="1"/>
          </p:cNvSpPr>
          <p:nvPr>
            <p:ph type="body" sz="half" idx="2"/>
          </p:nvPr>
        </p:nvSpPr>
        <p:spPr>
          <a:xfrm>
            <a:off x="4648200" y="14478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2989263" y="6550025"/>
            <a:ext cx="2892425" cy="231775"/>
          </a:xfrm>
        </p:spPr>
        <p:txBody>
          <a:bodyPr/>
          <a:lstStyle>
            <a:lvl1pPr>
              <a:defRPr/>
            </a:lvl1pPr>
          </a:lstStyle>
          <a:p>
            <a:endParaRPr lang="sv-S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08642" name="Rectangle 2050"/>
          <p:cNvSpPr>
            <a:spLocks noGrp="1" noChangeArrowheads="1"/>
          </p:cNvSpPr>
          <p:nvPr>
            <p:ph type="title"/>
          </p:nvPr>
        </p:nvSpPr>
        <p:spPr bwMode="auto">
          <a:xfrm>
            <a:off x="685800" y="390525"/>
            <a:ext cx="7772400" cy="828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08643" name="Rectangle 2051"/>
          <p:cNvSpPr>
            <a:spLocks noGrp="1" noChangeArrowheads="1"/>
          </p:cNvSpPr>
          <p:nvPr>
            <p:ph type="body" idx="1"/>
          </p:nvPr>
        </p:nvSpPr>
        <p:spPr bwMode="auto">
          <a:xfrm>
            <a:off x="685800" y="1447800"/>
            <a:ext cx="7772400" cy="4648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This is the template that WG uses</a:t>
            </a:r>
          </a:p>
        </p:txBody>
      </p:sp>
      <p:sp>
        <p:nvSpPr>
          <p:cNvPr id="1008644" name="Rectangle 2052"/>
          <p:cNvSpPr>
            <a:spLocks noChangeArrowheads="1"/>
          </p:cNvSpPr>
          <p:nvPr/>
        </p:nvSpPr>
        <p:spPr bwMode="auto">
          <a:xfrm>
            <a:off x="533400" y="6553200"/>
            <a:ext cx="1905000" cy="228600"/>
          </a:xfrm>
          <a:prstGeom prst="rect">
            <a:avLst/>
          </a:prstGeom>
          <a:noFill/>
          <a:ln w="9525">
            <a:noFill/>
            <a:miter lim="800000"/>
            <a:headEnd/>
            <a:tailEnd/>
          </a:ln>
          <a:effectLst/>
        </p:spPr>
        <p:txBody>
          <a:bodyPr lIns="87257" tIns="43629" rIns="87257" bIns="43629"/>
          <a:lstStyle/>
          <a:p>
            <a:pPr defTabSz="873125"/>
            <a:endParaRPr lang="sv-SE" sz="1300"/>
          </a:p>
        </p:txBody>
      </p:sp>
      <p:sp>
        <p:nvSpPr>
          <p:cNvPr id="1008645" name="Rectangle 2053"/>
          <p:cNvSpPr>
            <a:spLocks noGrp="1" noChangeArrowheads="1"/>
          </p:cNvSpPr>
          <p:nvPr>
            <p:ph type="ftr" sz="quarter" idx="3"/>
          </p:nvPr>
        </p:nvSpPr>
        <p:spPr bwMode="auto">
          <a:xfrm>
            <a:off x="2989263" y="6550025"/>
            <a:ext cx="2892425" cy="231775"/>
          </a:xfrm>
          <a:prstGeom prst="rect">
            <a:avLst/>
          </a:prstGeom>
          <a:noFill/>
          <a:ln w="9525">
            <a:noFill/>
            <a:miter lim="800000"/>
            <a:headEnd/>
            <a:tailEnd/>
          </a:ln>
          <a:effectLst/>
        </p:spPr>
        <p:txBody>
          <a:bodyPr vert="horz" wrap="square" lIns="87257" tIns="43629" rIns="87257" bIns="43629" numCol="1" anchor="t" anchorCtr="0" compatLnSpc="1">
            <a:prstTxWarp prst="textNoShape">
              <a:avLst/>
            </a:prstTxWarp>
          </a:bodyPr>
          <a:lstStyle>
            <a:lvl1pPr algn="ctr" defTabSz="873125">
              <a:defRPr sz="1300"/>
            </a:lvl1pPr>
          </a:lstStyle>
          <a:p>
            <a:endParaRPr lang="sv-SE"/>
          </a:p>
        </p:txBody>
      </p:sp>
      <p:sp>
        <p:nvSpPr>
          <p:cNvPr id="1008646" name="Rectangle 2054"/>
          <p:cNvSpPr>
            <a:spLocks noChangeArrowheads="1"/>
          </p:cNvSpPr>
          <p:nvPr/>
        </p:nvSpPr>
        <p:spPr bwMode="auto">
          <a:xfrm>
            <a:off x="7119938" y="6553200"/>
            <a:ext cx="1889125" cy="228600"/>
          </a:xfrm>
          <a:prstGeom prst="rect">
            <a:avLst/>
          </a:prstGeom>
          <a:noFill/>
          <a:ln w="9525">
            <a:noFill/>
            <a:miter lim="800000"/>
            <a:headEnd/>
            <a:tailEnd/>
          </a:ln>
          <a:effectLst/>
        </p:spPr>
        <p:txBody>
          <a:bodyPr lIns="87257" tIns="43629" rIns="87257" bIns="43629"/>
          <a:lstStyle/>
          <a:p>
            <a:pPr algn="r" defTabSz="873125"/>
            <a:fld id="{11937C5F-459B-4B40-9556-804E4FDD16D6}" type="slidenum">
              <a:rPr lang="sv-SE" sz="1300"/>
              <a:pPr algn="r" defTabSz="873125"/>
              <a:t>‹#›</a:t>
            </a:fld>
            <a:endParaRPr lang="sv-SE" sz="1300"/>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Lst>
  <p:txStyles>
    <p:titleStyle>
      <a:lvl1pPr algn="ctr"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3600" b="1">
          <a:solidFill>
            <a:schemeClr val="tx1"/>
          </a:solidFill>
          <a:latin typeface="Times New Roman" pitchFamily="18" charset="0"/>
        </a:defRPr>
      </a:lvl2pPr>
      <a:lvl3pPr algn="ctr" rtl="0" eaLnBrk="0" fontAlgn="base" hangingPunct="0">
        <a:spcBef>
          <a:spcPct val="0"/>
        </a:spcBef>
        <a:spcAft>
          <a:spcPct val="0"/>
        </a:spcAft>
        <a:defRPr sz="3600" b="1">
          <a:solidFill>
            <a:schemeClr val="tx1"/>
          </a:solidFill>
          <a:latin typeface="Times New Roman" pitchFamily="18" charset="0"/>
        </a:defRPr>
      </a:lvl3pPr>
      <a:lvl4pPr algn="ctr" rtl="0" eaLnBrk="0" fontAlgn="base" hangingPunct="0">
        <a:spcBef>
          <a:spcPct val="0"/>
        </a:spcBef>
        <a:spcAft>
          <a:spcPct val="0"/>
        </a:spcAft>
        <a:defRPr sz="3600" b="1">
          <a:solidFill>
            <a:schemeClr val="tx1"/>
          </a:solidFill>
          <a:latin typeface="Times New Roman" pitchFamily="18" charset="0"/>
        </a:defRPr>
      </a:lvl4pPr>
      <a:lvl5pPr algn="ctr" rtl="0" eaLnBrk="0" fontAlgn="base" hangingPunct="0">
        <a:spcBef>
          <a:spcPct val="0"/>
        </a:spcBef>
        <a:spcAft>
          <a:spcPct val="0"/>
        </a:spcAft>
        <a:defRPr sz="3600" b="1">
          <a:solidFill>
            <a:schemeClr val="tx1"/>
          </a:solidFill>
          <a:latin typeface="Times New Roman" pitchFamily="18" charset="0"/>
        </a:defRPr>
      </a:lvl5pPr>
      <a:lvl6pPr marL="457200" algn="ctr" rtl="0" eaLnBrk="0" fontAlgn="base" hangingPunct="0">
        <a:spcBef>
          <a:spcPct val="0"/>
        </a:spcBef>
        <a:spcAft>
          <a:spcPct val="0"/>
        </a:spcAft>
        <a:defRPr sz="3600" b="1">
          <a:solidFill>
            <a:schemeClr val="tx1"/>
          </a:solidFill>
          <a:latin typeface="Times New Roman" pitchFamily="18" charset="0"/>
        </a:defRPr>
      </a:lvl6pPr>
      <a:lvl7pPr marL="914400" algn="ctr" rtl="0" eaLnBrk="0" fontAlgn="base" hangingPunct="0">
        <a:spcBef>
          <a:spcPct val="0"/>
        </a:spcBef>
        <a:spcAft>
          <a:spcPct val="0"/>
        </a:spcAft>
        <a:defRPr sz="3600" b="1">
          <a:solidFill>
            <a:schemeClr val="tx1"/>
          </a:solidFill>
          <a:latin typeface="Times New Roman" pitchFamily="18" charset="0"/>
        </a:defRPr>
      </a:lvl7pPr>
      <a:lvl8pPr marL="1371600" algn="ctr" rtl="0" eaLnBrk="0" fontAlgn="base" hangingPunct="0">
        <a:spcBef>
          <a:spcPct val="0"/>
        </a:spcBef>
        <a:spcAft>
          <a:spcPct val="0"/>
        </a:spcAft>
        <a:defRPr sz="3600" b="1">
          <a:solidFill>
            <a:schemeClr val="tx1"/>
          </a:solidFill>
          <a:latin typeface="Times New Roman" pitchFamily="18" charset="0"/>
        </a:defRPr>
      </a:lvl8pPr>
      <a:lvl9pPr marL="1828800" algn="ctr" rtl="0" eaLnBrk="0" fontAlgn="base" hangingPunct="0">
        <a:spcBef>
          <a:spcPct val="0"/>
        </a:spcBef>
        <a:spcAft>
          <a:spcPct val="0"/>
        </a:spcAft>
        <a:defRPr sz="3600" b="1">
          <a:solidFill>
            <a:schemeClr val="tx1"/>
          </a:solidFill>
          <a:latin typeface="Times New Roman" pitchFamily="18" charset="0"/>
        </a:defRPr>
      </a:lvl9pPr>
    </p:titleStyle>
    <p:bodyStyle>
      <a:lvl1pPr marL="290513" indent="-290513" algn="l" rtl="0" eaLnBrk="0" fontAlgn="base" hangingPunct="0">
        <a:spcBef>
          <a:spcPct val="20000"/>
        </a:spcBef>
        <a:spcAft>
          <a:spcPct val="0"/>
        </a:spcAft>
        <a:buClr>
          <a:srgbClr val="92002D"/>
        </a:buClr>
        <a:buSzPct val="65000"/>
        <a:buBlip>
          <a:blip r:embed="rId15"/>
        </a:buBlip>
        <a:defRPr sz="2800">
          <a:solidFill>
            <a:schemeClr val="tx1"/>
          </a:solidFill>
          <a:latin typeface="+mn-lt"/>
          <a:ea typeface="+mn-ea"/>
          <a:cs typeface="+mn-cs"/>
        </a:defRPr>
      </a:lvl1pPr>
      <a:lvl2pPr marL="690563" indent="-285750" algn="l" rtl="0" eaLnBrk="0" fontAlgn="base" hangingPunct="0">
        <a:spcBef>
          <a:spcPct val="20000"/>
        </a:spcBef>
        <a:spcAft>
          <a:spcPct val="0"/>
        </a:spcAft>
        <a:buClr>
          <a:srgbClr val="92002D"/>
        </a:buClr>
        <a:buSzPct val="65000"/>
        <a:buFont typeface="ZapfDingbats BT"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92002D"/>
        </a:buClr>
        <a:buSzPct val="65000"/>
        <a:buFont typeface="Wingdings 2" pitchFamily="18" charset="2"/>
        <a:buChar char="¾"/>
        <a:defRPr sz="2000">
          <a:solidFill>
            <a:schemeClr val="tx1"/>
          </a:solidFill>
          <a:latin typeface="+mn-lt"/>
        </a:defRPr>
      </a:lvl3pPr>
      <a:lvl4pPr marL="1600200" indent="-228600" algn="l" rtl="0" eaLnBrk="0" fontAlgn="base" hangingPunct="0">
        <a:spcBef>
          <a:spcPct val="20000"/>
        </a:spcBef>
        <a:spcAft>
          <a:spcPct val="0"/>
        </a:spcAft>
        <a:buClr>
          <a:srgbClr val="92002D"/>
        </a:buClr>
        <a:buSzPct val="125000"/>
        <a:buChar char="–"/>
        <a:defRPr sz="2000">
          <a:solidFill>
            <a:schemeClr val="tx1"/>
          </a:solidFill>
          <a:latin typeface="+mn-lt"/>
        </a:defRPr>
      </a:lvl4pPr>
      <a:lvl5pPr marL="2057400" indent="-228600" algn="l" rtl="0" eaLnBrk="0" fontAlgn="base" hangingPunct="0">
        <a:spcBef>
          <a:spcPct val="20000"/>
        </a:spcBef>
        <a:spcAft>
          <a:spcPct val="0"/>
        </a:spcAft>
        <a:buClr>
          <a:srgbClr val="92002D"/>
        </a:buClr>
        <a:buSzPct val="125000"/>
        <a:buChar char="»"/>
        <a:defRPr sz="2000">
          <a:solidFill>
            <a:schemeClr val="accent2"/>
          </a:solidFill>
          <a:latin typeface="+mn-lt"/>
        </a:defRPr>
      </a:lvl5pPr>
      <a:lvl6pPr marL="2514600" indent="-228600" algn="l" rtl="0" eaLnBrk="0" fontAlgn="base" hangingPunct="0">
        <a:spcBef>
          <a:spcPct val="20000"/>
        </a:spcBef>
        <a:spcAft>
          <a:spcPct val="0"/>
        </a:spcAft>
        <a:buClr>
          <a:srgbClr val="92002D"/>
        </a:buClr>
        <a:buSzPct val="125000"/>
        <a:buChar char="»"/>
        <a:defRPr sz="2000">
          <a:solidFill>
            <a:schemeClr val="accent2"/>
          </a:solidFill>
          <a:latin typeface="+mn-lt"/>
        </a:defRPr>
      </a:lvl6pPr>
      <a:lvl7pPr marL="2971800" indent="-228600" algn="l" rtl="0" eaLnBrk="0" fontAlgn="base" hangingPunct="0">
        <a:spcBef>
          <a:spcPct val="20000"/>
        </a:spcBef>
        <a:spcAft>
          <a:spcPct val="0"/>
        </a:spcAft>
        <a:buClr>
          <a:srgbClr val="92002D"/>
        </a:buClr>
        <a:buSzPct val="125000"/>
        <a:buChar char="»"/>
        <a:defRPr sz="2000">
          <a:solidFill>
            <a:schemeClr val="accent2"/>
          </a:solidFill>
          <a:latin typeface="+mn-lt"/>
        </a:defRPr>
      </a:lvl7pPr>
      <a:lvl8pPr marL="3429000" indent="-228600" algn="l" rtl="0" eaLnBrk="0" fontAlgn="base" hangingPunct="0">
        <a:spcBef>
          <a:spcPct val="20000"/>
        </a:spcBef>
        <a:spcAft>
          <a:spcPct val="0"/>
        </a:spcAft>
        <a:buClr>
          <a:srgbClr val="92002D"/>
        </a:buClr>
        <a:buSzPct val="125000"/>
        <a:buChar char="»"/>
        <a:defRPr sz="2000">
          <a:solidFill>
            <a:schemeClr val="accent2"/>
          </a:solidFill>
          <a:latin typeface="+mn-lt"/>
        </a:defRPr>
      </a:lvl8pPr>
      <a:lvl9pPr marL="3886200" indent="-228600" algn="l" rtl="0" eaLnBrk="0" fontAlgn="base" hangingPunct="0">
        <a:spcBef>
          <a:spcPct val="20000"/>
        </a:spcBef>
        <a:spcAft>
          <a:spcPct val="0"/>
        </a:spcAft>
        <a:buClr>
          <a:srgbClr val="92002D"/>
        </a:buClr>
        <a:buSzPct val="125000"/>
        <a:buChar char="»"/>
        <a:defRPr sz="2000">
          <a:solidFill>
            <a:schemeClr val="accent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1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vmlDrawing" Target="../drawings/vmlDrawing5.v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3.xml"/><Relationship Id="rId1" Type="http://schemas.openxmlformats.org/officeDocument/2006/relationships/vmlDrawing" Target="../drawings/vmlDrawing6.v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12.bin"/><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23.wmf"/><Relationship Id="rId2" Type="http://schemas.openxmlformats.org/officeDocument/2006/relationships/slideLayout" Target="../slideLayouts/slideLayout6.xml"/><Relationship Id="rId16" Type="http://schemas.openxmlformats.org/officeDocument/2006/relationships/image" Target="../media/image25.wmf"/><Relationship Id="rId1" Type="http://schemas.openxmlformats.org/officeDocument/2006/relationships/vmlDrawing" Target="../drawings/vmlDrawing7.vml"/><Relationship Id="rId6" Type="http://schemas.openxmlformats.org/officeDocument/2006/relationships/image" Target="../media/image20.wmf"/><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3.bin"/><Relationship Id="rId10" Type="http://schemas.openxmlformats.org/officeDocument/2006/relationships/image" Target="../media/image22.wmf"/><Relationship Id="rId4" Type="http://schemas.openxmlformats.org/officeDocument/2006/relationships/image" Target="../media/image19.wmf"/><Relationship Id="rId9" Type="http://schemas.openxmlformats.org/officeDocument/2006/relationships/oleObject" Target="../embeddings/oleObject10.bin"/><Relationship Id="rId14" Type="http://schemas.openxmlformats.org/officeDocument/2006/relationships/image" Target="../media/image24.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6.xml"/><Relationship Id="rId1" Type="http://schemas.openxmlformats.org/officeDocument/2006/relationships/vmlDrawing" Target="../drawings/vmlDrawing8.vml"/><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6.xml"/><Relationship Id="rId1" Type="http://schemas.openxmlformats.org/officeDocument/2006/relationships/vmlDrawing" Target="../drawings/vmlDrawing9.vml"/><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Layout" Target="../slideLayouts/slideLayout6.xml"/><Relationship Id="rId1" Type="http://schemas.openxmlformats.org/officeDocument/2006/relationships/vmlDrawing" Target="../drawings/vmlDrawing11.vml"/><Relationship Id="rId5" Type="http://schemas.openxmlformats.org/officeDocument/2006/relationships/image" Target="../media/image26.png"/><Relationship Id="rId4" Type="http://schemas.openxmlformats.org/officeDocument/2006/relationships/oleObject" Target="../embeddings/oleObject17.bin"/></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misalignment.exe" TargetMode="External"/><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31.png"/></Relationships>
</file>

<file path=ppt/slides/_rels/slide5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Layout" Target="../slideLayouts/slideLayout6.xml"/><Relationship Id="rId1" Type="http://schemas.openxmlformats.org/officeDocument/2006/relationships/vmlDrawing" Target="../drawings/vmlDrawing13.vml"/><Relationship Id="rId5" Type="http://schemas.openxmlformats.org/officeDocument/2006/relationships/image" Target="../media/image26.png"/><Relationship Id="rId4" Type="http://schemas.openxmlformats.org/officeDocument/2006/relationships/oleObject" Target="../embeddings/oleObject19.bin"/></Relationships>
</file>

<file path=ppt/slides/_rels/slide5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Layout" Target="../slideLayouts/slideLayout6.xml"/><Relationship Id="rId1" Type="http://schemas.openxmlformats.org/officeDocument/2006/relationships/vmlDrawing" Target="../drawings/vmlDrawing14.vml"/><Relationship Id="rId5" Type="http://schemas.openxmlformats.org/officeDocument/2006/relationships/image" Target="../media/image26.png"/><Relationship Id="rId4" Type="http://schemas.openxmlformats.org/officeDocument/2006/relationships/oleObject" Target="../embeddings/oleObject20.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hyperlink" Target="bearing%20mounting.exe" TargetMode="External"/><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38.png"/></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39.png"/></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40.png"/></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41.png"/></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image" Target="../media/image42.w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6.xml"/><Relationship Id="rId1" Type="http://schemas.openxmlformats.org/officeDocument/2006/relationships/video" Target="BRGANIM.AVI" TargetMode="External"/></Relationships>
</file>

<file path=ppt/slides/_rels/slide7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6.xml"/><Relationship Id="rId1" Type="http://schemas.openxmlformats.org/officeDocument/2006/relationships/vmlDrawing" Target="../drawings/vmlDrawing20.vml"/><Relationship Id="rId4" Type="http://schemas.openxmlformats.org/officeDocument/2006/relationships/image" Target="../media/image44.png"/></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6.xml"/><Relationship Id="rId1" Type="http://schemas.openxmlformats.org/officeDocument/2006/relationships/vmlDrawing" Target="../drawings/vmlDrawing21.vml"/><Relationship Id="rId4" Type="http://schemas.openxmlformats.org/officeDocument/2006/relationships/image" Target="../media/image45.png"/></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6.xml"/><Relationship Id="rId1" Type="http://schemas.openxmlformats.org/officeDocument/2006/relationships/vmlDrawing" Target="../drawings/vmlDrawing22.vml"/><Relationship Id="rId4" Type="http://schemas.openxmlformats.org/officeDocument/2006/relationships/image" Target="../media/image46.png"/></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6.xml"/><Relationship Id="rId1" Type="http://schemas.openxmlformats.org/officeDocument/2006/relationships/vmlDrawing" Target="../drawings/vmlDrawing23.vml"/><Relationship Id="rId4" Type="http://schemas.openxmlformats.org/officeDocument/2006/relationships/image" Target="../media/image47.png"/></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6.xml"/><Relationship Id="rId1" Type="http://schemas.openxmlformats.org/officeDocument/2006/relationships/vmlDrawing" Target="../drawings/vmlDrawing24.vml"/><Relationship Id="rId6" Type="http://schemas.openxmlformats.org/officeDocument/2006/relationships/image" Target="../media/image49.png"/><Relationship Id="rId5" Type="http://schemas.openxmlformats.org/officeDocument/2006/relationships/oleObject" Target="../embeddings/oleObject31.bin"/><Relationship Id="rId4" Type="http://schemas.openxmlformats.org/officeDocument/2006/relationships/image" Target="../media/image4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51.wmf"/><Relationship Id="rId5" Type="http://schemas.openxmlformats.org/officeDocument/2006/relationships/oleObject" Target="../embeddings/oleObject33.bin"/><Relationship Id="rId4" Type="http://schemas.openxmlformats.org/officeDocument/2006/relationships/image" Target="../media/image50.wm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54.wmf"/><Relationship Id="rId5" Type="http://schemas.openxmlformats.org/officeDocument/2006/relationships/oleObject" Target="../embeddings/oleObject36.bin"/><Relationship Id="rId4" Type="http://schemas.openxmlformats.org/officeDocument/2006/relationships/image" Target="../media/image53.wmf"/></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56.wmf"/><Relationship Id="rId5" Type="http://schemas.openxmlformats.org/officeDocument/2006/relationships/oleObject" Target="../embeddings/oleObject38.bin"/><Relationship Id="rId4" Type="http://schemas.openxmlformats.org/officeDocument/2006/relationships/image" Target="../media/image55.wmf"/></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28.vml"/><Relationship Id="rId5" Type="http://schemas.openxmlformats.org/officeDocument/2006/relationships/image" Target="../media/image57.png"/><Relationship Id="rId4" Type="http://schemas.openxmlformats.org/officeDocument/2006/relationships/oleObject" Target="../embeddings/oleObject39.bin"/></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29.vml"/><Relationship Id="rId5" Type="http://schemas.openxmlformats.org/officeDocument/2006/relationships/image" Target="../media/image58.png"/><Relationship Id="rId4" Type="http://schemas.openxmlformats.org/officeDocument/2006/relationships/oleObject" Target="../embeddings/oleObject40.bin"/></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30.vml"/><Relationship Id="rId5" Type="http://schemas.openxmlformats.org/officeDocument/2006/relationships/image" Target="../media/image59.png"/><Relationship Id="rId4" Type="http://schemas.openxmlformats.org/officeDocument/2006/relationships/oleObject" Target="../embeddings/oleObject41.bin"/></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31.vml"/><Relationship Id="rId5" Type="http://schemas.openxmlformats.org/officeDocument/2006/relationships/image" Target="../media/image60.png"/><Relationship Id="rId4" Type="http://schemas.openxmlformats.org/officeDocument/2006/relationships/oleObject" Target="../embeddings/oleObject42.bin"/></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mlDrawing" Target="../drawings/vmlDrawing32.vml"/><Relationship Id="rId5" Type="http://schemas.openxmlformats.org/officeDocument/2006/relationships/image" Target="../media/image61.png"/><Relationship Id="rId4" Type="http://schemas.openxmlformats.org/officeDocument/2006/relationships/oleObject" Target="../embeddings/oleObject43.bin"/></Relationships>
</file>

<file path=ppt/slides/_rels/slide102.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notesSlide" Target="../notesSlides/notesSlide28.xml"/><Relationship Id="rId7" Type="http://schemas.openxmlformats.org/officeDocument/2006/relationships/image" Target="../media/image63.png"/><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oleObject" Target="../embeddings/oleObject45.bin"/><Relationship Id="rId5" Type="http://schemas.openxmlformats.org/officeDocument/2006/relationships/image" Target="../media/image62.png"/><Relationship Id="rId4" Type="http://schemas.openxmlformats.org/officeDocument/2006/relationships/oleObject" Target="../embeddings/oleObject44.bin"/><Relationship Id="rId9" Type="http://schemas.openxmlformats.org/officeDocument/2006/relationships/image" Target="../media/image64.png"/></Relationships>
</file>

<file path=ppt/slides/_rels/slide103.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7.xml"/><Relationship Id="rId1" Type="http://schemas.openxmlformats.org/officeDocument/2006/relationships/vmlDrawing" Target="../drawings/vmlDrawing34.vml"/><Relationship Id="rId4" Type="http://schemas.openxmlformats.org/officeDocument/2006/relationships/image" Target="../media/image65.wmf"/></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29.xml"/><Relationship Id="rId7" Type="http://schemas.openxmlformats.org/officeDocument/2006/relationships/image" Target="../media/image67.png"/><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oleObject" Target="../embeddings/oleObject49.bin"/><Relationship Id="rId5" Type="http://schemas.openxmlformats.org/officeDocument/2006/relationships/image" Target="../media/image66.png"/><Relationship Id="rId4" Type="http://schemas.openxmlformats.org/officeDocument/2006/relationships/oleObject" Target="../embeddings/oleObject48.bin"/></Relationships>
</file>

<file path=ppt/slides/_rels/slide10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4786" name="Rectangle 2"/>
          <p:cNvSpPr>
            <a:spLocks noGrp="1" noChangeArrowheads="1"/>
          </p:cNvSpPr>
          <p:nvPr>
            <p:ph type="title" idx="4294967295"/>
          </p:nvPr>
        </p:nvSpPr>
        <p:spPr>
          <a:xfrm>
            <a:off x="685800" y="2209800"/>
            <a:ext cx="7772400" cy="1981200"/>
          </a:xfrm>
        </p:spPr>
        <p:txBody>
          <a:bodyPr/>
          <a:lstStyle/>
          <a:p>
            <a:r>
              <a:rPr lang="en-US" sz="5400"/>
              <a:t>Vibration Analysis</a:t>
            </a:r>
            <a:br>
              <a:rPr lang="en-US" sz="5400"/>
            </a:br>
            <a:endParaRPr lang="en-US" sz="540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34242" name="WordArt 2"/>
          <p:cNvSpPr>
            <a:spLocks noChangeArrowheads="1" noChangeShapeType="1" noTextEdit="1"/>
          </p:cNvSpPr>
          <p:nvPr/>
        </p:nvSpPr>
        <p:spPr bwMode="auto">
          <a:xfrm>
            <a:off x="533400" y="1219200"/>
            <a:ext cx="7848600" cy="533400"/>
          </a:xfrm>
          <a:prstGeom prst="rect">
            <a:avLst/>
          </a:prstGeom>
        </p:spPr>
        <p:txBody>
          <a:bodyPr wrap="none" fromWordArt="1">
            <a:prstTxWarp prst="textPlain">
              <a:avLst>
                <a:gd name="adj" fmla="val 50000"/>
              </a:avLst>
            </a:prstTxWarp>
          </a:bodyPr>
          <a:lstStyle/>
          <a:p>
            <a:pPr algn="ctr"/>
            <a:r>
              <a:rPr lang="en-US" sz="3600" b="1" kern="10">
                <a:ln w="9525">
                  <a:noFill/>
                  <a:round/>
                  <a:headEnd/>
                  <a:tailEnd/>
                </a:ln>
                <a:solidFill>
                  <a:srgbClr val="0000CC"/>
                </a:solidFill>
                <a:latin typeface="Times New Roman"/>
                <a:cs typeface="Times New Roman"/>
              </a:rPr>
              <a:t>Purpose of Vibration Analysis</a:t>
            </a:r>
          </a:p>
        </p:txBody>
      </p:sp>
      <p:sp>
        <p:nvSpPr>
          <p:cNvPr id="1034243" name="Text Box 3"/>
          <p:cNvSpPr txBox="1">
            <a:spLocks noChangeArrowheads="1"/>
          </p:cNvSpPr>
          <p:nvPr/>
        </p:nvSpPr>
        <p:spPr bwMode="auto">
          <a:xfrm>
            <a:off x="228600" y="2057400"/>
            <a:ext cx="5791200" cy="3506788"/>
          </a:xfrm>
          <a:prstGeom prst="rect">
            <a:avLst/>
          </a:prstGeom>
          <a:noFill/>
          <a:ln w="9525">
            <a:noFill/>
            <a:miter lim="800000"/>
            <a:headEnd/>
            <a:tailEnd/>
          </a:ln>
          <a:effectLst/>
        </p:spPr>
        <p:txBody>
          <a:bodyPr>
            <a:spAutoFit/>
          </a:bodyPr>
          <a:lstStyle/>
          <a:p>
            <a:pPr eaLnBrk="1" hangingPunct="1">
              <a:spcBef>
                <a:spcPct val="50000"/>
              </a:spcBef>
              <a:buFontTx/>
              <a:buChar char="•"/>
            </a:pPr>
            <a:r>
              <a:rPr lang="en-US" sz="3200" b="1">
                <a:solidFill>
                  <a:srgbClr val="191965"/>
                </a:solidFill>
              </a:rPr>
              <a:t>  </a:t>
            </a:r>
            <a:r>
              <a:rPr lang="en-US" sz="3200" b="1">
                <a:solidFill>
                  <a:srgbClr val="890313"/>
                </a:solidFill>
              </a:rPr>
              <a:t>To Identify Health Condition</a:t>
            </a:r>
          </a:p>
          <a:p>
            <a:pPr eaLnBrk="1" hangingPunct="1">
              <a:spcBef>
                <a:spcPct val="50000"/>
              </a:spcBef>
              <a:buFontTx/>
              <a:buChar char="•"/>
            </a:pPr>
            <a:r>
              <a:rPr lang="en-US" sz="3200" b="1">
                <a:solidFill>
                  <a:srgbClr val="890313"/>
                </a:solidFill>
              </a:rPr>
              <a:t>  To detect the defects and </a:t>
            </a:r>
          </a:p>
          <a:p>
            <a:pPr eaLnBrk="1" hangingPunct="1">
              <a:spcBef>
                <a:spcPct val="50000"/>
              </a:spcBef>
            </a:pPr>
            <a:r>
              <a:rPr lang="en-US" sz="3200" b="1">
                <a:solidFill>
                  <a:srgbClr val="890313"/>
                </a:solidFill>
              </a:rPr>
              <a:t>    Inaccuracies</a:t>
            </a:r>
          </a:p>
          <a:p>
            <a:pPr eaLnBrk="1" hangingPunct="1">
              <a:spcBef>
                <a:spcPct val="50000"/>
              </a:spcBef>
              <a:buFontTx/>
              <a:buChar char="•"/>
            </a:pPr>
            <a:r>
              <a:rPr lang="en-US" sz="3200" b="1">
                <a:solidFill>
                  <a:srgbClr val="890313"/>
                </a:solidFill>
              </a:rPr>
              <a:t>  To Pinpoint the Defective </a:t>
            </a:r>
          </a:p>
          <a:p>
            <a:pPr eaLnBrk="1" hangingPunct="1">
              <a:spcBef>
                <a:spcPct val="50000"/>
              </a:spcBef>
            </a:pPr>
            <a:r>
              <a:rPr lang="en-US" sz="3200" b="1">
                <a:solidFill>
                  <a:srgbClr val="890313"/>
                </a:solidFill>
              </a:rPr>
              <a:t>    locations</a:t>
            </a:r>
          </a:p>
        </p:txBody>
      </p:sp>
      <p:pic>
        <p:nvPicPr>
          <p:cNvPr id="1034244" name="Picture 4" descr="vibrationproblems"/>
          <p:cNvPicPr>
            <a:picLocks noChangeAspect="1" noChangeArrowheads="1"/>
          </p:cNvPicPr>
          <p:nvPr/>
        </p:nvPicPr>
        <p:blipFill>
          <a:blip r:embed="rId2" cstate="print"/>
          <a:srcRect/>
          <a:stretch>
            <a:fillRect/>
          </a:stretch>
        </p:blipFill>
        <p:spPr bwMode="auto">
          <a:xfrm>
            <a:off x="5791200" y="3124200"/>
            <a:ext cx="3352800" cy="2438400"/>
          </a:xfrm>
          <a:prstGeom prst="rect">
            <a:avLst/>
          </a:prstGeom>
          <a:noFill/>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38338" name="WordArt 2"/>
          <p:cNvSpPr>
            <a:spLocks noChangeArrowheads="1" noChangeShapeType="1" noTextEdit="1"/>
          </p:cNvSpPr>
          <p:nvPr/>
        </p:nvSpPr>
        <p:spPr bwMode="auto">
          <a:xfrm>
            <a:off x="457200" y="2590800"/>
            <a:ext cx="8153400" cy="2514600"/>
          </a:xfrm>
          <a:prstGeom prst="rect">
            <a:avLst/>
          </a:prstGeom>
        </p:spPr>
        <p:txBody>
          <a:bodyPr wrap="none" fromWordArt="1">
            <a:prstTxWarp prst="textPlain">
              <a:avLst>
                <a:gd name="adj" fmla="val 50000"/>
              </a:avLst>
            </a:prstTxWarp>
          </a:bodyPr>
          <a:lstStyle/>
          <a:p>
            <a:pPr algn="ctr"/>
            <a:endParaRPr lang="en-US" sz="3600" kern="10">
              <a:ln w="9525">
                <a:noFill/>
                <a:round/>
                <a:headEnd/>
                <a:tailEnd/>
              </a:ln>
              <a:solidFill>
                <a:srgbClr val="FF0000"/>
              </a:solidFill>
              <a:latin typeface="Times New Roman"/>
              <a:cs typeface="Times New Roman"/>
            </a:endParaRPr>
          </a:p>
          <a:p>
            <a:pPr algn="ctr"/>
            <a:endParaRPr lang="en-US" sz="3600" kern="10">
              <a:ln w="9525">
                <a:noFill/>
                <a:round/>
                <a:headEnd/>
                <a:tailEnd/>
              </a:ln>
              <a:solidFill>
                <a:srgbClr val="FF0000"/>
              </a:solidFill>
              <a:latin typeface="Times New Roman"/>
              <a:cs typeface="Times New Roman"/>
            </a:endParaRPr>
          </a:p>
          <a:p>
            <a:pPr algn="ctr"/>
            <a:r>
              <a:rPr lang="en-US" sz="3600" kern="10">
                <a:ln w="9525">
                  <a:noFill/>
                  <a:round/>
                  <a:headEnd/>
                  <a:tailEnd/>
                </a:ln>
                <a:solidFill>
                  <a:srgbClr val="FF0000"/>
                </a:solidFill>
                <a:latin typeface="Times New Roman"/>
                <a:cs typeface="Times New Roman"/>
              </a:rPr>
              <a:t>PROBLEMS ON MY MACHINES</a:t>
            </a:r>
          </a:p>
        </p:txBody>
      </p:sp>
      <p:sp>
        <p:nvSpPr>
          <p:cNvPr id="1038339" name="WordArt 3"/>
          <p:cNvSpPr>
            <a:spLocks noChangeArrowheads="1" noChangeShapeType="1" noTextEdit="1"/>
          </p:cNvSpPr>
          <p:nvPr/>
        </p:nvSpPr>
        <p:spPr bwMode="auto">
          <a:xfrm>
            <a:off x="2895600" y="1295400"/>
            <a:ext cx="3276600" cy="1371600"/>
          </a:xfrm>
          <a:prstGeom prst="rect">
            <a:avLst/>
          </a:prstGeom>
        </p:spPr>
        <p:txBody>
          <a:bodyPr wrap="none" fromWordArt="1">
            <a:prstTxWarp prst="textPlain">
              <a:avLst>
                <a:gd name="adj" fmla="val 50000"/>
              </a:avLst>
            </a:prstTxWarp>
          </a:bodyPr>
          <a:lstStyle/>
          <a:p>
            <a:pPr algn="ctr"/>
            <a:r>
              <a:rPr lang="en-US" sz="3600" kern="10">
                <a:ln w="9525">
                  <a:noFill/>
                  <a:round/>
                  <a:headEnd/>
                  <a:tailEnd/>
                </a:ln>
                <a:solidFill>
                  <a:srgbClr val="0033CC"/>
                </a:solidFill>
                <a:latin typeface="Times New Roman"/>
                <a:cs typeface="Times New Roman"/>
              </a:rPr>
              <a:t>NO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39362" name="WordArt 2"/>
          <p:cNvSpPr>
            <a:spLocks noChangeArrowheads="1" noChangeShapeType="1" noTextEdit="1"/>
          </p:cNvSpPr>
          <p:nvPr/>
        </p:nvSpPr>
        <p:spPr bwMode="auto">
          <a:xfrm>
            <a:off x="304800" y="3429000"/>
            <a:ext cx="8305800" cy="1447800"/>
          </a:xfrm>
          <a:prstGeom prst="rect">
            <a:avLst/>
          </a:prstGeom>
        </p:spPr>
        <p:txBody>
          <a:bodyPr wrap="none" fromWordArt="1">
            <a:prstTxWarp prst="textPlain">
              <a:avLst>
                <a:gd name="adj" fmla="val 50000"/>
              </a:avLst>
            </a:prstTxWarp>
          </a:bodyPr>
          <a:lstStyle/>
          <a:p>
            <a:pPr algn="ctr"/>
            <a:r>
              <a:rPr lang="en-US" sz="3600" kern="10">
                <a:ln w="9525">
                  <a:noFill/>
                  <a:round/>
                  <a:headEnd/>
                  <a:tailEnd/>
                </a:ln>
                <a:solidFill>
                  <a:srgbClr val="FF0000"/>
                </a:solidFill>
                <a:latin typeface="Times New Roman"/>
                <a:cs typeface="Times New Roman"/>
              </a:rPr>
              <a:t>VIBRATION</a:t>
            </a:r>
          </a:p>
        </p:txBody>
      </p:sp>
      <p:sp>
        <p:nvSpPr>
          <p:cNvPr id="1039363" name="WordArt 3"/>
          <p:cNvSpPr>
            <a:spLocks noChangeArrowheads="1" noChangeShapeType="1" noTextEdit="1"/>
          </p:cNvSpPr>
          <p:nvPr/>
        </p:nvSpPr>
        <p:spPr bwMode="auto">
          <a:xfrm>
            <a:off x="685800" y="1219200"/>
            <a:ext cx="7620000" cy="609600"/>
          </a:xfrm>
          <a:prstGeom prst="rect">
            <a:avLst/>
          </a:prstGeom>
        </p:spPr>
        <p:txBody>
          <a:bodyPr wrap="none" fromWordArt="1">
            <a:prstTxWarp prst="textPlain">
              <a:avLst>
                <a:gd name="adj" fmla="val 50000"/>
              </a:avLst>
            </a:prstTxWarp>
          </a:bodyPr>
          <a:lstStyle/>
          <a:p>
            <a:pPr algn="ctr"/>
            <a:r>
              <a:rPr lang="en-US" sz="3600" kern="10">
                <a:ln w="9525">
                  <a:noFill/>
                  <a:round/>
                  <a:headEnd/>
                  <a:tailEnd/>
                </a:ln>
                <a:solidFill>
                  <a:srgbClr val="0033CC"/>
                </a:solidFill>
                <a:latin typeface="Times New Roman"/>
                <a:cs typeface="Times New Roman"/>
              </a:rPr>
              <a:t>ONLY PROBLEM IS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0386" name="Rectangle 2"/>
          <p:cNvSpPr>
            <a:spLocks noChangeArrowheads="1"/>
          </p:cNvSpPr>
          <p:nvPr/>
        </p:nvSpPr>
        <p:spPr bwMode="auto">
          <a:xfrm>
            <a:off x="0" y="381000"/>
            <a:ext cx="9144000" cy="5453063"/>
          </a:xfrm>
          <a:prstGeom prst="rect">
            <a:avLst/>
          </a:prstGeom>
          <a:noFill/>
          <a:ln w="12700">
            <a:noFill/>
            <a:miter lim="800000"/>
            <a:headEnd/>
            <a:tailEnd/>
          </a:ln>
          <a:effectLst/>
        </p:spPr>
        <p:txBody>
          <a:bodyPr lIns="90488" tIns="44450" rIns="90488" bIns="44450">
            <a:spAutoFit/>
          </a:bodyPr>
          <a:lstStyle/>
          <a:p>
            <a:pPr algn="ctr"/>
            <a:endParaRPr lang="en-US" sz="4000" b="1">
              <a:solidFill>
                <a:srgbClr val="FF6600"/>
              </a:solidFill>
              <a:effectLst>
                <a:outerShdw blurRad="38100" dist="38100" dir="2700000" algn="tl">
                  <a:srgbClr val="C0C0C0"/>
                </a:outerShdw>
              </a:effectLst>
              <a:latin typeface="Arial MT Black" pitchFamily="2" charset="-18"/>
            </a:endParaRPr>
          </a:p>
          <a:p>
            <a:pPr algn="ctr"/>
            <a:r>
              <a:rPr lang="en-US" sz="4000" b="1">
                <a:solidFill>
                  <a:srgbClr val="FF0000"/>
                </a:solidFill>
                <a:effectLst>
                  <a:outerShdw blurRad="38100" dist="38100" dir="2700000" algn="tl">
                    <a:srgbClr val="C0C0C0"/>
                  </a:outerShdw>
                </a:effectLst>
                <a:latin typeface="Arial MT Black" pitchFamily="2" charset="-18"/>
              </a:rPr>
              <a:t>“VIBRATION ANALYSIS” </a:t>
            </a:r>
          </a:p>
          <a:p>
            <a:pPr algn="ctr"/>
            <a:endParaRPr lang="en-US" sz="4000" b="1">
              <a:solidFill>
                <a:srgbClr val="FF0000"/>
              </a:solidFill>
              <a:effectLst>
                <a:outerShdw blurRad="38100" dist="38100" dir="2700000" algn="tl">
                  <a:srgbClr val="C0C0C0"/>
                </a:outerShdw>
              </a:effectLst>
              <a:latin typeface="Arial MT Black" pitchFamily="2" charset="-18"/>
            </a:endParaRPr>
          </a:p>
          <a:p>
            <a:pPr algn="ctr"/>
            <a:r>
              <a:rPr lang="en-US" sz="4000" b="1">
                <a:solidFill>
                  <a:srgbClr val="0033CC"/>
                </a:solidFill>
                <a:effectLst>
                  <a:outerShdw blurRad="38100" dist="38100" dir="2700000" algn="tl">
                    <a:srgbClr val="C0C0C0"/>
                  </a:outerShdw>
                </a:effectLst>
                <a:latin typeface="Arial MT Black" pitchFamily="2" charset="-18"/>
              </a:rPr>
              <a:t>ALONE CAN  IDENTIFY</a:t>
            </a:r>
          </a:p>
          <a:p>
            <a:pPr algn="ctr"/>
            <a:endParaRPr lang="en-US" sz="4000" b="1">
              <a:solidFill>
                <a:srgbClr val="0033CC"/>
              </a:solidFill>
              <a:effectLst>
                <a:outerShdw blurRad="38100" dist="38100" dir="2700000" algn="tl">
                  <a:srgbClr val="C0C0C0"/>
                </a:outerShdw>
              </a:effectLst>
              <a:latin typeface="Arial MT Black" pitchFamily="2" charset="-18"/>
            </a:endParaRPr>
          </a:p>
          <a:p>
            <a:pPr algn="ctr"/>
            <a:r>
              <a:rPr lang="en-US" sz="7200" b="1">
                <a:solidFill>
                  <a:srgbClr val="0033CC"/>
                </a:solidFill>
                <a:effectLst>
                  <a:outerShdw blurRad="38100" dist="38100" dir="2700000" algn="tl">
                    <a:srgbClr val="C0C0C0"/>
                  </a:outerShdw>
                </a:effectLst>
                <a:latin typeface="Arial MT Black" pitchFamily="2" charset="-18"/>
              </a:rPr>
              <a:t>&gt; 95</a:t>
            </a:r>
            <a:r>
              <a:rPr lang="en-US" sz="4000" b="1">
                <a:solidFill>
                  <a:srgbClr val="0033CC"/>
                </a:solidFill>
                <a:effectLst>
                  <a:outerShdw blurRad="38100" dist="38100" dir="2700000" algn="tl">
                    <a:srgbClr val="C0C0C0"/>
                  </a:outerShdw>
                </a:effectLst>
                <a:latin typeface="Arial MT Black" pitchFamily="2" charset="-18"/>
              </a:rPr>
              <a:t>%  </a:t>
            </a:r>
          </a:p>
          <a:p>
            <a:pPr algn="ctr"/>
            <a:endParaRPr lang="en-US" sz="4000" b="1">
              <a:solidFill>
                <a:srgbClr val="0033CC"/>
              </a:solidFill>
              <a:effectLst>
                <a:outerShdw blurRad="38100" dist="38100" dir="2700000" algn="tl">
                  <a:srgbClr val="C0C0C0"/>
                </a:outerShdw>
              </a:effectLst>
              <a:latin typeface="Arial MT Black" pitchFamily="2" charset="-18"/>
            </a:endParaRPr>
          </a:p>
          <a:p>
            <a:pPr algn="ctr"/>
            <a:r>
              <a:rPr lang="en-US" sz="4000" b="1">
                <a:solidFill>
                  <a:srgbClr val="FF0000"/>
                </a:solidFill>
                <a:effectLst>
                  <a:outerShdw blurRad="38100" dist="38100" dir="2700000" algn="tl">
                    <a:srgbClr val="C0C0C0"/>
                  </a:outerShdw>
                </a:effectLst>
                <a:latin typeface="Arial MT Black" pitchFamily="2" charset="-18"/>
              </a:rPr>
              <a:t>OF MACHINERY PROBLEMS</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930" name="Rectangle 2"/>
          <p:cNvSpPr>
            <a:spLocks noChangeArrowheads="1"/>
          </p:cNvSpPr>
          <p:nvPr/>
        </p:nvSpPr>
        <p:spPr bwMode="auto">
          <a:xfrm>
            <a:off x="896938" y="207963"/>
            <a:ext cx="7408862" cy="698500"/>
          </a:xfrm>
          <a:prstGeom prst="rect">
            <a:avLst/>
          </a:prstGeom>
          <a:noFill/>
          <a:ln w="12700">
            <a:noFill/>
            <a:miter lim="800000"/>
            <a:headEnd/>
            <a:tailEnd/>
          </a:ln>
          <a:effectLst/>
        </p:spPr>
        <p:txBody>
          <a:bodyPr lIns="90488" tIns="44450" rIns="90488" bIns="44450">
            <a:spAutoFit/>
          </a:bodyPr>
          <a:lstStyle/>
          <a:p>
            <a:pPr algn="ctr"/>
            <a:r>
              <a:rPr lang="en-US" sz="4000" b="1"/>
              <a:t>Basic Theory  Of  Vibration</a:t>
            </a:r>
          </a:p>
        </p:txBody>
      </p:sp>
      <p:sp>
        <p:nvSpPr>
          <p:cNvPr id="892931" name="Rectangle 3"/>
          <p:cNvSpPr>
            <a:spLocks noChangeArrowheads="1"/>
          </p:cNvSpPr>
          <p:nvPr/>
        </p:nvSpPr>
        <p:spPr bwMode="auto">
          <a:xfrm>
            <a:off x="2292350" y="1398588"/>
            <a:ext cx="1884363" cy="215900"/>
          </a:xfrm>
          <a:prstGeom prst="rect">
            <a:avLst/>
          </a:prstGeom>
          <a:solidFill>
            <a:schemeClr val="bg1"/>
          </a:solidFill>
          <a:ln w="12700">
            <a:solidFill>
              <a:schemeClr val="tx1"/>
            </a:solidFill>
            <a:miter lim="800000"/>
            <a:headEnd/>
            <a:tailEnd/>
          </a:ln>
          <a:effectLst/>
        </p:spPr>
        <p:txBody>
          <a:bodyPr wrap="none" anchor="ctr"/>
          <a:lstStyle/>
          <a:p>
            <a:endParaRPr lang="en-US"/>
          </a:p>
        </p:txBody>
      </p:sp>
      <p:sp>
        <p:nvSpPr>
          <p:cNvPr id="892932" name="Rectangle 4"/>
          <p:cNvSpPr>
            <a:spLocks noChangeArrowheads="1"/>
          </p:cNvSpPr>
          <p:nvPr/>
        </p:nvSpPr>
        <p:spPr bwMode="auto">
          <a:xfrm>
            <a:off x="2281238" y="1379538"/>
            <a:ext cx="1614487" cy="241300"/>
          </a:xfrm>
          <a:prstGeom prst="rect">
            <a:avLst/>
          </a:prstGeom>
          <a:noFill/>
          <a:ln w="12700">
            <a:noFill/>
            <a:miter lim="800000"/>
            <a:headEnd/>
            <a:tailEnd/>
          </a:ln>
          <a:effectLst/>
        </p:spPr>
        <p:txBody>
          <a:bodyPr wrap="none" lIns="90488" tIns="44450" rIns="90488" bIns="44450">
            <a:spAutoFit/>
          </a:bodyPr>
          <a:lstStyle/>
          <a:p>
            <a:pPr algn="ctr"/>
            <a:r>
              <a:rPr lang="en-US" sz="1000"/>
              <a:t>Simple Spring Mass System</a:t>
            </a:r>
          </a:p>
        </p:txBody>
      </p:sp>
      <p:sp>
        <p:nvSpPr>
          <p:cNvPr id="892933" name="Line 5"/>
          <p:cNvSpPr>
            <a:spLocks noChangeShapeType="1"/>
          </p:cNvSpPr>
          <p:nvPr/>
        </p:nvSpPr>
        <p:spPr bwMode="auto">
          <a:xfrm>
            <a:off x="3128963" y="1627188"/>
            <a:ext cx="0" cy="63500"/>
          </a:xfrm>
          <a:prstGeom prst="line">
            <a:avLst/>
          </a:prstGeom>
          <a:noFill/>
          <a:ln w="12700">
            <a:solidFill>
              <a:schemeClr val="tx1"/>
            </a:solidFill>
            <a:round/>
            <a:headEnd/>
            <a:tailEnd/>
          </a:ln>
          <a:effectLst/>
        </p:spPr>
        <p:txBody>
          <a:bodyPr wrap="none" anchor="ctr"/>
          <a:lstStyle/>
          <a:p>
            <a:endParaRPr lang="en-US"/>
          </a:p>
        </p:txBody>
      </p:sp>
      <p:sp>
        <p:nvSpPr>
          <p:cNvPr id="892934" name="Line 6"/>
          <p:cNvSpPr>
            <a:spLocks noChangeShapeType="1"/>
          </p:cNvSpPr>
          <p:nvPr/>
        </p:nvSpPr>
        <p:spPr bwMode="auto">
          <a:xfrm flipH="1">
            <a:off x="2981325" y="1703388"/>
            <a:ext cx="153988" cy="63500"/>
          </a:xfrm>
          <a:prstGeom prst="line">
            <a:avLst/>
          </a:prstGeom>
          <a:noFill/>
          <a:ln w="12700">
            <a:solidFill>
              <a:schemeClr val="tx1"/>
            </a:solidFill>
            <a:round/>
            <a:headEnd/>
            <a:tailEnd/>
          </a:ln>
          <a:effectLst/>
        </p:spPr>
        <p:txBody>
          <a:bodyPr wrap="none" anchor="ctr"/>
          <a:lstStyle/>
          <a:p>
            <a:endParaRPr lang="en-US"/>
          </a:p>
        </p:txBody>
      </p:sp>
      <p:sp>
        <p:nvSpPr>
          <p:cNvPr id="892935" name="Line 7"/>
          <p:cNvSpPr>
            <a:spLocks noChangeShapeType="1"/>
          </p:cNvSpPr>
          <p:nvPr/>
        </p:nvSpPr>
        <p:spPr bwMode="auto">
          <a:xfrm>
            <a:off x="2994025" y="1779588"/>
            <a:ext cx="198438" cy="63500"/>
          </a:xfrm>
          <a:prstGeom prst="line">
            <a:avLst/>
          </a:prstGeom>
          <a:noFill/>
          <a:ln w="12700">
            <a:solidFill>
              <a:schemeClr val="tx1"/>
            </a:solidFill>
            <a:round/>
            <a:headEnd/>
            <a:tailEnd/>
          </a:ln>
          <a:effectLst/>
        </p:spPr>
        <p:txBody>
          <a:bodyPr wrap="none" anchor="ctr"/>
          <a:lstStyle/>
          <a:p>
            <a:endParaRPr lang="en-US"/>
          </a:p>
        </p:txBody>
      </p:sp>
      <p:sp>
        <p:nvSpPr>
          <p:cNvPr id="892936" name="Line 8"/>
          <p:cNvSpPr>
            <a:spLocks noChangeShapeType="1"/>
          </p:cNvSpPr>
          <p:nvPr/>
        </p:nvSpPr>
        <p:spPr bwMode="auto">
          <a:xfrm flipH="1">
            <a:off x="2981325" y="1855788"/>
            <a:ext cx="223838" cy="63500"/>
          </a:xfrm>
          <a:prstGeom prst="line">
            <a:avLst/>
          </a:prstGeom>
          <a:noFill/>
          <a:ln w="12700">
            <a:solidFill>
              <a:schemeClr val="tx1"/>
            </a:solidFill>
            <a:round/>
            <a:headEnd/>
            <a:tailEnd/>
          </a:ln>
          <a:effectLst/>
        </p:spPr>
        <p:txBody>
          <a:bodyPr wrap="none" anchor="ctr"/>
          <a:lstStyle/>
          <a:p>
            <a:endParaRPr lang="en-US"/>
          </a:p>
        </p:txBody>
      </p:sp>
      <p:sp>
        <p:nvSpPr>
          <p:cNvPr id="892937" name="Line 9"/>
          <p:cNvSpPr>
            <a:spLocks noChangeShapeType="1"/>
          </p:cNvSpPr>
          <p:nvPr/>
        </p:nvSpPr>
        <p:spPr bwMode="auto">
          <a:xfrm>
            <a:off x="2994025" y="1931988"/>
            <a:ext cx="198438" cy="63500"/>
          </a:xfrm>
          <a:prstGeom prst="line">
            <a:avLst/>
          </a:prstGeom>
          <a:noFill/>
          <a:ln w="12700">
            <a:solidFill>
              <a:schemeClr val="tx1"/>
            </a:solidFill>
            <a:round/>
            <a:headEnd/>
            <a:tailEnd/>
          </a:ln>
          <a:effectLst/>
        </p:spPr>
        <p:txBody>
          <a:bodyPr wrap="none" anchor="ctr"/>
          <a:lstStyle/>
          <a:p>
            <a:endParaRPr lang="en-US"/>
          </a:p>
        </p:txBody>
      </p:sp>
      <p:sp>
        <p:nvSpPr>
          <p:cNvPr id="892938" name="Line 10"/>
          <p:cNvSpPr>
            <a:spLocks noChangeShapeType="1"/>
          </p:cNvSpPr>
          <p:nvPr/>
        </p:nvSpPr>
        <p:spPr bwMode="auto">
          <a:xfrm flipH="1">
            <a:off x="2981325" y="2008188"/>
            <a:ext cx="223838" cy="63500"/>
          </a:xfrm>
          <a:prstGeom prst="line">
            <a:avLst/>
          </a:prstGeom>
          <a:noFill/>
          <a:ln w="12700">
            <a:solidFill>
              <a:schemeClr val="tx1"/>
            </a:solidFill>
            <a:round/>
            <a:headEnd/>
            <a:tailEnd/>
          </a:ln>
          <a:effectLst/>
        </p:spPr>
        <p:txBody>
          <a:bodyPr wrap="none" anchor="ctr"/>
          <a:lstStyle/>
          <a:p>
            <a:endParaRPr lang="en-US"/>
          </a:p>
        </p:txBody>
      </p:sp>
      <p:sp>
        <p:nvSpPr>
          <p:cNvPr id="892939" name="Line 11"/>
          <p:cNvSpPr>
            <a:spLocks noChangeShapeType="1"/>
          </p:cNvSpPr>
          <p:nvPr/>
        </p:nvSpPr>
        <p:spPr bwMode="auto">
          <a:xfrm>
            <a:off x="2994025" y="2084388"/>
            <a:ext cx="198438" cy="63500"/>
          </a:xfrm>
          <a:prstGeom prst="line">
            <a:avLst/>
          </a:prstGeom>
          <a:noFill/>
          <a:ln w="12700">
            <a:solidFill>
              <a:schemeClr val="tx1"/>
            </a:solidFill>
            <a:round/>
            <a:headEnd/>
            <a:tailEnd/>
          </a:ln>
          <a:effectLst/>
        </p:spPr>
        <p:txBody>
          <a:bodyPr wrap="none" anchor="ctr"/>
          <a:lstStyle/>
          <a:p>
            <a:endParaRPr lang="en-US"/>
          </a:p>
        </p:txBody>
      </p:sp>
      <p:sp>
        <p:nvSpPr>
          <p:cNvPr id="892940" name="Line 12"/>
          <p:cNvSpPr>
            <a:spLocks noChangeShapeType="1"/>
          </p:cNvSpPr>
          <p:nvPr/>
        </p:nvSpPr>
        <p:spPr bwMode="auto">
          <a:xfrm flipH="1">
            <a:off x="2981325" y="2160588"/>
            <a:ext cx="223838" cy="63500"/>
          </a:xfrm>
          <a:prstGeom prst="line">
            <a:avLst/>
          </a:prstGeom>
          <a:noFill/>
          <a:ln w="12700">
            <a:solidFill>
              <a:schemeClr val="tx1"/>
            </a:solidFill>
            <a:round/>
            <a:headEnd/>
            <a:tailEnd/>
          </a:ln>
          <a:effectLst/>
        </p:spPr>
        <p:txBody>
          <a:bodyPr wrap="none" anchor="ctr"/>
          <a:lstStyle/>
          <a:p>
            <a:endParaRPr lang="en-US"/>
          </a:p>
        </p:txBody>
      </p:sp>
      <p:sp>
        <p:nvSpPr>
          <p:cNvPr id="892941" name="Line 13"/>
          <p:cNvSpPr>
            <a:spLocks noChangeShapeType="1"/>
          </p:cNvSpPr>
          <p:nvPr/>
        </p:nvSpPr>
        <p:spPr bwMode="auto">
          <a:xfrm>
            <a:off x="2994025" y="2236788"/>
            <a:ext cx="198438" cy="63500"/>
          </a:xfrm>
          <a:prstGeom prst="line">
            <a:avLst/>
          </a:prstGeom>
          <a:noFill/>
          <a:ln w="12700">
            <a:solidFill>
              <a:schemeClr val="tx1"/>
            </a:solidFill>
            <a:round/>
            <a:headEnd/>
            <a:tailEnd/>
          </a:ln>
          <a:effectLst/>
        </p:spPr>
        <p:txBody>
          <a:bodyPr wrap="none" anchor="ctr"/>
          <a:lstStyle/>
          <a:p>
            <a:endParaRPr lang="en-US"/>
          </a:p>
        </p:txBody>
      </p:sp>
      <p:sp>
        <p:nvSpPr>
          <p:cNvPr id="892942" name="Line 14"/>
          <p:cNvSpPr>
            <a:spLocks noChangeShapeType="1"/>
          </p:cNvSpPr>
          <p:nvPr/>
        </p:nvSpPr>
        <p:spPr bwMode="auto">
          <a:xfrm flipH="1">
            <a:off x="2981325" y="2312988"/>
            <a:ext cx="223838" cy="63500"/>
          </a:xfrm>
          <a:prstGeom prst="line">
            <a:avLst/>
          </a:prstGeom>
          <a:noFill/>
          <a:ln w="12700">
            <a:solidFill>
              <a:schemeClr val="tx1"/>
            </a:solidFill>
            <a:round/>
            <a:headEnd/>
            <a:tailEnd/>
          </a:ln>
          <a:effectLst/>
        </p:spPr>
        <p:txBody>
          <a:bodyPr wrap="none" anchor="ctr"/>
          <a:lstStyle/>
          <a:p>
            <a:endParaRPr lang="en-US"/>
          </a:p>
        </p:txBody>
      </p:sp>
      <p:sp>
        <p:nvSpPr>
          <p:cNvPr id="892943" name="Line 15"/>
          <p:cNvSpPr>
            <a:spLocks noChangeShapeType="1"/>
          </p:cNvSpPr>
          <p:nvPr/>
        </p:nvSpPr>
        <p:spPr bwMode="auto">
          <a:xfrm>
            <a:off x="2994025" y="2389188"/>
            <a:ext cx="198438" cy="63500"/>
          </a:xfrm>
          <a:prstGeom prst="line">
            <a:avLst/>
          </a:prstGeom>
          <a:noFill/>
          <a:ln w="12700">
            <a:solidFill>
              <a:schemeClr val="tx1"/>
            </a:solidFill>
            <a:round/>
            <a:headEnd/>
            <a:tailEnd/>
          </a:ln>
          <a:effectLst/>
        </p:spPr>
        <p:txBody>
          <a:bodyPr wrap="none" anchor="ctr"/>
          <a:lstStyle/>
          <a:p>
            <a:endParaRPr lang="en-US"/>
          </a:p>
        </p:txBody>
      </p:sp>
      <p:sp>
        <p:nvSpPr>
          <p:cNvPr id="892944" name="Line 16"/>
          <p:cNvSpPr>
            <a:spLocks noChangeShapeType="1"/>
          </p:cNvSpPr>
          <p:nvPr/>
        </p:nvSpPr>
        <p:spPr bwMode="auto">
          <a:xfrm flipH="1">
            <a:off x="3051175" y="2465388"/>
            <a:ext cx="153988" cy="63500"/>
          </a:xfrm>
          <a:prstGeom prst="line">
            <a:avLst/>
          </a:prstGeom>
          <a:noFill/>
          <a:ln w="12700">
            <a:solidFill>
              <a:schemeClr val="tx1"/>
            </a:solidFill>
            <a:round/>
            <a:headEnd/>
            <a:tailEnd/>
          </a:ln>
          <a:effectLst/>
        </p:spPr>
        <p:txBody>
          <a:bodyPr wrap="none" anchor="ctr"/>
          <a:lstStyle/>
          <a:p>
            <a:endParaRPr lang="en-US"/>
          </a:p>
        </p:txBody>
      </p:sp>
      <p:sp>
        <p:nvSpPr>
          <p:cNvPr id="892945" name="Line 17"/>
          <p:cNvSpPr>
            <a:spLocks noChangeShapeType="1"/>
          </p:cNvSpPr>
          <p:nvPr/>
        </p:nvSpPr>
        <p:spPr bwMode="auto">
          <a:xfrm>
            <a:off x="3057525" y="2541588"/>
            <a:ext cx="0" cy="63500"/>
          </a:xfrm>
          <a:prstGeom prst="line">
            <a:avLst/>
          </a:prstGeom>
          <a:noFill/>
          <a:ln w="12700">
            <a:solidFill>
              <a:schemeClr val="tx1"/>
            </a:solidFill>
            <a:round/>
            <a:headEnd/>
            <a:tailEnd/>
          </a:ln>
          <a:effectLst/>
        </p:spPr>
        <p:txBody>
          <a:bodyPr wrap="none" anchor="ctr"/>
          <a:lstStyle/>
          <a:p>
            <a:endParaRPr lang="en-US"/>
          </a:p>
        </p:txBody>
      </p:sp>
      <p:sp>
        <p:nvSpPr>
          <p:cNvPr id="892946" name="Rectangle 18"/>
          <p:cNvSpPr>
            <a:spLocks noChangeArrowheads="1"/>
          </p:cNvSpPr>
          <p:nvPr/>
        </p:nvSpPr>
        <p:spPr bwMode="auto">
          <a:xfrm>
            <a:off x="2924175" y="2617788"/>
            <a:ext cx="268288" cy="139700"/>
          </a:xfrm>
          <a:prstGeom prst="rect">
            <a:avLst/>
          </a:prstGeom>
          <a:solidFill>
            <a:schemeClr val="bg2"/>
          </a:solidFill>
          <a:ln w="12700">
            <a:solidFill>
              <a:schemeClr val="tx1"/>
            </a:solidFill>
            <a:miter lim="800000"/>
            <a:headEnd/>
            <a:tailEnd/>
          </a:ln>
          <a:effectLst/>
        </p:spPr>
        <p:txBody>
          <a:bodyPr wrap="none" anchor="ctr"/>
          <a:lstStyle/>
          <a:p>
            <a:endParaRPr lang="en-US"/>
          </a:p>
        </p:txBody>
      </p:sp>
      <p:sp>
        <p:nvSpPr>
          <p:cNvPr id="892947" name="Line 19"/>
          <p:cNvSpPr>
            <a:spLocks noChangeShapeType="1"/>
          </p:cNvSpPr>
          <p:nvPr/>
        </p:nvSpPr>
        <p:spPr bwMode="auto">
          <a:xfrm>
            <a:off x="3057525" y="2770188"/>
            <a:ext cx="0" cy="520700"/>
          </a:xfrm>
          <a:prstGeom prst="line">
            <a:avLst/>
          </a:prstGeom>
          <a:noFill/>
          <a:ln w="12700">
            <a:solidFill>
              <a:schemeClr val="tx1"/>
            </a:solidFill>
            <a:prstDash val="sysDot"/>
            <a:round/>
            <a:headEnd/>
            <a:tailEnd/>
          </a:ln>
          <a:effectLst/>
        </p:spPr>
        <p:txBody>
          <a:bodyPr wrap="none" anchor="ctr"/>
          <a:lstStyle/>
          <a:p>
            <a:endParaRPr lang="en-US"/>
          </a:p>
        </p:txBody>
      </p:sp>
      <p:sp>
        <p:nvSpPr>
          <p:cNvPr id="892948" name="Rectangle 20"/>
          <p:cNvSpPr>
            <a:spLocks noChangeArrowheads="1"/>
          </p:cNvSpPr>
          <p:nvPr/>
        </p:nvSpPr>
        <p:spPr bwMode="auto">
          <a:xfrm>
            <a:off x="2924175" y="3151188"/>
            <a:ext cx="268288" cy="139700"/>
          </a:xfrm>
          <a:prstGeom prst="rect">
            <a:avLst/>
          </a:prstGeom>
          <a:solidFill>
            <a:schemeClr val="bg1"/>
          </a:solidFill>
          <a:ln w="12700">
            <a:solidFill>
              <a:schemeClr val="tx1"/>
            </a:solidFill>
            <a:prstDash val="dash"/>
            <a:miter lim="800000"/>
            <a:headEnd/>
            <a:tailEnd/>
          </a:ln>
          <a:effectLst/>
        </p:spPr>
        <p:txBody>
          <a:bodyPr wrap="none" anchor="ctr"/>
          <a:lstStyle/>
          <a:p>
            <a:endParaRPr lang="en-US"/>
          </a:p>
        </p:txBody>
      </p:sp>
      <p:sp>
        <p:nvSpPr>
          <p:cNvPr id="892949" name="Line 21"/>
          <p:cNvSpPr>
            <a:spLocks noChangeShapeType="1"/>
          </p:cNvSpPr>
          <p:nvPr/>
        </p:nvSpPr>
        <p:spPr bwMode="auto">
          <a:xfrm>
            <a:off x="2782888" y="2687638"/>
            <a:ext cx="1746250" cy="0"/>
          </a:xfrm>
          <a:prstGeom prst="line">
            <a:avLst/>
          </a:prstGeom>
          <a:noFill/>
          <a:ln w="12700">
            <a:solidFill>
              <a:schemeClr val="tx1"/>
            </a:solidFill>
            <a:prstDash val="dashDot"/>
            <a:round/>
            <a:headEnd/>
            <a:tailEnd/>
          </a:ln>
          <a:effectLst/>
        </p:spPr>
        <p:txBody>
          <a:bodyPr wrap="none" anchor="ctr"/>
          <a:lstStyle/>
          <a:p>
            <a:endParaRPr lang="en-US"/>
          </a:p>
        </p:txBody>
      </p:sp>
      <p:sp>
        <p:nvSpPr>
          <p:cNvPr id="892950" name="Line 22"/>
          <p:cNvSpPr>
            <a:spLocks noChangeShapeType="1"/>
          </p:cNvSpPr>
          <p:nvPr/>
        </p:nvSpPr>
        <p:spPr bwMode="auto">
          <a:xfrm>
            <a:off x="2782888" y="3221038"/>
            <a:ext cx="4138612" cy="0"/>
          </a:xfrm>
          <a:prstGeom prst="line">
            <a:avLst/>
          </a:prstGeom>
          <a:noFill/>
          <a:ln w="12700">
            <a:solidFill>
              <a:schemeClr val="tx1"/>
            </a:solidFill>
            <a:prstDash val="dashDot"/>
            <a:round/>
            <a:headEnd/>
            <a:tailEnd/>
          </a:ln>
          <a:effectLst/>
        </p:spPr>
        <p:txBody>
          <a:bodyPr wrap="none" anchor="ctr"/>
          <a:lstStyle/>
          <a:p>
            <a:endParaRPr lang="en-US"/>
          </a:p>
        </p:txBody>
      </p:sp>
      <p:sp>
        <p:nvSpPr>
          <p:cNvPr id="892951" name="Line 23"/>
          <p:cNvSpPr>
            <a:spLocks noChangeShapeType="1"/>
          </p:cNvSpPr>
          <p:nvPr/>
        </p:nvSpPr>
        <p:spPr bwMode="auto">
          <a:xfrm>
            <a:off x="2782888" y="2154238"/>
            <a:ext cx="4138612" cy="0"/>
          </a:xfrm>
          <a:prstGeom prst="line">
            <a:avLst/>
          </a:prstGeom>
          <a:noFill/>
          <a:ln w="12700">
            <a:solidFill>
              <a:schemeClr val="tx1"/>
            </a:solidFill>
            <a:prstDash val="dashDot"/>
            <a:round/>
            <a:headEnd/>
            <a:tailEnd/>
          </a:ln>
          <a:effectLst/>
        </p:spPr>
        <p:txBody>
          <a:bodyPr wrap="none" anchor="ctr"/>
          <a:lstStyle/>
          <a:p>
            <a:endParaRPr lang="en-US"/>
          </a:p>
        </p:txBody>
      </p:sp>
      <p:sp>
        <p:nvSpPr>
          <p:cNvPr id="892952" name="Line 24"/>
          <p:cNvSpPr>
            <a:spLocks noChangeShapeType="1"/>
          </p:cNvSpPr>
          <p:nvPr/>
        </p:nvSpPr>
        <p:spPr bwMode="auto">
          <a:xfrm>
            <a:off x="4535488" y="2160588"/>
            <a:ext cx="0" cy="1054100"/>
          </a:xfrm>
          <a:prstGeom prst="line">
            <a:avLst/>
          </a:prstGeom>
          <a:noFill/>
          <a:ln w="12700">
            <a:solidFill>
              <a:schemeClr val="tx1"/>
            </a:solidFill>
            <a:round/>
            <a:headEnd/>
            <a:tailEnd/>
          </a:ln>
          <a:effectLst/>
        </p:spPr>
        <p:txBody>
          <a:bodyPr wrap="none" anchor="ctr"/>
          <a:lstStyle/>
          <a:p>
            <a:endParaRPr lang="en-US"/>
          </a:p>
        </p:txBody>
      </p:sp>
      <p:sp>
        <p:nvSpPr>
          <p:cNvPr id="892953" name="Arc 25"/>
          <p:cNvSpPr>
            <a:spLocks/>
          </p:cNvSpPr>
          <p:nvPr/>
        </p:nvSpPr>
        <p:spPr bwMode="auto">
          <a:xfrm>
            <a:off x="4543425" y="2162175"/>
            <a:ext cx="487363" cy="527050"/>
          </a:xfrm>
          <a:custGeom>
            <a:avLst/>
            <a:gdLst>
              <a:gd name="G0" fmla="+- 21600 0 0"/>
              <a:gd name="G1" fmla="+- 21600 0 0"/>
              <a:gd name="G2" fmla="+- 21600 0 0"/>
              <a:gd name="T0" fmla="*/ 0 w 21600"/>
              <a:gd name="T1" fmla="*/ 21600 h 21600"/>
              <a:gd name="T2" fmla="*/ 2153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97"/>
                  <a:pt x="9628" y="38"/>
                  <a:pt x="21530" y="0"/>
                </a:cubicBezTo>
              </a:path>
              <a:path w="21600" h="21600" stroke="0" extrusionOk="0">
                <a:moveTo>
                  <a:pt x="0" y="21600"/>
                </a:moveTo>
                <a:cubicBezTo>
                  <a:pt x="0" y="9697"/>
                  <a:pt x="9628" y="38"/>
                  <a:pt x="21530" y="0"/>
                </a:cubicBezTo>
                <a:lnTo>
                  <a:pt x="21600" y="21600"/>
                </a:lnTo>
                <a:close/>
              </a:path>
            </a:pathLst>
          </a:custGeom>
          <a:noFill/>
          <a:ln w="12700" cap="rnd">
            <a:solidFill>
              <a:schemeClr val="tx1"/>
            </a:solidFill>
            <a:round/>
            <a:headEnd/>
            <a:tailEnd/>
          </a:ln>
          <a:effectLst/>
        </p:spPr>
        <p:txBody>
          <a:bodyPr wrap="none" anchor="ctr"/>
          <a:lstStyle/>
          <a:p>
            <a:endParaRPr lang="en-US"/>
          </a:p>
        </p:txBody>
      </p:sp>
      <p:sp>
        <p:nvSpPr>
          <p:cNvPr id="892954" name="Arc 26"/>
          <p:cNvSpPr>
            <a:spLocks/>
          </p:cNvSpPr>
          <p:nvPr/>
        </p:nvSpPr>
        <p:spPr bwMode="auto">
          <a:xfrm>
            <a:off x="4957763" y="2162175"/>
            <a:ext cx="415925" cy="52705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chemeClr val="tx1"/>
            </a:solidFill>
            <a:round/>
            <a:headEnd/>
            <a:tailEnd/>
          </a:ln>
          <a:effectLst/>
        </p:spPr>
        <p:txBody>
          <a:bodyPr wrap="none" anchor="ctr"/>
          <a:lstStyle/>
          <a:p>
            <a:endParaRPr lang="en-US"/>
          </a:p>
        </p:txBody>
      </p:sp>
      <p:sp>
        <p:nvSpPr>
          <p:cNvPr id="892955" name="Arc 27"/>
          <p:cNvSpPr>
            <a:spLocks/>
          </p:cNvSpPr>
          <p:nvPr/>
        </p:nvSpPr>
        <p:spPr bwMode="auto">
          <a:xfrm>
            <a:off x="5387975" y="2687638"/>
            <a:ext cx="415925" cy="527050"/>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12700" cap="rnd">
            <a:solidFill>
              <a:schemeClr val="tx1"/>
            </a:solidFill>
            <a:round/>
            <a:headEnd/>
            <a:tailEnd/>
          </a:ln>
          <a:effectLst/>
        </p:spPr>
        <p:txBody>
          <a:bodyPr wrap="none" anchor="ctr"/>
          <a:lstStyle/>
          <a:p>
            <a:endParaRPr lang="en-US"/>
          </a:p>
        </p:txBody>
      </p:sp>
      <p:sp>
        <p:nvSpPr>
          <p:cNvPr id="892956" name="Arc 28"/>
          <p:cNvSpPr>
            <a:spLocks/>
          </p:cNvSpPr>
          <p:nvPr/>
        </p:nvSpPr>
        <p:spPr bwMode="auto">
          <a:xfrm>
            <a:off x="5802313" y="2687638"/>
            <a:ext cx="415925" cy="5270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a:tailEnd/>
          </a:ln>
          <a:effectLst/>
        </p:spPr>
        <p:txBody>
          <a:bodyPr wrap="none" anchor="ctr"/>
          <a:lstStyle/>
          <a:p>
            <a:endParaRPr lang="en-US"/>
          </a:p>
        </p:txBody>
      </p:sp>
      <p:sp>
        <p:nvSpPr>
          <p:cNvPr id="892957" name="Line 29"/>
          <p:cNvSpPr>
            <a:spLocks noChangeShapeType="1"/>
          </p:cNvSpPr>
          <p:nvPr/>
        </p:nvSpPr>
        <p:spPr bwMode="auto">
          <a:xfrm>
            <a:off x="4541838" y="2687638"/>
            <a:ext cx="1957387" cy="0"/>
          </a:xfrm>
          <a:prstGeom prst="line">
            <a:avLst/>
          </a:prstGeom>
          <a:noFill/>
          <a:ln w="12700">
            <a:solidFill>
              <a:schemeClr val="tx1"/>
            </a:solidFill>
            <a:round/>
            <a:headEnd/>
            <a:tailEnd/>
          </a:ln>
          <a:effectLst/>
        </p:spPr>
        <p:txBody>
          <a:bodyPr wrap="none" anchor="ctr"/>
          <a:lstStyle/>
          <a:p>
            <a:endParaRPr lang="en-US"/>
          </a:p>
        </p:txBody>
      </p:sp>
      <p:sp>
        <p:nvSpPr>
          <p:cNvPr id="892958" name="Rectangle 30"/>
          <p:cNvSpPr>
            <a:spLocks noChangeArrowheads="1"/>
          </p:cNvSpPr>
          <p:nvPr/>
        </p:nvSpPr>
        <p:spPr bwMode="auto">
          <a:xfrm>
            <a:off x="2924175" y="2084388"/>
            <a:ext cx="268288" cy="139700"/>
          </a:xfrm>
          <a:prstGeom prst="rect">
            <a:avLst/>
          </a:prstGeom>
          <a:solidFill>
            <a:schemeClr val="bg1"/>
          </a:solidFill>
          <a:ln w="12700">
            <a:solidFill>
              <a:schemeClr val="tx1"/>
            </a:solidFill>
            <a:prstDash val="dash"/>
            <a:miter lim="800000"/>
            <a:headEnd/>
            <a:tailEnd/>
          </a:ln>
          <a:effectLst/>
        </p:spPr>
        <p:txBody>
          <a:bodyPr wrap="none" anchor="ctr"/>
          <a:lstStyle/>
          <a:p>
            <a:endParaRPr lang="en-US"/>
          </a:p>
        </p:txBody>
      </p:sp>
      <p:sp>
        <p:nvSpPr>
          <p:cNvPr id="892959" name="Rectangle 31"/>
          <p:cNvSpPr>
            <a:spLocks noChangeArrowheads="1"/>
          </p:cNvSpPr>
          <p:nvPr/>
        </p:nvSpPr>
        <p:spPr bwMode="auto">
          <a:xfrm>
            <a:off x="2189163" y="1966913"/>
            <a:ext cx="600075" cy="454025"/>
          </a:xfrm>
          <a:prstGeom prst="rect">
            <a:avLst/>
          </a:prstGeom>
          <a:noFill/>
          <a:ln w="12700">
            <a:noFill/>
            <a:miter lim="800000"/>
            <a:headEnd/>
            <a:tailEnd/>
          </a:ln>
          <a:effectLst/>
        </p:spPr>
        <p:txBody>
          <a:bodyPr wrap="none" lIns="90488" tIns="44450" rIns="90488" bIns="44450">
            <a:spAutoFit/>
          </a:bodyPr>
          <a:lstStyle/>
          <a:p>
            <a:r>
              <a:rPr lang="en-US" sz="1200"/>
              <a:t>Upper </a:t>
            </a:r>
          </a:p>
          <a:p>
            <a:r>
              <a:rPr lang="en-US" sz="1200"/>
              <a:t>Limit</a:t>
            </a:r>
          </a:p>
        </p:txBody>
      </p:sp>
      <p:sp>
        <p:nvSpPr>
          <p:cNvPr id="892960" name="Rectangle 32"/>
          <p:cNvSpPr>
            <a:spLocks noChangeArrowheads="1"/>
          </p:cNvSpPr>
          <p:nvPr/>
        </p:nvSpPr>
        <p:spPr bwMode="auto">
          <a:xfrm>
            <a:off x="2189163" y="2424113"/>
            <a:ext cx="681037" cy="454025"/>
          </a:xfrm>
          <a:prstGeom prst="rect">
            <a:avLst/>
          </a:prstGeom>
          <a:noFill/>
          <a:ln w="12700">
            <a:noFill/>
            <a:miter lim="800000"/>
            <a:headEnd/>
            <a:tailEnd/>
          </a:ln>
          <a:effectLst/>
        </p:spPr>
        <p:txBody>
          <a:bodyPr wrap="none" lIns="90488" tIns="44450" rIns="90488" bIns="44450">
            <a:spAutoFit/>
          </a:bodyPr>
          <a:lstStyle/>
          <a:p>
            <a:r>
              <a:rPr lang="en-US" sz="1200"/>
              <a:t>Neutral</a:t>
            </a:r>
          </a:p>
          <a:p>
            <a:r>
              <a:rPr lang="en-US" sz="1200"/>
              <a:t>Position</a:t>
            </a:r>
          </a:p>
        </p:txBody>
      </p:sp>
      <p:sp>
        <p:nvSpPr>
          <p:cNvPr id="892961" name="Rectangle 33"/>
          <p:cNvSpPr>
            <a:spLocks noChangeArrowheads="1"/>
          </p:cNvSpPr>
          <p:nvPr/>
        </p:nvSpPr>
        <p:spPr bwMode="auto">
          <a:xfrm>
            <a:off x="2189163" y="3033713"/>
            <a:ext cx="681037" cy="454025"/>
          </a:xfrm>
          <a:prstGeom prst="rect">
            <a:avLst/>
          </a:prstGeom>
          <a:noFill/>
          <a:ln w="12700">
            <a:noFill/>
            <a:miter lim="800000"/>
            <a:headEnd/>
            <a:tailEnd/>
          </a:ln>
          <a:effectLst/>
        </p:spPr>
        <p:txBody>
          <a:bodyPr wrap="none" lIns="90488" tIns="44450" rIns="90488" bIns="44450">
            <a:spAutoFit/>
          </a:bodyPr>
          <a:lstStyle/>
          <a:p>
            <a:r>
              <a:rPr lang="en-US" sz="1200"/>
              <a:t>Lower </a:t>
            </a:r>
          </a:p>
          <a:p>
            <a:r>
              <a:rPr lang="en-US" sz="1200"/>
              <a:t>Position</a:t>
            </a:r>
          </a:p>
        </p:txBody>
      </p:sp>
      <p:sp>
        <p:nvSpPr>
          <p:cNvPr id="892962" name="Line 34"/>
          <p:cNvSpPr>
            <a:spLocks noChangeShapeType="1"/>
          </p:cNvSpPr>
          <p:nvPr/>
        </p:nvSpPr>
        <p:spPr bwMode="auto">
          <a:xfrm>
            <a:off x="4043363" y="2312988"/>
            <a:ext cx="0" cy="749300"/>
          </a:xfrm>
          <a:prstGeom prst="line">
            <a:avLst/>
          </a:prstGeom>
          <a:noFill/>
          <a:ln w="12700">
            <a:solidFill>
              <a:schemeClr val="tx1"/>
            </a:solidFill>
            <a:round/>
            <a:headEnd type="triangle" w="med" len="med"/>
            <a:tailEnd type="triangle" w="med" len="med"/>
          </a:ln>
          <a:effectLst/>
        </p:spPr>
        <p:txBody>
          <a:bodyPr wrap="none" anchor="ctr"/>
          <a:lstStyle/>
          <a:p>
            <a:endParaRPr lang="en-US"/>
          </a:p>
        </p:txBody>
      </p:sp>
      <p:sp>
        <p:nvSpPr>
          <p:cNvPr id="892963" name="Rectangle 35"/>
          <p:cNvSpPr>
            <a:spLocks noChangeArrowheads="1"/>
          </p:cNvSpPr>
          <p:nvPr/>
        </p:nvSpPr>
        <p:spPr bwMode="auto">
          <a:xfrm rot="16200000">
            <a:off x="6695282" y="2582068"/>
            <a:ext cx="1022350" cy="271463"/>
          </a:xfrm>
          <a:prstGeom prst="rect">
            <a:avLst/>
          </a:prstGeom>
          <a:noFill/>
          <a:ln w="12700">
            <a:noFill/>
            <a:miter lim="800000"/>
            <a:headEnd/>
            <a:tailEnd/>
          </a:ln>
          <a:effectLst/>
        </p:spPr>
        <p:txBody>
          <a:bodyPr wrap="none" lIns="90488" tIns="44450" rIns="90488" bIns="44450">
            <a:spAutoFit/>
          </a:bodyPr>
          <a:lstStyle/>
          <a:p>
            <a:r>
              <a:rPr lang="en-US" sz="1200"/>
              <a:t>Displacement</a:t>
            </a:r>
          </a:p>
        </p:txBody>
      </p:sp>
      <p:sp>
        <p:nvSpPr>
          <p:cNvPr id="892964" name="Line 36"/>
          <p:cNvSpPr>
            <a:spLocks noChangeShapeType="1"/>
          </p:cNvSpPr>
          <p:nvPr/>
        </p:nvSpPr>
        <p:spPr bwMode="auto">
          <a:xfrm>
            <a:off x="6997700" y="2160588"/>
            <a:ext cx="0" cy="1054100"/>
          </a:xfrm>
          <a:prstGeom prst="line">
            <a:avLst/>
          </a:prstGeom>
          <a:noFill/>
          <a:ln w="12700">
            <a:solidFill>
              <a:schemeClr val="tx1"/>
            </a:solidFill>
            <a:prstDash val="lgDash"/>
            <a:round/>
            <a:headEnd type="triangle" w="med" len="med"/>
            <a:tailEnd type="triangle" w="med" len="med"/>
          </a:ln>
          <a:effectLst/>
        </p:spPr>
        <p:txBody>
          <a:bodyPr wrap="none" anchor="ctr"/>
          <a:lstStyle/>
          <a:p>
            <a:endParaRPr lang="en-US"/>
          </a:p>
        </p:txBody>
      </p:sp>
      <p:sp>
        <p:nvSpPr>
          <p:cNvPr id="892965" name="Rectangle 37"/>
          <p:cNvSpPr>
            <a:spLocks noChangeArrowheads="1"/>
          </p:cNvSpPr>
          <p:nvPr/>
        </p:nvSpPr>
        <p:spPr bwMode="auto">
          <a:xfrm>
            <a:off x="4860925" y="1768475"/>
            <a:ext cx="777875" cy="393700"/>
          </a:xfrm>
          <a:prstGeom prst="rect">
            <a:avLst/>
          </a:prstGeom>
          <a:noFill/>
          <a:ln w="12700">
            <a:noFill/>
            <a:miter lim="800000"/>
            <a:headEnd/>
            <a:tailEnd/>
          </a:ln>
          <a:effectLst/>
        </p:spPr>
        <p:txBody>
          <a:bodyPr lIns="90488" tIns="44450" rIns="90488" bIns="44450">
            <a:spAutoFit/>
          </a:bodyPr>
          <a:lstStyle/>
          <a:p>
            <a:r>
              <a:rPr lang="en-US" sz="1000"/>
              <a:t>Max Acc</a:t>
            </a:r>
          </a:p>
          <a:p>
            <a:r>
              <a:rPr lang="en-US" sz="1000"/>
              <a:t>Mim Vel</a:t>
            </a:r>
          </a:p>
        </p:txBody>
      </p:sp>
      <p:sp>
        <p:nvSpPr>
          <p:cNvPr id="892966" name="Rectangle 38"/>
          <p:cNvSpPr>
            <a:spLocks noChangeArrowheads="1"/>
          </p:cNvSpPr>
          <p:nvPr/>
        </p:nvSpPr>
        <p:spPr bwMode="auto">
          <a:xfrm>
            <a:off x="5494338" y="3284538"/>
            <a:ext cx="652462" cy="393700"/>
          </a:xfrm>
          <a:prstGeom prst="rect">
            <a:avLst/>
          </a:prstGeom>
          <a:noFill/>
          <a:ln w="12700">
            <a:noFill/>
            <a:miter lim="800000"/>
            <a:headEnd/>
            <a:tailEnd/>
          </a:ln>
          <a:effectLst/>
        </p:spPr>
        <p:txBody>
          <a:bodyPr wrap="none" lIns="90488" tIns="44450" rIns="90488" bIns="44450">
            <a:spAutoFit/>
          </a:bodyPr>
          <a:lstStyle/>
          <a:p>
            <a:r>
              <a:rPr lang="en-US" sz="1000"/>
              <a:t>Max Acc</a:t>
            </a:r>
          </a:p>
          <a:p>
            <a:r>
              <a:rPr lang="en-US" sz="1000"/>
              <a:t>Mim Vel</a:t>
            </a:r>
          </a:p>
        </p:txBody>
      </p:sp>
      <p:sp>
        <p:nvSpPr>
          <p:cNvPr id="892967" name="Rectangle 39"/>
          <p:cNvSpPr>
            <a:spLocks noChangeArrowheads="1"/>
          </p:cNvSpPr>
          <p:nvPr/>
        </p:nvSpPr>
        <p:spPr bwMode="auto">
          <a:xfrm>
            <a:off x="5283200" y="2370138"/>
            <a:ext cx="665163" cy="393700"/>
          </a:xfrm>
          <a:prstGeom prst="rect">
            <a:avLst/>
          </a:prstGeom>
          <a:noFill/>
          <a:ln w="12700">
            <a:noFill/>
            <a:miter lim="800000"/>
            <a:headEnd/>
            <a:tailEnd/>
          </a:ln>
          <a:effectLst/>
        </p:spPr>
        <p:txBody>
          <a:bodyPr wrap="none" lIns="90488" tIns="44450" rIns="90488" bIns="44450">
            <a:spAutoFit/>
          </a:bodyPr>
          <a:lstStyle/>
          <a:p>
            <a:r>
              <a:rPr lang="en-US" sz="1000"/>
              <a:t>Max Vel</a:t>
            </a:r>
          </a:p>
          <a:p>
            <a:r>
              <a:rPr lang="en-US" sz="1000"/>
              <a:t>Mim Acc</a:t>
            </a:r>
          </a:p>
        </p:txBody>
      </p:sp>
      <p:sp>
        <p:nvSpPr>
          <p:cNvPr id="892968" name="Rectangle 40"/>
          <p:cNvSpPr>
            <a:spLocks noChangeArrowheads="1"/>
          </p:cNvSpPr>
          <p:nvPr/>
        </p:nvSpPr>
        <p:spPr bwMode="auto">
          <a:xfrm>
            <a:off x="1447800" y="4419600"/>
            <a:ext cx="6486525" cy="638175"/>
          </a:xfrm>
          <a:prstGeom prst="rect">
            <a:avLst/>
          </a:prstGeom>
          <a:noFill/>
          <a:ln w="12700">
            <a:noFill/>
            <a:miter lim="800000"/>
            <a:headEnd/>
            <a:tailEnd/>
          </a:ln>
          <a:effectLst/>
        </p:spPr>
        <p:txBody>
          <a:bodyPr lIns="90488" tIns="44450" rIns="90488" bIns="44450">
            <a:spAutoFit/>
          </a:bodyPr>
          <a:lstStyle/>
          <a:p>
            <a:r>
              <a:rPr lang="en-US" sz="3600" b="1">
                <a:latin typeface="Courier New" pitchFamily="49" charset="0"/>
              </a:rPr>
              <a:t>It follows sine curve.</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93954" name="Group 2"/>
          <p:cNvGrpSpPr>
            <a:grpSpLocks/>
          </p:cNvGrpSpPr>
          <p:nvPr/>
        </p:nvGrpSpPr>
        <p:grpSpPr bwMode="auto">
          <a:xfrm>
            <a:off x="4754563" y="1524000"/>
            <a:ext cx="4389437" cy="3327400"/>
            <a:chOff x="2995" y="960"/>
            <a:chExt cx="2765" cy="2096"/>
          </a:xfrm>
        </p:grpSpPr>
        <p:sp>
          <p:nvSpPr>
            <p:cNvPr id="893955" name="Line 3"/>
            <p:cNvSpPr>
              <a:spLocks noChangeShapeType="1"/>
            </p:cNvSpPr>
            <p:nvPr/>
          </p:nvSpPr>
          <p:spPr bwMode="auto">
            <a:xfrm>
              <a:off x="3436" y="1771"/>
              <a:ext cx="1863" cy="0"/>
            </a:xfrm>
            <a:prstGeom prst="line">
              <a:avLst/>
            </a:prstGeom>
            <a:noFill/>
            <a:ln w="19050">
              <a:solidFill>
                <a:srgbClr val="008280"/>
              </a:solidFill>
              <a:round/>
              <a:headEnd/>
              <a:tailEnd type="triangle" w="med" len="med"/>
            </a:ln>
            <a:effectLst/>
          </p:spPr>
          <p:txBody>
            <a:bodyPr wrap="none" anchor="ctr"/>
            <a:lstStyle/>
            <a:p>
              <a:endParaRPr lang="en-US"/>
            </a:p>
          </p:txBody>
        </p:sp>
        <p:sp>
          <p:nvSpPr>
            <p:cNvPr id="893956" name="Line 4"/>
            <p:cNvSpPr>
              <a:spLocks noChangeShapeType="1"/>
            </p:cNvSpPr>
            <p:nvPr/>
          </p:nvSpPr>
          <p:spPr bwMode="auto">
            <a:xfrm>
              <a:off x="3436" y="1080"/>
              <a:ext cx="0" cy="1377"/>
            </a:xfrm>
            <a:prstGeom prst="line">
              <a:avLst/>
            </a:prstGeom>
            <a:noFill/>
            <a:ln w="19050">
              <a:solidFill>
                <a:srgbClr val="008280"/>
              </a:solidFill>
              <a:round/>
              <a:headEnd/>
              <a:tailEnd/>
            </a:ln>
            <a:effectLst/>
          </p:spPr>
          <p:txBody>
            <a:bodyPr wrap="none" anchor="ctr"/>
            <a:lstStyle/>
            <a:p>
              <a:endParaRPr lang="en-US"/>
            </a:p>
          </p:txBody>
        </p:sp>
        <p:grpSp>
          <p:nvGrpSpPr>
            <p:cNvPr id="893957" name="Group 5"/>
            <p:cNvGrpSpPr>
              <a:grpSpLocks/>
            </p:cNvGrpSpPr>
            <p:nvPr/>
          </p:nvGrpSpPr>
          <p:grpSpPr bwMode="auto">
            <a:xfrm>
              <a:off x="3434" y="1173"/>
              <a:ext cx="1633" cy="1193"/>
              <a:chOff x="2806" y="1414"/>
              <a:chExt cx="1796" cy="1353"/>
            </a:xfrm>
          </p:grpSpPr>
          <p:sp>
            <p:nvSpPr>
              <p:cNvPr id="893958" name="Freeform 6"/>
              <p:cNvSpPr>
                <a:spLocks/>
              </p:cNvSpPr>
              <p:nvPr/>
            </p:nvSpPr>
            <p:spPr bwMode="auto">
              <a:xfrm>
                <a:off x="2806" y="1414"/>
                <a:ext cx="896" cy="672"/>
              </a:xfrm>
              <a:custGeom>
                <a:avLst/>
                <a:gdLst/>
                <a:ahLst/>
                <a:cxnLst>
                  <a:cxn ang="0">
                    <a:pos x="895" y="671"/>
                  </a:cxn>
                  <a:cxn ang="0">
                    <a:pos x="852" y="514"/>
                  </a:cxn>
                  <a:cxn ang="0">
                    <a:pos x="804" y="378"/>
                  </a:cxn>
                  <a:cxn ang="0">
                    <a:pos x="751" y="262"/>
                  </a:cxn>
                  <a:cxn ang="0">
                    <a:pos x="695" y="168"/>
                  </a:cxn>
                  <a:cxn ang="0">
                    <a:pos x="635" y="95"/>
                  </a:cxn>
                  <a:cxn ang="0">
                    <a:pos x="574" y="42"/>
                  </a:cxn>
                  <a:cxn ang="0">
                    <a:pos x="510" y="11"/>
                  </a:cxn>
                  <a:cxn ang="0">
                    <a:pos x="447" y="0"/>
                  </a:cxn>
                  <a:cxn ang="0">
                    <a:pos x="382" y="11"/>
                  </a:cxn>
                  <a:cxn ang="0">
                    <a:pos x="320" y="42"/>
                  </a:cxn>
                  <a:cxn ang="0">
                    <a:pos x="258" y="95"/>
                  </a:cxn>
                  <a:cxn ang="0">
                    <a:pos x="199" y="168"/>
                  </a:cxn>
                  <a:cxn ang="0">
                    <a:pos x="143" y="262"/>
                  </a:cxn>
                  <a:cxn ang="0">
                    <a:pos x="90" y="378"/>
                  </a:cxn>
                  <a:cxn ang="0">
                    <a:pos x="42" y="514"/>
                  </a:cxn>
                  <a:cxn ang="0">
                    <a:pos x="0" y="671"/>
                  </a:cxn>
                </a:cxnLst>
                <a:rect l="0" t="0" r="r" b="b"/>
                <a:pathLst>
                  <a:path w="896" h="672">
                    <a:moveTo>
                      <a:pt x="895" y="671"/>
                    </a:moveTo>
                    <a:lnTo>
                      <a:pt x="852" y="514"/>
                    </a:lnTo>
                    <a:lnTo>
                      <a:pt x="804" y="378"/>
                    </a:lnTo>
                    <a:lnTo>
                      <a:pt x="751" y="262"/>
                    </a:lnTo>
                    <a:lnTo>
                      <a:pt x="695" y="168"/>
                    </a:lnTo>
                    <a:lnTo>
                      <a:pt x="635" y="95"/>
                    </a:lnTo>
                    <a:lnTo>
                      <a:pt x="574" y="42"/>
                    </a:lnTo>
                    <a:lnTo>
                      <a:pt x="510" y="11"/>
                    </a:lnTo>
                    <a:lnTo>
                      <a:pt x="447" y="0"/>
                    </a:lnTo>
                    <a:lnTo>
                      <a:pt x="382" y="11"/>
                    </a:lnTo>
                    <a:lnTo>
                      <a:pt x="320" y="42"/>
                    </a:lnTo>
                    <a:lnTo>
                      <a:pt x="258" y="95"/>
                    </a:lnTo>
                    <a:lnTo>
                      <a:pt x="199" y="168"/>
                    </a:lnTo>
                    <a:lnTo>
                      <a:pt x="143" y="262"/>
                    </a:lnTo>
                    <a:lnTo>
                      <a:pt x="90" y="378"/>
                    </a:lnTo>
                    <a:lnTo>
                      <a:pt x="42" y="514"/>
                    </a:lnTo>
                    <a:lnTo>
                      <a:pt x="0" y="671"/>
                    </a:lnTo>
                  </a:path>
                </a:pathLst>
              </a:custGeom>
              <a:noFill/>
              <a:ln w="31750" cap="flat" cmpd="sng">
                <a:solidFill>
                  <a:srgbClr val="008000"/>
                </a:solidFill>
                <a:prstDash val="solid"/>
                <a:round/>
                <a:headEnd type="none" w="med" len="med"/>
                <a:tailEnd type="none" w="med" len="med"/>
              </a:ln>
              <a:effectLst/>
            </p:spPr>
            <p:txBody>
              <a:bodyPr/>
              <a:lstStyle/>
              <a:p>
                <a:endParaRPr lang="en-US"/>
              </a:p>
            </p:txBody>
          </p:sp>
          <p:sp>
            <p:nvSpPr>
              <p:cNvPr id="893959" name="Freeform 7"/>
              <p:cNvSpPr>
                <a:spLocks/>
              </p:cNvSpPr>
              <p:nvPr/>
            </p:nvSpPr>
            <p:spPr bwMode="auto">
              <a:xfrm>
                <a:off x="3706" y="2095"/>
                <a:ext cx="896" cy="672"/>
              </a:xfrm>
              <a:custGeom>
                <a:avLst/>
                <a:gdLst/>
                <a:ahLst/>
                <a:cxnLst>
                  <a:cxn ang="0">
                    <a:pos x="895" y="0"/>
                  </a:cxn>
                  <a:cxn ang="0">
                    <a:pos x="852" y="158"/>
                  </a:cxn>
                  <a:cxn ang="0">
                    <a:pos x="804" y="294"/>
                  </a:cxn>
                  <a:cxn ang="0">
                    <a:pos x="751" y="410"/>
                  </a:cxn>
                  <a:cxn ang="0">
                    <a:pos x="695" y="504"/>
                  </a:cxn>
                  <a:cxn ang="0">
                    <a:pos x="635" y="578"/>
                  </a:cxn>
                  <a:cxn ang="0">
                    <a:pos x="574" y="630"/>
                  </a:cxn>
                  <a:cxn ang="0">
                    <a:pos x="510" y="661"/>
                  </a:cxn>
                  <a:cxn ang="0">
                    <a:pos x="447" y="671"/>
                  </a:cxn>
                  <a:cxn ang="0">
                    <a:pos x="382" y="661"/>
                  </a:cxn>
                  <a:cxn ang="0">
                    <a:pos x="319" y="630"/>
                  </a:cxn>
                  <a:cxn ang="0">
                    <a:pos x="258" y="578"/>
                  </a:cxn>
                  <a:cxn ang="0">
                    <a:pos x="199" y="504"/>
                  </a:cxn>
                  <a:cxn ang="0">
                    <a:pos x="143" y="410"/>
                  </a:cxn>
                  <a:cxn ang="0">
                    <a:pos x="90" y="294"/>
                  </a:cxn>
                  <a:cxn ang="0">
                    <a:pos x="42" y="158"/>
                  </a:cxn>
                  <a:cxn ang="0">
                    <a:pos x="0" y="0"/>
                  </a:cxn>
                </a:cxnLst>
                <a:rect l="0" t="0" r="r" b="b"/>
                <a:pathLst>
                  <a:path w="896" h="672">
                    <a:moveTo>
                      <a:pt x="895" y="0"/>
                    </a:moveTo>
                    <a:lnTo>
                      <a:pt x="852" y="158"/>
                    </a:lnTo>
                    <a:lnTo>
                      <a:pt x="804" y="294"/>
                    </a:lnTo>
                    <a:lnTo>
                      <a:pt x="751" y="410"/>
                    </a:lnTo>
                    <a:lnTo>
                      <a:pt x="695" y="504"/>
                    </a:lnTo>
                    <a:lnTo>
                      <a:pt x="635" y="578"/>
                    </a:lnTo>
                    <a:lnTo>
                      <a:pt x="574" y="630"/>
                    </a:lnTo>
                    <a:lnTo>
                      <a:pt x="510" y="661"/>
                    </a:lnTo>
                    <a:lnTo>
                      <a:pt x="447" y="671"/>
                    </a:lnTo>
                    <a:lnTo>
                      <a:pt x="382" y="661"/>
                    </a:lnTo>
                    <a:lnTo>
                      <a:pt x="319" y="630"/>
                    </a:lnTo>
                    <a:lnTo>
                      <a:pt x="258" y="578"/>
                    </a:lnTo>
                    <a:lnTo>
                      <a:pt x="199" y="504"/>
                    </a:lnTo>
                    <a:lnTo>
                      <a:pt x="143" y="410"/>
                    </a:lnTo>
                    <a:lnTo>
                      <a:pt x="90" y="294"/>
                    </a:lnTo>
                    <a:lnTo>
                      <a:pt x="42" y="158"/>
                    </a:lnTo>
                    <a:lnTo>
                      <a:pt x="0" y="0"/>
                    </a:lnTo>
                  </a:path>
                </a:pathLst>
              </a:custGeom>
              <a:noFill/>
              <a:ln w="31750" cap="flat" cmpd="sng">
                <a:solidFill>
                  <a:srgbClr val="008000"/>
                </a:solidFill>
                <a:prstDash val="solid"/>
                <a:round/>
                <a:headEnd type="triangle" w="med" len="med"/>
                <a:tailEnd type="none" w="med" len="med"/>
              </a:ln>
              <a:effectLst/>
            </p:spPr>
            <p:txBody>
              <a:bodyPr/>
              <a:lstStyle/>
              <a:p>
                <a:endParaRPr lang="en-US"/>
              </a:p>
            </p:txBody>
          </p:sp>
        </p:grpSp>
        <p:sp>
          <p:nvSpPr>
            <p:cNvPr id="893960" name="Line 8"/>
            <p:cNvSpPr>
              <a:spLocks noChangeShapeType="1"/>
            </p:cNvSpPr>
            <p:nvPr/>
          </p:nvSpPr>
          <p:spPr bwMode="auto">
            <a:xfrm>
              <a:off x="3436" y="2762"/>
              <a:ext cx="1633" cy="0"/>
            </a:xfrm>
            <a:prstGeom prst="line">
              <a:avLst/>
            </a:prstGeom>
            <a:noFill/>
            <a:ln w="19050">
              <a:solidFill>
                <a:srgbClr val="008280"/>
              </a:solidFill>
              <a:round/>
              <a:headEnd/>
              <a:tailEnd/>
            </a:ln>
            <a:effectLst/>
          </p:spPr>
          <p:txBody>
            <a:bodyPr wrap="none" anchor="ctr"/>
            <a:lstStyle/>
            <a:p>
              <a:endParaRPr lang="en-US"/>
            </a:p>
          </p:txBody>
        </p:sp>
        <p:sp>
          <p:nvSpPr>
            <p:cNvPr id="893961" name="Line 9"/>
            <p:cNvSpPr>
              <a:spLocks noChangeShapeType="1"/>
            </p:cNvSpPr>
            <p:nvPr/>
          </p:nvSpPr>
          <p:spPr bwMode="auto">
            <a:xfrm>
              <a:off x="3436" y="2663"/>
              <a:ext cx="0" cy="198"/>
            </a:xfrm>
            <a:prstGeom prst="line">
              <a:avLst/>
            </a:prstGeom>
            <a:noFill/>
            <a:ln w="19050">
              <a:solidFill>
                <a:srgbClr val="008280"/>
              </a:solidFill>
              <a:round/>
              <a:headEnd/>
              <a:tailEnd/>
            </a:ln>
            <a:effectLst/>
          </p:spPr>
          <p:txBody>
            <a:bodyPr wrap="none" anchor="ctr"/>
            <a:lstStyle/>
            <a:p>
              <a:endParaRPr lang="en-US"/>
            </a:p>
          </p:txBody>
        </p:sp>
        <p:sp>
          <p:nvSpPr>
            <p:cNvPr id="893962" name="Line 10"/>
            <p:cNvSpPr>
              <a:spLocks noChangeShapeType="1"/>
            </p:cNvSpPr>
            <p:nvPr/>
          </p:nvSpPr>
          <p:spPr bwMode="auto">
            <a:xfrm>
              <a:off x="5069" y="2663"/>
              <a:ext cx="0" cy="198"/>
            </a:xfrm>
            <a:prstGeom prst="line">
              <a:avLst/>
            </a:prstGeom>
            <a:noFill/>
            <a:ln w="19050">
              <a:solidFill>
                <a:srgbClr val="008280"/>
              </a:solidFill>
              <a:round/>
              <a:headEnd/>
              <a:tailEnd/>
            </a:ln>
            <a:effectLst/>
          </p:spPr>
          <p:txBody>
            <a:bodyPr wrap="none" anchor="ctr"/>
            <a:lstStyle/>
            <a:p>
              <a:endParaRPr lang="en-US"/>
            </a:p>
          </p:txBody>
        </p:sp>
        <p:sp>
          <p:nvSpPr>
            <p:cNvPr id="893963" name="Text Box 11"/>
            <p:cNvSpPr txBox="1">
              <a:spLocks noChangeArrowheads="1"/>
            </p:cNvSpPr>
            <p:nvPr/>
          </p:nvSpPr>
          <p:spPr bwMode="auto">
            <a:xfrm>
              <a:off x="3742" y="2861"/>
              <a:ext cx="950" cy="19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800">
                  <a:solidFill>
                    <a:srgbClr val="000000"/>
                  </a:solidFill>
                  <a:latin typeface="Arial" pitchFamily="34" charset="0"/>
                </a:rPr>
                <a:t>1 revolution</a:t>
              </a:r>
              <a:endParaRPr lang="en-US" sz="1800">
                <a:latin typeface="Arial" pitchFamily="34" charset="0"/>
              </a:endParaRPr>
            </a:p>
          </p:txBody>
        </p:sp>
        <p:sp>
          <p:nvSpPr>
            <p:cNvPr id="893964" name="Text Box 12"/>
            <p:cNvSpPr txBox="1">
              <a:spLocks noChangeArrowheads="1"/>
            </p:cNvSpPr>
            <p:nvPr/>
          </p:nvSpPr>
          <p:spPr bwMode="auto">
            <a:xfrm>
              <a:off x="5347" y="1701"/>
              <a:ext cx="413" cy="194"/>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800">
                  <a:solidFill>
                    <a:srgbClr val="000000"/>
                  </a:solidFill>
                  <a:latin typeface="Arial" pitchFamily="34" charset="0"/>
                </a:rPr>
                <a:t>Time</a:t>
              </a:r>
              <a:endParaRPr lang="en-US" sz="1800">
                <a:latin typeface="Arial" pitchFamily="34" charset="0"/>
              </a:endParaRPr>
            </a:p>
          </p:txBody>
        </p:sp>
        <p:sp>
          <p:nvSpPr>
            <p:cNvPr id="893965" name="Text Box 13"/>
            <p:cNvSpPr txBox="1">
              <a:spLocks noChangeArrowheads="1"/>
            </p:cNvSpPr>
            <p:nvPr/>
          </p:nvSpPr>
          <p:spPr bwMode="auto">
            <a:xfrm rot="-5400000">
              <a:off x="2684" y="1676"/>
              <a:ext cx="818" cy="19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800">
                  <a:solidFill>
                    <a:srgbClr val="000000"/>
                  </a:solidFill>
                  <a:latin typeface="Arial" pitchFamily="34" charset="0"/>
                </a:rPr>
                <a:t>Amplitude</a:t>
              </a:r>
              <a:endParaRPr lang="en-US" sz="1800">
                <a:latin typeface="Arial" pitchFamily="34" charset="0"/>
              </a:endParaRPr>
            </a:p>
          </p:txBody>
        </p:sp>
        <p:sp>
          <p:nvSpPr>
            <p:cNvPr id="893966" name="Text Box 14"/>
            <p:cNvSpPr txBox="1">
              <a:spLocks noChangeArrowheads="1"/>
            </p:cNvSpPr>
            <p:nvPr/>
          </p:nvSpPr>
          <p:spPr bwMode="auto">
            <a:xfrm>
              <a:off x="3283" y="1653"/>
              <a:ext cx="108" cy="194"/>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0</a:t>
              </a:r>
              <a:endParaRPr lang="en-US" sz="1600">
                <a:latin typeface="Arial" pitchFamily="34" charset="0"/>
              </a:endParaRPr>
            </a:p>
          </p:txBody>
        </p:sp>
        <p:sp>
          <p:nvSpPr>
            <p:cNvPr id="893967" name="Text Box 15"/>
            <p:cNvSpPr txBox="1">
              <a:spLocks noChangeArrowheads="1"/>
            </p:cNvSpPr>
            <p:nvPr/>
          </p:nvSpPr>
          <p:spPr bwMode="auto">
            <a:xfrm>
              <a:off x="3283" y="960"/>
              <a:ext cx="114" cy="194"/>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a:t>
              </a:r>
              <a:endParaRPr lang="en-US" sz="1600">
                <a:latin typeface="Arial" pitchFamily="34" charset="0"/>
              </a:endParaRPr>
            </a:p>
          </p:txBody>
        </p:sp>
        <p:sp>
          <p:nvSpPr>
            <p:cNvPr id="893968" name="Text Box 16"/>
            <p:cNvSpPr txBox="1">
              <a:spLocks noChangeArrowheads="1"/>
            </p:cNvSpPr>
            <p:nvPr/>
          </p:nvSpPr>
          <p:spPr bwMode="auto">
            <a:xfrm>
              <a:off x="3307" y="2248"/>
              <a:ext cx="98" cy="289"/>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a:t>
              </a:r>
              <a:endParaRPr lang="en-US" sz="1600">
                <a:latin typeface="Arial" pitchFamily="34" charset="0"/>
              </a:endParaRPr>
            </a:p>
          </p:txBody>
        </p:sp>
        <p:sp>
          <p:nvSpPr>
            <p:cNvPr id="893969" name="Line 17"/>
            <p:cNvSpPr>
              <a:spLocks noChangeShapeType="1"/>
            </p:cNvSpPr>
            <p:nvPr/>
          </p:nvSpPr>
          <p:spPr bwMode="auto">
            <a:xfrm>
              <a:off x="5070" y="1863"/>
              <a:ext cx="0" cy="198"/>
            </a:xfrm>
            <a:prstGeom prst="line">
              <a:avLst/>
            </a:prstGeom>
            <a:noFill/>
            <a:ln w="19050">
              <a:solidFill>
                <a:srgbClr val="008280"/>
              </a:solidFill>
              <a:round/>
              <a:headEnd/>
              <a:tailEnd/>
            </a:ln>
            <a:effectLst/>
          </p:spPr>
          <p:txBody>
            <a:bodyPr wrap="none" anchor="ctr"/>
            <a:lstStyle/>
            <a:p>
              <a:endParaRPr lang="en-US"/>
            </a:p>
          </p:txBody>
        </p:sp>
      </p:grpSp>
      <p:sp>
        <p:nvSpPr>
          <p:cNvPr id="893970" name="Rectangle 18"/>
          <p:cNvSpPr>
            <a:spLocks noGrp="1" noChangeArrowheads="1"/>
          </p:cNvSpPr>
          <p:nvPr>
            <p:ph type="title" idx="4294967295"/>
          </p:nvPr>
        </p:nvSpPr>
        <p:spPr>
          <a:xfrm>
            <a:off x="685800" y="390525"/>
            <a:ext cx="7772400" cy="828675"/>
          </a:xfrm>
        </p:spPr>
        <p:txBody>
          <a:bodyPr/>
          <a:lstStyle/>
          <a:p>
            <a:r>
              <a:rPr lang="en-US"/>
              <a:t>Time Waveform</a:t>
            </a:r>
          </a:p>
        </p:txBody>
      </p:sp>
      <p:sp>
        <p:nvSpPr>
          <p:cNvPr id="893971" name="Text Box 19"/>
          <p:cNvSpPr txBox="1">
            <a:spLocks noChangeArrowheads="1"/>
          </p:cNvSpPr>
          <p:nvPr/>
        </p:nvSpPr>
        <p:spPr bwMode="auto">
          <a:xfrm>
            <a:off x="2133600" y="4953000"/>
            <a:ext cx="5416550" cy="1192213"/>
          </a:xfrm>
          <a:prstGeom prst="rect">
            <a:avLst/>
          </a:prstGeom>
          <a:noFill/>
          <a:ln w="9525">
            <a:noFill/>
            <a:miter lim="800000"/>
            <a:headEnd/>
            <a:tailEnd/>
          </a:ln>
          <a:effectLst/>
        </p:spPr>
        <p:txBody>
          <a:bodyPr wrap="none">
            <a:spAutoFit/>
          </a:bodyPr>
          <a:lstStyle/>
          <a:p>
            <a:pPr>
              <a:spcBef>
                <a:spcPct val="50000"/>
              </a:spcBef>
            </a:pPr>
            <a:r>
              <a:rPr lang="en-US" sz="1800">
                <a:latin typeface="Arial" pitchFamily="34" charset="0"/>
              </a:rPr>
              <a:t>3600 RPM	=	3600 cycles per minute</a:t>
            </a:r>
          </a:p>
          <a:p>
            <a:pPr>
              <a:spcBef>
                <a:spcPct val="50000"/>
              </a:spcBef>
            </a:pPr>
            <a:r>
              <a:rPr lang="en-US" sz="1800">
                <a:latin typeface="Arial" pitchFamily="34" charset="0"/>
              </a:rPr>
              <a:t>60 Hz		=	60 cycles per second</a:t>
            </a:r>
          </a:p>
          <a:p>
            <a:pPr>
              <a:spcBef>
                <a:spcPct val="50000"/>
              </a:spcBef>
            </a:pPr>
            <a:r>
              <a:rPr lang="en-US" sz="1800">
                <a:latin typeface="Arial" pitchFamily="34" charset="0"/>
              </a:rPr>
              <a:t>1 Order 		=	One times turning speed</a:t>
            </a:r>
          </a:p>
        </p:txBody>
      </p:sp>
      <p:grpSp>
        <p:nvGrpSpPr>
          <p:cNvPr id="893972" name="Group 20"/>
          <p:cNvGrpSpPr>
            <a:grpSpLocks/>
          </p:cNvGrpSpPr>
          <p:nvPr/>
        </p:nvGrpSpPr>
        <p:grpSpPr bwMode="auto">
          <a:xfrm>
            <a:off x="1998663" y="1676400"/>
            <a:ext cx="1979612" cy="2957513"/>
            <a:chOff x="1259" y="1056"/>
            <a:chExt cx="1247" cy="1863"/>
          </a:xfrm>
        </p:grpSpPr>
        <p:grpSp>
          <p:nvGrpSpPr>
            <p:cNvPr id="893973" name="Group 21"/>
            <p:cNvGrpSpPr>
              <a:grpSpLocks/>
            </p:cNvGrpSpPr>
            <p:nvPr/>
          </p:nvGrpSpPr>
          <p:grpSpPr bwMode="auto">
            <a:xfrm>
              <a:off x="1259" y="1056"/>
              <a:ext cx="1247" cy="1563"/>
              <a:chOff x="1259" y="1056"/>
              <a:chExt cx="1247" cy="1563"/>
            </a:xfrm>
          </p:grpSpPr>
          <p:grpSp>
            <p:nvGrpSpPr>
              <p:cNvPr id="893974" name="Group 22"/>
              <p:cNvGrpSpPr>
                <a:grpSpLocks/>
              </p:cNvGrpSpPr>
              <p:nvPr/>
            </p:nvGrpSpPr>
            <p:grpSpPr bwMode="auto">
              <a:xfrm>
                <a:off x="1269" y="1056"/>
                <a:ext cx="1237" cy="1563"/>
                <a:chOff x="1269" y="1056"/>
                <a:chExt cx="1237" cy="1563"/>
              </a:xfrm>
            </p:grpSpPr>
            <p:sp>
              <p:nvSpPr>
                <p:cNvPr id="893975" name="Text Box 23"/>
                <p:cNvSpPr txBox="1">
                  <a:spLocks noChangeArrowheads="1"/>
                </p:cNvSpPr>
                <p:nvPr/>
              </p:nvSpPr>
              <p:spPr bwMode="auto">
                <a:xfrm>
                  <a:off x="1440" y="1056"/>
                  <a:ext cx="950" cy="194"/>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800">
                      <a:solidFill>
                        <a:srgbClr val="000000"/>
                      </a:solidFill>
                      <a:latin typeface="Arial" pitchFamily="34" charset="0"/>
                    </a:rPr>
                    <a:t>Heavy Spot</a:t>
                  </a:r>
                  <a:endParaRPr lang="en-US" sz="1800">
                    <a:latin typeface="Arial" pitchFamily="34" charset="0"/>
                  </a:endParaRPr>
                </a:p>
              </p:txBody>
            </p:sp>
            <p:grpSp>
              <p:nvGrpSpPr>
                <p:cNvPr id="893976" name="Group 24"/>
                <p:cNvGrpSpPr>
                  <a:grpSpLocks/>
                </p:cNvGrpSpPr>
                <p:nvPr/>
              </p:nvGrpSpPr>
              <p:grpSpPr bwMode="auto">
                <a:xfrm>
                  <a:off x="1269" y="1392"/>
                  <a:ext cx="1237" cy="1227"/>
                  <a:chOff x="1269" y="1392"/>
                  <a:chExt cx="1237" cy="1227"/>
                </a:xfrm>
              </p:grpSpPr>
              <p:sp>
                <p:nvSpPr>
                  <p:cNvPr id="893977" name="Oval 25"/>
                  <p:cNvSpPr>
                    <a:spLocks noChangeArrowheads="1"/>
                  </p:cNvSpPr>
                  <p:nvPr/>
                </p:nvSpPr>
                <p:spPr bwMode="auto">
                  <a:xfrm>
                    <a:off x="1392" y="1392"/>
                    <a:ext cx="1114" cy="1048"/>
                  </a:xfrm>
                  <a:prstGeom prst="ellipse">
                    <a:avLst/>
                  </a:prstGeom>
                  <a:solidFill>
                    <a:srgbClr val="E1E1E1"/>
                  </a:solidFill>
                  <a:ln w="19050">
                    <a:solidFill>
                      <a:srgbClr val="000000"/>
                    </a:solidFill>
                    <a:round/>
                    <a:headEnd/>
                    <a:tailEnd/>
                  </a:ln>
                  <a:effectLst/>
                </p:spPr>
                <p:txBody>
                  <a:bodyPr wrap="none" anchor="ctr"/>
                  <a:lstStyle/>
                  <a:p>
                    <a:endParaRPr lang="en-US"/>
                  </a:p>
                </p:txBody>
              </p:sp>
              <p:sp>
                <p:nvSpPr>
                  <p:cNvPr id="893978" name="Freeform 26"/>
                  <p:cNvSpPr>
                    <a:spLocks/>
                  </p:cNvSpPr>
                  <p:nvPr/>
                </p:nvSpPr>
                <p:spPr bwMode="auto">
                  <a:xfrm>
                    <a:off x="1381" y="2349"/>
                    <a:ext cx="1032" cy="270"/>
                  </a:xfrm>
                  <a:custGeom>
                    <a:avLst/>
                    <a:gdLst/>
                    <a:ahLst/>
                    <a:cxnLst>
                      <a:cxn ang="0">
                        <a:pos x="0" y="0"/>
                      </a:cxn>
                      <a:cxn ang="0">
                        <a:pos x="53" y="66"/>
                      </a:cxn>
                      <a:cxn ang="0">
                        <a:pos x="113" y="125"/>
                      </a:cxn>
                      <a:cxn ang="0">
                        <a:pos x="177" y="174"/>
                      </a:cxn>
                      <a:cxn ang="0">
                        <a:pos x="246" y="216"/>
                      </a:cxn>
                      <a:cxn ang="0">
                        <a:pos x="318" y="250"/>
                      </a:cxn>
                      <a:cxn ang="0">
                        <a:pos x="393" y="276"/>
                      </a:cxn>
                      <a:cxn ang="0">
                        <a:pos x="470" y="294"/>
                      </a:cxn>
                      <a:cxn ang="0">
                        <a:pos x="549" y="302"/>
                      </a:cxn>
                      <a:cxn ang="0">
                        <a:pos x="627" y="304"/>
                      </a:cxn>
                      <a:cxn ang="0">
                        <a:pos x="706" y="298"/>
                      </a:cxn>
                      <a:cxn ang="0">
                        <a:pos x="783" y="282"/>
                      </a:cxn>
                      <a:cxn ang="0">
                        <a:pos x="860" y="258"/>
                      </a:cxn>
                      <a:cxn ang="0">
                        <a:pos x="934" y="226"/>
                      </a:cxn>
                      <a:cxn ang="0">
                        <a:pos x="1005" y="185"/>
                      </a:cxn>
                      <a:cxn ang="0">
                        <a:pos x="1072" y="136"/>
                      </a:cxn>
                      <a:cxn ang="0">
                        <a:pos x="1135" y="78"/>
                      </a:cxn>
                    </a:cxnLst>
                    <a:rect l="0" t="0" r="r" b="b"/>
                    <a:pathLst>
                      <a:path w="1136" h="305">
                        <a:moveTo>
                          <a:pt x="0" y="0"/>
                        </a:moveTo>
                        <a:lnTo>
                          <a:pt x="53" y="66"/>
                        </a:lnTo>
                        <a:lnTo>
                          <a:pt x="113" y="125"/>
                        </a:lnTo>
                        <a:lnTo>
                          <a:pt x="177" y="174"/>
                        </a:lnTo>
                        <a:lnTo>
                          <a:pt x="246" y="216"/>
                        </a:lnTo>
                        <a:lnTo>
                          <a:pt x="318" y="250"/>
                        </a:lnTo>
                        <a:lnTo>
                          <a:pt x="393" y="276"/>
                        </a:lnTo>
                        <a:lnTo>
                          <a:pt x="470" y="294"/>
                        </a:lnTo>
                        <a:lnTo>
                          <a:pt x="549" y="302"/>
                        </a:lnTo>
                        <a:lnTo>
                          <a:pt x="627" y="304"/>
                        </a:lnTo>
                        <a:lnTo>
                          <a:pt x="706" y="298"/>
                        </a:lnTo>
                        <a:lnTo>
                          <a:pt x="783" y="282"/>
                        </a:lnTo>
                        <a:lnTo>
                          <a:pt x="860" y="258"/>
                        </a:lnTo>
                        <a:lnTo>
                          <a:pt x="934" y="226"/>
                        </a:lnTo>
                        <a:lnTo>
                          <a:pt x="1005" y="185"/>
                        </a:lnTo>
                        <a:lnTo>
                          <a:pt x="1072" y="136"/>
                        </a:lnTo>
                        <a:lnTo>
                          <a:pt x="1135" y="78"/>
                        </a:lnTo>
                      </a:path>
                    </a:pathLst>
                  </a:custGeom>
                  <a:noFill/>
                  <a:ln w="19050" cap="flat" cmpd="sng">
                    <a:solidFill>
                      <a:schemeClr val="tx1"/>
                    </a:solidFill>
                    <a:prstDash val="solid"/>
                    <a:round/>
                    <a:headEnd type="triangle" w="med" len="med"/>
                    <a:tailEnd type="none" w="med" len="med"/>
                  </a:ln>
                  <a:effectLst/>
                </p:spPr>
                <p:txBody>
                  <a:bodyPr/>
                  <a:lstStyle/>
                  <a:p>
                    <a:endParaRPr lang="en-US"/>
                  </a:p>
                </p:txBody>
              </p:sp>
              <p:sp>
                <p:nvSpPr>
                  <p:cNvPr id="893979" name="Oval 27"/>
                  <p:cNvSpPr>
                    <a:spLocks noChangeArrowheads="1"/>
                  </p:cNvSpPr>
                  <p:nvPr/>
                </p:nvSpPr>
                <p:spPr bwMode="auto">
                  <a:xfrm>
                    <a:off x="1918" y="1899"/>
                    <a:ext cx="40" cy="39"/>
                  </a:xfrm>
                  <a:prstGeom prst="ellipse">
                    <a:avLst/>
                  </a:prstGeom>
                  <a:solidFill>
                    <a:srgbClr val="FF0000"/>
                  </a:solidFill>
                  <a:ln w="19050">
                    <a:solidFill>
                      <a:srgbClr val="FF0000"/>
                    </a:solidFill>
                    <a:round/>
                    <a:headEnd/>
                    <a:tailEnd/>
                  </a:ln>
                  <a:effectLst/>
                </p:spPr>
                <p:txBody>
                  <a:bodyPr wrap="none" anchor="ctr"/>
                  <a:lstStyle/>
                  <a:p>
                    <a:endParaRPr lang="en-US"/>
                  </a:p>
                </p:txBody>
              </p:sp>
              <p:sp>
                <p:nvSpPr>
                  <p:cNvPr id="893980" name="Oval 28"/>
                  <p:cNvSpPr>
                    <a:spLocks noChangeArrowheads="1"/>
                  </p:cNvSpPr>
                  <p:nvPr/>
                </p:nvSpPr>
                <p:spPr bwMode="auto">
                  <a:xfrm>
                    <a:off x="1440" y="1570"/>
                    <a:ext cx="181" cy="203"/>
                  </a:xfrm>
                  <a:prstGeom prst="ellipse">
                    <a:avLst/>
                  </a:prstGeom>
                  <a:solidFill>
                    <a:srgbClr val="008000"/>
                  </a:solidFill>
                  <a:ln w="19050">
                    <a:solidFill>
                      <a:srgbClr val="008000"/>
                    </a:solidFill>
                    <a:round/>
                    <a:headEnd/>
                    <a:tailEnd/>
                  </a:ln>
                  <a:effectLst/>
                </p:spPr>
                <p:txBody>
                  <a:bodyPr wrap="none" anchor="ctr"/>
                  <a:lstStyle/>
                  <a:p>
                    <a:endParaRPr lang="en-US"/>
                  </a:p>
                </p:txBody>
              </p:sp>
              <p:sp>
                <p:nvSpPr>
                  <p:cNvPr id="893981" name="Line 29"/>
                  <p:cNvSpPr>
                    <a:spLocks noChangeShapeType="1"/>
                  </p:cNvSpPr>
                  <p:nvPr/>
                </p:nvSpPr>
                <p:spPr bwMode="auto">
                  <a:xfrm>
                    <a:off x="1269" y="1413"/>
                    <a:ext cx="162" cy="157"/>
                  </a:xfrm>
                  <a:prstGeom prst="line">
                    <a:avLst/>
                  </a:prstGeom>
                  <a:noFill/>
                  <a:ln w="19050">
                    <a:solidFill>
                      <a:srgbClr val="008280"/>
                    </a:solidFill>
                    <a:round/>
                    <a:headEnd/>
                    <a:tailEnd type="triangle" w="med" len="med"/>
                  </a:ln>
                  <a:effectLst/>
                </p:spPr>
                <p:txBody>
                  <a:bodyPr wrap="none" anchor="ctr"/>
                  <a:lstStyle/>
                  <a:p>
                    <a:endParaRPr lang="en-US"/>
                  </a:p>
                </p:txBody>
              </p:sp>
            </p:grpSp>
          </p:grpSp>
          <p:sp>
            <p:nvSpPr>
              <p:cNvPr id="893982" name="Line 30"/>
              <p:cNvSpPr>
                <a:spLocks noChangeShapeType="1"/>
              </p:cNvSpPr>
              <p:nvPr/>
            </p:nvSpPr>
            <p:spPr bwMode="auto">
              <a:xfrm flipH="1">
                <a:off x="1259" y="1127"/>
                <a:ext cx="238" cy="286"/>
              </a:xfrm>
              <a:prstGeom prst="line">
                <a:avLst/>
              </a:prstGeom>
              <a:noFill/>
              <a:ln w="19050">
                <a:solidFill>
                  <a:srgbClr val="008280"/>
                </a:solidFill>
                <a:round/>
                <a:headEnd/>
                <a:tailEnd/>
              </a:ln>
              <a:effectLst/>
            </p:spPr>
            <p:txBody>
              <a:bodyPr wrap="none" anchor="ctr"/>
              <a:lstStyle/>
              <a:p>
                <a:endParaRPr lang="en-US"/>
              </a:p>
            </p:txBody>
          </p:sp>
        </p:grpSp>
        <p:sp>
          <p:nvSpPr>
            <p:cNvPr id="893983" name="Text Box 31"/>
            <p:cNvSpPr txBox="1">
              <a:spLocks noChangeArrowheads="1"/>
            </p:cNvSpPr>
            <p:nvPr/>
          </p:nvSpPr>
          <p:spPr bwMode="auto">
            <a:xfrm>
              <a:off x="1632" y="2688"/>
              <a:ext cx="652" cy="231"/>
            </a:xfrm>
            <a:prstGeom prst="rect">
              <a:avLst/>
            </a:prstGeom>
            <a:noFill/>
            <a:ln w="9525">
              <a:noFill/>
              <a:miter lim="800000"/>
              <a:headEnd/>
              <a:tailEnd/>
            </a:ln>
            <a:effectLst/>
          </p:spPr>
          <p:txBody>
            <a:bodyPr wrap="none">
              <a:spAutoFit/>
            </a:bodyPr>
            <a:lstStyle/>
            <a:p>
              <a:r>
                <a:rPr lang="en-US" sz="1800">
                  <a:latin typeface="Arial" pitchFamily="34" charset="0"/>
                </a:rPr>
                <a:t>Rotation</a:t>
              </a:r>
            </a:p>
          </p:txBody>
        </p:sp>
      </p:gr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2" name="Rectangle 2"/>
          <p:cNvSpPr>
            <a:spLocks noGrp="1" noChangeArrowheads="1"/>
          </p:cNvSpPr>
          <p:nvPr>
            <p:ph type="title"/>
          </p:nvPr>
        </p:nvSpPr>
        <p:spPr>
          <a:solidFill>
            <a:schemeClr val="bg1"/>
          </a:solidFill>
          <a:ln/>
        </p:spPr>
        <p:txBody>
          <a:bodyPr lIns="90488" tIns="44450" rIns="90488" bIns="44450" anchor="ctr"/>
          <a:lstStyle/>
          <a:p>
            <a:r>
              <a:rPr lang="en-US" sz="3200" b="0"/>
              <a:t>Frequency &amp; Amplitude</a:t>
            </a:r>
          </a:p>
        </p:txBody>
      </p:sp>
      <p:sp>
        <p:nvSpPr>
          <p:cNvPr id="896003" name="Rectangle 3"/>
          <p:cNvSpPr>
            <a:spLocks noChangeArrowheads="1"/>
          </p:cNvSpPr>
          <p:nvPr/>
        </p:nvSpPr>
        <p:spPr bwMode="auto">
          <a:xfrm>
            <a:off x="652463" y="2270125"/>
            <a:ext cx="7729537" cy="3013075"/>
          </a:xfrm>
          <a:prstGeom prst="rect">
            <a:avLst/>
          </a:prstGeom>
          <a:noFill/>
          <a:ln w="12700">
            <a:noFill/>
            <a:miter lim="800000"/>
            <a:headEnd/>
            <a:tailEnd/>
          </a:ln>
          <a:effectLst/>
        </p:spPr>
        <p:txBody>
          <a:bodyPr wrap="none" anchor="ctr"/>
          <a:lstStyle/>
          <a:p>
            <a:endParaRPr lang="en-US"/>
          </a:p>
        </p:txBody>
      </p:sp>
      <p:sp>
        <p:nvSpPr>
          <p:cNvPr id="896004" name="Rectangle 4"/>
          <p:cNvSpPr>
            <a:spLocks noGrp="1" noChangeArrowheads="1"/>
          </p:cNvSpPr>
          <p:nvPr>
            <p:ph type="body" idx="1"/>
          </p:nvPr>
        </p:nvSpPr>
        <p:spPr>
          <a:xfrm>
            <a:off x="685800" y="1619250"/>
            <a:ext cx="7772400" cy="3960813"/>
          </a:xfrm>
          <a:noFill/>
          <a:ln/>
        </p:spPr>
        <p:txBody>
          <a:bodyPr lIns="90488" tIns="44450" rIns="90488" bIns="44450"/>
          <a:lstStyle/>
          <a:p>
            <a:pPr>
              <a:spcBef>
                <a:spcPct val="0"/>
              </a:spcBef>
              <a:buFontTx/>
              <a:buNone/>
            </a:pPr>
            <a:r>
              <a:rPr lang="en-US" sz="2400" b="1">
                <a:latin typeface="Book Antiqua" pitchFamily="18" charset="0"/>
              </a:rPr>
              <a:t>Frequency:</a:t>
            </a:r>
          </a:p>
          <a:p>
            <a:pPr algn="just">
              <a:spcBef>
                <a:spcPct val="0"/>
              </a:spcBef>
              <a:buFontTx/>
              <a:buNone/>
            </a:pPr>
            <a:r>
              <a:rPr lang="en-US" sz="2400">
                <a:latin typeface="Book Antiqua" pitchFamily="18" charset="0"/>
              </a:rPr>
              <a:t>How many times oscillation is occurring</a:t>
            </a:r>
          </a:p>
          <a:p>
            <a:pPr>
              <a:spcBef>
                <a:spcPct val="0"/>
              </a:spcBef>
              <a:buFontTx/>
              <a:buNone/>
            </a:pPr>
            <a:r>
              <a:rPr lang="en-US" sz="2400">
                <a:latin typeface="Book Antiqua" pitchFamily="18" charset="0"/>
              </a:rPr>
              <a:t>for a given time period?</a:t>
            </a:r>
          </a:p>
          <a:p>
            <a:pPr>
              <a:spcBef>
                <a:spcPct val="0"/>
              </a:spcBef>
              <a:buFontTx/>
              <a:buNone/>
            </a:pPr>
            <a:r>
              <a:rPr lang="en-US" sz="2400">
                <a:latin typeface="Book Antiqua" pitchFamily="18" charset="0"/>
              </a:rPr>
              <a:t>Units: Cycles Per Sec or Hertz, CPM</a:t>
            </a:r>
          </a:p>
          <a:p>
            <a:pPr>
              <a:spcBef>
                <a:spcPct val="0"/>
              </a:spcBef>
              <a:buFontTx/>
              <a:buNone/>
            </a:pPr>
            <a:endParaRPr lang="en-US" sz="2400">
              <a:latin typeface="Book Antiqua" pitchFamily="18" charset="0"/>
            </a:endParaRPr>
          </a:p>
          <a:p>
            <a:pPr>
              <a:spcBef>
                <a:spcPct val="0"/>
              </a:spcBef>
              <a:buFontTx/>
              <a:buNone/>
            </a:pPr>
            <a:r>
              <a:rPr lang="en-US" sz="2400" b="1">
                <a:latin typeface="Book Antiqua" pitchFamily="18" charset="0"/>
              </a:rPr>
              <a:t>Amplitude:</a:t>
            </a:r>
            <a:endParaRPr lang="en-US" sz="2400">
              <a:latin typeface="Book Antiqua" pitchFamily="18" charset="0"/>
            </a:endParaRPr>
          </a:p>
          <a:p>
            <a:pPr>
              <a:spcBef>
                <a:spcPct val="0"/>
              </a:spcBef>
              <a:buFontTx/>
              <a:buNone/>
            </a:pPr>
            <a:r>
              <a:rPr lang="en-US" sz="2400">
                <a:latin typeface="Book Antiqua" pitchFamily="18" charset="0"/>
              </a:rPr>
              <a:t>It is the magnitude of vibration signal.</a:t>
            </a:r>
          </a:p>
          <a:p>
            <a:pPr>
              <a:spcBef>
                <a:spcPct val="0"/>
              </a:spcBef>
              <a:buFontTx/>
              <a:buNone/>
            </a:pPr>
            <a:r>
              <a:rPr lang="en-US" sz="2400">
                <a:latin typeface="Book Antiqua" pitchFamily="18" charset="0"/>
              </a:rPr>
              <a:t>Units: Micron, MM/Sec, g’s or M/Sec</a:t>
            </a:r>
            <a:r>
              <a:rPr lang="en-US" sz="2400" baseline="30000">
                <a:latin typeface="Book Antiqua" pitchFamily="18" charset="0"/>
              </a:rPr>
              <a:t>2</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6" name="Rectangle 2"/>
          <p:cNvSpPr>
            <a:spLocks noGrp="1" noChangeArrowheads="1"/>
          </p:cNvSpPr>
          <p:nvPr>
            <p:ph type="title"/>
          </p:nvPr>
        </p:nvSpPr>
        <p:spPr>
          <a:solidFill>
            <a:schemeClr val="bg1"/>
          </a:solidFill>
          <a:ln/>
        </p:spPr>
        <p:txBody>
          <a:bodyPr lIns="90488" tIns="44450" rIns="90488" bIns="44450" anchor="ctr"/>
          <a:lstStyle/>
          <a:p>
            <a:r>
              <a:rPr lang="en-US" sz="3200" b="0"/>
              <a:t>Physical Significance Of  Vibration Characteristics</a:t>
            </a:r>
          </a:p>
        </p:txBody>
      </p:sp>
      <p:sp>
        <p:nvSpPr>
          <p:cNvPr id="897027" name="Rectangle 3"/>
          <p:cNvSpPr>
            <a:spLocks noGrp="1" noChangeArrowheads="1"/>
          </p:cNvSpPr>
          <p:nvPr>
            <p:ph type="body" idx="1"/>
          </p:nvPr>
        </p:nvSpPr>
        <p:spPr>
          <a:xfrm>
            <a:off x="762000" y="2286000"/>
            <a:ext cx="7772400" cy="3276600"/>
          </a:xfrm>
          <a:noFill/>
          <a:ln/>
        </p:spPr>
        <p:txBody>
          <a:bodyPr lIns="90488" tIns="44450" rIns="90488" bIns="44450"/>
          <a:lstStyle/>
          <a:p>
            <a:pPr>
              <a:spcBef>
                <a:spcPct val="0"/>
              </a:spcBef>
              <a:buFontTx/>
              <a:buNone/>
            </a:pPr>
            <a:r>
              <a:rPr lang="en-US" b="1">
                <a:latin typeface="Courier New" pitchFamily="49" charset="0"/>
              </a:rPr>
              <a:t>Frequency</a:t>
            </a:r>
            <a:r>
              <a:rPr lang="en-US" sz="2400">
                <a:latin typeface="Courier New" pitchFamily="49" charset="0"/>
              </a:rPr>
              <a:t>   - What is vibrating?</a:t>
            </a:r>
          </a:p>
          <a:p>
            <a:pPr algn="ctr">
              <a:spcBef>
                <a:spcPct val="0"/>
              </a:spcBef>
              <a:buFontTx/>
              <a:buNone/>
            </a:pPr>
            <a:r>
              <a:rPr lang="en-US" sz="2400" b="1" i="1">
                <a:latin typeface="Courier New" pitchFamily="49" charset="0"/>
              </a:rPr>
              <a:t>Source</a:t>
            </a:r>
            <a:r>
              <a:rPr lang="en-US" sz="2400" i="1">
                <a:latin typeface="Courier New" pitchFamily="49" charset="0"/>
              </a:rPr>
              <a:t> of the vibration.</a:t>
            </a:r>
          </a:p>
          <a:p>
            <a:pPr>
              <a:spcBef>
                <a:spcPct val="0"/>
              </a:spcBef>
              <a:buFontTx/>
              <a:buNone/>
            </a:pPr>
            <a:endParaRPr lang="en-US" sz="2400">
              <a:latin typeface="Courier New" pitchFamily="49" charset="0"/>
            </a:endParaRPr>
          </a:p>
          <a:p>
            <a:pPr>
              <a:spcBef>
                <a:spcPct val="0"/>
              </a:spcBef>
              <a:buFontTx/>
              <a:buNone/>
            </a:pPr>
            <a:r>
              <a:rPr lang="en-US" b="1">
                <a:latin typeface="Courier New" pitchFamily="49" charset="0"/>
              </a:rPr>
              <a:t>Amplitude</a:t>
            </a:r>
            <a:r>
              <a:rPr lang="en-US" sz="2400">
                <a:latin typeface="Courier New" pitchFamily="49" charset="0"/>
              </a:rPr>
              <a:t>   - How much is it vibrating?</a:t>
            </a:r>
          </a:p>
          <a:p>
            <a:pPr algn="ctr">
              <a:spcBef>
                <a:spcPct val="0"/>
              </a:spcBef>
              <a:buFontTx/>
              <a:buNone/>
            </a:pPr>
            <a:r>
              <a:rPr lang="en-US" sz="2400" b="1" i="1">
                <a:latin typeface="Courier New" pitchFamily="49" charset="0"/>
              </a:rPr>
              <a:t>Size</a:t>
            </a:r>
            <a:r>
              <a:rPr lang="en-US" sz="2400" i="1">
                <a:latin typeface="Courier New" pitchFamily="49" charset="0"/>
              </a:rPr>
              <a:t> (severity) of the problem.</a:t>
            </a:r>
          </a:p>
          <a:p>
            <a:pPr>
              <a:spcBef>
                <a:spcPct val="0"/>
              </a:spcBef>
              <a:buFontTx/>
              <a:buNone/>
            </a:pPr>
            <a:r>
              <a:rPr lang="en-US" sz="2400" i="1">
                <a:latin typeface="Courier New" pitchFamily="49" charset="0"/>
              </a:rPr>
              <a:t> </a:t>
            </a:r>
            <a:r>
              <a:rPr lang="en-US" sz="2400">
                <a:latin typeface="Courier New" pitchFamily="49" charset="0"/>
              </a:rPr>
              <a:t>	</a:t>
            </a:r>
          </a:p>
          <a:p>
            <a:pPr>
              <a:spcBef>
                <a:spcPct val="0"/>
              </a:spcBef>
              <a:buFontTx/>
              <a:buNone/>
            </a:pPr>
            <a:r>
              <a:rPr lang="en-US" b="1">
                <a:latin typeface="Courier New" pitchFamily="49" charset="0"/>
              </a:rPr>
              <a:t>Phase Angle </a:t>
            </a:r>
            <a:r>
              <a:rPr lang="en-US" sz="2400">
                <a:latin typeface="Courier New" pitchFamily="49" charset="0"/>
              </a:rPr>
              <a:t>- How  is it vibrating? </a:t>
            </a:r>
          </a:p>
          <a:p>
            <a:pPr algn="ctr">
              <a:spcBef>
                <a:spcPct val="0"/>
              </a:spcBef>
              <a:buFontTx/>
              <a:buNone/>
            </a:pPr>
            <a:r>
              <a:rPr lang="en-US" sz="2400" b="1" i="1">
                <a:latin typeface="Courier New" pitchFamily="49" charset="0"/>
              </a:rPr>
              <a:t>Cause</a:t>
            </a:r>
            <a:r>
              <a:rPr lang="en-US" sz="2400" i="1">
                <a:latin typeface="Courier New" pitchFamily="49" charset="0"/>
              </a:rPr>
              <a:t> of the vibration.</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8050" name="Picture 2"/>
          <p:cNvPicPr>
            <a:picLocks noChangeArrowheads="1"/>
          </p:cNvPicPr>
          <p:nvPr/>
        </p:nvPicPr>
        <p:blipFill>
          <a:blip r:embed="rId3" cstate="print"/>
          <a:srcRect/>
          <a:stretch>
            <a:fillRect/>
          </a:stretch>
        </p:blipFill>
        <p:spPr bwMode="auto">
          <a:xfrm>
            <a:off x="939800" y="1206500"/>
            <a:ext cx="3987800" cy="4594225"/>
          </a:xfrm>
          <a:prstGeom prst="rect">
            <a:avLst/>
          </a:prstGeom>
          <a:noFill/>
          <a:ln w="12700">
            <a:noFill/>
            <a:miter lim="800000"/>
            <a:headEnd/>
            <a:tailEnd/>
          </a:ln>
          <a:effectLst/>
        </p:spPr>
      </p:pic>
      <p:sp>
        <p:nvSpPr>
          <p:cNvPr id="898051" name="Rectangle 3"/>
          <p:cNvSpPr>
            <a:spLocks noChangeArrowheads="1"/>
          </p:cNvSpPr>
          <p:nvPr/>
        </p:nvSpPr>
        <p:spPr bwMode="auto">
          <a:xfrm>
            <a:off x="5486400" y="1828800"/>
            <a:ext cx="2603500" cy="3340100"/>
          </a:xfrm>
          <a:prstGeom prst="rect">
            <a:avLst/>
          </a:prstGeom>
          <a:noFill/>
          <a:ln w="12700">
            <a:noFill/>
            <a:miter lim="800000"/>
            <a:headEnd/>
            <a:tailEnd/>
          </a:ln>
          <a:effectLst/>
        </p:spPr>
        <p:txBody>
          <a:bodyPr lIns="90488" tIns="44450" rIns="90488" bIns="44450" anchor="ctr"/>
          <a:lstStyle/>
          <a:p>
            <a:pPr defTabSz="762000">
              <a:lnSpc>
                <a:spcPct val="130000"/>
              </a:lnSpc>
            </a:pPr>
            <a:r>
              <a:rPr lang="en-US" sz="3600" b="1">
                <a:latin typeface="Arial" pitchFamily="34" charset="0"/>
              </a:rPr>
              <a:t> 60 RPM</a:t>
            </a:r>
          </a:p>
          <a:p>
            <a:pPr defTabSz="762000">
              <a:lnSpc>
                <a:spcPct val="130000"/>
              </a:lnSpc>
            </a:pPr>
            <a:r>
              <a:rPr lang="en-US" sz="3600" b="1">
                <a:latin typeface="Arial" pitchFamily="34" charset="0"/>
              </a:rPr>
              <a:t>= 1 Rev / s</a:t>
            </a:r>
          </a:p>
          <a:p>
            <a:pPr defTabSz="762000">
              <a:lnSpc>
                <a:spcPct val="130000"/>
              </a:lnSpc>
            </a:pPr>
            <a:r>
              <a:rPr lang="en-US" sz="3600" b="1">
                <a:latin typeface="Arial" pitchFamily="34" charset="0"/>
              </a:rPr>
              <a:t>= 1 Hz</a:t>
            </a:r>
          </a:p>
        </p:txBody>
      </p:sp>
      <p:sp>
        <p:nvSpPr>
          <p:cNvPr id="898052" name="Rectangle 4"/>
          <p:cNvSpPr>
            <a:spLocks noChangeArrowheads="1"/>
          </p:cNvSpPr>
          <p:nvPr/>
        </p:nvSpPr>
        <p:spPr bwMode="auto">
          <a:xfrm>
            <a:off x="1655763" y="330200"/>
            <a:ext cx="5613400" cy="698500"/>
          </a:xfrm>
          <a:prstGeom prst="rect">
            <a:avLst/>
          </a:prstGeom>
          <a:noFill/>
          <a:ln w="12700">
            <a:noFill/>
            <a:miter lim="800000"/>
            <a:headEnd/>
            <a:tailEnd/>
          </a:ln>
          <a:effectLst/>
        </p:spPr>
        <p:txBody>
          <a:bodyPr wrap="none" lIns="90488" tIns="44450" rIns="90488" bIns="44450">
            <a:spAutoFit/>
          </a:bodyPr>
          <a:lstStyle/>
          <a:p>
            <a:r>
              <a:rPr lang="en-US" sz="4000" b="1"/>
              <a:t>Frequency Measurement</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Grp="1" noChangeArrowheads="1"/>
          </p:cNvSpPr>
          <p:nvPr>
            <p:ph type="title"/>
          </p:nvPr>
        </p:nvSpPr>
        <p:spPr>
          <a:xfrm>
            <a:off x="685800" y="381000"/>
            <a:ext cx="7772400" cy="685800"/>
          </a:xfrm>
          <a:solidFill>
            <a:schemeClr val="bg1"/>
          </a:solidFill>
          <a:ln/>
        </p:spPr>
        <p:txBody>
          <a:bodyPr lIns="90488" tIns="44450" rIns="90488" bIns="44450" anchor="ctr"/>
          <a:lstStyle/>
          <a:p>
            <a:r>
              <a:rPr lang="en-US" sz="3200" b="0"/>
              <a:t>Amplitude Measurement </a:t>
            </a:r>
          </a:p>
        </p:txBody>
      </p:sp>
      <p:sp>
        <p:nvSpPr>
          <p:cNvPr id="899075" name="Rectangle 3"/>
          <p:cNvSpPr>
            <a:spLocks noChangeArrowheads="1"/>
          </p:cNvSpPr>
          <p:nvPr/>
        </p:nvSpPr>
        <p:spPr bwMode="auto">
          <a:xfrm>
            <a:off x="747713" y="1519238"/>
            <a:ext cx="7634287" cy="393700"/>
          </a:xfrm>
          <a:prstGeom prst="rect">
            <a:avLst/>
          </a:prstGeom>
          <a:noFill/>
          <a:ln w="12700">
            <a:noFill/>
            <a:miter lim="800000"/>
            <a:headEnd/>
            <a:tailEnd/>
          </a:ln>
          <a:effectLst/>
        </p:spPr>
        <p:txBody>
          <a:bodyPr lIns="90488" tIns="44450" rIns="90488" bIns="44450">
            <a:spAutoFit/>
          </a:bodyPr>
          <a:lstStyle/>
          <a:p>
            <a:r>
              <a:rPr lang="en-US" sz="2000">
                <a:latin typeface="Courier New" pitchFamily="49" charset="0"/>
              </a:rPr>
              <a:t>	</a:t>
            </a:r>
          </a:p>
        </p:txBody>
      </p:sp>
      <p:sp>
        <p:nvSpPr>
          <p:cNvPr id="899076" name="Rectangle 4"/>
          <p:cNvSpPr>
            <a:spLocks noGrp="1" noChangeArrowheads="1"/>
          </p:cNvSpPr>
          <p:nvPr>
            <p:ph type="body" idx="1"/>
          </p:nvPr>
        </p:nvSpPr>
        <p:spPr>
          <a:xfrm>
            <a:off x="381000" y="1219200"/>
            <a:ext cx="8382000" cy="4876800"/>
          </a:xfrm>
          <a:noFill/>
          <a:ln/>
        </p:spPr>
        <p:txBody>
          <a:bodyPr lIns="90488" tIns="44450" rIns="90488" bIns="44450"/>
          <a:lstStyle/>
          <a:p>
            <a:pPr>
              <a:lnSpc>
                <a:spcPct val="90000"/>
              </a:lnSpc>
              <a:spcBef>
                <a:spcPct val="0"/>
              </a:spcBef>
              <a:buFontTx/>
              <a:buNone/>
            </a:pPr>
            <a:r>
              <a:rPr lang="en-US" b="1">
                <a:latin typeface="Courier New" pitchFamily="49" charset="0"/>
              </a:rPr>
              <a:t>1. Displacement : </a:t>
            </a:r>
            <a:endParaRPr lang="en-US" sz="2400" b="1">
              <a:latin typeface="Courier New" pitchFamily="49" charset="0"/>
            </a:endParaRPr>
          </a:p>
          <a:p>
            <a:pPr>
              <a:lnSpc>
                <a:spcPct val="90000"/>
              </a:lnSpc>
              <a:spcBef>
                <a:spcPct val="0"/>
              </a:spcBef>
              <a:buFontTx/>
              <a:buNone/>
            </a:pPr>
            <a:r>
              <a:rPr lang="en-US" sz="2400" b="1">
                <a:latin typeface="Courier New" pitchFamily="49" charset="0"/>
              </a:rPr>
              <a:t>The distance a structure moves or vibrates from its reference or rest position. </a:t>
            </a:r>
          </a:p>
          <a:p>
            <a:pPr>
              <a:lnSpc>
                <a:spcPct val="90000"/>
              </a:lnSpc>
              <a:spcBef>
                <a:spcPct val="0"/>
              </a:spcBef>
              <a:buFontTx/>
              <a:buNone/>
            </a:pPr>
            <a:r>
              <a:rPr lang="en-US" sz="2400" b="1">
                <a:latin typeface="Courier New" pitchFamily="49" charset="0"/>
              </a:rPr>
              <a:t>Unit : Microns(p-p), mils(p-p)</a:t>
            </a:r>
          </a:p>
          <a:p>
            <a:pPr>
              <a:lnSpc>
                <a:spcPct val="90000"/>
              </a:lnSpc>
              <a:spcBef>
                <a:spcPct val="0"/>
              </a:spcBef>
              <a:buFontTx/>
              <a:buNone/>
            </a:pPr>
            <a:r>
              <a:rPr lang="en-US" b="1">
                <a:latin typeface="Courier New" pitchFamily="49" charset="0"/>
              </a:rPr>
              <a:t>2. Velocity     : </a:t>
            </a:r>
            <a:endParaRPr lang="en-US" sz="2400" b="1">
              <a:latin typeface="Courier New" pitchFamily="49" charset="0"/>
            </a:endParaRPr>
          </a:p>
          <a:p>
            <a:pPr>
              <a:lnSpc>
                <a:spcPct val="90000"/>
              </a:lnSpc>
              <a:spcBef>
                <a:spcPct val="0"/>
              </a:spcBef>
              <a:buFontTx/>
              <a:buNone/>
            </a:pPr>
            <a:r>
              <a:rPr lang="en-US" sz="2400" b="1">
                <a:latin typeface="Courier New" pitchFamily="49" charset="0"/>
              </a:rPr>
              <a:t>Rate of change of displacement. It is the</a:t>
            </a:r>
          </a:p>
          <a:p>
            <a:pPr>
              <a:lnSpc>
                <a:spcPct val="90000"/>
              </a:lnSpc>
              <a:spcBef>
                <a:spcPct val="0"/>
              </a:spcBef>
              <a:buFontTx/>
              <a:buNone/>
            </a:pPr>
            <a:r>
              <a:rPr lang="en-US" sz="2400" b="1">
                <a:latin typeface="Courier New" pitchFamily="49" charset="0"/>
              </a:rPr>
              <a:t>measure of the speed at which the mass is </a:t>
            </a:r>
          </a:p>
          <a:p>
            <a:pPr>
              <a:lnSpc>
                <a:spcPct val="90000"/>
              </a:lnSpc>
              <a:spcBef>
                <a:spcPct val="0"/>
              </a:spcBef>
              <a:buFontTx/>
              <a:buNone/>
            </a:pPr>
            <a:r>
              <a:rPr lang="en-US" sz="2400" b="1">
                <a:latin typeface="Courier New" pitchFamily="49" charset="0"/>
              </a:rPr>
              <a:t>vibrating during its oscillation.</a:t>
            </a:r>
          </a:p>
          <a:p>
            <a:pPr>
              <a:lnSpc>
                <a:spcPct val="90000"/>
              </a:lnSpc>
              <a:spcBef>
                <a:spcPct val="0"/>
              </a:spcBef>
              <a:buFontTx/>
              <a:buNone/>
            </a:pPr>
            <a:r>
              <a:rPr lang="en-US" sz="2400" b="1">
                <a:latin typeface="Courier New" pitchFamily="49" charset="0"/>
              </a:rPr>
              <a:t>Unit : MM/Sec, Inch/sec (RMS or Peak)</a:t>
            </a:r>
          </a:p>
          <a:p>
            <a:pPr>
              <a:lnSpc>
                <a:spcPct val="90000"/>
              </a:lnSpc>
              <a:spcBef>
                <a:spcPct val="0"/>
              </a:spcBef>
              <a:buFontTx/>
              <a:buNone/>
            </a:pPr>
            <a:r>
              <a:rPr lang="en-US" b="1">
                <a:latin typeface="Courier New" pitchFamily="49" charset="0"/>
              </a:rPr>
              <a:t>3. Acceleration :</a:t>
            </a:r>
            <a:r>
              <a:rPr lang="en-US" sz="2400" b="1">
                <a:latin typeface="Courier New" pitchFamily="49" charset="0"/>
              </a:rPr>
              <a:t>	</a:t>
            </a:r>
          </a:p>
          <a:p>
            <a:pPr>
              <a:lnSpc>
                <a:spcPct val="90000"/>
              </a:lnSpc>
              <a:spcBef>
                <a:spcPct val="0"/>
              </a:spcBef>
              <a:buFontTx/>
              <a:buNone/>
            </a:pPr>
            <a:r>
              <a:rPr lang="en-US" sz="2400" b="1">
                <a:latin typeface="Courier New" pitchFamily="49" charset="0"/>
              </a:rPr>
              <a:t>It is the rate of change of velocity. The </a:t>
            </a:r>
          </a:p>
          <a:p>
            <a:pPr>
              <a:lnSpc>
                <a:spcPct val="90000"/>
              </a:lnSpc>
              <a:spcBef>
                <a:spcPct val="0"/>
              </a:spcBef>
              <a:buFontTx/>
              <a:buNone/>
            </a:pPr>
            <a:r>
              <a:rPr lang="en-US" sz="2400" b="1">
                <a:latin typeface="Courier New" pitchFamily="49" charset="0"/>
              </a:rPr>
              <a:t>greater the rate of change of velocity the </a:t>
            </a:r>
          </a:p>
          <a:p>
            <a:pPr>
              <a:lnSpc>
                <a:spcPct val="90000"/>
              </a:lnSpc>
              <a:spcBef>
                <a:spcPct val="0"/>
              </a:spcBef>
              <a:buFontTx/>
              <a:buNone/>
            </a:pPr>
            <a:r>
              <a:rPr lang="en-US" sz="2400" b="1">
                <a:latin typeface="Courier New" pitchFamily="49" charset="0"/>
              </a:rPr>
              <a:t>greater the forces (F=ma) on the machines.</a:t>
            </a:r>
          </a:p>
          <a:p>
            <a:pPr>
              <a:lnSpc>
                <a:spcPct val="90000"/>
              </a:lnSpc>
              <a:spcBef>
                <a:spcPct val="0"/>
              </a:spcBef>
              <a:buFontTx/>
              <a:buNone/>
            </a:pPr>
            <a:r>
              <a:rPr lang="en-US" sz="2400" b="1">
                <a:latin typeface="Courier New" pitchFamily="49" charset="0"/>
              </a:rPr>
              <a:t>Unit : M/Sec</a:t>
            </a:r>
            <a:r>
              <a:rPr lang="en-US" sz="2400" b="1" baseline="30000">
                <a:latin typeface="Courier New" pitchFamily="49" charset="0"/>
              </a:rPr>
              <a:t>2</a:t>
            </a:r>
            <a:r>
              <a:rPr lang="en-US" sz="2400" b="1">
                <a:latin typeface="Courier New" pitchFamily="49" charset="0"/>
              </a:rPr>
              <a:t>, Inch/sec</a:t>
            </a:r>
            <a:r>
              <a:rPr lang="en-US" sz="2400" b="1" baseline="30000">
                <a:latin typeface="Courier New" pitchFamily="49" charset="0"/>
              </a:rPr>
              <a:t>2</a:t>
            </a:r>
            <a:r>
              <a:rPr lang="en-US" sz="2400" b="1">
                <a:latin typeface="Courier New" pitchFamily="49" charset="0"/>
              </a:rPr>
              <a:t> , g’s (RMS)</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98" name="Rectangle 1026"/>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900099" name="Rectangle 1027"/>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
        <p:nvSpPr>
          <p:cNvPr id="900100" name="AutoShape 1028"/>
          <p:cNvSpPr>
            <a:spLocks noChangeArrowheads="1"/>
          </p:cNvSpPr>
          <p:nvPr/>
        </p:nvSpPr>
        <p:spPr bwMode="auto">
          <a:xfrm>
            <a:off x="342900" y="355600"/>
            <a:ext cx="8458200" cy="6032500"/>
          </a:xfrm>
          <a:prstGeom prst="roundRect">
            <a:avLst>
              <a:gd name="adj" fmla="val 3602"/>
            </a:avLst>
          </a:prstGeom>
          <a:solidFill>
            <a:srgbClr val="FFFFFF"/>
          </a:solidFill>
          <a:ln w="12700">
            <a:noFill/>
            <a:round/>
            <a:headEnd/>
            <a:tailEnd/>
          </a:ln>
          <a:effectLst/>
        </p:spPr>
        <p:txBody>
          <a:bodyPr wrap="none" anchor="ctr"/>
          <a:lstStyle/>
          <a:p>
            <a:endParaRPr lang="en-US"/>
          </a:p>
        </p:txBody>
      </p:sp>
      <p:pic>
        <p:nvPicPr>
          <p:cNvPr id="900101" name="Picture 1029"/>
          <p:cNvPicPr>
            <a:picLocks noChangeArrowheads="1"/>
          </p:cNvPicPr>
          <p:nvPr/>
        </p:nvPicPr>
        <p:blipFill>
          <a:blip r:embed="rId3" cstate="print"/>
          <a:srcRect/>
          <a:stretch>
            <a:fillRect/>
          </a:stretch>
        </p:blipFill>
        <p:spPr bwMode="auto">
          <a:xfrm>
            <a:off x="419100" y="1041400"/>
            <a:ext cx="3800475" cy="2374900"/>
          </a:xfrm>
          <a:prstGeom prst="rect">
            <a:avLst/>
          </a:prstGeom>
          <a:noFill/>
          <a:ln w="12700">
            <a:noFill/>
            <a:miter lim="800000"/>
            <a:headEnd/>
            <a:tailEnd/>
          </a:ln>
          <a:effectLst/>
        </p:spPr>
      </p:pic>
      <p:pic>
        <p:nvPicPr>
          <p:cNvPr id="900102" name="Picture 1030"/>
          <p:cNvPicPr>
            <a:picLocks noChangeArrowheads="1"/>
          </p:cNvPicPr>
          <p:nvPr/>
        </p:nvPicPr>
        <p:blipFill>
          <a:blip r:embed="rId4" cstate="print"/>
          <a:srcRect/>
          <a:stretch>
            <a:fillRect/>
          </a:stretch>
        </p:blipFill>
        <p:spPr bwMode="auto">
          <a:xfrm>
            <a:off x="4595813" y="1079500"/>
            <a:ext cx="3746500" cy="2328863"/>
          </a:xfrm>
          <a:prstGeom prst="rect">
            <a:avLst/>
          </a:prstGeom>
          <a:noFill/>
          <a:ln w="12700">
            <a:noFill/>
            <a:miter lim="800000"/>
            <a:headEnd/>
            <a:tailEnd/>
          </a:ln>
          <a:effectLst/>
        </p:spPr>
      </p:pic>
      <p:sp>
        <p:nvSpPr>
          <p:cNvPr id="900103" name="Line 1031"/>
          <p:cNvSpPr>
            <a:spLocks noChangeShapeType="1"/>
          </p:cNvSpPr>
          <p:nvPr/>
        </p:nvSpPr>
        <p:spPr bwMode="auto">
          <a:xfrm>
            <a:off x="4179888" y="3352800"/>
            <a:ext cx="2487612" cy="0"/>
          </a:xfrm>
          <a:prstGeom prst="line">
            <a:avLst/>
          </a:prstGeom>
          <a:noFill/>
          <a:ln w="12700">
            <a:solidFill>
              <a:schemeClr val="tx1"/>
            </a:solidFill>
            <a:round/>
            <a:headEnd/>
            <a:tailEnd/>
          </a:ln>
          <a:effectLst/>
        </p:spPr>
        <p:txBody>
          <a:bodyPr wrap="none" anchor="ctr"/>
          <a:lstStyle/>
          <a:p>
            <a:endParaRPr lang="en-US"/>
          </a:p>
        </p:txBody>
      </p:sp>
      <p:sp>
        <p:nvSpPr>
          <p:cNvPr id="900104" name="Line 1032"/>
          <p:cNvSpPr>
            <a:spLocks noChangeShapeType="1"/>
          </p:cNvSpPr>
          <p:nvPr/>
        </p:nvSpPr>
        <p:spPr bwMode="auto">
          <a:xfrm>
            <a:off x="4192588" y="1104900"/>
            <a:ext cx="1298575" cy="0"/>
          </a:xfrm>
          <a:prstGeom prst="line">
            <a:avLst/>
          </a:prstGeom>
          <a:noFill/>
          <a:ln w="12700">
            <a:solidFill>
              <a:schemeClr val="tx1"/>
            </a:solidFill>
            <a:round/>
            <a:headEnd/>
            <a:tailEnd/>
          </a:ln>
          <a:effectLst/>
        </p:spPr>
        <p:txBody>
          <a:bodyPr wrap="none" anchor="ctr"/>
          <a:lstStyle/>
          <a:p>
            <a:endParaRPr lang="en-US"/>
          </a:p>
        </p:txBody>
      </p:sp>
      <p:pic>
        <p:nvPicPr>
          <p:cNvPr id="900105" name="Picture 1033"/>
          <p:cNvPicPr>
            <a:picLocks noChangeArrowheads="1"/>
          </p:cNvPicPr>
          <p:nvPr/>
        </p:nvPicPr>
        <p:blipFill>
          <a:blip r:embed="rId5" cstate="print"/>
          <a:srcRect/>
          <a:stretch>
            <a:fillRect/>
          </a:stretch>
        </p:blipFill>
        <p:spPr bwMode="auto">
          <a:xfrm>
            <a:off x="4713288" y="4170363"/>
            <a:ext cx="3636962" cy="806450"/>
          </a:xfrm>
          <a:prstGeom prst="rect">
            <a:avLst/>
          </a:prstGeom>
          <a:noFill/>
          <a:ln w="12700">
            <a:noFill/>
            <a:miter lim="800000"/>
            <a:headEnd/>
            <a:tailEnd/>
          </a:ln>
          <a:effectLst/>
        </p:spPr>
      </p:pic>
      <p:pic>
        <p:nvPicPr>
          <p:cNvPr id="900106" name="Picture 1034"/>
          <p:cNvPicPr>
            <a:picLocks noChangeArrowheads="1"/>
          </p:cNvPicPr>
          <p:nvPr/>
        </p:nvPicPr>
        <p:blipFill>
          <a:blip r:embed="rId6" cstate="print"/>
          <a:srcRect/>
          <a:stretch>
            <a:fillRect/>
          </a:stretch>
        </p:blipFill>
        <p:spPr bwMode="auto">
          <a:xfrm>
            <a:off x="4740275" y="5524500"/>
            <a:ext cx="3540125" cy="376238"/>
          </a:xfrm>
          <a:prstGeom prst="rect">
            <a:avLst/>
          </a:prstGeom>
          <a:noFill/>
          <a:ln w="12700">
            <a:noFill/>
            <a:miter lim="800000"/>
            <a:headEnd/>
            <a:tailEnd/>
          </a:ln>
          <a:effectLst/>
        </p:spPr>
      </p:pic>
      <p:sp>
        <p:nvSpPr>
          <p:cNvPr id="900107" name="Line 1035"/>
          <p:cNvSpPr>
            <a:spLocks noChangeShapeType="1"/>
          </p:cNvSpPr>
          <p:nvPr/>
        </p:nvSpPr>
        <p:spPr bwMode="auto">
          <a:xfrm>
            <a:off x="2709863" y="1652588"/>
            <a:ext cx="0" cy="2886075"/>
          </a:xfrm>
          <a:prstGeom prst="line">
            <a:avLst/>
          </a:prstGeom>
          <a:noFill/>
          <a:ln w="25400">
            <a:solidFill>
              <a:schemeClr val="bg1"/>
            </a:solidFill>
            <a:prstDash val="dash"/>
            <a:round/>
            <a:headEnd/>
            <a:tailEnd/>
          </a:ln>
          <a:effectLst/>
        </p:spPr>
        <p:txBody>
          <a:bodyPr wrap="none" anchor="ctr"/>
          <a:lstStyle/>
          <a:p>
            <a:endParaRPr lang="en-US"/>
          </a:p>
        </p:txBody>
      </p:sp>
      <p:sp>
        <p:nvSpPr>
          <p:cNvPr id="900108" name="Line 1036"/>
          <p:cNvSpPr>
            <a:spLocks noChangeShapeType="1"/>
          </p:cNvSpPr>
          <p:nvPr/>
        </p:nvSpPr>
        <p:spPr bwMode="auto">
          <a:xfrm>
            <a:off x="4251325" y="2209800"/>
            <a:ext cx="4173538" cy="0"/>
          </a:xfrm>
          <a:prstGeom prst="line">
            <a:avLst/>
          </a:prstGeom>
          <a:noFill/>
          <a:ln w="25400">
            <a:solidFill>
              <a:schemeClr val="bg1"/>
            </a:solidFill>
            <a:round/>
            <a:headEnd/>
            <a:tailEnd/>
          </a:ln>
          <a:effectLst/>
        </p:spPr>
        <p:txBody>
          <a:bodyPr wrap="none" anchor="ctr"/>
          <a:lstStyle/>
          <a:p>
            <a:endParaRPr lang="en-US"/>
          </a:p>
        </p:txBody>
      </p:sp>
      <p:sp>
        <p:nvSpPr>
          <p:cNvPr id="900109" name="Line 1037"/>
          <p:cNvSpPr>
            <a:spLocks noChangeShapeType="1"/>
          </p:cNvSpPr>
          <p:nvPr/>
        </p:nvSpPr>
        <p:spPr bwMode="auto">
          <a:xfrm>
            <a:off x="4303713" y="4564063"/>
            <a:ext cx="4173537" cy="0"/>
          </a:xfrm>
          <a:prstGeom prst="line">
            <a:avLst/>
          </a:prstGeom>
          <a:noFill/>
          <a:ln w="25400">
            <a:solidFill>
              <a:schemeClr val="bg1"/>
            </a:solidFill>
            <a:round/>
            <a:headEnd/>
            <a:tailEnd/>
          </a:ln>
          <a:effectLst/>
        </p:spPr>
        <p:txBody>
          <a:bodyPr wrap="none" anchor="ctr"/>
          <a:lstStyle/>
          <a:p>
            <a:endParaRPr lang="en-US"/>
          </a:p>
        </p:txBody>
      </p:sp>
      <p:sp>
        <p:nvSpPr>
          <p:cNvPr id="900110" name="Line 1038"/>
          <p:cNvSpPr>
            <a:spLocks noChangeShapeType="1"/>
          </p:cNvSpPr>
          <p:nvPr/>
        </p:nvSpPr>
        <p:spPr bwMode="auto">
          <a:xfrm>
            <a:off x="4287838" y="5673725"/>
            <a:ext cx="4173537" cy="0"/>
          </a:xfrm>
          <a:prstGeom prst="line">
            <a:avLst/>
          </a:prstGeom>
          <a:noFill/>
          <a:ln w="25400">
            <a:solidFill>
              <a:schemeClr val="bg1"/>
            </a:solidFill>
            <a:round/>
            <a:headEnd/>
            <a:tailEnd/>
          </a:ln>
          <a:effectLst/>
        </p:spPr>
        <p:txBody>
          <a:bodyPr wrap="none" anchor="ctr"/>
          <a:lstStyle/>
          <a:p>
            <a:endParaRPr lang="en-US"/>
          </a:p>
        </p:txBody>
      </p:sp>
      <p:sp>
        <p:nvSpPr>
          <p:cNvPr id="900111" name="Line 1039"/>
          <p:cNvSpPr>
            <a:spLocks noChangeShapeType="1"/>
          </p:cNvSpPr>
          <p:nvPr/>
        </p:nvSpPr>
        <p:spPr bwMode="auto">
          <a:xfrm>
            <a:off x="1592263" y="2058988"/>
            <a:ext cx="0" cy="3597275"/>
          </a:xfrm>
          <a:prstGeom prst="line">
            <a:avLst/>
          </a:prstGeom>
          <a:noFill/>
          <a:ln w="25400">
            <a:solidFill>
              <a:schemeClr val="bg1"/>
            </a:solidFill>
            <a:prstDash val="dash"/>
            <a:round/>
            <a:headEnd/>
            <a:tailEnd/>
          </a:ln>
          <a:effectLst/>
        </p:spPr>
        <p:txBody>
          <a:bodyPr wrap="none" anchor="ctr"/>
          <a:lstStyle/>
          <a:p>
            <a:endParaRPr lang="en-US"/>
          </a:p>
        </p:txBody>
      </p:sp>
      <p:sp>
        <p:nvSpPr>
          <p:cNvPr id="900112" name="Line 1040"/>
          <p:cNvSpPr>
            <a:spLocks noChangeShapeType="1"/>
          </p:cNvSpPr>
          <p:nvPr/>
        </p:nvSpPr>
        <p:spPr bwMode="auto">
          <a:xfrm>
            <a:off x="1627188" y="5681663"/>
            <a:ext cx="2597150" cy="0"/>
          </a:xfrm>
          <a:prstGeom prst="line">
            <a:avLst/>
          </a:prstGeom>
          <a:noFill/>
          <a:ln w="25400">
            <a:solidFill>
              <a:schemeClr val="bg1"/>
            </a:solidFill>
            <a:prstDash val="dash"/>
            <a:round/>
            <a:headEnd/>
            <a:tailEnd/>
          </a:ln>
          <a:effectLst/>
        </p:spPr>
        <p:txBody>
          <a:bodyPr wrap="none" anchor="ctr"/>
          <a:lstStyle/>
          <a:p>
            <a:endParaRPr lang="en-US"/>
          </a:p>
        </p:txBody>
      </p:sp>
      <p:sp>
        <p:nvSpPr>
          <p:cNvPr id="900113" name="Line 1041"/>
          <p:cNvSpPr>
            <a:spLocks noChangeShapeType="1"/>
          </p:cNvSpPr>
          <p:nvPr/>
        </p:nvSpPr>
        <p:spPr bwMode="auto">
          <a:xfrm>
            <a:off x="2727325" y="4564063"/>
            <a:ext cx="1471613" cy="0"/>
          </a:xfrm>
          <a:prstGeom prst="line">
            <a:avLst/>
          </a:prstGeom>
          <a:noFill/>
          <a:ln w="25400">
            <a:solidFill>
              <a:schemeClr val="bg1"/>
            </a:solidFill>
            <a:prstDash val="dash"/>
            <a:round/>
            <a:headEnd/>
            <a:tailEnd/>
          </a:ln>
          <a:effectLst/>
        </p:spPr>
        <p:txBody>
          <a:bodyPr wrap="none" anchor="ctr"/>
          <a:lstStyle/>
          <a:p>
            <a:endParaRPr lang="en-US"/>
          </a:p>
        </p:txBody>
      </p:sp>
      <p:sp>
        <p:nvSpPr>
          <p:cNvPr id="900114" name="Line 1042"/>
          <p:cNvSpPr>
            <a:spLocks noChangeShapeType="1"/>
          </p:cNvSpPr>
          <p:nvPr/>
        </p:nvSpPr>
        <p:spPr bwMode="auto">
          <a:xfrm flipV="1">
            <a:off x="5321300" y="1131888"/>
            <a:ext cx="0" cy="1090612"/>
          </a:xfrm>
          <a:prstGeom prst="line">
            <a:avLst/>
          </a:prstGeom>
          <a:noFill/>
          <a:ln w="25400">
            <a:solidFill>
              <a:schemeClr val="tx1"/>
            </a:solidFill>
            <a:round/>
            <a:headEnd/>
            <a:tailEnd type="triangle" w="med" len="med"/>
          </a:ln>
          <a:effectLst/>
        </p:spPr>
        <p:txBody>
          <a:bodyPr wrap="none" anchor="ctr"/>
          <a:lstStyle/>
          <a:p>
            <a:endParaRPr lang="en-US"/>
          </a:p>
        </p:txBody>
      </p:sp>
      <p:sp>
        <p:nvSpPr>
          <p:cNvPr id="900115" name="Line 1043"/>
          <p:cNvSpPr>
            <a:spLocks noChangeShapeType="1"/>
          </p:cNvSpPr>
          <p:nvPr/>
        </p:nvSpPr>
        <p:spPr bwMode="auto">
          <a:xfrm flipV="1">
            <a:off x="6451600" y="4154488"/>
            <a:ext cx="0" cy="442912"/>
          </a:xfrm>
          <a:prstGeom prst="line">
            <a:avLst/>
          </a:prstGeom>
          <a:noFill/>
          <a:ln w="25400">
            <a:solidFill>
              <a:schemeClr val="tx1"/>
            </a:solidFill>
            <a:round/>
            <a:headEnd/>
            <a:tailEnd type="triangle" w="med" len="med"/>
          </a:ln>
          <a:effectLst/>
        </p:spPr>
        <p:txBody>
          <a:bodyPr wrap="none" anchor="ctr"/>
          <a:lstStyle/>
          <a:p>
            <a:endParaRPr lang="en-US"/>
          </a:p>
        </p:txBody>
      </p:sp>
      <p:sp>
        <p:nvSpPr>
          <p:cNvPr id="900116" name="Line 1044"/>
          <p:cNvSpPr>
            <a:spLocks noChangeShapeType="1"/>
          </p:cNvSpPr>
          <p:nvPr/>
        </p:nvSpPr>
        <p:spPr bwMode="auto">
          <a:xfrm flipV="1">
            <a:off x="6477000" y="5492750"/>
            <a:ext cx="0" cy="201613"/>
          </a:xfrm>
          <a:prstGeom prst="line">
            <a:avLst/>
          </a:prstGeom>
          <a:noFill/>
          <a:ln w="12700">
            <a:solidFill>
              <a:schemeClr val="tx1"/>
            </a:solidFill>
            <a:round/>
            <a:headEnd/>
            <a:tailEnd type="triangle" w="med" len="med"/>
          </a:ln>
          <a:effectLst/>
        </p:spPr>
        <p:txBody>
          <a:bodyPr wrap="none" anchor="ctr"/>
          <a:lstStyle/>
          <a:p>
            <a:endParaRPr lang="en-US"/>
          </a:p>
        </p:txBody>
      </p:sp>
      <p:sp>
        <p:nvSpPr>
          <p:cNvPr id="900117" name="Line 1045"/>
          <p:cNvSpPr>
            <a:spLocks noChangeShapeType="1"/>
          </p:cNvSpPr>
          <p:nvPr/>
        </p:nvSpPr>
        <p:spPr bwMode="auto">
          <a:xfrm>
            <a:off x="5272088" y="4175125"/>
            <a:ext cx="1298575" cy="0"/>
          </a:xfrm>
          <a:prstGeom prst="line">
            <a:avLst/>
          </a:prstGeom>
          <a:noFill/>
          <a:ln w="12700">
            <a:solidFill>
              <a:schemeClr val="tx1"/>
            </a:solidFill>
            <a:round/>
            <a:headEnd/>
            <a:tailEnd/>
          </a:ln>
          <a:effectLst/>
        </p:spPr>
        <p:txBody>
          <a:bodyPr wrap="none" anchor="ctr"/>
          <a:lstStyle/>
          <a:p>
            <a:endParaRPr lang="en-US"/>
          </a:p>
        </p:txBody>
      </p:sp>
      <p:sp>
        <p:nvSpPr>
          <p:cNvPr id="900118" name="Line 1046"/>
          <p:cNvSpPr>
            <a:spLocks noChangeShapeType="1"/>
          </p:cNvSpPr>
          <p:nvPr/>
        </p:nvSpPr>
        <p:spPr bwMode="auto">
          <a:xfrm>
            <a:off x="5191125" y="5508625"/>
            <a:ext cx="1298575" cy="0"/>
          </a:xfrm>
          <a:prstGeom prst="line">
            <a:avLst/>
          </a:prstGeom>
          <a:noFill/>
          <a:ln w="12700">
            <a:solidFill>
              <a:schemeClr val="tx1"/>
            </a:solidFill>
            <a:round/>
            <a:headEnd/>
            <a:tailEnd/>
          </a:ln>
          <a:effectLst/>
        </p:spPr>
        <p:txBody>
          <a:bodyPr wrap="none" anchor="ctr"/>
          <a:lstStyle/>
          <a:p>
            <a:endParaRPr lang="en-US"/>
          </a:p>
        </p:txBody>
      </p:sp>
      <p:sp>
        <p:nvSpPr>
          <p:cNvPr id="900119" name="Rectangle 1047"/>
          <p:cNvSpPr>
            <a:spLocks noChangeArrowheads="1"/>
          </p:cNvSpPr>
          <p:nvPr/>
        </p:nvSpPr>
        <p:spPr bwMode="auto">
          <a:xfrm>
            <a:off x="2552700" y="1120775"/>
            <a:ext cx="350838" cy="393700"/>
          </a:xfrm>
          <a:prstGeom prst="rect">
            <a:avLst/>
          </a:prstGeom>
          <a:noFill/>
          <a:ln w="12700">
            <a:noFill/>
            <a:miter lim="800000"/>
            <a:headEnd/>
            <a:tailEnd/>
          </a:ln>
          <a:effectLst/>
        </p:spPr>
        <p:txBody>
          <a:bodyPr wrap="none" lIns="90488" tIns="44450" rIns="90488" bIns="44450">
            <a:spAutoFit/>
          </a:bodyPr>
          <a:lstStyle/>
          <a:p>
            <a:r>
              <a:rPr lang="en-US" sz="2000">
                <a:latin typeface="Arial" pitchFamily="34" charset="0"/>
              </a:rPr>
              <a:t>B</a:t>
            </a:r>
          </a:p>
        </p:txBody>
      </p:sp>
      <p:sp>
        <p:nvSpPr>
          <p:cNvPr id="900120" name="Rectangle 1048"/>
          <p:cNvSpPr>
            <a:spLocks noChangeArrowheads="1"/>
          </p:cNvSpPr>
          <p:nvPr/>
        </p:nvSpPr>
        <p:spPr bwMode="auto">
          <a:xfrm>
            <a:off x="1428750" y="1552575"/>
            <a:ext cx="365125" cy="393700"/>
          </a:xfrm>
          <a:prstGeom prst="rect">
            <a:avLst/>
          </a:prstGeom>
          <a:noFill/>
          <a:ln w="12700">
            <a:noFill/>
            <a:miter lim="800000"/>
            <a:headEnd/>
            <a:tailEnd/>
          </a:ln>
          <a:effectLst/>
        </p:spPr>
        <p:txBody>
          <a:bodyPr wrap="none" lIns="90488" tIns="44450" rIns="90488" bIns="44450">
            <a:spAutoFit/>
          </a:bodyPr>
          <a:lstStyle/>
          <a:p>
            <a:r>
              <a:rPr lang="en-US" sz="2000">
                <a:latin typeface="Arial" pitchFamily="34" charset="0"/>
              </a:rPr>
              <a:t>C</a:t>
            </a:r>
          </a:p>
        </p:txBody>
      </p:sp>
      <p:sp>
        <p:nvSpPr>
          <p:cNvPr id="900121" name="Rectangle 1049"/>
          <p:cNvSpPr>
            <a:spLocks noChangeArrowheads="1"/>
          </p:cNvSpPr>
          <p:nvPr/>
        </p:nvSpPr>
        <p:spPr bwMode="auto">
          <a:xfrm>
            <a:off x="3959225" y="587375"/>
            <a:ext cx="350838" cy="393700"/>
          </a:xfrm>
          <a:prstGeom prst="rect">
            <a:avLst/>
          </a:prstGeom>
          <a:noFill/>
          <a:ln w="12700">
            <a:noFill/>
            <a:miter lim="800000"/>
            <a:headEnd/>
            <a:tailEnd/>
          </a:ln>
          <a:effectLst/>
        </p:spPr>
        <p:txBody>
          <a:bodyPr wrap="none" lIns="90488" tIns="44450" rIns="90488" bIns="44450">
            <a:spAutoFit/>
          </a:bodyPr>
          <a:lstStyle/>
          <a:p>
            <a:r>
              <a:rPr lang="en-US" sz="2000">
                <a:latin typeface="Arial" pitchFamily="34" charset="0"/>
              </a:rPr>
              <a:t>A</a:t>
            </a:r>
          </a:p>
        </p:txBody>
      </p:sp>
      <p:sp>
        <p:nvSpPr>
          <p:cNvPr id="900122" name="Rectangle 1050"/>
          <p:cNvSpPr>
            <a:spLocks noChangeArrowheads="1"/>
          </p:cNvSpPr>
          <p:nvPr/>
        </p:nvSpPr>
        <p:spPr bwMode="auto">
          <a:xfrm>
            <a:off x="5294313" y="1611313"/>
            <a:ext cx="322262" cy="393700"/>
          </a:xfrm>
          <a:prstGeom prst="rect">
            <a:avLst/>
          </a:prstGeom>
          <a:noFill/>
          <a:ln w="12700">
            <a:noFill/>
            <a:miter lim="800000"/>
            <a:headEnd/>
            <a:tailEnd/>
          </a:ln>
          <a:effectLst/>
        </p:spPr>
        <p:txBody>
          <a:bodyPr wrap="none" lIns="90488" tIns="44450" rIns="90488" bIns="44450">
            <a:spAutoFit/>
          </a:bodyPr>
          <a:lstStyle/>
          <a:p>
            <a:r>
              <a:rPr lang="en-US" sz="2000">
                <a:latin typeface="Arial" pitchFamily="34" charset="0"/>
              </a:rPr>
              <a:t>a</a:t>
            </a:r>
          </a:p>
        </p:txBody>
      </p:sp>
      <p:sp>
        <p:nvSpPr>
          <p:cNvPr id="900123" name="Rectangle 1051"/>
          <p:cNvSpPr>
            <a:spLocks noChangeArrowheads="1"/>
          </p:cNvSpPr>
          <p:nvPr/>
        </p:nvSpPr>
        <p:spPr bwMode="auto">
          <a:xfrm>
            <a:off x="6550025" y="4183063"/>
            <a:ext cx="322263" cy="393700"/>
          </a:xfrm>
          <a:prstGeom prst="rect">
            <a:avLst/>
          </a:prstGeom>
          <a:noFill/>
          <a:ln w="12700">
            <a:noFill/>
            <a:miter lim="800000"/>
            <a:headEnd/>
            <a:tailEnd/>
          </a:ln>
          <a:effectLst/>
        </p:spPr>
        <p:txBody>
          <a:bodyPr wrap="none" lIns="90488" tIns="44450" rIns="90488" bIns="44450">
            <a:spAutoFit/>
          </a:bodyPr>
          <a:lstStyle/>
          <a:p>
            <a:r>
              <a:rPr lang="en-US" sz="2000">
                <a:latin typeface="Arial" pitchFamily="34" charset="0"/>
              </a:rPr>
              <a:t>b</a:t>
            </a:r>
          </a:p>
        </p:txBody>
      </p:sp>
      <p:sp>
        <p:nvSpPr>
          <p:cNvPr id="900124" name="Rectangle 1052"/>
          <p:cNvSpPr>
            <a:spLocks noChangeArrowheads="1"/>
          </p:cNvSpPr>
          <p:nvPr/>
        </p:nvSpPr>
        <p:spPr bwMode="auto">
          <a:xfrm>
            <a:off x="6548438" y="5310188"/>
            <a:ext cx="307975" cy="393700"/>
          </a:xfrm>
          <a:prstGeom prst="rect">
            <a:avLst/>
          </a:prstGeom>
          <a:noFill/>
          <a:ln w="12700">
            <a:noFill/>
            <a:miter lim="800000"/>
            <a:headEnd/>
            <a:tailEnd/>
          </a:ln>
          <a:effectLst/>
        </p:spPr>
        <p:txBody>
          <a:bodyPr wrap="none" lIns="90488" tIns="44450" rIns="90488" bIns="44450">
            <a:spAutoFit/>
          </a:bodyPr>
          <a:lstStyle/>
          <a:p>
            <a:r>
              <a:rPr lang="en-US" sz="2000">
                <a:latin typeface="Arial" pitchFamily="34" charset="0"/>
              </a:rPr>
              <a:t>c</a:t>
            </a:r>
          </a:p>
        </p:txBody>
      </p:sp>
      <p:sp>
        <p:nvSpPr>
          <p:cNvPr id="900125" name="Rectangle 1053"/>
          <p:cNvSpPr>
            <a:spLocks noChangeArrowheads="1"/>
          </p:cNvSpPr>
          <p:nvPr/>
        </p:nvSpPr>
        <p:spPr bwMode="auto">
          <a:xfrm>
            <a:off x="8428038" y="2022475"/>
            <a:ext cx="250825" cy="393700"/>
          </a:xfrm>
          <a:prstGeom prst="rect">
            <a:avLst/>
          </a:prstGeom>
          <a:noFill/>
          <a:ln w="12700">
            <a:noFill/>
            <a:miter lim="800000"/>
            <a:headEnd/>
            <a:tailEnd/>
          </a:ln>
          <a:effectLst/>
        </p:spPr>
        <p:txBody>
          <a:bodyPr wrap="none" lIns="90488" tIns="44450" rIns="90488" bIns="44450">
            <a:spAutoFit/>
          </a:bodyPr>
          <a:lstStyle/>
          <a:p>
            <a:r>
              <a:rPr lang="en-US" sz="2000">
                <a:latin typeface="Arial" pitchFamily="34" charset="0"/>
              </a:rPr>
              <a:t>t</a:t>
            </a:r>
          </a:p>
        </p:txBody>
      </p:sp>
      <p:sp>
        <p:nvSpPr>
          <p:cNvPr id="900126" name="Rectangle 1054"/>
          <p:cNvSpPr>
            <a:spLocks noChangeArrowheads="1"/>
          </p:cNvSpPr>
          <p:nvPr/>
        </p:nvSpPr>
        <p:spPr bwMode="auto">
          <a:xfrm>
            <a:off x="8466138" y="4357688"/>
            <a:ext cx="250825" cy="393700"/>
          </a:xfrm>
          <a:prstGeom prst="rect">
            <a:avLst/>
          </a:prstGeom>
          <a:noFill/>
          <a:ln w="12700">
            <a:noFill/>
            <a:miter lim="800000"/>
            <a:headEnd/>
            <a:tailEnd/>
          </a:ln>
          <a:effectLst/>
        </p:spPr>
        <p:txBody>
          <a:bodyPr wrap="none" lIns="90488" tIns="44450" rIns="90488" bIns="44450">
            <a:spAutoFit/>
          </a:bodyPr>
          <a:lstStyle/>
          <a:p>
            <a:r>
              <a:rPr lang="en-US" sz="2000">
                <a:latin typeface="Arial" pitchFamily="34" charset="0"/>
              </a:rPr>
              <a:t>t</a:t>
            </a:r>
          </a:p>
        </p:txBody>
      </p:sp>
      <p:sp>
        <p:nvSpPr>
          <p:cNvPr id="900127" name="Rectangle 1055"/>
          <p:cNvSpPr>
            <a:spLocks noChangeArrowheads="1"/>
          </p:cNvSpPr>
          <p:nvPr/>
        </p:nvSpPr>
        <p:spPr bwMode="auto">
          <a:xfrm>
            <a:off x="8466138" y="5487988"/>
            <a:ext cx="250825" cy="393700"/>
          </a:xfrm>
          <a:prstGeom prst="rect">
            <a:avLst/>
          </a:prstGeom>
          <a:noFill/>
          <a:ln w="12700">
            <a:noFill/>
            <a:miter lim="800000"/>
            <a:headEnd/>
            <a:tailEnd/>
          </a:ln>
          <a:effectLst/>
        </p:spPr>
        <p:txBody>
          <a:bodyPr wrap="none" lIns="90488" tIns="44450" rIns="90488" bIns="44450">
            <a:spAutoFit/>
          </a:bodyPr>
          <a:lstStyle/>
          <a:p>
            <a:r>
              <a:rPr lang="en-US" sz="2000">
                <a:latin typeface="Arial" pitchFamily="34" charset="0"/>
              </a:rPr>
              <a:t>t</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901123"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
        <p:nvSpPr>
          <p:cNvPr id="901124" name="AutoShape 4"/>
          <p:cNvSpPr>
            <a:spLocks noChangeArrowheads="1"/>
          </p:cNvSpPr>
          <p:nvPr/>
        </p:nvSpPr>
        <p:spPr bwMode="auto">
          <a:xfrm>
            <a:off x="342900" y="355600"/>
            <a:ext cx="8458200" cy="6032500"/>
          </a:xfrm>
          <a:prstGeom prst="roundRect">
            <a:avLst>
              <a:gd name="adj" fmla="val 3602"/>
            </a:avLst>
          </a:prstGeom>
          <a:solidFill>
            <a:srgbClr val="FFFFFF"/>
          </a:solidFill>
          <a:ln w="12700">
            <a:noFill/>
            <a:round/>
            <a:headEnd/>
            <a:tailEnd/>
          </a:ln>
          <a:effectLst/>
        </p:spPr>
        <p:txBody>
          <a:bodyPr wrap="none" anchor="ctr"/>
          <a:lstStyle/>
          <a:p>
            <a:endParaRPr lang="en-US"/>
          </a:p>
        </p:txBody>
      </p:sp>
      <p:pic>
        <p:nvPicPr>
          <p:cNvPr id="901125" name="Picture 5"/>
          <p:cNvPicPr>
            <a:picLocks noChangeArrowheads="1"/>
          </p:cNvPicPr>
          <p:nvPr/>
        </p:nvPicPr>
        <p:blipFill>
          <a:blip r:embed="rId3" cstate="print"/>
          <a:srcRect/>
          <a:stretch>
            <a:fillRect/>
          </a:stretch>
        </p:blipFill>
        <p:spPr bwMode="auto">
          <a:xfrm>
            <a:off x="469900" y="2108200"/>
            <a:ext cx="3302000" cy="2063750"/>
          </a:xfrm>
          <a:prstGeom prst="rect">
            <a:avLst/>
          </a:prstGeom>
          <a:noFill/>
          <a:ln w="12700">
            <a:noFill/>
            <a:miter lim="800000"/>
            <a:headEnd/>
            <a:tailEnd/>
          </a:ln>
          <a:effectLst/>
        </p:spPr>
      </p:pic>
      <p:pic>
        <p:nvPicPr>
          <p:cNvPr id="901126" name="Picture 6"/>
          <p:cNvPicPr>
            <a:picLocks noChangeArrowheads="1"/>
          </p:cNvPicPr>
          <p:nvPr/>
        </p:nvPicPr>
        <p:blipFill>
          <a:blip r:embed="rId4" cstate="print"/>
          <a:srcRect/>
          <a:stretch>
            <a:fillRect/>
          </a:stretch>
        </p:blipFill>
        <p:spPr bwMode="auto">
          <a:xfrm>
            <a:off x="4686300" y="2062163"/>
            <a:ext cx="3149600" cy="2111375"/>
          </a:xfrm>
          <a:prstGeom prst="rect">
            <a:avLst/>
          </a:prstGeom>
          <a:noFill/>
          <a:ln w="12700">
            <a:noFill/>
            <a:miter lim="800000"/>
            <a:headEnd/>
            <a:tailEnd/>
          </a:ln>
          <a:effectLst/>
        </p:spPr>
      </p:pic>
      <p:sp>
        <p:nvSpPr>
          <p:cNvPr id="901127" name="Line 7"/>
          <p:cNvSpPr>
            <a:spLocks noChangeShapeType="1"/>
          </p:cNvSpPr>
          <p:nvPr/>
        </p:nvSpPr>
        <p:spPr bwMode="auto">
          <a:xfrm>
            <a:off x="4725988" y="3136900"/>
            <a:ext cx="3694112"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901128" name="Line 8"/>
          <p:cNvSpPr>
            <a:spLocks noChangeShapeType="1"/>
          </p:cNvSpPr>
          <p:nvPr/>
        </p:nvSpPr>
        <p:spPr bwMode="auto">
          <a:xfrm flipV="1">
            <a:off x="4686300" y="1398588"/>
            <a:ext cx="0" cy="3198812"/>
          </a:xfrm>
          <a:prstGeom prst="line">
            <a:avLst/>
          </a:prstGeom>
          <a:noFill/>
          <a:ln w="25400">
            <a:solidFill>
              <a:schemeClr val="tx1"/>
            </a:solidFill>
            <a:round/>
            <a:headEnd/>
            <a:tailEnd type="triangle" w="med" len="med"/>
          </a:ln>
          <a:effectLst/>
        </p:spPr>
        <p:txBody>
          <a:bodyPr wrap="none" anchor="ctr"/>
          <a:lstStyle/>
          <a:p>
            <a:endParaRPr lang="en-US"/>
          </a:p>
        </p:txBody>
      </p:sp>
      <p:sp>
        <p:nvSpPr>
          <p:cNvPr id="901129" name="Rectangle 9"/>
          <p:cNvSpPr>
            <a:spLocks noChangeArrowheads="1"/>
          </p:cNvSpPr>
          <p:nvPr/>
        </p:nvSpPr>
        <p:spPr bwMode="auto">
          <a:xfrm>
            <a:off x="8215313" y="3216275"/>
            <a:ext cx="250825" cy="393700"/>
          </a:xfrm>
          <a:prstGeom prst="rect">
            <a:avLst/>
          </a:prstGeom>
          <a:noFill/>
          <a:ln w="12700">
            <a:noFill/>
            <a:miter lim="800000"/>
            <a:headEnd/>
            <a:tailEnd/>
          </a:ln>
          <a:effectLst/>
        </p:spPr>
        <p:txBody>
          <a:bodyPr wrap="none" lIns="90488" tIns="44450" rIns="90488" bIns="44450">
            <a:spAutoFit/>
          </a:bodyPr>
          <a:lstStyle/>
          <a:p>
            <a:r>
              <a:rPr lang="en-US" sz="2000">
                <a:latin typeface="Arial" pitchFamily="34" charset="0"/>
              </a:rPr>
              <a:t>t</a:t>
            </a:r>
          </a:p>
        </p:txBody>
      </p:sp>
      <p:sp>
        <p:nvSpPr>
          <p:cNvPr id="901130" name="Rectangle 10"/>
          <p:cNvSpPr>
            <a:spLocks noChangeArrowheads="1"/>
          </p:cNvSpPr>
          <p:nvPr/>
        </p:nvSpPr>
        <p:spPr bwMode="auto">
          <a:xfrm>
            <a:off x="4330700" y="1184275"/>
            <a:ext cx="328613" cy="393700"/>
          </a:xfrm>
          <a:prstGeom prst="rect">
            <a:avLst/>
          </a:prstGeom>
          <a:noFill/>
          <a:ln w="12700">
            <a:noFill/>
            <a:miter lim="800000"/>
            <a:headEnd/>
            <a:tailEnd/>
          </a:ln>
          <a:effectLst/>
        </p:spPr>
        <p:txBody>
          <a:bodyPr wrap="none" lIns="90488" tIns="44450" rIns="90488" bIns="44450">
            <a:spAutoFit/>
          </a:bodyPr>
          <a:lstStyle/>
          <a:p>
            <a:r>
              <a:rPr lang="en-US" sz="2000">
                <a:latin typeface="Arial" pitchFamily="34" charset="0"/>
              </a:rPr>
              <a:t>+</a:t>
            </a:r>
          </a:p>
        </p:txBody>
      </p:sp>
      <p:sp>
        <p:nvSpPr>
          <p:cNvPr id="901131" name="Rectangle 11"/>
          <p:cNvSpPr>
            <a:spLocks noChangeArrowheads="1"/>
          </p:cNvSpPr>
          <p:nvPr/>
        </p:nvSpPr>
        <p:spPr bwMode="auto">
          <a:xfrm>
            <a:off x="4786313" y="1793875"/>
            <a:ext cx="322262" cy="393700"/>
          </a:xfrm>
          <a:prstGeom prst="rect">
            <a:avLst/>
          </a:prstGeom>
          <a:noFill/>
          <a:ln w="12700">
            <a:noFill/>
            <a:miter lim="800000"/>
            <a:headEnd/>
            <a:tailEnd/>
          </a:ln>
          <a:effectLst/>
        </p:spPr>
        <p:txBody>
          <a:bodyPr wrap="none" lIns="90488" tIns="44450" rIns="90488" bIns="44450">
            <a:spAutoFit/>
          </a:bodyPr>
          <a:lstStyle/>
          <a:p>
            <a:r>
              <a:rPr lang="en-US" sz="2000" b="1">
                <a:solidFill>
                  <a:schemeClr val="accent2"/>
                </a:solidFill>
                <a:latin typeface="Arial" pitchFamily="34" charset="0"/>
              </a:rPr>
              <a:t>a</a:t>
            </a:r>
          </a:p>
        </p:txBody>
      </p:sp>
      <p:sp>
        <p:nvSpPr>
          <p:cNvPr id="901132" name="Rectangle 12"/>
          <p:cNvSpPr>
            <a:spLocks noChangeArrowheads="1"/>
          </p:cNvSpPr>
          <p:nvPr/>
        </p:nvSpPr>
        <p:spPr bwMode="auto">
          <a:xfrm>
            <a:off x="4862513" y="4090988"/>
            <a:ext cx="336550" cy="393700"/>
          </a:xfrm>
          <a:prstGeom prst="rect">
            <a:avLst/>
          </a:prstGeom>
          <a:noFill/>
          <a:ln w="12700">
            <a:noFill/>
            <a:miter lim="800000"/>
            <a:headEnd/>
            <a:tailEnd/>
          </a:ln>
          <a:effectLst/>
        </p:spPr>
        <p:txBody>
          <a:bodyPr wrap="none" lIns="90488" tIns="44450" rIns="90488" bIns="44450">
            <a:spAutoFit/>
          </a:bodyPr>
          <a:lstStyle/>
          <a:p>
            <a:r>
              <a:rPr lang="en-US" sz="2000" b="1">
                <a:solidFill>
                  <a:schemeClr val="hlink"/>
                </a:solidFill>
                <a:latin typeface="Arial" pitchFamily="34" charset="0"/>
              </a:rPr>
              <a:t>d</a:t>
            </a:r>
          </a:p>
        </p:txBody>
      </p:sp>
      <p:sp>
        <p:nvSpPr>
          <p:cNvPr id="901133" name="Rectangle 13"/>
          <p:cNvSpPr>
            <a:spLocks noChangeArrowheads="1"/>
          </p:cNvSpPr>
          <p:nvPr/>
        </p:nvSpPr>
        <p:spPr bwMode="auto">
          <a:xfrm>
            <a:off x="4849813" y="2695575"/>
            <a:ext cx="322262" cy="393700"/>
          </a:xfrm>
          <a:prstGeom prst="rect">
            <a:avLst/>
          </a:prstGeom>
          <a:noFill/>
          <a:ln w="12700">
            <a:noFill/>
            <a:miter lim="800000"/>
            <a:headEnd/>
            <a:tailEnd/>
          </a:ln>
          <a:effectLst/>
        </p:spPr>
        <p:txBody>
          <a:bodyPr wrap="none" lIns="90488" tIns="44450" rIns="90488" bIns="44450">
            <a:spAutoFit/>
          </a:bodyPr>
          <a:lstStyle/>
          <a:p>
            <a:r>
              <a:rPr lang="en-US" sz="2000" b="1">
                <a:solidFill>
                  <a:schemeClr val="bg1"/>
                </a:solidFill>
                <a:latin typeface="Arial" pitchFamily="34" charset="0"/>
              </a:rPr>
              <a:t>v</a:t>
            </a:r>
          </a:p>
        </p:txBody>
      </p:sp>
      <p:sp>
        <p:nvSpPr>
          <p:cNvPr id="901134" name="Line 14"/>
          <p:cNvSpPr>
            <a:spLocks noChangeShapeType="1"/>
          </p:cNvSpPr>
          <p:nvPr/>
        </p:nvSpPr>
        <p:spPr bwMode="auto">
          <a:xfrm>
            <a:off x="3773488" y="2133600"/>
            <a:ext cx="773112" cy="0"/>
          </a:xfrm>
          <a:prstGeom prst="line">
            <a:avLst/>
          </a:prstGeom>
          <a:noFill/>
          <a:ln w="12700">
            <a:solidFill>
              <a:schemeClr val="bg1"/>
            </a:solidFill>
            <a:prstDash val="dash"/>
            <a:round/>
            <a:headEnd/>
            <a:tailEnd/>
          </a:ln>
          <a:effectLst/>
        </p:spPr>
        <p:txBody>
          <a:bodyPr wrap="none" anchor="ctr"/>
          <a:lstStyle/>
          <a:p>
            <a:endParaRPr lang="en-US"/>
          </a:p>
        </p:txBody>
      </p:sp>
      <p:sp>
        <p:nvSpPr>
          <p:cNvPr id="901135" name="Line 15"/>
          <p:cNvSpPr>
            <a:spLocks noChangeShapeType="1"/>
          </p:cNvSpPr>
          <p:nvPr/>
        </p:nvSpPr>
        <p:spPr bwMode="auto">
          <a:xfrm>
            <a:off x="3798888" y="4152900"/>
            <a:ext cx="760412" cy="0"/>
          </a:xfrm>
          <a:prstGeom prst="line">
            <a:avLst/>
          </a:prstGeom>
          <a:noFill/>
          <a:ln w="12700">
            <a:solidFill>
              <a:schemeClr val="bg1"/>
            </a:solidFill>
            <a:prstDash val="dash"/>
            <a:round/>
            <a:headEnd/>
            <a:tailEnd/>
          </a:ln>
          <a:effectLst/>
        </p:spPr>
        <p:txBody>
          <a:bodyPr wrap="none" anchor="ctr"/>
          <a:lstStyle/>
          <a:p>
            <a:endParaRPr lang="en-US"/>
          </a:p>
        </p:txBody>
      </p:sp>
      <p:sp>
        <p:nvSpPr>
          <p:cNvPr id="901136" name="Line 16"/>
          <p:cNvSpPr>
            <a:spLocks noChangeShapeType="1"/>
          </p:cNvSpPr>
          <p:nvPr/>
        </p:nvSpPr>
        <p:spPr bwMode="auto">
          <a:xfrm>
            <a:off x="3798888" y="3124200"/>
            <a:ext cx="811212" cy="0"/>
          </a:xfrm>
          <a:prstGeom prst="line">
            <a:avLst/>
          </a:prstGeom>
          <a:noFill/>
          <a:ln w="12700">
            <a:solidFill>
              <a:schemeClr val="bg1"/>
            </a:solidFill>
            <a:prstDash val="dash"/>
            <a:round/>
            <a:headEnd/>
            <a:tailEnd/>
          </a:ln>
          <a:effectLst/>
        </p:spPr>
        <p:txBody>
          <a:bodyPr wrap="none" anchor="ctr"/>
          <a:lstStyle/>
          <a:p>
            <a:endParaRPr lang="en-US"/>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6" name="Rectangle 2"/>
          <p:cNvSpPr>
            <a:spLocks noGrp="1" noChangeArrowheads="1"/>
          </p:cNvSpPr>
          <p:nvPr>
            <p:ph type="title"/>
          </p:nvPr>
        </p:nvSpPr>
        <p:spPr>
          <a:solidFill>
            <a:schemeClr val="bg1"/>
          </a:solidFill>
          <a:ln/>
        </p:spPr>
        <p:txBody>
          <a:bodyPr lIns="90488" tIns="44450" rIns="90488" bIns="44450" anchor="ctr"/>
          <a:lstStyle/>
          <a:p>
            <a:r>
              <a:rPr lang="en-US" sz="3200" b="0"/>
              <a:t>Physical Significance Of Vibration  Amplitude </a:t>
            </a:r>
          </a:p>
        </p:txBody>
      </p:sp>
      <p:sp>
        <p:nvSpPr>
          <p:cNvPr id="902147" name="Rectangle 3"/>
          <p:cNvSpPr>
            <a:spLocks noChangeArrowheads="1"/>
          </p:cNvSpPr>
          <p:nvPr/>
        </p:nvSpPr>
        <p:spPr bwMode="auto">
          <a:xfrm>
            <a:off x="914400" y="2438400"/>
            <a:ext cx="7251700" cy="2227263"/>
          </a:xfrm>
          <a:prstGeom prst="rect">
            <a:avLst/>
          </a:prstGeom>
          <a:noFill/>
          <a:ln w="12700">
            <a:noFill/>
            <a:miter lim="800000"/>
            <a:headEnd/>
            <a:tailEnd/>
          </a:ln>
          <a:effectLst/>
        </p:spPr>
        <p:txBody>
          <a:bodyPr wrap="none" anchor="ctr"/>
          <a:lstStyle/>
          <a:p>
            <a:endParaRPr lang="en-US"/>
          </a:p>
        </p:txBody>
      </p:sp>
      <p:sp>
        <p:nvSpPr>
          <p:cNvPr id="902148" name="Rectangle 4"/>
          <p:cNvSpPr>
            <a:spLocks noGrp="1" noChangeArrowheads="1"/>
          </p:cNvSpPr>
          <p:nvPr>
            <p:ph type="body" idx="1"/>
          </p:nvPr>
        </p:nvSpPr>
        <p:spPr>
          <a:xfrm>
            <a:off x="762000" y="2590800"/>
            <a:ext cx="7772400" cy="2438400"/>
          </a:xfrm>
          <a:noFill/>
          <a:ln/>
        </p:spPr>
        <p:txBody>
          <a:bodyPr lIns="90488" tIns="44450" rIns="90488" bIns="44450"/>
          <a:lstStyle/>
          <a:p>
            <a:pPr>
              <a:spcBef>
                <a:spcPct val="0"/>
              </a:spcBef>
              <a:buFontTx/>
              <a:buNone/>
            </a:pPr>
            <a:r>
              <a:rPr lang="en-US" b="1">
                <a:latin typeface="Courier New" pitchFamily="49" charset="0"/>
              </a:rPr>
              <a:t>Displacement :  Stress  Indicator</a:t>
            </a:r>
          </a:p>
          <a:p>
            <a:pPr>
              <a:spcBef>
                <a:spcPct val="0"/>
              </a:spcBef>
              <a:buFontTx/>
              <a:buNone/>
            </a:pPr>
            <a:endParaRPr lang="en-US" b="1">
              <a:latin typeface="Courier New" pitchFamily="49" charset="0"/>
            </a:endParaRPr>
          </a:p>
          <a:p>
            <a:pPr>
              <a:spcBef>
                <a:spcPct val="0"/>
              </a:spcBef>
              <a:buFontTx/>
              <a:buNone/>
            </a:pPr>
            <a:r>
              <a:rPr lang="en-US" b="1">
                <a:latin typeface="Courier New" pitchFamily="49" charset="0"/>
              </a:rPr>
              <a:t>Velocity     :  Fatigue Indicator</a:t>
            </a:r>
          </a:p>
          <a:p>
            <a:pPr>
              <a:spcBef>
                <a:spcPct val="0"/>
              </a:spcBef>
              <a:buFontTx/>
              <a:buNone/>
            </a:pPr>
            <a:endParaRPr lang="en-US" b="1">
              <a:latin typeface="Courier New" pitchFamily="49" charset="0"/>
            </a:endParaRPr>
          </a:p>
          <a:p>
            <a:pPr>
              <a:spcBef>
                <a:spcPct val="0"/>
              </a:spcBef>
              <a:buFontTx/>
              <a:buNone/>
            </a:pPr>
            <a:r>
              <a:rPr lang="en-US" b="1">
                <a:latin typeface="Courier New" pitchFamily="49" charset="0"/>
              </a:rPr>
              <a:t>Acceleration :  Force   Indicator</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41410" name="Picture 2" descr="measuring"/>
          <p:cNvPicPr>
            <a:picLocks noChangeAspect="1" noChangeArrowheads="1"/>
          </p:cNvPicPr>
          <p:nvPr/>
        </p:nvPicPr>
        <p:blipFill>
          <a:blip r:embed="rId2" cstate="print">
            <a:clrChange>
              <a:clrFrom>
                <a:srgbClr val="00CCFF"/>
              </a:clrFrom>
              <a:clrTo>
                <a:srgbClr val="00CCFF">
                  <a:alpha val="0"/>
                </a:srgbClr>
              </a:clrTo>
            </a:clrChange>
          </a:blip>
          <a:srcRect/>
          <a:stretch>
            <a:fillRect/>
          </a:stretch>
        </p:blipFill>
        <p:spPr bwMode="auto">
          <a:xfrm>
            <a:off x="1219200" y="1181100"/>
            <a:ext cx="6629400" cy="4784725"/>
          </a:xfrm>
          <a:prstGeom prst="rect">
            <a:avLst/>
          </a:prstGeom>
          <a:noFill/>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70" name="Rectangle 1026"/>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903171" name="Rectangle 1027"/>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
        <p:nvSpPr>
          <p:cNvPr id="903172" name="AutoShape 1028"/>
          <p:cNvSpPr>
            <a:spLocks noChangeArrowheads="1"/>
          </p:cNvSpPr>
          <p:nvPr/>
        </p:nvSpPr>
        <p:spPr bwMode="auto">
          <a:xfrm>
            <a:off x="342900" y="368300"/>
            <a:ext cx="8458200" cy="6032500"/>
          </a:xfrm>
          <a:prstGeom prst="roundRect">
            <a:avLst>
              <a:gd name="adj" fmla="val 3602"/>
            </a:avLst>
          </a:prstGeom>
          <a:solidFill>
            <a:srgbClr val="FFFFFF"/>
          </a:solidFill>
          <a:ln w="12700">
            <a:noFill/>
            <a:round/>
            <a:headEnd/>
            <a:tailEnd/>
          </a:ln>
          <a:effectLst/>
        </p:spPr>
        <p:txBody>
          <a:bodyPr wrap="none" anchor="ctr"/>
          <a:lstStyle/>
          <a:p>
            <a:endParaRPr lang="en-US"/>
          </a:p>
        </p:txBody>
      </p:sp>
      <p:sp>
        <p:nvSpPr>
          <p:cNvPr id="903173" name="Rectangle 1029"/>
          <p:cNvSpPr>
            <a:spLocks noChangeArrowheads="1"/>
          </p:cNvSpPr>
          <p:nvPr/>
        </p:nvSpPr>
        <p:spPr bwMode="auto">
          <a:xfrm>
            <a:off x="571500" y="987425"/>
            <a:ext cx="1268413" cy="514350"/>
          </a:xfrm>
          <a:prstGeom prst="rect">
            <a:avLst/>
          </a:prstGeom>
          <a:noFill/>
          <a:ln w="12700">
            <a:noFill/>
            <a:miter lim="800000"/>
            <a:headEnd/>
            <a:tailEnd/>
          </a:ln>
          <a:effectLst/>
        </p:spPr>
        <p:txBody>
          <a:bodyPr wrap="none" lIns="90488" tIns="44450" rIns="90488" bIns="44450">
            <a:spAutoFit/>
          </a:bodyPr>
          <a:lstStyle/>
          <a:p>
            <a:r>
              <a:rPr lang="en-US" sz="1400">
                <a:latin typeface="Arial" pitchFamily="34" charset="0"/>
              </a:rPr>
              <a:t>VIBRATION </a:t>
            </a:r>
            <a:br>
              <a:rPr lang="en-US" sz="1400">
                <a:latin typeface="Arial" pitchFamily="34" charset="0"/>
              </a:rPr>
            </a:br>
            <a:r>
              <a:rPr lang="en-US" sz="1400">
                <a:latin typeface="Arial" pitchFamily="34" charset="0"/>
              </a:rPr>
              <a:t>SENSITIVITY</a:t>
            </a:r>
            <a:endParaRPr lang="en-US" sz="1600">
              <a:latin typeface="Arial" pitchFamily="34" charset="0"/>
            </a:endParaRPr>
          </a:p>
        </p:txBody>
      </p:sp>
      <p:sp>
        <p:nvSpPr>
          <p:cNvPr id="903174" name="Rectangle 1030"/>
          <p:cNvSpPr>
            <a:spLocks noChangeArrowheads="1"/>
          </p:cNvSpPr>
          <p:nvPr/>
        </p:nvSpPr>
        <p:spPr bwMode="auto">
          <a:xfrm>
            <a:off x="2362200" y="1203325"/>
            <a:ext cx="1779588" cy="333375"/>
          </a:xfrm>
          <a:prstGeom prst="rect">
            <a:avLst/>
          </a:prstGeom>
          <a:noFill/>
          <a:ln w="12700">
            <a:noFill/>
            <a:miter lim="800000"/>
            <a:headEnd/>
            <a:tailEnd/>
          </a:ln>
          <a:effectLst/>
        </p:spPr>
        <p:txBody>
          <a:bodyPr wrap="none" lIns="90488" tIns="44450" rIns="90488" bIns="44450">
            <a:spAutoFit/>
          </a:bodyPr>
          <a:lstStyle/>
          <a:p>
            <a:r>
              <a:rPr lang="en-US" sz="1600" b="1">
                <a:latin typeface="Arial" pitchFamily="34" charset="0"/>
              </a:rPr>
              <a:t>DISPLACEMENT</a:t>
            </a:r>
          </a:p>
        </p:txBody>
      </p:sp>
      <p:sp>
        <p:nvSpPr>
          <p:cNvPr id="903175" name="Rectangle 1031"/>
          <p:cNvSpPr>
            <a:spLocks noChangeArrowheads="1"/>
          </p:cNvSpPr>
          <p:nvPr/>
        </p:nvSpPr>
        <p:spPr bwMode="auto">
          <a:xfrm>
            <a:off x="2336800" y="2981325"/>
            <a:ext cx="1195388" cy="333375"/>
          </a:xfrm>
          <a:prstGeom prst="rect">
            <a:avLst/>
          </a:prstGeom>
          <a:noFill/>
          <a:ln w="12700">
            <a:noFill/>
            <a:miter lim="800000"/>
            <a:headEnd/>
            <a:tailEnd/>
          </a:ln>
          <a:effectLst/>
        </p:spPr>
        <p:txBody>
          <a:bodyPr wrap="none" lIns="90488" tIns="44450" rIns="90488" bIns="44450">
            <a:spAutoFit/>
          </a:bodyPr>
          <a:lstStyle/>
          <a:p>
            <a:r>
              <a:rPr lang="en-US" sz="1600" b="1">
                <a:latin typeface="Arial" pitchFamily="34" charset="0"/>
              </a:rPr>
              <a:t>VELOCITY</a:t>
            </a:r>
          </a:p>
        </p:txBody>
      </p:sp>
      <p:sp>
        <p:nvSpPr>
          <p:cNvPr id="903176" name="Rectangle 1032"/>
          <p:cNvSpPr>
            <a:spLocks noChangeArrowheads="1"/>
          </p:cNvSpPr>
          <p:nvPr/>
        </p:nvSpPr>
        <p:spPr bwMode="auto">
          <a:xfrm>
            <a:off x="2159000" y="4732338"/>
            <a:ext cx="1790700" cy="333375"/>
          </a:xfrm>
          <a:prstGeom prst="rect">
            <a:avLst/>
          </a:prstGeom>
          <a:noFill/>
          <a:ln w="12700">
            <a:noFill/>
            <a:miter lim="800000"/>
            <a:headEnd/>
            <a:tailEnd/>
          </a:ln>
          <a:effectLst/>
        </p:spPr>
        <p:txBody>
          <a:bodyPr wrap="none" lIns="90488" tIns="44450" rIns="90488" bIns="44450">
            <a:spAutoFit/>
          </a:bodyPr>
          <a:lstStyle/>
          <a:p>
            <a:r>
              <a:rPr lang="en-US" sz="1600" b="1">
                <a:latin typeface="Arial" pitchFamily="34" charset="0"/>
              </a:rPr>
              <a:t>ACCELERATION</a:t>
            </a:r>
          </a:p>
        </p:txBody>
      </p:sp>
      <p:sp>
        <p:nvSpPr>
          <p:cNvPr id="903177" name="Rectangle 1033"/>
          <p:cNvSpPr>
            <a:spLocks noChangeArrowheads="1"/>
          </p:cNvSpPr>
          <p:nvPr/>
        </p:nvSpPr>
        <p:spPr bwMode="auto">
          <a:xfrm>
            <a:off x="7250113" y="5608638"/>
            <a:ext cx="1452562" cy="577850"/>
          </a:xfrm>
          <a:prstGeom prst="rect">
            <a:avLst/>
          </a:prstGeom>
          <a:noFill/>
          <a:ln w="12700">
            <a:noFill/>
            <a:miter lim="800000"/>
            <a:headEnd/>
            <a:tailEnd/>
          </a:ln>
          <a:effectLst/>
        </p:spPr>
        <p:txBody>
          <a:bodyPr wrap="none" lIns="90488" tIns="44450" rIns="90488" bIns="44450">
            <a:spAutoFit/>
          </a:bodyPr>
          <a:lstStyle/>
          <a:p>
            <a:r>
              <a:rPr lang="en-US" sz="1600">
                <a:latin typeface="Arial" pitchFamily="34" charset="0"/>
              </a:rPr>
              <a:t>FREQUENCY</a:t>
            </a:r>
          </a:p>
          <a:p>
            <a:r>
              <a:rPr lang="en-US" sz="1600">
                <a:latin typeface="Arial" pitchFamily="34" charset="0"/>
              </a:rPr>
              <a:t>CPM</a:t>
            </a:r>
          </a:p>
        </p:txBody>
      </p:sp>
      <p:sp>
        <p:nvSpPr>
          <p:cNvPr id="903178" name="Rectangle 1034"/>
          <p:cNvSpPr>
            <a:spLocks noChangeArrowheads="1"/>
          </p:cNvSpPr>
          <p:nvPr/>
        </p:nvSpPr>
        <p:spPr bwMode="auto">
          <a:xfrm>
            <a:off x="2779713" y="5583238"/>
            <a:ext cx="4572000" cy="333375"/>
          </a:xfrm>
          <a:prstGeom prst="rect">
            <a:avLst/>
          </a:prstGeom>
          <a:noFill/>
          <a:ln w="12700">
            <a:noFill/>
            <a:miter lim="800000"/>
            <a:headEnd/>
            <a:tailEnd/>
          </a:ln>
          <a:effectLst/>
        </p:spPr>
        <p:txBody>
          <a:bodyPr wrap="none" lIns="90488" tIns="44450" rIns="90488" bIns="44450">
            <a:spAutoFit/>
          </a:bodyPr>
          <a:lstStyle/>
          <a:p>
            <a:r>
              <a:rPr lang="en-US" sz="1600">
                <a:latin typeface="Arial" pitchFamily="34" charset="0"/>
              </a:rPr>
              <a:t>60	600	6000	60000	600 000</a:t>
            </a:r>
          </a:p>
        </p:txBody>
      </p:sp>
      <p:sp>
        <p:nvSpPr>
          <p:cNvPr id="903179" name="Line 1035"/>
          <p:cNvSpPr>
            <a:spLocks noChangeShapeType="1"/>
          </p:cNvSpPr>
          <p:nvPr/>
        </p:nvSpPr>
        <p:spPr bwMode="auto">
          <a:xfrm>
            <a:off x="1993900" y="1169988"/>
            <a:ext cx="0" cy="4291012"/>
          </a:xfrm>
          <a:prstGeom prst="line">
            <a:avLst/>
          </a:prstGeom>
          <a:noFill/>
          <a:ln w="25400">
            <a:solidFill>
              <a:schemeClr val="tx1"/>
            </a:solidFill>
            <a:round/>
            <a:headEnd type="triangle" w="med" len="med"/>
            <a:tailEnd/>
          </a:ln>
          <a:effectLst/>
        </p:spPr>
        <p:txBody>
          <a:bodyPr wrap="none" anchor="ctr"/>
          <a:lstStyle/>
          <a:p>
            <a:endParaRPr lang="en-US"/>
          </a:p>
        </p:txBody>
      </p:sp>
      <p:sp>
        <p:nvSpPr>
          <p:cNvPr id="903180" name="Line 1036"/>
          <p:cNvSpPr>
            <a:spLocks noChangeShapeType="1"/>
          </p:cNvSpPr>
          <p:nvPr/>
        </p:nvSpPr>
        <p:spPr bwMode="auto">
          <a:xfrm>
            <a:off x="2033588" y="5473700"/>
            <a:ext cx="5484812"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903181" name="Rectangle 1037"/>
          <p:cNvSpPr>
            <a:spLocks noChangeArrowheads="1"/>
          </p:cNvSpPr>
          <p:nvPr/>
        </p:nvSpPr>
        <p:spPr bwMode="auto">
          <a:xfrm>
            <a:off x="1333500" y="1685925"/>
            <a:ext cx="576263" cy="3267075"/>
          </a:xfrm>
          <a:prstGeom prst="rect">
            <a:avLst/>
          </a:prstGeom>
          <a:noFill/>
          <a:ln w="12700">
            <a:noFill/>
            <a:miter lim="800000"/>
            <a:headEnd/>
            <a:tailEnd/>
          </a:ln>
          <a:effectLst/>
        </p:spPr>
        <p:txBody>
          <a:bodyPr wrap="none" lIns="90488" tIns="44450" rIns="90488" bIns="44450">
            <a:spAutoFit/>
          </a:bodyPr>
          <a:lstStyle/>
          <a:p>
            <a:pPr algn="r"/>
            <a:r>
              <a:rPr lang="en-US" sz="1600">
                <a:latin typeface="Arial" pitchFamily="34" charset="0"/>
              </a:rPr>
              <a:t>10</a:t>
            </a:r>
          </a:p>
          <a:p>
            <a:pPr algn="r"/>
            <a:endParaRPr lang="en-US" sz="1600">
              <a:latin typeface="Arial" pitchFamily="34" charset="0"/>
            </a:endParaRPr>
          </a:p>
          <a:p>
            <a:pPr algn="r"/>
            <a:endParaRPr lang="en-US" sz="1600">
              <a:latin typeface="Arial" pitchFamily="34" charset="0"/>
            </a:endParaRPr>
          </a:p>
          <a:p>
            <a:pPr algn="r"/>
            <a:r>
              <a:rPr lang="en-US" sz="1600">
                <a:latin typeface="Arial" pitchFamily="34" charset="0"/>
              </a:rPr>
              <a:t>1</a:t>
            </a:r>
          </a:p>
          <a:p>
            <a:pPr algn="r"/>
            <a:endParaRPr lang="en-US" sz="1600">
              <a:latin typeface="Arial" pitchFamily="34" charset="0"/>
            </a:endParaRPr>
          </a:p>
          <a:p>
            <a:pPr algn="r"/>
            <a:endParaRPr lang="en-US" sz="1600">
              <a:latin typeface="Arial" pitchFamily="34" charset="0"/>
            </a:endParaRPr>
          </a:p>
          <a:p>
            <a:pPr algn="r"/>
            <a:r>
              <a:rPr lang="en-US" sz="1600">
                <a:latin typeface="Arial" pitchFamily="34" charset="0"/>
              </a:rPr>
              <a:t>.1</a:t>
            </a:r>
          </a:p>
          <a:p>
            <a:pPr algn="r"/>
            <a:endParaRPr lang="en-US" sz="1600">
              <a:latin typeface="Arial" pitchFamily="34" charset="0"/>
            </a:endParaRPr>
          </a:p>
          <a:p>
            <a:pPr algn="r"/>
            <a:endParaRPr lang="en-US" sz="1600">
              <a:latin typeface="Arial" pitchFamily="34" charset="0"/>
            </a:endParaRPr>
          </a:p>
          <a:p>
            <a:pPr algn="r"/>
            <a:r>
              <a:rPr lang="en-US" sz="1600">
                <a:latin typeface="Arial" pitchFamily="34" charset="0"/>
              </a:rPr>
              <a:t>.01</a:t>
            </a:r>
          </a:p>
          <a:p>
            <a:pPr algn="r"/>
            <a:endParaRPr lang="en-US" sz="1600">
              <a:latin typeface="Arial" pitchFamily="34" charset="0"/>
            </a:endParaRPr>
          </a:p>
          <a:p>
            <a:pPr algn="r"/>
            <a:endParaRPr lang="en-US" sz="1600">
              <a:latin typeface="Arial" pitchFamily="34" charset="0"/>
            </a:endParaRPr>
          </a:p>
          <a:p>
            <a:pPr algn="r"/>
            <a:r>
              <a:rPr lang="en-US" sz="1600">
                <a:latin typeface="Arial" pitchFamily="34" charset="0"/>
              </a:rPr>
              <a:t>.001</a:t>
            </a:r>
          </a:p>
        </p:txBody>
      </p:sp>
      <p:sp>
        <p:nvSpPr>
          <p:cNvPr id="903182" name="Rectangle 1038"/>
          <p:cNvSpPr>
            <a:spLocks noChangeArrowheads="1"/>
          </p:cNvSpPr>
          <p:nvPr/>
        </p:nvSpPr>
        <p:spPr bwMode="auto">
          <a:xfrm>
            <a:off x="3911600" y="1651000"/>
            <a:ext cx="1892300" cy="3797300"/>
          </a:xfrm>
          <a:prstGeom prst="rect">
            <a:avLst/>
          </a:prstGeom>
          <a:solidFill>
            <a:srgbClr val="E2E9FF"/>
          </a:solidFill>
          <a:ln w="12700">
            <a:noFill/>
            <a:miter lim="800000"/>
            <a:headEnd/>
            <a:tailEnd/>
          </a:ln>
          <a:effectLst/>
        </p:spPr>
        <p:txBody>
          <a:bodyPr wrap="none" anchor="ctr"/>
          <a:lstStyle/>
          <a:p>
            <a:endParaRPr lang="en-US"/>
          </a:p>
        </p:txBody>
      </p:sp>
      <p:sp>
        <p:nvSpPr>
          <p:cNvPr id="903183" name="Line 1039"/>
          <p:cNvSpPr>
            <a:spLocks noChangeShapeType="1"/>
          </p:cNvSpPr>
          <p:nvPr/>
        </p:nvSpPr>
        <p:spPr bwMode="auto">
          <a:xfrm>
            <a:off x="1893888" y="1841500"/>
            <a:ext cx="5192712" cy="0"/>
          </a:xfrm>
          <a:prstGeom prst="line">
            <a:avLst/>
          </a:prstGeom>
          <a:noFill/>
          <a:ln w="12700">
            <a:solidFill>
              <a:schemeClr val="accent1"/>
            </a:solidFill>
            <a:round/>
            <a:headEnd/>
            <a:tailEnd/>
          </a:ln>
          <a:effectLst/>
        </p:spPr>
        <p:txBody>
          <a:bodyPr wrap="none" anchor="ctr"/>
          <a:lstStyle/>
          <a:p>
            <a:endParaRPr lang="en-US"/>
          </a:p>
        </p:txBody>
      </p:sp>
      <p:sp>
        <p:nvSpPr>
          <p:cNvPr id="903184" name="Line 1040"/>
          <p:cNvSpPr>
            <a:spLocks noChangeShapeType="1"/>
          </p:cNvSpPr>
          <p:nvPr/>
        </p:nvSpPr>
        <p:spPr bwMode="auto">
          <a:xfrm>
            <a:off x="1881188" y="2565400"/>
            <a:ext cx="5192712" cy="0"/>
          </a:xfrm>
          <a:prstGeom prst="line">
            <a:avLst/>
          </a:prstGeom>
          <a:noFill/>
          <a:ln w="12700">
            <a:solidFill>
              <a:schemeClr val="accent1"/>
            </a:solidFill>
            <a:round/>
            <a:headEnd/>
            <a:tailEnd/>
          </a:ln>
          <a:effectLst/>
        </p:spPr>
        <p:txBody>
          <a:bodyPr wrap="none" anchor="ctr"/>
          <a:lstStyle/>
          <a:p>
            <a:endParaRPr lang="en-US"/>
          </a:p>
        </p:txBody>
      </p:sp>
      <p:sp>
        <p:nvSpPr>
          <p:cNvPr id="903185" name="Line 1041"/>
          <p:cNvSpPr>
            <a:spLocks noChangeShapeType="1"/>
          </p:cNvSpPr>
          <p:nvPr/>
        </p:nvSpPr>
        <p:spPr bwMode="auto">
          <a:xfrm>
            <a:off x="1881188" y="3302000"/>
            <a:ext cx="5180012" cy="0"/>
          </a:xfrm>
          <a:prstGeom prst="line">
            <a:avLst/>
          </a:prstGeom>
          <a:noFill/>
          <a:ln w="12700">
            <a:solidFill>
              <a:schemeClr val="accent1"/>
            </a:solidFill>
            <a:round/>
            <a:headEnd/>
            <a:tailEnd/>
          </a:ln>
          <a:effectLst/>
        </p:spPr>
        <p:txBody>
          <a:bodyPr wrap="none" anchor="ctr"/>
          <a:lstStyle/>
          <a:p>
            <a:endParaRPr lang="en-US"/>
          </a:p>
        </p:txBody>
      </p:sp>
      <p:sp>
        <p:nvSpPr>
          <p:cNvPr id="903186" name="Line 1042"/>
          <p:cNvSpPr>
            <a:spLocks noChangeShapeType="1"/>
          </p:cNvSpPr>
          <p:nvPr/>
        </p:nvSpPr>
        <p:spPr bwMode="auto">
          <a:xfrm>
            <a:off x="1893888" y="4064000"/>
            <a:ext cx="5180012" cy="0"/>
          </a:xfrm>
          <a:prstGeom prst="line">
            <a:avLst/>
          </a:prstGeom>
          <a:noFill/>
          <a:ln w="12700">
            <a:solidFill>
              <a:schemeClr val="accent1"/>
            </a:solidFill>
            <a:round/>
            <a:headEnd/>
            <a:tailEnd/>
          </a:ln>
          <a:effectLst/>
        </p:spPr>
        <p:txBody>
          <a:bodyPr wrap="none" anchor="ctr"/>
          <a:lstStyle/>
          <a:p>
            <a:endParaRPr lang="en-US"/>
          </a:p>
        </p:txBody>
      </p:sp>
      <p:sp>
        <p:nvSpPr>
          <p:cNvPr id="903187" name="Line 1043"/>
          <p:cNvSpPr>
            <a:spLocks noChangeShapeType="1"/>
          </p:cNvSpPr>
          <p:nvPr/>
        </p:nvSpPr>
        <p:spPr bwMode="auto">
          <a:xfrm>
            <a:off x="1919288" y="4775200"/>
            <a:ext cx="5192712" cy="0"/>
          </a:xfrm>
          <a:prstGeom prst="line">
            <a:avLst/>
          </a:prstGeom>
          <a:noFill/>
          <a:ln w="12700">
            <a:solidFill>
              <a:schemeClr val="accent1"/>
            </a:solidFill>
            <a:round/>
            <a:headEnd/>
            <a:tailEnd/>
          </a:ln>
          <a:effectLst/>
        </p:spPr>
        <p:txBody>
          <a:bodyPr wrap="none" anchor="ctr"/>
          <a:lstStyle/>
          <a:p>
            <a:endParaRPr lang="en-US"/>
          </a:p>
        </p:txBody>
      </p:sp>
      <p:sp>
        <p:nvSpPr>
          <p:cNvPr id="903188" name="Line 1044"/>
          <p:cNvSpPr>
            <a:spLocks noChangeShapeType="1"/>
          </p:cNvSpPr>
          <p:nvPr/>
        </p:nvSpPr>
        <p:spPr bwMode="auto">
          <a:xfrm flipV="1">
            <a:off x="2933700" y="1601788"/>
            <a:ext cx="0" cy="3973512"/>
          </a:xfrm>
          <a:prstGeom prst="line">
            <a:avLst/>
          </a:prstGeom>
          <a:noFill/>
          <a:ln w="12700">
            <a:solidFill>
              <a:schemeClr val="accent1"/>
            </a:solidFill>
            <a:round/>
            <a:headEnd/>
            <a:tailEnd/>
          </a:ln>
          <a:effectLst/>
        </p:spPr>
        <p:txBody>
          <a:bodyPr wrap="none" anchor="ctr"/>
          <a:lstStyle/>
          <a:p>
            <a:endParaRPr lang="en-US"/>
          </a:p>
        </p:txBody>
      </p:sp>
      <p:sp>
        <p:nvSpPr>
          <p:cNvPr id="903189" name="Line 1045"/>
          <p:cNvSpPr>
            <a:spLocks noChangeShapeType="1"/>
          </p:cNvSpPr>
          <p:nvPr/>
        </p:nvSpPr>
        <p:spPr bwMode="auto">
          <a:xfrm flipV="1">
            <a:off x="3911600" y="1589088"/>
            <a:ext cx="0" cy="3998912"/>
          </a:xfrm>
          <a:prstGeom prst="line">
            <a:avLst/>
          </a:prstGeom>
          <a:noFill/>
          <a:ln w="25400">
            <a:solidFill>
              <a:schemeClr val="tx1"/>
            </a:solidFill>
            <a:prstDash val="dash"/>
            <a:round/>
            <a:headEnd/>
            <a:tailEnd/>
          </a:ln>
          <a:effectLst/>
        </p:spPr>
        <p:txBody>
          <a:bodyPr wrap="none" anchor="ctr"/>
          <a:lstStyle/>
          <a:p>
            <a:endParaRPr lang="en-US"/>
          </a:p>
        </p:txBody>
      </p:sp>
      <p:sp>
        <p:nvSpPr>
          <p:cNvPr id="903190" name="Line 1046"/>
          <p:cNvSpPr>
            <a:spLocks noChangeShapeType="1"/>
          </p:cNvSpPr>
          <p:nvPr/>
        </p:nvSpPr>
        <p:spPr bwMode="auto">
          <a:xfrm flipV="1">
            <a:off x="4864100" y="1627188"/>
            <a:ext cx="0" cy="3948112"/>
          </a:xfrm>
          <a:prstGeom prst="line">
            <a:avLst/>
          </a:prstGeom>
          <a:noFill/>
          <a:ln w="12700">
            <a:solidFill>
              <a:schemeClr val="accent1"/>
            </a:solidFill>
            <a:round/>
            <a:headEnd/>
            <a:tailEnd/>
          </a:ln>
          <a:effectLst/>
        </p:spPr>
        <p:txBody>
          <a:bodyPr wrap="none" anchor="ctr"/>
          <a:lstStyle/>
          <a:p>
            <a:endParaRPr lang="en-US"/>
          </a:p>
        </p:txBody>
      </p:sp>
      <p:sp>
        <p:nvSpPr>
          <p:cNvPr id="903191" name="Line 1047"/>
          <p:cNvSpPr>
            <a:spLocks noChangeShapeType="1"/>
          </p:cNvSpPr>
          <p:nvPr/>
        </p:nvSpPr>
        <p:spPr bwMode="auto">
          <a:xfrm flipV="1">
            <a:off x="6769100" y="1627188"/>
            <a:ext cx="0" cy="3960812"/>
          </a:xfrm>
          <a:prstGeom prst="line">
            <a:avLst/>
          </a:prstGeom>
          <a:noFill/>
          <a:ln w="12700">
            <a:solidFill>
              <a:schemeClr val="accent1"/>
            </a:solidFill>
            <a:round/>
            <a:headEnd/>
            <a:tailEnd/>
          </a:ln>
          <a:effectLst/>
        </p:spPr>
        <p:txBody>
          <a:bodyPr wrap="none" anchor="ctr"/>
          <a:lstStyle/>
          <a:p>
            <a:endParaRPr lang="en-US"/>
          </a:p>
        </p:txBody>
      </p:sp>
      <p:sp>
        <p:nvSpPr>
          <p:cNvPr id="903192" name="Line 1048"/>
          <p:cNvSpPr>
            <a:spLocks noChangeShapeType="1"/>
          </p:cNvSpPr>
          <p:nvPr/>
        </p:nvSpPr>
        <p:spPr bwMode="auto">
          <a:xfrm>
            <a:off x="2986088" y="1538288"/>
            <a:ext cx="3808412" cy="3033712"/>
          </a:xfrm>
          <a:prstGeom prst="line">
            <a:avLst/>
          </a:prstGeom>
          <a:noFill/>
          <a:ln w="50800">
            <a:solidFill>
              <a:schemeClr val="accent2"/>
            </a:solidFill>
            <a:round/>
            <a:headEnd/>
            <a:tailEnd/>
          </a:ln>
          <a:effectLst/>
        </p:spPr>
        <p:txBody>
          <a:bodyPr wrap="none" anchor="ctr"/>
          <a:lstStyle/>
          <a:p>
            <a:endParaRPr lang="en-US"/>
          </a:p>
        </p:txBody>
      </p:sp>
      <p:sp>
        <p:nvSpPr>
          <p:cNvPr id="903193" name="Line 1049"/>
          <p:cNvSpPr>
            <a:spLocks noChangeShapeType="1"/>
          </p:cNvSpPr>
          <p:nvPr/>
        </p:nvSpPr>
        <p:spPr bwMode="auto">
          <a:xfrm flipV="1">
            <a:off x="2719388" y="1830388"/>
            <a:ext cx="3795712" cy="2881312"/>
          </a:xfrm>
          <a:prstGeom prst="line">
            <a:avLst/>
          </a:prstGeom>
          <a:noFill/>
          <a:ln w="50800">
            <a:solidFill>
              <a:schemeClr val="bg1"/>
            </a:solidFill>
            <a:round/>
            <a:headEnd/>
            <a:tailEnd/>
          </a:ln>
          <a:effectLst/>
        </p:spPr>
        <p:txBody>
          <a:bodyPr wrap="none" anchor="ctr"/>
          <a:lstStyle/>
          <a:p>
            <a:endParaRPr lang="en-US"/>
          </a:p>
        </p:txBody>
      </p:sp>
      <p:sp>
        <p:nvSpPr>
          <p:cNvPr id="903194" name="Line 1050"/>
          <p:cNvSpPr>
            <a:spLocks noChangeShapeType="1"/>
          </p:cNvSpPr>
          <p:nvPr/>
        </p:nvSpPr>
        <p:spPr bwMode="auto">
          <a:xfrm>
            <a:off x="2490788" y="3327400"/>
            <a:ext cx="4291012" cy="0"/>
          </a:xfrm>
          <a:prstGeom prst="line">
            <a:avLst/>
          </a:prstGeom>
          <a:noFill/>
          <a:ln w="50800">
            <a:solidFill>
              <a:schemeClr val="hlink"/>
            </a:solidFill>
            <a:round/>
            <a:headEnd/>
            <a:tailEnd/>
          </a:ln>
          <a:effectLst/>
        </p:spPr>
        <p:txBody>
          <a:bodyPr wrap="none" anchor="ctr"/>
          <a:lstStyle/>
          <a:p>
            <a:endParaRPr lang="en-US"/>
          </a:p>
        </p:txBody>
      </p:sp>
      <p:sp>
        <p:nvSpPr>
          <p:cNvPr id="903195" name="Line 1051"/>
          <p:cNvSpPr>
            <a:spLocks noChangeShapeType="1"/>
          </p:cNvSpPr>
          <p:nvPr/>
        </p:nvSpPr>
        <p:spPr bwMode="auto">
          <a:xfrm flipV="1">
            <a:off x="5816600" y="1589088"/>
            <a:ext cx="0" cy="3986212"/>
          </a:xfrm>
          <a:prstGeom prst="line">
            <a:avLst/>
          </a:prstGeom>
          <a:noFill/>
          <a:ln w="25400">
            <a:solidFill>
              <a:schemeClr val="tx1"/>
            </a:solidFill>
            <a:prstDash val="dash"/>
            <a:round/>
            <a:headEnd/>
            <a:tailEnd/>
          </a:ln>
          <a:effectLst/>
        </p:spPr>
        <p:txBody>
          <a:bodyPr wrap="none" anchor="ctr"/>
          <a:lstStyle/>
          <a:p>
            <a:endParaRPr lang="en-US"/>
          </a:p>
        </p:txBody>
      </p:sp>
      <p:sp>
        <p:nvSpPr>
          <p:cNvPr id="903196" name="Rectangle 1052"/>
          <p:cNvSpPr>
            <a:spLocks noChangeArrowheads="1"/>
          </p:cNvSpPr>
          <p:nvPr/>
        </p:nvSpPr>
        <p:spPr bwMode="auto">
          <a:xfrm>
            <a:off x="1579563" y="422275"/>
            <a:ext cx="5918200" cy="576263"/>
          </a:xfrm>
          <a:prstGeom prst="rect">
            <a:avLst/>
          </a:prstGeom>
          <a:noFill/>
          <a:ln w="12700">
            <a:noFill/>
            <a:miter lim="800000"/>
            <a:headEnd/>
            <a:tailEnd/>
          </a:ln>
          <a:effectLst/>
        </p:spPr>
        <p:txBody>
          <a:bodyPr wrap="none" lIns="90488" tIns="44450" rIns="90488" bIns="44450">
            <a:spAutoFit/>
          </a:bodyPr>
          <a:lstStyle/>
          <a:p>
            <a:r>
              <a:rPr lang="en-US" sz="3200" b="1"/>
              <a:t>When To Use Disp., Vel. &amp; Acc.?</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Rectangle 2"/>
          <p:cNvSpPr>
            <a:spLocks noGrp="1" noChangeArrowheads="1"/>
          </p:cNvSpPr>
          <p:nvPr>
            <p:ph type="title"/>
          </p:nvPr>
        </p:nvSpPr>
        <p:spPr>
          <a:xfrm>
            <a:off x="685800" y="381000"/>
            <a:ext cx="7772400" cy="1143000"/>
          </a:xfrm>
          <a:solidFill>
            <a:schemeClr val="bg1"/>
          </a:solidFill>
          <a:ln/>
        </p:spPr>
        <p:txBody>
          <a:bodyPr lIns="90488" tIns="44450" rIns="90488" bIns="44450" anchor="ctr"/>
          <a:lstStyle/>
          <a:p>
            <a:r>
              <a:rPr lang="en-US" sz="3200" b="0"/>
              <a:t>What Is The Advantage Of Using Velocity?</a:t>
            </a:r>
          </a:p>
        </p:txBody>
      </p:sp>
      <p:sp>
        <p:nvSpPr>
          <p:cNvPr id="904195" name="Rectangle 3"/>
          <p:cNvSpPr>
            <a:spLocks noChangeArrowheads="1"/>
          </p:cNvSpPr>
          <p:nvPr/>
        </p:nvSpPr>
        <p:spPr bwMode="auto">
          <a:xfrm>
            <a:off x="974725" y="1858963"/>
            <a:ext cx="7196138" cy="3140075"/>
          </a:xfrm>
          <a:prstGeom prst="rect">
            <a:avLst/>
          </a:prstGeom>
          <a:noFill/>
          <a:ln w="12700">
            <a:noFill/>
            <a:miter lim="800000"/>
            <a:headEnd/>
            <a:tailEnd/>
          </a:ln>
          <a:effectLst/>
        </p:spPr>
        <p:txBody>
          <a:bodyPr wrap="none" anchor="ctr"/>
          <a:lstStyle/>
          <a:p>
            <a:endParaRPr lang="en-US"/>
          </a:p>
        </p:txBody>
      </p:sp>
      <p:sp>
        <p:nvSpPr>
          <p:cNvPr id="904196" name="Rectangle 4"/>
          <p:cNvSpPr>
            <a:spLocks noGrp="1" noChangeArrowheads="1"/>
          </p:cNvSpPr>
          <p:nvPr>
            <p:ph type="body" idx="1"/>
          </p:nvPr>
        </p:nvSpPr>
        <p:spPr>
          <a:noFill/>
          <a:ln/>
        </p:spPr>
        <p:txBody>
          <a:bodyPr lIns="90488" tIns="44450" rIns="90488" bIns="44450"/>
          <a:lstStyle/>
          <a:p>
            <a:pPr>
              <a:spcBef>
                <a:spcPct val="0"/>
              </a:spcBef>
            </a:pPr>
            <a:r>
              <a:rPr lang="en-US" b="1">
                <a:latin typeface="Courier New" pitchFamily="49" charset="0"/>
              </a:rPr>
              <a:t>Flat frequency range compared to displacement &amp; acceleration.</a:t>
            </a:r>
          </a:p>
          <a:p>
            <a:pPr>
              <a:spcBef>
                <a:spcPct val="0"/>
              </a:spcBef>
            </a:pPr>
            <a:r>
              <a:rPr lang="en-US" b="1">
                <a:latin typeface="Courier New" pitchFamily="49" charset="0"/>
              </a:rPr>
              <a:t>Almost all machines generate fault frequency between 600CPM to 60KCPM </a:t>
            </a:r>
          </a:p>
          <a:p>
            <a:pPr>
              <a:spcBef>
                <a:spcPct val="0"/>
              </a:spcBef>
            </a:pPr>
            <a:r>
              <a:rPr lang="en-US" b="1">
                <a:latin typeface="Courier New" pitchFamily="49" charset="0"/>
              </a:rPr>
              <a:t>Velocity indicates fatigue.</a:t>
            </a:r>
          </a:p>
          <a:p>
            <a:pPr>
              <a:spcBef>
                <a:spcPct val="0"/>
              </a:spcBef>
            </a:pPr>
            <a:r>
              <a:rPr lang="en-US" b="1">
                <a:latin typeface="Courier New" pitchFamily="49" charset="0"/>
              </a:rPr>
              <a:t>Velocity is the best indicator of vibration severity.</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8" name="Rectangle 2"/>
          <p:cNvSpPr>
            <a:spLocks noGrp="1" noChangeArrowheads="1"/>
          </p:cNvSpPr>
          <p:nvPr>
            <p:ph type="title" idx="4294967295"/>
          </p:nvPr>
        </p:nvSpPr>
        <p:spPr>
          <a:xfrm>
            <a:off x="685800" y="438150"/>
            <a:ext cx="7772400" cy="608013"/>
          </a:xfrm>
          <a:solidFill>
            <a:schemeClr val="bg1"/>
          </a:solidFill>
          <a:ln/>
        </p:spPr>
        <p:txBody>
          <a:bodyPr lIns="90488" tIns="44450" rIns="90488" bIns="44450" anchor="ctr"/>
          <a:lstStyle/>
          <a:p>
            <a:r>
              <a:rPr lang="en-US" sz="3200" b="0">
                <a:latin typeface="Courier New" pitchFamily="49" charset="0"/>
              </a:rPr>
              <a:t>Scales Of Amplitude </a:t>
            </a:r>
          </a:p>
        </p:txBody>
      </p:sp>
      <p:sp>
        <p:nvSpPr>
          <p:cNvPr id="905219" name="Line 3"/>
          <p:cNvSpPr>
            <a:spLocks noChangeShapeType="1"/>
          </p:cNvSpPr>
          <p:nvPr/>
        </p:nvSpPr>
        <p:spPr bwMode="auto">
          <a:xfrm>
            <a:off x="1266825" y="1689100"/>
            <a:ext cx="0" cy="2489200"/>
          </a:xfrm>
          <a:prstGeom prst="line">
            <a:avLst/>
          </a:prstGeom>
          <a:noFill/>
          <a:ln w="25400">
            <a:solidFill>
              <a:schemeClr val="tx1"/>
            </a:solidFill>
            <a:prstDash val="dashDot"/>
            <a:round/>
            <a:headEnd/>
            <a:tailEnd/>
          </a:ln>
          <a:effectLst/>
        </p:spPr>
        <p:txBody>
          <a:bodyPr wrap="none" anchor="ctr"/>
          <a:lstStyle/>
          <a:p>
            <a:endParaRPr lang="en-US"/>
          </a:p>
        </p:txBody>
      </p:sp>
      <p:sp>
        <p:nvSpPr>
          <p:cNvPr id="905220" name="Line 4"/>
          <p:cNvSpPr>
            <a:spLocks noChangeShapeType="1"/>
          </p:cNvSpPr>
          <p:nvPr/>
        </p:nvSpPr>
        <p:spPr bwMode="auto">
          <a:xfrm>
            <a:off x="1349375" y="2971800"/>
            <a:ext cx="3632200" cy="0"/>
          </a:xfrm>
          <a:prstGeom prst="line">
            <a:avLst/>
          </a:prstGeom>
          <a:noFill/>
          <a:ln w="25400">
            <a:solidFill>
              <a:schemeClr val="tx1"/>
            </a:solidFill>
            <a:prstDash val="dashDot"/>
            <a:round/>
            <a:headEnd/>
            <a:tailEnd/>
          </a:ln>
          <a:effectLst/>
        </p:spPr>
        <p:txBody>
          <a:bodyPr wrap="none" anchor="ctr"/>
          <a:lstStyle/>
          <a:p>
            <a:endParaRPr lang="en-US"/>
          </a:p>
        </p:txBody>
      </p:sp>
      <p:sp>
        <p:nvSpPr>
          <p:cNvPr id="905221" name="Arc 5"/>
          <p:cNvSpPr>
            <a:spLocks/>
          </p:cNvSpPr>
          <p:nvPr/>
        </p:nvSpPr>
        <p:spPr bwMode="auto">
          <a:xfrm>
            <a:off x="1274763" y="2065338"/>
            <a:ext cx="838200" cy="984250"/>
          </a:xfrm>
          <a:custGeom>
            <a:avLst/>
            <a:gdLst>
              <a:gd name="G0" fmla="+- 21600 0 0"/>
              <a:gd name="G1" fmla="+- 21600 0 0"/>
              <a:gd name="G2" fmla="+- 21600 0 0"/>
              <a:gd name="T0" fmla="*/ 0 w 21600"/>
              <a:gd name="T1" fmla="*/ 21600 h 21600"/>
              <a:gd name="T2" fmla="*/ 21559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86"/>
                  <a:pt x="9645" y="22"/>
                  <a:pt x="21559" y="0"/>
                </a:cubicBezTo>
              </a:path>
              <a:path w="21600" h="21600" stroke="0" extrusionOk="0">
                <a:moveTo>
                  <a:pt x="0" y="21600"/>
                </a:moveTo>
                <a:cubicBezTo>
                  <a:pt x="0" y="9686"/>
                  <a:pt x="9645" y="22"/>
                  <a:pt x="21559" y="0"/>
                </a:cubicBezTo>
                <a:lnTo>
                  <a:pt x="21600" y="21600"/>
                </a:lnTo>
                <a:close/>
              </a:path>
            </a:pathLst>
          </a:custGeom>
          <a:noFill/>
          <a:ln w="12700" cap="rnd">
            <a:solidFill>
              <a:schemeClr val="tx1"/>
            </a:solidFill>
            <a:round/>
            <a:headEnd/>
            <a:tailEnd/>
          </a:ln>
          <a:effectLst/>
        </p:spPr>
        <p:txBody>
          <a:bodyPr wrap="none" anchor="ctr"/>
          <a:lstStyle/>
          <a:p>
            <a:endParaRPr lang="en-US"/>
          </a:p>
        </p:txBody>
      </p:sp>
      <p:sp>
        <p:nvSpPr>
          <p:cNvPr id="905222" name="Arc 6"/>
          <p:cNvSpPr>
            <a:spLocks/>
          </p:cNvSpPr>
          <p:nvPr/>
        </p:nvSpPr>
        <p:spPr bwMode="auto">
          <a:xfrm>
            <a:off x="2039938" y="2065338"/>
            <a:ext cx="696912" cy="90805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chemeClr val="tx1"/>
            </a:solidFill>
            <a:round/>
            <a:headEnd/>
            <a:tailEnd/>
          </a:ln>
          <a:effectLst/>
        </p:spPr>
        <p:txBody>
          <a:bodyPr wrap="none" anchor="ctr"/>
          <a:lstStyle/>
          <a:p>
            <a:endParaRPr lang="en-US"/>
          </a:p>
        </p:txBody>
      </p:sp>
      <p:sp>
        <p:nvSpPr>
          <p:cNvPr id="905223" name="Arc 7"/>
          <p:cNvSpPr>
            <a:spLocks/>
          </p:cNvSpPr>
          <p:nvPr/>
        </p:nvSpPr>
        <p:spPr bwMode="auto">
          <a:xfrm>
            <a:off x="2751138" y="2895600"/>
            <a:ext cx="979487" cy="908050"/>
          </a:xfrm>
          <a:custGeom>
            <a:avLst/>
            <a:gdLst>
              <a:gd name="G0" fmla="+- 21600 0 0"/>
              <a:gd name="G1" fmla="+- 0 0 0"/>
              <a:gd name="G2" fmla="+- 21600 0 0"/>
              <a:gd name="T0" fmla="*/ 21565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565" y="21599"/>
                </a:moveTo>
                <a:cubicBezTo>
                  <a:pt x="9649" y="21580"/>
                  <a:pt x="0" y="11915"/>
                  <a:pt x="0" y="0"/>
                </a:cubicBezTo>
              </a:path>
              <a:path w="21600" h="21600" stroke="0" extrusionOk="0">
                <a:moveTo>
                  <a:pt x="21565" y="21599"/>
                </a:moveTo>
                <a:cubicBezTo>
                  <a:pt x="9649" y="21580"/>
                  <a:pt x="0" y="11915"/>
                  <a:pt x="0" y="0"/>
                </a:cubicBezTo>
                <a:lnTo>
                  <a:pt x="21600" y="0"/>
                </a:lnTo>
                <a:close/>
              </a:path>
            </a:pathLst>
          </a:custGeom>
          <a:noFill/>
          <a:ln w="12700" cap="rnd">
            <a:solidFill>
              <a:schemeClr val="tx1"/>
            </a:solidFill>
            <a:round/>
            <a:headEnd/>
            <a:tailEnd/>
          </a:ln>
          <a:effectLst/>
        </p:spPr>
        <p:txBody>
          <a:bodyPr wrap="none" anchor="ctr"/>
          <a:lstStyle/>
          <a:p>
            <a:endParaRPr lang="en-US"/>
          </a:p>
        </p:txBody>
      </p:sp>
      <p:sp>
        <p:nvSpPr>
          <p:cNvPr id="905224" name="Arc 8"/>
          <p:cNvSpPr>
            <a:spLocks/>
          </p:cNvSpPr>
          <p:nvPr/>
        </p:nvSpPr>
        <p:spPr bwMode="auto">
          <a:xfrm>
            <a:off x="3657600" y="2971800"/>
            <a:ext cx="696913" cy="8318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a:tailEnd/>
          </a:ln>
          <a:effectLst/>
        </p:spPr>
        <p:txBody>
          <a:bodyPr wrap="none" anchor="ctr"/>
          <a:lstStyle/>
          <a:p>
            <a:endParaRPr lang="en-US"/>
          </a:p>
        </p:txBody>
      </p:sp>
      <p:sp>
        <p:nvSpPr>
          <p:cNvPr id="905225" name="Line 9"/>
          <p:cNvSpPr>
            <a:spLocks noChangeShapeType="1"/>
          </p:cNvSpPr>
          <p:nvPr/>
        </p:nvSpPr>
        <p:spPr bwMode="auto">
          <a:xfrm>
            <a:off x="1976438" y="2057400"/>
            <a:ext cx="3714750" cy="0"/>
          </a:xfrm>
          <a:prstGeom prst="line">
            <a:avLst/>
          </a:prstGeom>
          <a:noFill/>
          <a:ln w="12700">
            <a:solidFill>
              <a:schemeClr val="tx1"/>
            </a:solidFill>
            <a:round/>
            <a:headEnd/>
            <a:tailEnd/>
          </a:ln>
          <a:effectLst/>
        </p:spPr>
        <p:txBody>
          <a:bodyPr wrap="none" anchor="ctr"/>
          <a:lstStyle/>
          <a:p>
            <a:endParaRPr lang="en-US"/>
          </a:p>
        </p:txBody>
      </p:sp>
      <p:sp>
        <p:nvSpPr>
          <p:cNvPr id="905226" name="Line 10"/>
          <p:cNvSpPr>
            <a:spLocks noChangeShapeType="1"/>
          </p:cNvSpPr>
          <p:nvPr/>
        </p:nvSpPr>
        <p:spPr bwMode="auto">
          <a:xfrm>
            <a:off x="3663950" y="3810000"/>
            <a:ext cx="2168525" cy="0"/>
          </a:xfrm>
          <a:prstGeom prst="line">
            <a:avLst/>
          </a:prstGeom>
          <a:noFill/>
          <a:ln w="12700">
            <a:solidFill>
              <a:schemeClr val="tx1"/>
            </a:solidFill>
            <a:round/>
            <a:headEnd/>
            <a:tailEnd/>
          </a:ln>
          <a:effectLst/>
        </p:spPr>
        <p:txBody>
          <a:bodyPr wrap="none" anchor="ctr"/>
          <a:lstStyle/>
          <a:p>
            <a:endParaRPr lang="en-US"/>
          </a:p>
        </p:txBody>
      </p:sp>
      <p:sp>
        <p:nvSpPr>
          <p:cNvPr id="905227" name="Line 11"/>
          <p:cNvSpPr>
            <a:spLocks noChangeShapeType="1"/>
          </p:cNvSpPr>
          <p:nvPr/>
        </p:nvSpPr>
        <p:spPr bwMode="auto">
          <a:xfrm>
            <a:off x="4713288" y="2063750"/>
            <a:ext cx="0" cy="901700"/>
          </a:xfrm>
          <a:prstGeom prst="line">
            <a:avLst/>
          </a:prstGeom>
          <a:noFill/>
          <a:ln w="12700">
            <a:solidFill>
              <a:schemeClr val="tx1"/>
            </a:solidFill>
            <a:round/>
            <a:headEnd type="triangle" w="med" len="med"/>
            <a:tailEnd type="triangle" w="med" len="med"/>
          </a:ln>
          <a:effectLst/>
        </p:spPr>
        <p:txBody>
          <a:bodyPr wrap="none" anchor="ctr"/>
          <a:lstStyle/>
          <a:p>
            <a:endParaRPr lang="en-US"/>
          </a:p>
        </p:txBody>
      </p:sp>
      <p:sp>
        <p:nvSpPr>
          <p:cNvPr id="905228" name="Rectangle 12"/>
          <p:cNvSpPr>
            <a:spLocks noChangeArrowheads="1"/>
          </p:cNvSpPr>
          <p:nvPr/>
        </p:nvSpPr>
        <p:spPr bwMode="auto">
          <a:xfrm rot="16200000">
            <a:off x="4544219" y="2291556"/>
            <a:ext cx="700088" cy="333375"/>
          </a:xfrm>
          <a:prstGeom prst="rect">
            <a:avLst/>
          </a:prstGeom>
          <a:noFill/>
          <a:ln w="12700">
            <a:noFill/>
            <a:miter lim="800000"/>
            <a:headEnd/>
            <a:tailEnd/>
          </a:ln>
          <a:effectLst/>
        </p:spPr>
        <p:txBody>
          <a:bodyPr lIns="90488" tIns="44450" rIns="90488" bIns="44450">
            <a:spAutoFit/>
          </a:bodyPr>
          <a:lstStyle/>
          <a:p>
            <a:r>
              <a:rPr lang="en-US" sz="1600"/>
              <a:t>Peak</a:t>
            </a:r>
          </a:p>
        </p:txBody>
      </p:sp>
      <p:sp>
        <p:nvSpPr>
          <p:cNvPr id="905229" name="Line 13"/>
          <p:cNvSpPr>
            <a:spLocks noChangeShapeType="1"/>
          </p:cNvSpPr>
          <p:nvPr/>
        </p:nvSpPr>
        <p:spPr bwMode="auto">
          <a:xfrm>
            <a:off x="5416550" y="2063750"/>
            <a:ext cx="0" cy="1739900"/>
          </a:xfrm>
          <a:prstGeom prst="line">
            <a:avLst/>
          </a:prstGeom>
          <a:noFill/>
          <a:ln w="12700">
            <a:solidFill>
              <a:schemeClr val="tx1"/>
            </a:solidFill>
            <a:round/>
            <a:headEnd type="triangle" w="med" len="med"/>
            <a:tailEnd type="triangle" w="med" len="med"/>
          </a:ln>
          <a:effectLst/>
        </p:spPr>
        <p:txBody>
          <a:bodyPr wrap="none" anchor="ctr"/>
          <a:lstStyle/>
          <a:p>
            <a:endParaRPr lang="en-US"/>
          </a:p>
        </p:txBody>
      </p:sp>
      <p:sp>
        <p:nvSpPr>
          <p:cNvPr id="905230" name="Rectangle 14"/>
          <p:cNvSpPr>
            <a:spLocks noChangeArrowheads="1"/>
          </p:cNvSpPr>
          <p:nvPr/>
        </p:nvSpPr>
        <p:spPr bwMode="auto">
          <a:xfrm rot="16200000">
            <a:off x="5044282" y="2764631"/>
            <a:ext cx="1100138" cy="301625"/>
          </a:xfrm>
          <a:prstGeom prst="rect">
            <a:avLst/>
          </a:prstGeom>
          <a:noFill/>
          <a:ln w="12700">
            <a:noFill/>
            <a:miter lim="800000"/>
            <a:headEnd/>
            <a:tailEnd/>
          </a:ln>
          <a:effectLst/>
        </p:spPr>
        <p:txBody>
          <a:bodyPr wrap="none" lIns="90488" tIns="44450" rIns="90488" bIns="44450">
            <a:spAutoFit/>
          </a:bodyPr>
          <a:lstStyle/>
          <a:p>
            <a:r>
              <a:rPr lang="en-US" sz="1400"/>
              <a:t>Peak to Peak</a:t>
            </a:r>
          </a:p>
        </p:txBody>
      </p:sp>
      <p:sp>
        <p:nvSpPr>
          <p:cNvPr id="905231" name="Line 15"/>
          <p:cNvSpPr>
            <a:spLocks noChangeShapeType="1"/>
          </p:cNvSpPr>
          <p:nvPr/>
        </p:nvSpPr>
        <p:spPr bwMode="auto">
          <a:xfrm>
            <a:off x="1624013" y="2209800"/>
            <a:ext cx="2660650" cy="0"/>
          </a:xfrm>
          <a:prstGeom prst="line">
            <a:avLst/>
          </a:prstGeom>
          <a:noFill/>
          <a:ln w="12700">
            <a:solidFill>
              <a:schemeClr val="tx1"/>
            </a:solidFill>
            <a:round/>
            <a:headEnd/>
            <a:tailEnd/>
          </a:ln>
          <a:effectLst/>
        </p:spPr>
        <p:txBody>
          <a:bodyPr wrap="none" anchor="ctr"/>
          <a:lstStyle/>
          <a:p>
            <a:endParaRPr lang="en-US"/>
          </a:p>
        </p:txBody>
      </p:sp>
      <p:sp>
        <p:nvSpPr>
          <p:cNvPr id="905232" name="Line 16"/>
          <p:cNvSpPr>
            <a:spLocks noChangeShapeType="1"/>
          </p:cNvSpPr>
          <p:nvPr/>
        </p:nvSpPr>
        <p:spPr bwMode="auto">
          <a:xfrm>
            <a:off x="4008438" y="2216150"/>
            <a:ext cx="0" cy="749300"/>
          </a:xfrm>
          <a:prstGeom prst="line">
            <a:avLst/>
          </a:prstGeom>
          <a:noFill/>
          <a:ln w="12700">
            <a:solidFill>
              <a:schemeClr val="tx1"/>
            </a:solidFill>
            <a:round/>
            <a:headEnd type="triangle" w="med" len="med"/>
            <a:tailEnd type="triangle" w="med" len="med"/>
          </a:ln>
          <a:effectLst/>
        </p:spPr>
        <p:txBody>
          <a:bodyPr wrap="none" anchor="ctr"/>
          <a:lstStyle/>
          <a:p>
            <a:endParaRPr lang="en-US"/>
          </a:p>
        </p:txBody>
      </p:sp>
      <p:sp>
        <p:nvSpPr>
          <p:cNvPr id="905233" name="Rectangle 17"/>
          <p:cNvSpPr>
            <a:spLocks noChangeArrowheads="1"/>
          </p:cNvSpPr>
          <p:nvPr/>
        </p:nvSpPr>
        <p:spPr bwMode="auto">
          <a:xfrm rot="16200000">
            <a:off x="3917157" y="2459831"/>
            <a:ext cx="557212" cy="301625"/>
          </a:xfrm>
          <a:prstGeom prst="rect">
            <a:avLst/>
          </a:prstGeom>
          <a:noFill/>
          <a:ln w="12700">
            <a:noFill/>
            <a:miter lim="800000"/>
            <a:headEnd/>
            <a:tailEnd/>
          </a:ln>
          <a:effectLst/>
        </p:spPr>
        <p:txBody>
          <a:bodyPr wrap="none" lIns="90488" tIns="44450" rIns="90488" bIns="44450">
            <a:spAutoFit/>
          </a:bodyPr>
          <a:lstStyle/>
          <a:p>
            <a:r>
              <a:rPr lang="en-US" sz="1400"/>
              <a:t>RMS</a:t>
            </a:r>
          </a:p>
        </p:txBody>
      </p:sp>
      <p:sp>
        <p:nvSpPr>
          <p:cNvPr id="905234" name="Line 18"/>
          <p:cNvSpPr>
            <a:spLocks noChangeShapeType="1"/>
          </p:cNvSpPr>
          <p:nvPr/>
        </p:nvSpPr>
        <p:spPr bwMode="auto">
          <a:xfrm>
            <a:off x="1554163" y="2286000"/>
            <a:ext cx="1885950" cy="0"/>
          </a:xfrm>
          <a:prstGeom prst="line">
            <a:avLst/>
          </a:prstGeom>
          <a:noFill/>
          <a:ln w="12700">
            <a:solidFill>
              <a:schemeClr val="tx1"/>
            </a:solidFill>
            <a:round/>
            <a:headEnd/>
            <a:tailEnd/>
          </a:ln>
          <a:effectLst/>
        </p:spPr>
        <p:txBody>
          <a:bodyPr wrap="none" anchor="ctr"/>
          <a:lstStyle/>
          <a:p>
            <a:endParaRPr lang="en-US"/>
          </a:p>
        </p:txBody>
      </p:sp>
      <p:sp>
        <p:nvSpPr>
          <p:cNvPr id="905235" name="Line 19"/>
          <p:cNvSpPr>
            <a:spLocks noChangeShapeType="1"/>
          </p:cNvSpPr>
          <p:nvPr/>
        </p:nvSpPr>
        <p:spPr bwMode="auto">
          <a:xfrm>
            <a:off x="3165475" y="2292350"/>
            <a:ext cx="0" cy="673100"/>
          </a:xfrm>
          <a:prstGeom prst="line">
            <a:avLst/>
          </a:prstGeom>
          <a:noFill/>
          <a:ln w="12700">
            <a:solidFill>
              <a:schemeClr val="tx1"/>
            </a:solidFill>
            <a:round/>
            <a:headEnd type="triangle" w="med" len="med"/>
            <a:tailEnd type="triangle" w="med" len="med"/>
          </a:ln>
          <a:effectLst/>
        </p:spPr>
        <p:txBody>
          <a:bodyPr wrap="none" anchor="ctr"/>
          <a:lstStyle/>
          <a:p>
            <a:endParaRPr lang="en-US"/>
          </a:p>
        </p:txBody>
      </p:sp>
      <p:sp>
        <p:nvSpPr>
          <p:cNvPr id="905236" name="Rectangle 20"/>
          <p:cNvSpPr>
            <a:spLocks noChangeArrowheads="1"/>
          </p:cNvSpPr>
          <p:nvPr/>
        </p:nvSpPr>
        <p:spPr bwMode="auto">
          <a:xfrm rot="16200000">
            <a:off x="3074195" y="2536031"/>
            <a:ext cx="442912" cy="301625"/>
          </a:xfrm>
          <a:prstGeom prst="rect">
            <a:avLst/>
          </a:prstGeom>
          <a:noFill/>
          <a:ln w="12700">
            <a:noFill/>
            <a:miter lim="800000"/>
            <a:headEnd/>
            <a:tailEnd/>
          </a:ln>
          <a:effectLst/>
        </p:spPr>
        <p:txBody>
          <a:bodyPr wrap="none" lIns="90488" tIns="44450" rIns="90488" bIns="44450">
            <a:spAutoFit/>
          </a:bodyPr>
          <a:lstStyle/>
          <a:p>
            <a:r>
              <a:rPr lang="en-US" sz="1400"/>
              <a:t>Av.</a:t>
            </a:r>
          </a:p>
        </p:txBody>
      </p:sp>
      <p:sp>
        <p:nvSpPr>
          <p:cNvPr id="905237" name="Rectangle 21"/>
          <p:cNvSpPr>
            <a:spLocks noChangeArrowheads="1"/>
          </p:cNvSpPr>
          <p:nvPr/>
        </p:nvSpPr>
        <p:spPr bwMode="auto">
          <a:xfrm>
            <a:off x="1062038" y="4186238"/>
            <a:ext cx="7172325" cy="2038350"/>
          </a:xfrm>
          <a:prstGeom prst="rect">
            <a:avLst/>
          </a:prstGeom>
          <a:noFill/>
          <a:ln w="12700">
            <a:noFill/>
            <a:miter lim="800000"/>
            <a:headEnd/>
            <a:tailEnd/>
          </a:ln>
          <a:effectLst/>
        </p:spPr>
        <p:txBody>
          <a:bodyPr lIns="90488" tIns="44450" rIns="90488" bIns="44450">
            <a:spAutoFit/>
          </a:bodyPr>
          <a:lstStyle/>
          <a:p>
            <a:r>
              <a:rPr lang="en-US" sz="3200" b="1">
                <a:latin typeface="Courier New" pitchFamily="49" charset="0"/>
              </a:rPr>
              <a:t>Peak            - a</a:t>
            </a:r>
          </a:p>
          <a:p>
            <a:r>
              <a:rPr lang="en-US" sz="3200" b="1">
                <a:latin typeface="Courier New" pitchFamily="49" charset="0"/>
              </a:rPr>
              <a:t>Peak to Peak    - 2a</a:t>
            </a:r>
          </a:p>
          <a:p>
            <a:r>
              <a:rPr lang="en-US" sz="3200" b="1">
                <a:latin typeface="Courier New" pitchFamily="49" charset="0"/>
              </a:rPr>
              <a:t>RMS             - 0.707 a</a:t>
            </a:r>
          </a:p>
          <a:p>
            <a:r>
              <a:rPr lang="en-US" sz="3200" b="1">
                <a:latin typeface="Courier New" pitchFamily="49" charset="0"/>
              </a:rPr>
              <a:t>Average         - 0.637 a</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Rectangle 2"/>
          <p:cNvSpPr>
            <a:spLocks noGrp="1" noChangeArrowheads="1"/>
          </p:cNvSpPr>
          <p:nvPr>
            <p:ph type="title"/>
          </p:nvPr>
        </p:nvSpPr>
        <p:spPr>
          <a:xfrm>
            <a:off x="685800" y="438150"/>
            <a:ext cx="7772400" cy="608013"/>
          </a:xfrm>
          <a:noFill/>
          <a:ln/>
        </p:spPr>
        <p:txBody>
          <a:bodyPr lIns="90488" tIns="44450" rIns="90488" bIns="44450" anchor="ctr"/>
          <a:lstStyle/>
          <a:p>
            <a:r>
              <a:rPr lang="en-US" sz="3200" b="0">
                <a:latin typeface="Courier New" pitchFamily="49" charset="0"/>
              </a:rPr>
              <a:t>Vibration Transducers</a:t>
            </a:r>
          </a:p>
        </p:txBody>
      </p:sp>
      <p:sp>
        <p:nvSpPr>
          <p:cNvPr id="906243" name="Rectangle 3"/>
          <p:cNvSpPr>
            <a:spLocks noGrp="1" noChangeArrowheads="1"/>
          </p:cNvSpPr>
          <p:nvPr>
            <p:ph type="body" idx="1"/>
          </p:nvPr>
        </p:nvSpPr>
        <p:spPr>
          <a:xfrm>
            <a:off x="685800" y="1447800"/>
            <a:ext cx="7772400" cy="3529013"/>
          </a:xfrm>
          <a:noFill/>
          <a:ln/>
        </p:spPr>
        <p:txBody>
          <a:bodyPr lIns="90488" tIns="44450" rIns="90488" bIns="44450"/>
          <a:lstStyle/>
          <a:p>
            <a:pPr>
              <a:lnSpc>
                <a:spcPct val="120000"/>
              </a:lnSpc>
              <a:spcBef>
                <a:spcPct val="0"/>
              </a:spcBef>
              <a:buFontTx/>
              <a:buNone/>
            </a:pPr>
            <a:r>
              <a:rPr lang="en-US" i="1"/>
              <a:t>Produces electrical signal of vibratory motion</a:t>
            </a:r>
            <a:endParaRPr lang="en-US" b="1"/>
          </a:p>
          <a:p>
            <a:pPr>
              <a:lnSpc>
                <a:spcPct val="120000"/>
              </a:lnSpc>
              <a:spcBef>
                <a:spcPct val="0"/>
              </a:spcBef>
              <a:buFontTx/>
              <a:buNone/>
            </a:pPr>
            <a:endParaRPr lang="en-US" b="1"/>
          </a:p>
          <a:p>
            <a:pPr>
              <a:lnSpc>
                <a:spcPct val="120000"/>
              </a:lnSpc>
              <a:spcBef>
                <a:spcPct val="0"/>
              </a:spcBef>
              <a:buFontTx/>
              <a:buNone/>
            </a:pPr>
            <a:r>
              <a:rPr lang="en-US" sz="3600" b="1"/>
              <a:t>Proximity Probe   -  Displacement</a:t>
            </a:r>
          </a:p>
          <a:p>
            <a:pPr>
              <a:lnSpc>
                <a:spcPct val="120000"/>
              </a:lnSpc>
              <a:spcBef>
                <a:spcPct val="0"/>
              </a:spcBef>
              <a:buFontTx/>
              <a:buNone/>
            </a:pPr>
            <a:r>
              <a:rPr lang="en-US" sz="3600" b="1"/>
              <a:t>Velocity Probe      -  Velocity</a:t>
            </a:r>
          </a:p>
          <a:p>
            <a:pPr>
              <a:lnSpc>
                <a:spcPct val="120000"/>
              </a:lnSpc>
              <a:spcBef>
                <a:spcPct val="0"/>
              </a:spcBef>
              <a:buFontTx/>
              <a:buNone/>
            </a:pPr>
            <a:r>
              <a:rPr lang="en-US" sz="3600" b="1"/>
              <a:t>Accelerometer      -  Acceleration</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Rectangle 2"/>
          <p:cNvSpPr>
            <a:spLocks noGrp="1" noChangeArrowheads="1"/>
          </p:cNvSpPr>
          <p:nvPr>
            <p:ph type="title" idx="4294967295"/>
          </p:nvPr>
        </p:nvSpPr>
        <p:spPr>
          <a:xfrm>
            <a:off x="609600" y="457200"/>
            <a:ext cx="7772400" cy="609600"/>
          </a:xfrm>
          <a:noFill/>
          <a:ln/>
        </p:spPr>
        <p:txBody>
          <a:bodyPr lIns="90488" tIns="44450" rIns="90488" bIns="44450" anchor="ctr"/>
          <a:lstStyle/>
          <a:p>
            <a:r>
              <a:rPr lang="en-US" sz="3200" b="0">
                <a:latin typeface="Courier New" pitchFamily="49" charset="0"/>
              </a:rPr>
              <a:t>Proximity Probe</a:t>
            </a:r>
          </a:p>
        </p:txBody>
      </p:sp>
      <p:graphicFrame>
        <p:nvGraphicFramePr>
          <p:cNvPr id="1049600" name="Object 1024"/>
          <p:cNvGraphicFramePr>
            <a:graphicFrameLocks noChangeAspect="1"/>
          </p:cNvGraphicFramePr>
          <p:nvPr/>
        </p:nvGraphicFramePr>
        <p:xfrm>
          <a:off x="1060450" y="1981200"/>
          <a:ext cx="7219950" cy="3124200"/>
        </p:xfrm>
        <a:graphic>
          <a:graphicData uri="http://schemas.openxmlformats.org/presentationml/2006/ole">
            <mc:AlternateContent xmlns:mc="http://schemas.openxmlformats.org/markup-compatibility/2006">
              <mc:Choice xmlns:v="urn:schemas-microsoft-com:vml" Requires="v">
                <p:oleObj spid="_x0000_s1049602" name="Bitmap Image" r:id="rId3" imgW="3895238" imgH="1685714" progId="Paint.Picture">
                  <p:embed/>
                </p:oleObj>
              </mc:Choice>
              <mc:Fallback>
                <p:oleObj name="Bitmap Image" r:id="rId3" imgW="3895238" imgH="1685714" progId="Paint.Picture">
                  <p:embed/>
                  <p:pic>
                    <p:nvPicPr>
                      <p:cNvPr id="0" name="Picture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0450" y="1981200"/>
                        <a:ext cx="7219950" cy="312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0" name="Rectangle 2"/>
          <p:cNvSpPr>
            <a:spLocks noGrp="1" noChangeArrowheads="1"/>
          </p:cNvSpPr>
          <p:nvPr>
            <p:ph type="body" sz="half" idx="1"/>
          </p:nvPr>
        </p:nvSpPr>
        <p:spPr>
          <a:xfrm>
            <a:off x="533400" y="2743200"/>
            <a:ext cx="8153400" cy="3200400"/>
          </a:xfrm>
          <a:noFill/>
          <a:ln/>
        </p:spPr>
        <p:txBody>
          <a:bodyPr lIns="90488" tIns="44450" rIns="90488" bIns="44450"/>
          <a:lstStyle/>
          <a:p>
            <a:r>
              <a:rPr lang="en-US" sz="2000" b="1"/>
              <a:t>Permanently installed on large machines with sleeve bearings. </a:t>
            </a:r>
          </a:p>
          <a:p>
            <a:r>
              <a:rPr lang="en-US" sz="2000" b="1"/>
              <a:t>Measures relative displacement between the bearing housing(probe tip) and the rotating shaft.</a:t>
            </a:r>
          </a:p>
          <a:p>
            <a:r>
              <a:rPr lang="en-US" sz="2000" b="1"/>
              <a:t>Called Eddy Current Probe</a:t>
            </a:r>
          </a:p>
          <a:p>
            <a:r>
              <a:rPr lang="en-US" sz="2000" b="1"/>
              <a:t>Frequency range   0 to  60,000 CPM</a:t>
            </a:r>
          </a:p>
          <a:p>
            <a:pPr>
              <a:buFontTx/>
              <a:buNone/>
            </a:pPr>
            <a:endParaRPr lang="en-US" sz="2000" b="1"/>
          </a:p>
        </p:txBody>
      </p:sp>
      <p:graphicFrame>
        <p:nvGraphicFramePr>
          <p:cNvPr id="1050624" name="Object 1024"/>
          <p:cNvGraphicFramePr>
            <a:graphicFrameLocks noChangeAspect="1"/>
          </p:cNvGraphicFramePr>
          <p:nvPr/>
        </p:nvGraphicFramePr>
        <p:xfrm>
          <a:off x="2438400" y="685800"/>
          <a:ext cx="3895725" cy="1685925"/>
        </p:xfrm>
        <a:graphic>
          <a:graphicData uri="http://schemas.openxmlformats.org/presentationml/2006/ole">
            <mc:AlternateContent xmlns:mc="http://schemas.openxmlformats.org/markup-compatibility/2006">
              <mc:Choice xmlns:v="urn:schemas-microsoft-com:vml" Requires="v">
                <p:oleObj spid="_x0000_s1050626" name="Bitmap Image" r:id="rId3" imgW="3895238" imgH="1685714" progId="Paint.Picture">
                  <p:embed/>
                </p:oleObj>
              </mc:Choice>
              <mc:Fallback>
                <p:oleObj name="Bitmap Image" r:id="rId3" imgW="3895238" imgH="1685714" progId="Paint.Picture">
                  <p:embed/>
                  <p:pic>
                    <p:nvPicPr>
                      <p:cNvPr id="0" name="Picture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685800"/>
                        <a:ext cx="3895725" cy="1685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2"/>
          <p:cNvSpPr>
            <a:spLocks noChangeArrowheads="1"/>
          </p:cNvSpPr>
          <p:nvPr/>
        </p:nvSpPr>
        <p:spPr bwMode="auto">
          <a:xfrm>
            <a:off x="685800" y="381000"/>
            <a:ext cx="7772400" cy="762000"/>
          </a:xfrm>
          <a:prstGeom prst="rect">
            <a:avLst/>
          </a:prstGeom>
          <a:noFill/>
          <a:ln w="12700">
            <a:noFill/>
            <a:miter lim="800000"/>
            <a:headEnd/>
            <a:tailEnd/>
          </a:ln>
          <a:effectLst/>
        </p:spPr>
        <p:txBody>
          <a:bodyPr lIns="90488" tIns="44450" rIns="90488" bIns="44450" anchor="ctr"/>
          <a:lstStyle/>
          <a:p>
            <a:pPr algn="ctr"/>
            <a:r>
              <a:rPr lang="en-US" sz="4000" b="1">
                <a:solidFill>
                  <a:schemeClr val="tx2"/>
                </a:solidFill>
                <a:latin typeface="Courier New" pitchFamily="49" charset="0"/>
              </a:rPr>
              <a:t>Velocity Probe</a:t>
            </a:r>
          </a:p>
        </p:txBody>
      </p:sp>
      <p:graphicFrame>
        <p:nvGraphicFramePr>
          <p:cNvPr id="1051648" name="Object 0"/>
          <p:cNvGraphicFramePr>
            <a:graphicFrameLocks noChangeAspect="1"/>
          </p:cNvGraphicFramePr>
          <p:nvPr/>
        </p:nvGraphicFramePr>
        <p:xfrm>
          <a:off x="1828800" y="1512888"/>
          <a:ext cx="5181600" cy="4373562"/>
        </p:xfrm>
        <a:graphic>
          <a:graphicData uri="http://schemas.openxmlformats.org/presentationml/2006/ole">
            <mc:AlternateContent xmlns:mc="http://schemas.openxmlformats.org/markup-compatibility/2006">
              <mc:Choice xmlns:v="urn:schemas-microsoft-com:vml" Requires="v">
                <p:oleObj spid="_x0000_s1051650" name="Bitmap Image" r:id="rId3" imgW="2200582" imgH="1857143" progId="Paint.Picture">
                  <p:embed/>
                </p:oleObj>
              </mc:Choice>
              <mc:Fallback>
                <p:oleObj name="Bitmap Image" r:id="rId3" imgW="2200582" imgH="1857143" progId="Paint.Picture">
                  <p:embed/>
                  <p:pic>
                    <p:nvPicPr>
                      <p:cNvPr id="0" name="Picture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512888"/>
                        <a:ext cx="5181600" cy="4373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Rectangle 2"/>
          <p:cNvSpPr>
            <a:spLocks noGrp="1" noChangeArrowheads="1"/>
          </p:cNvSpPr>
          <p:nvPr>
            <p:ph type="body" sz="half" idx="1"/>
          </p:nvPr>
        </p:nvSpPr>
        <p:spPr>
          <a:xfrm>
            <a:off x="685800" y="3505200"/>
            <a:ext cx="7848600" cy="2743200"/>
          </a:xfrm>
          <a:noFill/>
          <a:ln/>
        </p:spPr>
        <p:txBody>
          <a:bodyPr lIns="90488" tIns="44450" rIns="90488" bIns="44450"/>
          <a:lstStyle/>
          <a:p>
            <a:r>
              <a:rPr lang="en-US" sz="2000" b="1"/>
              <a:t>Oldest of all.</a:t>
            </a:r>
          </a:p>
          <a:p>
            <a:r>
              <a:rPr lang="en-US" sz="2000" b="1"/>
              <a:t>Produces signal proportional to velocity.</a:t>
            </a:r>
          </a:p>
          <a:p>
            <a:r>
              <a:rPr lang="en-US" sz="2000" b="1"/>
              <a:t>Self generating and needs no conditioning electronics.</a:t>
            </a:r>
          </a:p>
          <a:p>
            <a:r>
              <a:rPr lang="en-US" sz="2000" b="1"/>
              <a:t>It is heavy, complex  and expensive.</a:t>
            </a:r>
          </a:p>
          <a:p>
            <a:r>
              <a:rPr lang="en-US" sz="2000" b="1"/>
              <a:t>Frequency response from  600CPM  to  60,000CPM</a:t>
            </a:r>
          </a:p>
          <a:p>
            <a:r>
              <a:rPr lang="en-US" sz="2000" b="1"/>
              <a:t>Temperature sensitive</a:t>
            </a:r>
          </a:p>
        </p:txBody>
      </p:sp>
      <p:graphicFrame>
        <p:nvGraphicFramePr>
          <p:cNvPr id="1052672" name="Object 1024"/>
          <p:cNvGraphicFramePr>
            <a:graphicFrameLocks noChangeAspect="1"/>
          </p:cNvGraphicFramePr>
          <p:nvPr/>
        </p:nvGraphicFramePr>
        <p:xfrm>
          <a:off x="4648200" y="457200"/>
          <a:ext cx="3657600" cy="3087688"/>
        </p:xfrm>
        <a:graphic>
          <a:graphicData uri="http://schemas.openxmlformats.org/presentationml/2006/ole">
            <mc:AlternateContent xmlns:mc="http://schemas.openxmlformats.org/markup-compatibility/2006">
              <mc:Choice xmlns:v="urn:schemas-microsoft-com:vml" Requires="v">
                <p:oleObj spid="_x0000_s1052674" name="Bitmap Image" r:id="rId3" imgW="2200582" imgH="1857143" progId="Paint.Picture">
                  <p:embed/>
                </p:oleObj>
              </mc:Choice>
              <mc:Fallback>
                <p:oleObj name="Bitmap Image" r:id="rId3" imgW="2200582" imgH="1857143" progId="Paint.Picture">
                  <p:embed/>
                  <p:pic>
                    <p:nvPicPr>
                      <p:cNvPr id="0" name="Picture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457200"/>
                        <a:ext cx="3657600" cy="308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62" name="Rectangle 2"/>
          <p:cNvSpPr>
            <a:spLocks noGrp="1" noChangeArrowheads="1"/>
          </p:cNvSpPr>
          <p:nvPr>
            <p:ph type="title" idx="4294967295"/>
          </p:nvPr>
        </p:nvSpPr>
        <p:spPr>
          <a:xfrm>
            <a:off x="685800" y="381000"/>
            <a:ext cx="7772400" cy="609600"/>
          </a:xfrm>
          <a:noFill/>
          <a:ln/>
        </p:spPr>
        <p:txBody>
          <a:bodyPr lIns="90488" tIns="44450" rIns="90488" bIns="44450" anchor="ctr"/>
          <a:lstStyle/>
          <a:p>
            <a:r>
              <a:rPr lang="en-US" sz="3200" b="0">
                <a:latin typeface="Courier New" pitchFamily="49" charset="0"/>
              </a:rPr>
              <a:t>Accelerometer</a:t>
            </a:r>
          </a:p>
        </p:txBody>
      </p:sp>
      <p:graphicFrame>
        <p:nvGraphicFramePr>
          <p:cNvPr id="1053696" name="Object 1024"/>
          <p:cNvGraphicFramePr>
            <a:graphicFrameLocks noChangeAspect="1"/>
          </p:cNvGraphicFramePr>
          <p:nvPr/>
        </p:nvGraphicFramePr>
        <p:xfrm>
          <a:off x="1066800" y="1524000"/>
          <a:ext cx="6935788" cy="4184650"/>
        </p:xfrm>
        <a:graphic>
          <a:graphicData uri="http://schemas.openxmlformats.org/presentationml/2006/ole">
            <mc:AlternateContent xmlns:mc="http://schemas.openxmlformats.org/markup-compatibility/2006">
              <mc:Choice xmlns:v="urn:schemas-microsoft-com:vml" Requires="v">
                <p:oleObj spid="_x0000_s1053698" name="Bitmap Image" r:id="rId3" imgW="3362794" imgH="2029108" progId="Paint.Picture">
                  <p:embed/>
                </p:oleObj>
              </mc:Choice>
              <mc:Fallback>
                <p:oleObj name="Bitmap Image" r:id="rId3" imgW="3362794" imgH="2029108" progId="Paint.Picture">
                  <p:embed/>
                  <p:pic>
                    <p:nvPicPr>
                      <p:cNvPr id="0" name="Picture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524000"/>
                        <a:ext cx="6935788" cy="418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386" name="Rectangle 2"/>
          <p:cNvSpPr>
            <a:spLocks noGrp="1" noChangeArrowheads="1"/>
          </p:cNvSpPr>
          <p:nvPr>
            <p:ph type="body" sz="half" idx="2"/>
          </p:nvPr>
        </p:nvSpPr>
        <p:spPr>
          <a:xfrm>
            <a:off x="609600" y="3048000"/>
            <a:ext cx="7924800" cy="2895600"/>
          </a:xfrm>
          <a:noFill/>
          <a:ln/>
        </p:spPr>
        <p:txBody>
          <a:bodyPr lIns="90488" tIns="44450" rIns="90488" bIns="44450"/>
          <a:lstStyle/>
          <a:p>
            <a:r>
              <a:rPr lang="en-US"/>
              <a:t>Produces signal proportional to acceleration of seismic mass.</a:t>
            </a:r>
          </a:p>
          <a:p>
            <a:r>
              <a:rPr lang="en-US"/>
              <a:t>Extremely linear amplitude sense. </a:t>
            </a:r>
          </a:p>
          <a:p>
            <a:r>
              <a:rPr lang="en-US"/>
              <a:t>Large Frequency range</a:t>
            </a:r>
          </a:p>
          <a:p>
            <a:r>
              <a:rPr lang="en-US"/>
              <a:t>Smaller in size</a:t>
            </a:r>
          </a:p>
        </p:txBody>
      </p:sp>
      <p:graphicFrame>
        <p:nvGraphicFramePr>
          <p:cNvPr id="912387" name="Object 3"/>
          <p:cNvGraphicFramePr>
            <a:graphicFrameLocks noChangeAspect="1"/>
          </p:cNvGraphicFramePr>
          <p:nvPr/>
        </p:nvGraphicFramePr>
        <p:xfrm>
          <a:off x="2514600" y="381000"/>
          <a:ext cx="4114800" cy="2482850"/>
        </p:xfrm>
        <a:graphic>
          <a:graphicData uri="http://schemas.openxmlformats.org/presentationml/2006/ole">
            <mc:AlternateContent xmlns:mc="http://schemas.openxmlformats.org/markup-compatibility/2006">
              <mc:Choice xmlns:v="urn:schemas-microsoft-com:vml" Requires="v">
                <p:oleObj spid="_x0000_s912389" name="Bitmap Image" r:id="rId3" imgW="3362794" imgH="2029108" progId="Paint.Picture">
                  <p:embed/>
                </p:oleObj>
              </mc:Choice>
              <mc:Fallback>
                <p:oleObj name="Bitmap Image" r:id="rId3" imgW="3362794" imgH="2029108" progId="Paint.Picture">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81000"/>
                        <a:ext cx="4114800" cy="2482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13410" name="Group 1026"/>
          <p:cNvGrpSpPr>
            <a:grpSpLocks/>
          </p:cNvGrpSpPr>
          <p:nvPr/>
        </p:nvGrpSpPr>
        <p:grpSpPr bwMode="auto">
          <a:xfrm>
            <a:off x="4754563" y="1524000"/>
            <a:ext cx="4389437" cy="3327400"/>
            <a:chOff x="2995" y="960"/>
            <a:chExt cx="2765" cy="2096"/>
          </a:xfrm>
        </p:grpSpPr>
        <p:sp>
          <p:nvSpPr>
            <p:cNvPr id="913411" name="Line 1027"/>
            <p:cNvSpPr>
              <a:spLocks noChangeShapeType="1"/>
            </p:cNvSpPr>
            <p:nvPr/>
          </p:nvSpPr>
          <p:spPr bwMode="auto">
            <a:xfrm>
              <a:off x="3436" y="1771"/>
              <a:ext cx="1863" cy="0"/>
            </a:xfrm>
            <a:prstGeom prst="line">
              <a:avLst/>
            </a:prstGeom>
            <a:noFill/>
            <a:ln w="19050">
              <a:solidFill>
                <a:srgbClr val="008280"/>
              </a:solidFill>
              <a:round/>
              <a:headEnd/>
              <a:tailEnd type="triangle" w="med" len="med"/>
            </a:ln>
            <a:effectLst/>
          </p:spPr>
          <p:txBody>
            <a:bodyPr wrap="none" anchor="ctr"/>
            <a:lstStyle/>
            <a:p>
              <a:endParaRPr lang="en-US"/>
            </a:p>
          </p:txBody>
        </p:sp>
        <p:sp>
          <p:nvSpPr>
            <p:cNvPr id="913412" name="Line 1028"/>
            <p:cNvSpPr>
              <a:spLocks noChangeShapeType="1"/>
            </p:cNvSpPr>
            <p:nvPr/>
          </p:nvSpPr>
          <p:spPr bwMode="auto">
            <a:xfrm>
              <a:off x="3436" y="1080"/>
              <a:ext cx="0" cy="1377"/>
            </a:xfrm>
            <a:prstGeom prst="line">
              <a:avLst/>
            </a:prstGeom>
            <a:noFill/>
            <a:ln w="19050">
              <a:solidFill>
                <a:srgbClr val="008280"/>
              </a:solidFill>
              <a:round/>
              <a:headEnd/>
              <a:tailEnd/>
            </a:ln>
            <a:effectLst/>
          </p:spPr>
          <p:txBody>
            <a:bodyPr wrap="none" anchor="ctr"/>
            <a:lstStyle/>
            <a:p>
              <a:endParaRPr lang="en-US"/>
            </a:p>
          </p:txBody>
        </p:sp>
        <p:grpSp>
          <p:nvGrpSpPr>
            <p:cNvPr id="913413" name="Group 1029"/>
            <p:cNvGrpSpPr>
              <a:grpSpLocks/>
            </p:cNvGrpSpPr>
            <p:nvPr/>
          </p:nvGrpSpPr>
          <p:grpSpPr bwMode="auto">
            <a:xfrm>
              <a:off x="3434" y="1173"/>
              <a:ext cx="1633" cy="1193"/>
              <a:chOff x="2806" y="1414"/>
              <a:chExt cx="1796" cy="1353"/>
            </a:xfrm>
          </p:grpSpPr>
          <p:sp>
            <p:nvSpPr>
              <p:cNvPr id="913414" name="Freeform 1030"/>
              <p:cNvSpPr>
                <a:spLocks/>
              </p:cNvSpPr>
              <p:nvPr/>
            </p:nvSpPr>
            <p:spPr bwMode="auto">
              <a:xfrm>
                <a:off x="2806" y="1414"/>
                <a:ext cx="896" cy="672"/>
              </a:xfrm>
              <a:custGeom>
                <a:avLst/>
                <a:gdLst/>
                <a:ahLst/>
                <a:cxnLst>
                  <a:cxn ang="0">
                    <a:pos x="895" y="671"/>
                  </a:cxn>
                  <a:cxn ang="0">
                    <a:pos x="852" y="514"/>
                  </a:cxn>
                  <a:cxn ang="0">
                    <a:pos x="804" y="378"/>
                  </a:cxn>
                  <a:cxn ang="0">
                    <a:pos x="751" y="262"/>
                  </a:cxn>
                  <a:cxn ang="0">
                    <a:pos x="695" y="168"/>
                  </a:cxn>
                  <a:cxn ang="0">
                    <a:pos x="635" y="95"/>
                  </a:cxn>
                  <a:cxn ang="0">
                    <a:pos x="574" y="42"/>
                  </a:cxn>
                  <a:cxn ang="0">
                    <a:pos x="510" y="11"/>
                  </a:cxn>
                  <a:cxn ang="0">
                    <a:pos x="447" y="0"/>
                  </a:cxn>
                  <a:cxn ang="0">
                    <a:pos x="382" y="11"/>
                  </a:cxn>
                  <a:cxn ang="0">
                    <a:pos x="320" y="42"/>
                  </a:cxn>
                  <a:cxn ang="0">
                    <a:pos x="258" y="95"/>
                  </a:cxn>
                  <a:cxn ang="0">
                    <a:pos x="199" y="168"/>
                  </a:cxn>
                  <a:cxn ang="0">
                    <a:pos x="143" y="262"/>
                  </a:cxn>
                  <a:cxn ang="0">
                    <a:pos x="90" y="378"/>
                  </a:cxn>
                  <a:cxn ang="0">
                    <a:pos x="42" y="514"/>
                  </a:cxn>
                  <a:cxn ang="0">
                    <a:pos x="0" y="671"/>
                  </a:cxn>
                </a:cxnLst>
                <a:rect l="0" t="0" r="r" b="b"/>
                <a:pathLst>
                  <a:path w="896" h="672">
                    <a:moveTo>
                      <a:pt x="895" y="671"/>
                    </a:moveTo>
                    <a:lnTo>
                      <a:pt x="852" y="514"/>
                    </a:lnTo>
                    <a:lnTo>
                      <a:pt x="804" y="378"/>
                    </a:lnTo>
                    <a:lnTo>
                      <a:pt x="751" y="262"/>
                    </a:lnTo>
                    <a:lnTo>
                      <a:pt x="695" y="168"/>
                    </a:lnTo>
                    <a:lnTo>
                      <a:pt x="635" y="95"/>
                    </a:lnTo>
                    <a:lnTo>
                      <a:pt x="574" y="42"/>
                    </a:lnTo>
                    <a:lnTo>
                      <a:pt x="510" y="11"/>
                    </a:lnTo>
                    <a:lnTo>
                      <a:pt x="447" y="0"/>
                    </a:lnTo>
                    <a:lnTo>
                      <a:pt x="382" y="11"/>
                    </a:lnTo>
                    <a:lnTo>
                      <a:pt x="320" y="42"/>
                    </a:lnTo>
                    <a:lnTo>
                      <a:pt x="258" y="95"/>
                    </a:lnTo>
                    <a:lnTo>
                      <a:pt x="199" y="168"/>
                    </a:lnTo>
                    <a:lnTo>
                      <a:pt x="143" y="262"/>
                    </a:lnTo>
                    <a:lnTo>
                      <a:pt x="90" y="378"/>
                    </a:lnTo>
                    <a:lnTo>
                      <a:pt x="42" y="514"/>
                    </a:lnTo>
                    <a:lnTo>
                      <a:pt x="0" y="671"/>
                    </a:lnTo>
                  </a:path>
                </a:pathLst>
              </a:custGeom>
              <a:noFill/>
              <a:ln w="31750" cap="flat" cmpd="sng">
                <a:solidFill>
                  <a:srgbClr val="008000"/>
                </a:solidFill>
                <a:prstDash val="solid"/>
                <a:round/>
                <a:headEnd type="none" w="med" len="med"/>
                <a:tailEnd type="none" w="med" len="med"/>
              </a:ln>
              <a:effectLst/>
            </p:spPr>
            <p:txBody>
              <a:bodyPr/>
              <a:lstStyle/>
              <a:p>
                <a:endParaRPr lang="en-US"/>
              </a:p>
            </p:txBody>
          </p:sp>
          <p:sp>
            <p:nvSpPr>
              <p:cNvPr id="913415" name="Freeform 1031"/>
              <p:cNvSpPr>
                <a:spLocks/>
              </p:cNvSpPr>
              <p:nvPr/>
            </p:nvSpPr>
            <p:spPr bwMode="auto">
              <a:xfrm>
                <a:off x="3706" y="2095"/>
                <a:ext cx="896" cy="672"/>
              </a:xfrm>
              <a:custGeom>
                <a:avLst/>
                <a:gdLst/>
                <a:ahLst/>
                <a:cxnLst>
                  <a:cxn ang="0">
                    <a:pos x="895" y="0"/>
                  </a:cxn>
                  <a:cxn ang="0">
                    <a:pos x="852" y="158"/>
                  </a:cxn>
                  <a:cxn ang="0">
                    <a:pos x="804" y="294"/>
                  </a:cxn>
                  <a:cxn ang="0">
                    <a:pos x="751" y="410"/>
                  </a:cxn>
                  <a:cxn ang="0">
                    <a:pos x="695" y="504"/>
                  </a:cxn>
                  <a:cxn ang="0">
                    <a:pos x="635" y="578"/>
                  </a:cxn>
                  <a:cxn ang="0">
                    <a:pos x="574" y="630"/>
                  </a:cxn>
                  <a:cxn ang="0">
                    <a:pos x="510" y="661"/>
                  </a:cxn>
                  <a:cxn ang="0">
                    <a:pos x="447" y="671"/>
                  </a:cxn>
                  <a:cxn ang="0">
                    <a:pos x="382" y="661"/>
                  </a:cxn>
                  <a:cxn ang="0">
                    <a:pos x="319" y="630"/>
                  </a:cxn>
                  <a:cxn ang="0">
                    <a:pos x="258" y="578"/>
                  </a:cxn>
                  <a:cxn ang="0">
                    <a:pos x="199" y="504"/>
                  </a:cxn>
                  <a:cxn ang="0">
                    <a:pos x="143" y="410"/>
                  </a:cxn>
                  <a:cxn ang="0">
                    <a:pos x="90" y="294"/>
                  </a:cxn>
                  <a:cxn ang="0">
                    <a:pos x="42" y="158"/>
                  </a:cxn>
                  <a:cxn ang="0">
                    <a:pos x="0" y="0"/>
                  </a:cxn>
                </a:cxnLst>
                <a:rect l="0" t="0" r="r" b="b"/>
                <a:pathLst>
                  <a:path w="896" h="672">
                    <a:moveTo>
                      <a:pt x="895" y="0"/>
                    </a:moveTo>
                    <a:lnTo>
                      <a:pt x="852" y="158"/>
                    </a:lnTo>
                    <a:lnTo>
                      <a:pt x="804" y="294"/>
                    </a:lnTo>
                    <a:lnTo>
                      <a:pt x="751" y="410"/>
                    </a:lnTo>
                    <a:lnTo>
                      <a:pt x="695" y="504"/>
                    </a:lnTo>
                    <a:lnTo>
                      <a:pt x="635" y="578"/>
                    </a:lnTo>
                    <a:lnTo>
                      <a:pt x="574" y="630"/>
                    </a:lnTo>
                    <a:lnTo>
                      <a:pt x="510" y="661"/>
                    </a:lnTo>
                    <a:lnTo>
                      <a:pt x="447" y="671"/>
                    </a:lnTo>
                    <a:lnTo>
                      <a:pt x="382" y="661"/>
                    </a:lnTo>
                    <a:lnTo>
                      <a:pt x="319" y="630"/>
                    </a:lnTo>
                    <a:lnTo>
                      <a:pt x="258" y="578"/>
                    </a:lnTo>
                    <a:lnTo>
                      <a:pt x="199" y="504"/>
                    </a:lnTo>
                    <a:lnTo>
                      <a:pt x="143" y="410"/>
                    </a:lnTo>
                    <a:lnTo>
                      <a:pt x="90" y="294"/>
                    </a:lnTo>
                    <a:lnTo>
                      <a:pt x="42" y="158"/>
                    </a:lnTo>
                    <a:lnTo>
                      <a:pt x="0" y="0"/>
                    </a:lnTo>
                  </a:path>
                </a:pathLst>
              </a:custGeom>
              <a:noFill/>
              <a:ln w="31750" cap="flat" cmpd="sng">
                <a:solidFill>
                  <a:srgbClr val="008000"/>
                </a:solidFill>
                <a:prstDash val="solid"/>
                <a:round/>
                <a:headEnd type="triangle" w="med" len="med"/>
                <a:tailEnd type="none" w="med" len="med"/>
              </a:ln>
              <a:effectLst/>
            </p:spPr>
            <p:txBody>
              <a:bodyPr/>
              <a:lstStyle/>
              <a:p>
                <a:endParaRPr lang="en-US"/>
              </a:p>
            </p:txBody>
          </p:sp>
        </p:grpSp>
        <p:sp>
          <p:nvSpPr>
            <p:cNvPr id="913416" name="Line 1032"/>
            <p:cNvSpPr>
              <a:spLocks noChangeShapeType="1"/>
            </p:cNvSpPr>
            <p:nvPr/>
          </p:nvSpPr>
          <p:spPr bwMode="auto">
            <a:xfrm>
              <a:off x="3436" y="2762"/>
              <a:ext cx="1633" cy="0"/>
            </a:xfrm>
            <a:prstGeom prst="line">
              <a:avLst/>
            </a:prstGeom>
            <a:noFill/>
            <a:ln w="19050">
              <a:solidFill>
                <a:srgbClr val="008280"/>
              </a:solidFill>
              <a:round/>
              <a:headEnd/>
              <a:tailEnd/>
            </a:ln>
            <a:effectLst/>
          </p:spPr>
          <p:txBody>
            <a:bodyPr wrap="none" anchor="ctr"/>
            <a:lstStyle/>
            <a:p>
              <a:endParaRPr lang="en-US"/>
            </a:p>
          </p:txBody>
        </p:sp>
        <p:sp>
          <p:nvSpPr>
            <p:cNvPr id="913417" name="Line 1033"/>
            <p:cNvSpPr>
              <a:spLocks noChangeShapeType="1"/>
            </p:cNvSpPr>
            <p:nvPr/>
          </p:nvSpPr>
          <p:spPr bwMode="auto">
            <a:xfrm>
              <a:off x="3436" y="2663"/>
              <a:ext cx="0" cy="198"/>
            </a:xfrm>
            <a:prstGeom prst="line">
              <a:avLst/>
            </a:prstGeom>
            <a:noFill/>
            <a:ln w="19050">
              <a:solidFill>
                <a:srgbClr val="008280"/>
              </a:solidFill>
              <a:round/>
              <a:headEnd/>
              <a:tailEnd/>
            </a:ln>
            <a:effectLst/>
          </p:spPr>
          <p:txBody>
            <a:bodyPr wrap="none" anchor="ctr"/>
            <a:lstStyle/>
            <a:p>
              <a:endParaRPr lang="en-US"/>
            </a:p>
          </p:txBody>
        </p:sp>
        <p:sp>
          <p:nvSpPr>
            <p:cNvPr id="913418" name="Line 1034"/>
            <p:cNvSpPr>
              <a:spLocks noChangeShapeType="1"/>
            </p:cNvSpPr>
            <p:nvPr/>
          </p:nvSpPr>
          <p:spPr bwMode="auto">
            <a:xfrm>
              <a:off x="5069" y="2663"/>
              <a:ext cx="0" cy="198"/>
            </a:xfrm>
            <a:prstGeom prst="line">
              <a:avLst/>
            </a:prstGeom>
            <a:noFill/>
            <a:ln w="19050">
              <a:solidFill>
                <a:srgbClr val="008280"/>
              </a:solidFill>
              <a:round/>
              <a:headEnd/>
              <a:tailEnd/>
            </a:ln>
            <a:effectLst/>
          </p:spPr>
          <p:txBody>
            <a:bodyPr wrap="none" anchor="ctr"/>
            <a:lstStyle/>
            <a:p>
              <a:endParaRPr lang="en-US"/>
            </a:p>
          </p:txBody>
        </p:sp>
        <p:sp>
          <p:nvSpPr>
            <p:cNvPr id="913419" name="Text Box 1035"/>
            <p:cNvSpPr txBox="1">
              <a:spLocks noChangeArrowheads="1"/>
            </p:cNvSpPr>
            <p:nvPr/>
          </p:nvSpPr>
          <p:spPr bwMode="auto">
            <a:xfrm>
              <a:off x="3742" y="2861"/>
              <a:ext cx="950" cy="19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800">
                  <a:solidFill>
                    <a:srgbClr val="000000"/>
                  </a:solidFill>
                  <a:latin typeface="Arial" pitchFamily="34" charset="0"/>
                </a:rPr>
                <a:t>1 revolution</a:t>
              </a:r>
              <a:endParaRPr lang="en-US" sz="1800">
                <a:latin typeface="Arial" pitchFamily="34" charset="0"/>
              </a:endParaRPr>
            </a:p>
          </p:txBody>
        </p:sp>
        <p:sp>
          <p:nvSpPr>
            <p:cNvPr id="913420" name="Text Box 1036"/>
            <p:cNvSpPr txBox="1">
              <a:spLocks noChangeArrowheads="1"/>
            </p:cNvSpPr>
            <p:nvPr/>
          </p:nvSpPr>
          <p:spPr bwMode="auto">
            <a:xfrm>
              <a:off x="5347" y="1701"/>
              <a:ext cx="413" cy="194"/>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800">
                  <a:solidFill>
                    <a:srgbClr val="000000"/>
                  </a:solidFill>
                  <a:latin typeface="Arial" pitchFamily="34" charset="0"/>
                </a:rPr>
                <a:t>Time</a:t>
              </a:r>
              <a:endParaRPr lang="en-US" sz="1800">
                <a:latin typeface="Arial" pitchFamily="34" charset="0"/>
              </a:endParaRPr>
            </a:p>
          </p:txBody>
        </p:sp>
        <p:sp>
          <p:nvSpPr>
            <p:cNvPr id="913421" name="Text Box 1037"/>
            <p:cNvSpPr txBox="1">
              <a:spLocks noChangeArrowheads="1"/>
            </p:cNvSpPr>
            <p:nvPr/>
          </p:nvSpPr>
          <p:spPr bwMode="auto">
            <a:xfrm rot="-5400000">
              <a:off x="2684" y="1676"/>
              <a:ext cx="818" cy="19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800">
                  <a:solidFill>
                    <a:srgbClr val="000000"/>
                  </a:solidFill>
                  <a:latin typeface="Arial" pitchFamily="34" charset="0"/>
                </a:rPr>
                <a:t>Amplitude</a:t>
              </a:r>
              <a:endParaRPr lang="en-US" sz="1800">
                <a:latin typeface="Arial" pitchFamily="34" charset="0"/>
              </a:endParaRPr>
            </a:p>
          </p:txBody>
        </p:sp>
        <p:sp>
          <p:nvSpPr>
            <p:cNvPr id="913422" name="Text Box 1038"/>
            <p:cNvSpPr txBox="1">
              <a:spLocks noChangeArrowheads="1"/>
            </p:cNvSpPr>
            <p:nvPr/>
          </p:nvSpPr>
          <p:spPr bwMode="auto">
            <a:xfrm>
              <a:off x="3283" y="1653"/>
              <a:ext cx="108" cy="194"/>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0</a:t>
              </a:r>
              <a:endParaRPr lang="en-US" sz="1600">
                <a:latin typeface="Arial" pitchFamily="34" charset="0"/>
              </a:endParaRPr>
            </a:p>
          </p:txBody>
        </p:sp>
        <p:sp>
          <p:nvSpPr>
            <p:cNvPr id="913423" name="Text Box 1039"/>
            <p:cNvSpPr txBox="1">
              <a:spLocks noChangeArrowheads="1"/>
            </p:cNvSpPr>
            <p:nvPr/>
          </p:nvSpPr>
          <p:spPr bwMode="auto">
            <a:xfrm>
              <a:off x="3283" y="960"/>
              <a:ext cx="114" cy="194"/>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a:t>
              </a:r>
              <a:endParaRPr lang="en-US" sz="1600">
                <a:latin typeface="Arial" pitchFamily="34" charset="0"/>
              </a:endParaRPr>
            </a:p>
          </p:txBody>
        </p:sp>
        <p:sp>
          <p:nvSpPr>
            <p:cNvPr id="913424" name="Text Box 1040"/>
            <p:cNvSpPr txBox="1">
              <a:spLocks noChangeArrowheads="1"/>
            </p:cNvSpPr>
            <p:nvPr/>
          </p:nvSpPr>
          <p:spPr bwMode="auto">
            <a:xfrm>
              <a:off x="3307" y="2248"/>
              <a:ext cx="98" cy="289"/>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a:t>
              </a:r>
              <a:endParaRPr lang="en-US" sz="1600">
                <a:latin typeface="Arial" pitchFamily="34" charset="0"/>
              </a:endParaRPr>
            </a:p>
          </p:txBody>
        </p:sp>
        <p:sp>
          <p:nvSpPr>
            <p:cNvPr id="913425" name="Line 1041"/>
            <p:cNvSpPr>
              <a:spLocks noChangeShapeType="1"/>
            </p:cNvSpPr>
            <p:nvPr/>
          </p:nvSpPr>
          <p:spPr bwMode="auto">
            <a:xfrm>
              <a:off x="5070" y="1863"/>
              <a:ext cx="0" cy="198"/>
            </a:xfrm>
            <a:prstGeom prst="line">
              <a:avLst/>
            </a:prstGeom>
            <a:noFill/>
            <a:ln w="19050">
              <a:solidFill>
                <a:srgbClr val="008280"/>
              </a:solidFill>
              <a:round/>
              <a:headEnd/>
              <a:tailEnd/>
            </a:ln>
            <a:effectLst/>
          </p:spPr>
          <p:txBody>
            <a:bodyPr wrap="none" anchor="ctr"/>
            <a:lstStyle/>
            <a:p>
              <a:endParaRPr lang="en-US"/>
            </a:p>
          </p:txBody>
        </p:sp>
      </p:grpSp>
      <p:sp>
        <p:nvSpPr>
          <p:cNvPr id="913426" name="Rectangle 1042"/>
          <p:cNvSpPr>
            <a:spLocks noGrp="1" noChangeArrowheads="1"/>
          </p:cNvSpPr>
          <p:nvPr>
            <p:ph type="title" idx="4294967295"/>
          </p:nvPr>
        </p:nvSpPr>
        <p:spPr>
          <a:xfrm>
            <a:off x="685800" y="390525"/>
            <a:ext cx="7772400" cy="828675"/>
          </a:xfrm>
        </p:spPr>
        <p:txBody>
          <a:bodyPr/>
          <a:lstStyle/>
          <a:p>
            <a:r>
              <a:rPr lang="en-US"/>
              <a:t>Time Waveform</a:t>
            </a:r>
          </a:p>
        </p:txBody>
      </p:sp>
      <p:sp>
        <p:nvSpPr>
          <p:cNvPr id="913427" name="Text Box 1043"/>
          <p:cNvSpPr txBox="1">
            <a:spLocks noChangeArrowheads="1"/>
          </p:cNvSpPr>
          <p:nvPr/>
        </p:nvSpPr>
        <p:spPr bwMode="auto">
          <a:xfrm>
            <a:off x="2057400" y="4953000"/>
            <a:ext cx="5416550" cy="1192213"/>
          </a:xfrm>
          <a:prstGeom prst="rect">
            <a:avLst/>
          </a:prstGeom>
          <a:noFill/>
          <a:ln w="9525">
            <a:noFill/>
            <a:miter lim="800000"/>
            <a:headEnd/>
            <a:tailEnd/>
          </a:ln>
          <a:effectLst/>
        </p:spPr>
        <p:txBody>
          <a:bodyPr wrap="none">
            <a:spAutoFit/>
          </a:bodyPr>
          <a:lstStyle/>
          <a:p>
            <a:pPr>
              <a:spcBef>
                <a:spcPct val="50000"/>
              </a:spcBef>
            </a:pPr>
            <a:r>
              <a:rPr lang="en-US" sz="1800">
                <a:latin typeface="Arial" pitchFamily="34" charset="0"/>
              </a:rPr>
              <a:t>3600 RPM	=	3600 cycles per minute</a:t>
            </a:r>
          </a:p>
          <a:p>
            <a:pPr>
              <a:spcBef>
                <a:spcPct val="50000"/>
              </a:spcBef>
            </a:pPr>
            <a:r>
              <a:rPr lang="en-US" sz="1800">
                <a:latin typeface="Arial" pitchFamily="34" charset="0"/>
              </a:rPr>
              <a:t>60 Hz		=	60 cycles per second</a:t>
            </a:r>
          </a:p>
          <a:p>
            <a:pPr>
              <a:spcBef>
                <a:spcPct val="50000"/>
              </a:spcBef>
            </a:pPr>
            <a:r>
              <a:rPr lang="en-US" sz="1800">
                <a:latin typeface="Arial" pitchFamily="34" charset="0"/>
              </a:rPr>
              <a:t>1 Order 		=	One times turning speed</a:t>
            </a:r>
          </a:p>
        </p:txBody>
      </p:sp>
      <p:grpSp>
        <p:nvGrpSpPr>
          <p:cNvPr id="913428" name="Group 1044"/>
          <p:cNvGrpSpPr>
            <a:grpSpLocks/>
          </p:cNvGrpSpPr>
          <p:nvPr/>
        </p:nvGrpSpPr>
        <p:grpSpPr bwMode="auto">
          <a:xfrm>
            <a:off x="1998663" y="1676400"/>
            <a:ext cx="1979612" cy="2957513"/>
            <a:chOff x="1259" y="1056"/>
            <a:chExt cx="1247" cy="1863"/>
          </a:xfrm>
        </p:grpSpPr>
        <p:grpSp>
          <p:nvGrpSpPr>
            <p:cNvPr id="913429" name="Group 1045"/>
            <p:cNvGrpSpPr>
              <a:grpSpLocks/>
            </p:cNvGrpSpPr>
            <p:nvPr/>
          </p:nvGrpSpPr>
          <p:grpSpPr bwMode="auto">
            <a:xfrm>
              <a:off x="1259" y="1056"/>
              <a:ext cx="1247" cy="1563"/>
              <a:chOff x="1259" y="1056"/>
              <a:chExt cx="1247" cy="1563"/>
            </a:xfrm>
          </p:grpSpPr>
          <p:grpSp>
            <p:nvGrpSpPr>
              <p:cNvPr id="913430" name="Group 1046"/>
              <p:cNvGrpSpPr>
                <a:grpSpLocks/>
              </p:cNvGrpSpPr>
              <p:nvPr/>
            </p:nvGrpSpPr>
            <p:grpSpPr bwMode="auto">
              <a:xfrm>
                <a:off x="1269" y="1056"/>
                <a:ext cx="1237" cy="1563"/>
                <a:chOff x="1269" y="1056"/>
                <a:chExt cx="1237" cy="1563"/>
              </a:xfrm>
            </p:grpSpPr>
            <p:sp>
              <p:nvSpPr>
                <p:cNvPr id="913431" name="Text Box 1047"/>
                <p:cNvSpPr txBox="1">
                  <a:spLocks noChangeArrowheads="1"/>
                </p:cNvSpPr>
                <p:nvPr/>
              </p:nvSpPr>
              <p:spPr bwMode="auto">
                <a:xfrm>
                  <a:off x="1440" y="1056"/>
                  <a:ext cx="950" cy="194"/>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800">
                      <a:solidFill>
                        <a:srgbClr val="000000"/>
                      </a:solidFill>
                      <a:latin typeface="Arial" pitchFamily="34" charset="0"/>
                    </a:rPr>
                    <a:t>Heavy Spot</a:t>
                  </a:r>
                  <a:endParaRPr lang="en-US" sz="1800">
                    <a:latin typeface="Arial" pitchFamily="34" charset="0"/>
                  </a:endParaRPr>
                </a:p>
              </p:txBody>
            </p:sp>
            <p:grpSp>
              <p:nvGrpSpPr>
                <p:cNvPr id="913432" name="Group 1048"/>
                <p:cNvGrpSpPr>
                  <a:grpSpLocks/>
                </p:cNvGrpSpPr>
                <p:nvPr/>
              </p:nvGrpSpPr>
              <p:grpSpPr bwMode="auto">
                <a:xfrm>
                  <a:off x="1269" y="1392"/>
                  <a:ext cx="1237" cy="1227"/>
                  <a:chOff x="1269" y="1392"/>
                  <a:chExt cx="1237" cy="1227"/>
                </a:xfrm>
              </p:grpSpPr>
              <p:sp>
                <p:nvSpPr>
                  <p:cNvPr id="913433" name="Oval 1049"/>
                  <p:cNvSpPr>
                    <a:spLocks noChangeArrowheads="1"/>
                  </p:cNvSpPr>
                  <p:nvPr/>
                </p:nvSpPr>
                <p:spPr bwMode="auto">
                  <a:xfrm>
                    <a:off x="1392" y="1392"/>
                    <a:ext cx="1114" cy="1048"/>
                  </a:xfrm>
                  <a:prstGeom prst="ellipse">
                    <a:avLst/>
                  </a:prstGeom>
                  <a:solidFill>
                    <a:srgbClr val="E1E1E1"/>
                  </a:solidFill>
                  <a:ln w="19050">
                    <a:solidFill>
                      <a:srgbClr val="000000"/>
                    </a:solidFill>
                    <a:round/>
                    <a:headEnd/>
                    <a:tailEnd/>
                  </a:ln>
                  <a:effectLst/>
                </p:spPr>
                <p:txBody>
                  <a:bodyPr wrap="none" anchor="ctr"/>
                  <a:lstStyle/>
                  <a:p>
                    <a:endParaRPr lang="en-US"/>
                  </a:p>
                </p:txBody>
              </p:sp>
              <p:sp>
                <p:nvSpPr>
                  <p:cNvPr id="913434" name="Freeform 1050"/>
                  <p:cNvSpPr>
                    <a:spLocks/>
                  </p:cNvSpPr>
                  <p:nvPr/>
                </p:nvSpPr>
                <p:spPr bwMode="auto">
                  <a:xfrm>
                    <a:off x="1381" y="2349"/>
                    <a:ext cx="1032" cy="270"/>
                  </a:xfrm>
                  <a:custGeom>
                    <a:avLst/>
                    <a:gdLst/>
                    <a:ahLst/>
                    <a:cxnLst>
                      <a:cxn ang="0">
                        <a:pos x="0" y="0"/>
                      </a:cxn>
                      <a:cxn ang="0">
                        <a:pos x="53" y="66"/>
                      </a:cxn>
                      <a:cxn ang="0">
                        <a:pos x="113" y="125"/>
                      </a:cxn>
                      <a:cxn ang="0">
                        <a:pos x="177" y="174"/>
                      </a:cxn>
                      <a:cxn ang="0">
                        <a:pos x="246" y="216"/>
                      </a:cxn>
                      <a:cxn ang="0">
                        <a:pos x="318" y="250"/>
                      </a:cxn>
                      <a:cxn ang="0">
                        <a:pos x="393" y="276"/>
                      </a:cxn>
                      <a:cxn ang="0">
                        <a:pos x="470" y="294"/>
                      </a:cxn>
                      <a:cxn ang="0">
                        <a:pos x="549" y="302"/>
                      </a:cxn>
                      <a:cxn ang="0">
                        <a:pos x="627" y="304"/>
                      </a:cxn>
                      <a:cxn ang="0">
                        <a:pos x="706" y="298"/>
                      </a:cxn>
                      <a:cxn ang="0">
                        <a:pos x="783" y="282"/>
                      </a:cxn>
                      <a:cxn ang="0">
                        <a:pos x="860" y="258"/>
                      </a:cxn>
                      <a:cxn ang="0">
                        <a:pos x="934" y="226"/>
                      </a:cxn>
                      <a:cxn ang="0">
                        <a:pos x="1005" y="185"/>
                      </a:cxn>
                      <a:cxn ang="0">
                        <a:pos x="1072" y="136"/>
                      </a:cxn>
                      <a:cxn ang="0">
                        <a:pos x="1135" y="78"/>
                      </a:cxn>
                    </a:cxnLst>
                    <a:rect l="0" t="0" r="r" b="b"/>
                    <a:pathLst>
                      <a:path w="1136" h="305">
                        <a:moveTo>
                          <a:pt x="0" y="0"/>
                        </a:moveTo>
                        <a:lnTo>
                          <a:pt x="53" y="66"/>
                        </a:lnTo>
                        <a:lnTo>
                          <a:pt x="113" y="125"/>
                        </a:lnTo>
                        <a:lnTo>
                          <a:pt x="177" y="174"/>
                        </a:lnTo>
                        <a:lnTo>
                          <a:pt x="246" y="216"/>
                        </a:lnTo>
                        <a:lnTo>
                          <a:pt x="318" y="250"/>
                        </a:lnTo>
                        <a:lnTo>
                          <a:pt x="393" y="276"/>
                        </a:lnTo>
                        <a:lnTo>
                          <a:pt x="470" y="294"/>
                        </a:lnTo>
                        <a:lnTo>
                          <a:pt x="549" y="302"/>
                        </a:lnTo>
                        <a:lnTo>
                          <a:pt x="627" y="304"/>
                        </a:lnTo>
                        <a:lnTo>
                          <a:pt x="706" y="298"/>
                        </a:lnTo>
                        <a:lnTo>
                          <a:pt x="783" y="282"/>
                        </a:lnTo>
                        <a:lnTo>
                          <a:pt x="860" y="258"/>
                        </a:lnTo>
                        <a:lnTo>
                          <a:pt x="934" y="226"/>
                        </a:lnTo>
                        <a:lnTo>
                          <a:pt x="1005" y="185"/>
                        </a:lnTo>
                        <a:lnTo>
                          <a:pt x="1072" y="136"/>
                        </a:lnTo>
                        <a:lnTo>
                          <a:pt x="1135" y="78"/>
                        </a:lnTo>
                      </a:path>
                    </a:pathLst>
                  </a:custGeom>
                  <a:noFill/>
                  <a:ln w="19050" cap="flat" cmpd="sng">
                    <a:solidFill>
                      <a:schemeClr val="tx1"/>
                    </a:solidFill>
                    <a:prstDash val="solid"/>
                    <a:round/>
                    <a:headEnd type="triangle" w="med" len="med"/>
                    <a:tailEnd type="none" w="med" len="med"/>
                  </a:ln>
                  <a:effectLst/>
                </p:spPr>
                <p:txBody>
                  <a:bodyPr/>
                  <a:lstStyle/>
                  <a:p>
                    <a:endParaRPr lang="en-US"/>
                  </a:p>
                </p:txBody>
              </p:sp>
              <p:sp>
                <p:nvSpPr>
                  <p:cNvPr id="913435" name="Oval 1051"/>
                  <p:cNvSpPr>
                    <a:spLocks noChangeArrowheads="1"/>
                  </p:cNvSpPr>
                  <p:nvPr/>
                </p:nvSpPr>
                <p:spPr bwMode="auto">
                  <a:xfrm>
                    <a:off x="1918" y="1899"/>
                    <a:ext cx="40" cy="39"/>
                  </a:xfrm>
                  <a:prstGeom prst="ellipse">
                    <a:avLst/>
                  </a:prstGeom>
                  <a:solidFill>
                    <a:srgbClr val="FF0000"/>
                  </a:solidFill>
                  <a:ln w="19050">
                    <a:solidFill>
                      <a:srgbClr val="FF0000"/>
                    </a:solidFill>
                    <a:round/>
                    <a:headEnd/>
                    <a:tailEnd/>
                  </a:ln>
                  <a:effectLst/>
                </p:spPr>
                <p:txBody>
                  <a:bodyPr wrap="none" anchor="ctr"/>
                  <a:lstStyle/>
                  <a:p>
                    <a:endParaRPr lang="en-US"/>
                  </a:p>
                </p:txBody>
              </p:sp>
              <p:sp>
                <p:nvSpPr>
                  <p:cNvPr id="913436" name="Oval 1052"/>
                  <p:cNvSpPr>
                    <a:spLocks noChangeArrowheads="1"/>
                  </p:cNvSpPr>
                  <p:nvPr/>
                </p:nvSpPr>
                <p:spPr bwMode="auto">
                  <a:xfrm>
                    <a:off x="1440" y="1570"/>
                    <a:ext cx="181" cy="203"/>
                  </a:xfrm>
                  <a:prstGeom prst="ellipse">
                    <a:avLst/>
                  </a:prstGeom>
                  <a:solidFill>
                    <a:srgbClr val="008000"/>
                  </a:solidFill>
                  <a:ln w="19050">
                    <a:solidFill>
                      <a:srgbClr val="008000"/>
                    </a:solidFill>
                    <a:round/>
                    <a:headEnd/>
                    <a:tailEnd/>
                  </a:ln>
                  <a:effectLst/>
                </p:spPr>
                <p:txBody>
                  <a:bodyPr wrap="none" anchor="ctr"/>
                  <a:lstStyle/>
                  <a:p>
                    <a:endParaRPr lang="en-US"/>
                  </a:p>
                </p:txBody>
              </p:sp>
              <p:sp>
                <p:nvSpPr>
                  <p:cNvPr id="913437" name="Line 1053"/>
                  <p:cNvSpPr>
                    <a:spLocks noChangeShapeType="1"/>
                  </p:cNvSpPr>
                  <p:nvPr/>
                </p:nvSpPr>
                <p:spPr bwMode="auto">
                  <a:xfrm>
                    <a:off x="1269" y="1413"/>
                    <a:ext cx="162" cy="157"/>
                  </a:xfrm>
                  <a:prstGeom prst="line">
                    <a:avLst/>
                  </a:prstGeom>
                  <a:noFill/>
                  <a:ln w="19050">
                    <a:solidFill>
                      <a:srgbClr val="008280"/>
                    </a:solidFill>
                    <a:round/>
                    <a:headEnd/>
                    <a:tailEnd type="triangle" w="med" len="med"/>
                  </a:ln>
                  <a:effectLst/>
                </p:spPr>
                <p:txBody>
                  <a:bodyPr wrap="none" anchor="ctr"/>
                  <a:lstStyle/>
                  <a:p>
                    <a:endParaRPr lang="en-US"/>
                  </a:p>
                </p:txBody>
              </p:sp>
            </p:grpSp>
          </p:grpSp>
          <p:sp>
            <p:nvSpPr>
              <p:cNvPr id="913438" name="Line 1054"/>
              <p:cNvSpPr>
                <a:spLocks noChangeShapeType="1"/>
              </p:cNvSpPr>
              <p:nvPr/>
            </p:nvSpPr>
            <p:spPr bwMode="auto">
              <a:xfrm flipH="1">
                <a:off x="1259" y="1127"/>
                <a:ext cx="238" cy="286"/>
              </a:xfrm>
              <a:prstGeom prst="line">
                <a:avLst/>
              </a:prstGeom>
              <a:noFill/>
              <a:ln w="19050">
                <a:solidFill>
                  <a:srgbClr val="008280"/>
                </a:solidFill>
                <a:round/>
                <a:headEnd/>
                <a:tailEnd/>
              </a:ln>
              <a:effectLst/>
            </p:spPr>
            <p:txBody>
              <a:bodyPr wrap="none" anchor="ctr"/>
              <a:lstStyle/>
              <a:p>
                <a:endParaRPr lang="en-US"/>
              </a:p>
            </p:txBody>
          </p:sp>
        </p:grpSp>
        <p:sp>
          <p:nvSpPr>
            <p:cNvPr id="913439" name="Text Box 1055"/>
            <p:cNvSpPr txBox="1">
              <a:spLocks noChangeArrowheads="1"/>
            </p:cNvSpPr>
            <p:nvPr/>
          </p:nvSpPr>
          <p:spPr bwMode="auto">
            <a:xfrm>
              <a:off x="1632" y="2688"/>
              <a:ext cx="652" cy="231"/>
            </a:xfrm>
            <a:prstGeom prst="rect">
              <a:avLst/>
            </a:prstGeom>
            <a:noFill/>
            <a:ln w="9525">
              <a:noFill/>
              <a:miter lim="800000"/>
              <a:headEnd/>
              <a:tailEnd/>
            </a:ln>
            <a:effectLst/>
          </p:spPr>
          <p:txBody>
            <a:bodyPr wrap="none">
              <a:spAutoFit/>
            </a:bodyPr>
            <a:lstStyle/>
            <a:p>
              <a:r>
                <a:rPr lang="en-US" sz="1800">
                  <a:latin typeface="Arial" pitchFamily="34" charset="0"/>
                </a:rPr>
                <a:t>Rotation</a:t>
              </a:r>
            </a:p>
          </p:txBody>
        </p:sp>
      </p:gr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5458" name="Rectangle 2"/>
          <p:cNvSpPr>
            <a:spLocks noGrp="1" noChangeArrowheads="1"/>
          </p:cNvSpPr>
          <p:nvPr>
            <p:ph type="body" idx="4294967295"/>
          </p:nvPr>
        </p:nvSpPr>
        <p:spPr>
          <a:xfrm>
            <a:off x="2082800" y="4181475"/>
            <a:ext cx="1089025" cy="214313"/>
          </a:xfrm>
          <a:noFill/>
          <a:ln/>
        </p:spPr>
        <p:txBody>
          <a:bodyPr lIns="0" tIns="0" rIns="0" bIns="0"/>
          <a:lstStyle/>
          <a:p>
            <a:pPr marL="0" indent="0" defTabSz="457200">
              <a:lnSpc>
                <a:spcPct val="90000"/>
              </a:lnSpc>
              <a:spcBef>
                <a:spcPct val="0"/>
              </a:spcBef>
              <a:buClr>
                <a:srgbClr val="008280"/>
              </a:buClr>
              <a:buSzPct val="90000"/>
              <a:buFont typeface="Monotype Sorts" pitchFamily="2" charset="2"/>
              <a:buNone/>
            </a:pPr>
            <a:r>
              <a:rPr lang="en-US" sz="2000">
                <a:solidFill>
                  <a:srgbClr val="000000"/>
                </a:solidFill>
              </a:rPr>
              <a:t>1000 RPM</a:t>
            </a:r>
            <a:endParaRPr lang="en-US" sz="2000"/>
          </a:p>
        </p:txBody>
      </p:sp>
      <p:sp>
        <p:nvSpPr>
          <p:cNvPr id="915459" name="Freeform 3"/>
          <p:cNvSpPr>
            <a:spLocks/>
          </p:cNvSpPr>
          <p:nvPr/>
        </p:nvSpPr>
        <p:spPr bwMode="auto">
          <a:xfrm>
            <a:off x="2316163" y="3906838"/>
            <a:ext cx="1390650" cy="360362"/>
          </a:xfrm>
          <a:custGeom>
            <a:avLst/>
            <a:gdLst/>
            <a:ahLst/>
            <a:cxnLst>
              <a:cxn ang="0">
                <a:pos x="0" y="0"/>
              </a:cxn>
              <a:cxn ang="0">
                <a:pos x="53" y="66"/>
              </a:cxn>
              <a:cxn ang="0">
                <a:pos x="113" y="124"/>
              </a:cxn>
              <a:cxn ang="0">
                <a:pos x="178" y="174"/>
              </a:cxn>
              <a:cxn ang="0">
                <a:pos x="247" y="215"/>
              </a:cxn>
              <a:cxn ang="0">
                <a:pos x="318" y="249"/>
              </a:cxn>
              <a:cxn ang="0">
                <a:pos x="393" y="275"/>
              </a:cxn>
              <a:cxn ang="0">
                <a:pos x="471" y="293"/>
              </a:cxn>
              <a:cxn ang="0">
                <a:pos x="549" y="302"/>
              </a:cxn>
              <a:cxn ang="0">
                <a:pos x="627" y="303"/>
              </a:cxn>
              <a:cxn ang="0">
                <a:pos x="706" y="297"/>
              </a:cxn>
              <a:cxn ang="0">
                <a:pos x="783" y="282"/>
              </a:cxn>
              <a:cxn ang="0">
                <a:pos x="860" y="257"/>
              </a:cxn>
              <a:cxn ang="0">
                <a:pos x="934" y="225"/>
              </a:cxn>
              <a:cxn ang="0">
                <a:pos x="1005" y="184"/>
              </a:cxn>
              <a:cxn ang="0">
                <a:pos x="1072" y="136"/>
              </a:cxn>
              <a:cxn ang="0">
                <a:pos x="1135" y="77"/>
              </a:cxn>
            </a:cxnLst>
            <a:rect l="0" t="0" r="r" b="b"/>
            <a:pathLst>
              <a:path w="1136" h="304">
                <a:moveTo>
                  <a:pt x="0" y="0"/>
                </a:moveTo>
                <a:lnTo>
                  <a:pt x="53" y="66"/>
                </a:lnTo>
                <a:lnTo>
                  <a:pt x="113" y="124"/>
                </a:lnTo>
                <a:lnTo>
                  <a:pt x="178" y="174"/>
                </a:lnTo>
                <a:lnTo>
                  <a:pt x="247" y="215"/>
                </a:lnTo>
                <a:lnTo>
                  <a:pt x="318" y="249"/>
                </a:lnTo>
                <a:lnTo>
                  <a:pt x="393" y="275"/>
                </a:lnTo>
                <a:lnTo>
                  <a:pt x="471" y="293"/>
                </a:lnTo>
                <a:lnTo>
                  <a:pt x="549" y="302"/>
                </a:lnTo>
                <a:lnTo>
                  <a:pt x="627" y="303"/>
                </a:lnTo>
                <a:lnTo>
                  <a:pt x="706" y="297"/>
                </a:lnTo>
                <a:lnTo>
                  <a:pt x="783" y="282"/>
                </a:lnTo>
                <a:lnTo>
                  <a:pt x="860" y="257"/>
                </a:lnTo>
                <a:lnTo>
                  <a:pt x="934" y="225"/>
                </a:lnTo>
                <a:lnTo>
                  <a:pt x="1005" y="184"/>
                </a:lnTo>
                <a:lnTo>
                  <a:pt x="1072" y="136"/>
                </a:lnTo>
                <a:lnTo>
                  <a:pt x="1135" y="77"/>
                </a:lnTo>
              </a:path>
            </a:pathLst>
          </a:custGeom>
          <a:noFill/>
          <a:ln w="19050" cap="flat" cmpd="sng">
            <a:solidFill>
              <a:schemeClr val="tx1"/>
            </a:solidFill>
            <a:prstDash val="solid"/>
            <a:round/>
            <a:headEnd type="triangle" w="med" len="med"/>
            <a:tailEnd type="none" w="med" len="med"/>
          </a:ln>
          <a:effectLst/>
        </p:spPr>
        <p:txBody>
          <a:bodyPr/>
          <a:lstStyle/>
          <a:p>
            <a:endParaRPr lang="en-US"/>
          </a:p>
        </p:txBody>
      </p:sp>
      <p:grpSp>
        <p:nvGrpSpPr>
          <p:cNvPr id="915460" name="Group 4"/>
          <p:cNvGrpSpPr>
            <a:grpSpLocks/>
          </p:cNvGrpSpPr>
          <p:nvPr/>
        </p:nvGrpSpPr>
        <p:grpSpPr bwMode="auto">
          <a:xfrm>
            <a:off x="3024188" y="2662238"/>
            <a:ext cx="714375" cy="254000"/>
            <a:chOff x="1150" y="1838"/>
            <a:chExt cx="582" cy="214"/>
          </a:xfrm>
        </p:grpSpPr>
        <p:sp>
          <p:nvSpPr>
            <p:cNvPr id="915461" name="Freeform 5"/>
            <p:cNvSpPr>
              <a:spLocks/>
            </p:cNvSpPr>
            <p:nvPr/>
          </p:nvSpPr>
          <p:spPr bwMode="auto">
            <a:xfrm>
              <a:off x="1151" y="1838"/>
              <a:ext cx="579" cy="213"/>
            </a:xfrm>
            <a:custGeom>
              <a:avLst/>
              <a:gdLst/>
              <a:ahLst/>
              <a:cxnLst>
                <a:cxn ang="0">
                  <a:pos x="561" y="0"/>
                </a:cxn>
                <a:cxn ang="0">
                  <a:pos x="0" y="108"/>
                </a:cxn>
                <a:cxn ang="0">
                  <a:pos x="17" y="212"/>
                </a:cxn>
                <a:cxn ang="0">
                  <a:pos x="578" y="104"/>
                </a:cxn>
                <a:cxn ang="0">
                  <a:pos x="561" y="0"/>
                </a:cxn>
              </a:cxnLst>
              <a:rect l="0" t="0" r="r" b="b"/>
              <a:pathLst>
                <a:path w="579" h="213">
                  <a:moveTo>
                    <a:pt x="561" y="0"/>
                  </a:moveTo>
                  <a:lnTo>
                    <a:pt x="0" y="108"/>
                  </a:lnTo>
                  <a:lnTo>
                    <a:pt x="17" y="212"/>
                  </a:lnTo>
                  <a:lnTo>
                    <a:pt x="578" y="104"/>
                  </a:lnTo>
                  <a:lnTo>
                    <a:pt x="561" y="0"/>
                  </a:lnTo>
                </a:path>
              </a:pathLst>
            </a:custGeom>
            <a:solidFill>
              <a:srgbClr val="E1E1E1"/>
            </a:solidFill>
            <a:ln w="19050" cap="flat" cmpd="sng">
              <a:solidFill>
                <a:srgbClr val="000000"/>
              </a:solidFill>
              <a:prstDash val="solid"/>
              <a:round/>
              <a:headEnd type="none" w="med" len="med"/>
              <a:tailEnd type="none" w="med" len="med"/>
            </a:ln>
            <a:effectLst/>
          </p:spPr>
          <p:txBody>
            <a:bodyPr/>
            <a:lstStyle/>
            <a:p>
              <a:endParaRPr lang="en-US"/>
            </a:p>
          </p:txBody>
        </p:sp>
        <p:sp>
          <p:nvSpPr>
            <p:cNvPr id="915462" name="Oval 6"/>
            <p:cNvSpPr>
              <a:spLocks noChangeArrowheads="1"/>
            </p:cNvSpPr>
            <p:nvPr/>
          </p:nvSpPr>
          <p:spPr bwMode="auto">
            <a:xfrm rot="10500000">
              <a:off x="1150" y="1942"/>
              <a:ext cx="27" cy="110"/>
            </a:xfrm>
            <a:prstGeom prst="ellipse">
              <a:avLst/>
            </a:prstGeom>
            <a:solidFill>
              <a:srgbClr val="E1E1E1"/>
            </a:solidFill>
            <a:ln w="19050">
              <a:solidFill>
                <a:srgbClr val="000000"/>
              </a:solidFill>
              <a:round/>
              <a:headEnd/>
              <a:tailEnd/>
            </a:ln>
            <a:effectLst/>
          </p:spPr>
          <p:txBody>
            <a:bodyPr wrap="none" anchor="ctr"/>
            <a:lstStyle/>
            <a:p>
              <a:endParaRPr lang="en-US"/>
            </a:p>
          </p:txBody>
        </p:sp>
        <p:sp>
          <p:nvSpPr>
            <p:cNvPr id="915463" name="Oval 7"/>
            <p:cNvSpPr>
              <a:spLocks noChangeArrowheads="1"/>
            </p:cNvSpPr>
            <p:nvPr/>
          </p:nvSpPr>
          <p:spPr bwMode="auto">
            <a:xfrm rot="10500000">
              <a:off x="1704" y="1840"/>
              <a:ext cx="28" cy="106"/>
            </a:xfrm>
            <a:prstGeom prst="ellipse">
              <a:avLst/>
            </a:prstGeom>
            <a:solidFill>
              <a:srgbClr val="E1E1E1"/>
            </a:solidFill>
            <a:ln w="19050">
              <a:solidFill>
                <a:srgbClr val="000000"/>
              </a:solidFill>
              <a:round/>
              <a:headEnd/>
              <a:tailEnd/>
            </a:ln>
            <a:effectLst/>
          </p:spPr>
          <p:txBody>
            <a:bodyPr wrap="none" anchor="ctr"/>
            <a:lstStyle/>
            <a:p>
              <a:endParaRPr lang="en-US"/>
            </a:p>
          </p:txBody>
        </p:sp>
        <p:sp>
          <p:nvSpPr>
            <p:cNvPr id="915464" name="Freeform 8"/>
            <p:cNvSpPr>
              <a:spLocks/>
            </p:cNvSpPr>
            <p:nvPr/>
          </p:nvSpPr>
          <p:spPr bwMode="auto">
            <a:xfrm>
              <a:off x="1681" y="1841"/>
              <a:ext cx="44" cy="102"/>
            </a:xfrm>
            <a:custGeom>
              <a:avLst/>
              <a:gdLst/>
              <a:ahLst/>
              <a:cxnLst>
                <a:cxn ang="0">
                  <a:pos x="29" y="0"/>
                </a:cxn>
                <a:cxn ang="0">
                  <a:pos x="0" y="11"/>
                </a:cxn>
                <a:cxn ang="0">
                  <a:pos x="5" y="98"/>
                </a:cxn>
                <a:cxn ang="0">
                  <a:pos x="43" y="101"/>
                </a:cxn>
                <a:cxn ang="0">
                  <a:pos x="29" y="0"/>
                </a:cxn>
                <a:cxn ang="0">
                  <a:pos x="29" y="0"/>
                </a:cxn>
              </a:cxnLst>
              <a:rect l="0" t="0" r="r" b="b"/>
              <a:pathLst>
                <a:path w="44" h="102">
                  <a:moveTo>
                    <a:pt x="29" y="0"/>
                  </a:moveTo>
                  <a:lnTo>
                    <a:pt x="0" y="11"/>
                  </a:lnTo>
                  <a:lnTo>
                    <a:pt x="5" y="98"/>
                  </a:lnTo>
                  <a:lnTo>
                    <a:pt x="43" y="101"/>
                  </a:lnTo>
                  <a:lnTo>
                    <a:pt x="29" y="0"/>
                  </a:lnTo>
                  <a:lnTo>
                    <a:pt x="29" y="0"/>
                  </a:lnTo>
                </a:path>
              </a:pathLst>
            </a:custGeom>
            <a:solidFill>
              <a:srgbClr val="E1E1E1"/>
            </a:solidFill>
            <a:ln w="19050" cap="flat" cmpd="sng">
              <a:solidFill>
                <a:srgbClr val="FFFFFF"/>
              </a:solidFill>
              <a:prstDash val="solid"/>
              <a:round/>
              <a:headEnd type="none" w="med" len="med"/>
              <a:tailEnd type="none" w="med" len="med"/>
            </a:ln>
            <a:effectLst/>
          </p:spPr>
          <p:txBody>
            <a:bodyPr/>
            <a:lstStyle/>
            <a:p>
              <a:endParaRPr lang="en-US"/>
            </a:p>
          </p:txBody>
        </p:sp>
      </p:grpSp>
      <p:sp>
        <p:nvSpPr>
          <p:cNvPr id="915465" name="Freeform 9"/>
          <p:cNvSpPr>
            <a:spLocks/>
          </p:cNvSpPr>
          <p:nvPr/>
        </p:nvSpPr>
        <p:spPr bwMode="auto">
          <a:xfrm>
            <a:off x="2335213" y="2024063"/>
            <a:ext cx="687387" cy="801687"/>
          </a:xfrm>
          <a:custGeom>
            <a:avLst/>
            <a:gdLst/>
            <a:ahLst/>
            <a:cxnLst>
              <a:cxn ang="0">
                <a:pos x="560" y="612"/>
              </a:cxn>
              <a:cxn ang="0">
                <a:pos x="471" y="468"/>
              </a:cxn>
              <a:cxn ang="0">
                <a:pos x="372" y="301"/>
              </a:cxn>
              <a:cxn ang="0">
                <a:pos x="276" y="153"/>
              </a:cxn>
              <a:cxn ang="0">
                <a:pos x="196" y="65"/>
              </a:cxn>
              <a:cxn ang="0">
                <a:pos x="116" y="0"/>
              </a:cxn>
              <a:cxn ang="0">
                <a:pos x="68" y="0"/>
              </a:cxn>
              <a:cxn ang="0">
                <a:pos x="26" y="15"/>
              </a:cxn>
              <a:cxn ang="0">
                <a:pos x="0" y="62"/>
              </a:cxn>
              <a:cxn ang="0">
                <a:pos x="10" y="117"/>
              </a:cxn>
              <a:cxn ang="0">
                <a:pos x="53" y="212"/>
              </a:cxn>
              <a:cxn ang="0">
                <a:pos x="122" y="327"/>
              </a:cxn>
              <a:cxn ang="0">
                <a:pos x="270" y="469"/>
              </a:cxn>
              <a:cxn ang="0">
                <a:pos x="340" y="535"/>
              </a:cxn>
              <a:cxn ang="0">
                <a:pos x="491" y="675"/>
              </a:cxn>
              <a:cxn ang="0">
                <a:pos x="560" y="612"/>
              </a:cxn>
              <a:cxn ang="0">
                <a:pos x="560" y="612"/>
              </a:cxn>
            </a:cxnLst>
            <a:rect l="0" t="0" r="r" b="b"/>
            <a:pathLst>
              <a:path w="561" h="676">
                <a:moveTo>
                  <a:pt x="560" y="612"/>
                </a:moveTo>
                <a:lnTo>
                  <a:pt x="471" y="468"/>
                </a:lnTo>
                <a:lnTo>
                  <a:pt x="372" y="301"/>
                </a:lnTo>
                <a:lnTo>
                  <a:pt x="276" y="153"/>
                </a:lnTo>
                <a:lnTo>
                  <a:pt x="196" y="65"/>
                </a:lnTo>
                <a:lnTo>
                  <a:pt x="116" y="0"/>
                </a:lnTo>
                <a:lnTo>
                  <a:pt x="68" y="0"/>
                </a:lnTo>
                <a:lnTo>
                  <a:pt x="26" y="15"/>
                </a:lnTo>
                <a:lnTo>
                  <a:pt x="0" y="62"/>
                </a:lnTo>
                <a:lnTo>
                  <a:pt x="10" y="117"/>
                </a:lnTo>
                <a:lnTo>
                  <a:pt x="53" y="212"/>
                </a:lnTo>
                <a:lnTo>
                  <a:pt x="122" y="327"/>
                </a:lnTo>
                <a:lnTo>
                  <a:pt x="270" y="469"/>
                </a:lnTo>
                <a:lnTo>
                  <a:pt x="340" y="535"/>
                </a:lnTo>
                <a:lnTo>
                  <a:pt x="491" y="675"/>
                </a:lnTo>
                <a:lnTo>
                  <a:pt x="560" y="612"/>
                </a:lnTo>
                <a:lnTo>
                  <a:pt x="560" y="612"/>
                </a:lnTo>
              </a:path>
            </a:pathLst>
          </a:custGeom>
          <a:solidFill>
            <a:srgbClr val="E12000"/>
          </a:solidFill>
          <a:ln w="19050" cap="flat" cmpd="sng">
            <a:solidFill>
              <a:srgbClr val="000000"/>
            </a:solidFill>
            <a:prstDash val="solid"/>
            <a:round/>
            <a:headEnd type="none" w="med" len="med"/>
            <a:tailEnd type="none" w="med" len="med"/>
          </a:ln>
          <a:effectLst/>
        </p:spPr>
        <p:txBody>
          <a:bodyPr/>
          <a:lstStyle/>
          <a:p>
            <a:endParaRPr lang="en-US"/>
          </a:p>
        </p:txBody>
      </p:sp>
      <p:sp>
        <p:nvSpPr>
          <p:cNvPr id="915466" name="Freeform 10"/>
          <p:cNvSpPr>
            <a:spLocks/>
          </p:cNvSpPr>
          <p:nvPr/>
        </p:nvSpPr>
        <p:spPr bwMode="auto">
          <a:xfrm>
            <a:off x="3059113" y="2036763"/>
            <a:ext cx="687387" cy="803275"/>
          </a:xfrm>
          <a:custGeom>
            <a:avLst/>
            <a:gdLst/>
            <a:ahLst/>
            <a:cxnLst>
              <a:cxn ang="0">
                <a:pos x="0" y="612"/>
              </a:cxn>
              <a:cxn ang="0">
                <a:pos x="88" y="468"/>
              </a:cxn>
              <a:cxn ang="0">
                <a:pos x="188" y="301"/>
              </a:cxn>
              <a:cxn ang="0">
                <a:pos x="283" y="154"/>
              </a:cxn>
              <a:cxn ang="0">
                <a:pos x="364" y="66"/>
              </a:cxn>
              <a:cxn ang="0">
                <a:pos x="443" y="0"/>
              </a:cxn>
              <a:cxn ang="0">
                <a:pos x="492" y="0"/>
              </a:cxn>
              <a:cxn ang="0">
                <a:pos x="532" y="15"/>
              </a:cxn>
              <a:cxn ang="0">
                <a:pos x="560" y="62"/>
              </a:cxn>
              <a:cxn ang="0">
                <a:pos x="550" y="118"/>
              </a:cxn>
              <a:cxn ang="0">
                <a:pos x="507" y="212"/>
              </a:cxn>
              <a:cxn ang="0">
                <a:pos x="437" y="327"/>
              </a:cxn>
              <a:cxn ang="0">
                <a:pos x="290" y="470"/>
              </a:cxn>
              <a:cxn ang="0">
                <a:pos x="218" y="535"/>
              </a:cxn>
              <a:cxn ang="0">
                <a:pos x="68" y="675"/>
              </a:cxn>
              <a:cxn ang="0">
                <a:pos x="0" y="612"/>
              </a:cxn>
              <a:cxn ang="0">
                <a:pos x="0" y="612"/>
              </a:cxn>
            </a:cxnLst>
            <a:rect l="0" t="0" r="r" b="b"/>
            <a:pathLst>
              <a:path w="561" h="676">
                <a:moveTo>
                  <a:pt x="0" y="612"/>
                </a:moveTo>
                <a:lnTo>
                  <a:pt x="88" y="468"/>
                </a:lnTo>
                <a:lnTo>
                  <a:pt x="188" y="301"/>
                </a:lnTo>
                <a:lnTo>
                  <a:pt x="283" y="154"/>
                </a:lnTo>
                <a:lnTo>
                  <a:pt x="364" y="66"/>
                </a:lnTo>
                <a:lnTo>
                  <a:pt x="443" y="0"/>
                </a:lnTo>
                <a:lnTo>
                  <a:pt x="492" y="0"/>
                </a:lnTo>
                <a:lnTo>
                  <a:pt x="532" y="15"/>
                </a:lnTo>
                <a:lnTo>
                  <a:pt x="560" y="62"/>
                </a:lnTo>
                <a:lnTo>
                  <a:pt x="550" y="118"/>
                </a:lnTo>
                <a:lnTo>
                  <a:pt x="507" y="212"/>
                </a:lnTo>
                <a:lnTo>
                  <a:pt x="437" y="327"/>
                </a:lnTo>
                <a:lnTo>
                  <a:pt x="290" y="470"/>
                </a:lnTo>
                <a:lnTo>
                  <a:pt x="218" y="535"/>
                </a:lnTo>
                <a:lnTo>
                  <a:pt x="68" y="675"/>
                </a:lnTo>
                <a:lnTo>
                  <a:pt x="0" y="612"/>
                </a:lnTo>
                <a:lnTo>
                  <a:pt x="0" y="612"/>
                </a:lnTo>
              </a:path>
            </a:pathLst>
          </a:custGeom>
          <a:solidFill>
            <a:srgbClr val="E12000"/>
          </a:solidFill>
          <a:ln w="19050" cap="flat" cmpd="sng">
            <a:solidFill>
              <a:srgbClr val="000000"/>
            </a:solidFill>
            <a:prstDash val="solid"/>
            <a:round/>
            <a:headEnd type="none" w="med" len="med"/>
            <a:tailEnd type="none" w="med" len="med"/>
          </a:ln>
          <a:effectLst/>
        </p:spPr>
        <p:txBody>
          <a:bodyPr/>
          <a:lstStyle/>
          <a:p>
            <a:endParaRPr lang="en-US"/>
          </a:p>
        </p:txBody>
      </p:sp>
      <p:sp>
        <p:nvSpPr>
          <p:cNvPr id="915467" name="Freeform 11"/>
          <p:cNvSpPr>
            <a:spLocks/>
          </p:cNvSpPr>
          <p:nvPr/>
        </p:nvSpPr>
        <p:spPr bwMode="auto">
          <a:xfrm>
            <a:off x="3040063" y="2895600"/>
            <a:ext cx="685800" cy="803275"/>
          </a:xfrm>
          <a:custGeom>
            <a:avLst/>
            <a:gdLst/>
            <a:ahLst/>
            <a:cxnLst>
              <a:cxn ang="0">
                <a:pos x="0" y="63"/>
              </a:cxn>
              <a:cxn ang="0">
                <a:pos x="89" y="207"/>
              </a:cxn>
              <a:cxn ang="0">
                <a:pos x="189" y="374"/>
              </a:cxn>
              <a:cxn ang="0">
                <a:pos x="284" y="522"/>
              </a:cxn>
              <a:cxn ang="0">
                <a:pos x="364" y="609"/>
              </a:cxn>
              <a:cxn ang="0">
                <a:pos x="443" y="675"/>
              </a:cxn>
              <a:cxn ang="0">
                <a:pos x="493" y="676"/>
              </a:cxn>
              <a:cxn ang="0">
                <a:pos x="533" y="661"/>
              </a:cxn>
              <a:cxn ang="0">
                <a:pos x="560" y="613"/>
              </a:cxn>
              <a:cxn ang="0">
                <a:pos x="551" y="558"/>
              </a:cxn>
              <a:cxn ang="0">
                <a:pos x="508" y="463"/>
              </a:cxn>
              <a:cxn ang="0">
                <a:pos x="438" y="349"/>
              </a:cxn>
              <a:cxn ang="0">
                <a:pos x="289" y="206"/>
              </a:cxn>
              <a:cxn ang="0">
                <a:pos x="219" y="141"/>
              </a:cxn>
              <a:cxn ang="0">
                <a:pos x="69" y="0"/>
              </a:cxn>
              <a:cxn ang="0">
                <a:pos x="0" y="63"/>
              </a:cxn>
              <a:cxn ang="0">
                <a:pos x="0" y="63"/>
              </a:cxn>
            </a:cxnLst>
            <a:rect l="0" t="0" r="r" b="b"/>
            <a:pathLst>
              <a:path w="561" h="677">
                <a:moveTo>
                  <a:pt x="0" y="63"/>
                </a:moveTo>
                <a:lnTo>
                  <a:pt x="89" y="207"/>
                </a:lnTo>
                <a:lnTo>
                  <a:pt x="189" y="374"/>
                </a:lnTo>
                <a:lnTo>
                  <a:pt x="284" y="522"/>
                </a:lnTo>
                <a:lnTo>
                  <a:pt x="364" y="609"/>
                </a:lnTo>
                <a:lnTo>
                  <a:pt x="443" y="675"/>
                </a:lnTo>
                <a:lnTo>
                  <a:pt x="493" y="676"/>
                </a:lnTo>
                <a:lnTo>
                  <a:pt x="533" y="661"/>
                </a:lnTo>
                <a:lnTo>
                  <a:pt x="560" y="613"/>
                </a:lnTo>
                <a:lnTo>
                  <a:pt x="551" y="558"/>
                </a:lnTo>
                <a:lnTo>
                  <a:pt x="508" y="463"/>
                </a:lnTo>
                <a:lnTo>
                  <a:pt x="438" y="349"/>
                </a:lnTo>
                <a:lnTo>
                  <a:pt x="289" y="206"/>
                </a:lnTo>
                <a:lnTo>
                  <a:pt x="219" y="141"/>
                </a:lnTo>
                <a:lnTo>
                  <a:pt x="69" y="0"/>
                </a:lnTo>
                <a:lnTo>
                  <a:pt x="0" y="63"/>
                </a:lnTo>
                <a:lnTo>
                  <a:pt x="0" y="63"/>
                </a:lnTo>
              </a:path>
            </a:pathLst>
          </a:custGeom>
          <a:solidFill>
            <a:srgbClr val="E12000"/>
          </a:solidFill>
          <a:ln w="19050" cap="flat" cmpd="sng">
            <a:solidFill>
              <a:srgbClr val="000000"/>
            </a:solidFill>
            <a:prstDash val="solid"/>
            <a:round/>
            <a:headEnd type="none" w="med" len="med"/>
            <a:tailEnd type="none" w="med" len="med"/>
          </a:ln>
          <a:effectLst/>
        </p:spPr>
        <p:txBody>
          <a:bodyPr/>
          <a:lstStyle/>
          <a:p>
            <a:endParaRPr lang="en-US"/>
          </a:p>
        </p:txBody>
      </p:sp>
      <p:sp>
        <p:nvSpPr>
          <p:cNvPr id="915468" name="Freeform 12"/>
          <p:cNvSpPr>
            <a:spLocks/>
          </p:cNvSpPr>
          <p:nvPr/>
        </p:nvSpPr>
        <p:spPr bwMode="auto">
          <a:xfrm>
            <a:off x="2308225" y="2895600"/>
            <a:ext cx="687388" cy="803275"/>
          </a:xfrm>
          <a:custGeom>
            <a:avLst/>
            <a:gdLst/>
            <a:ahLst/>
            <a:cxnLst>
              <a:cxn ang="0">
                <a:pos x="560" y="63"/>
              </a:cxn>
              <a:cxn ang="0">
                <a:pos x="470" y="207"/>
              </a:cxn>
              <a:cxn ang="0">
                <a:pos x="372" y="374"/>
              </a:cxn>
              <a:cxn ang="0">
                <a:pos x="277" y="522"/>
              </a:cxn>
              <a:cxn ang="0">
                <a:pos x="196" y="609"/>
              </a:cxn>
              <a:cxn ang="0">
                <a:pos x="116" y="675"/>
              </a:cxn>
              <a:cxn ang="0">
                <a:pos x="68" y="676"/>
              </a:cxn>
              <a:cxn ang="0">
                <a:pos x="27" y="661"/>
              </a:cxn>
              <a:cxn ang="0">
                <a:pos x="0" y="613"/>
              </a:cxn>
              <a:cxn ang="0">
                <a:pos x="10" y="558"/>
              </a:cxn>
              <a:cxn ang="0">
                <a:pos x="53" y="463"/>
              </a:cxn>
              <a:cxn ang="0">
                <a:pos x="122" y="349"/>
              </a:cxn>
              <a:cxn ang="0">
                <a:pos x="270" y="206"/>
              </a:cxn>
              <a:cxn ang="0">
                <a:pos x="341" y="141"/>
              </a:cxn>
              <a:cxn ang="0">
                <a:pos x="492" y="0"/>
              </a:cxn>
              <a:cxn ang="0">
                <a:pos x="560" y="63"/>
              </a:cxn>
              <a:cxn ang="0">
                <a:pos x="560" y="63"/>
              </a:cxn>
            </a:cxnLst>
            <a:rect l="0" t="0" r="r" b="b"/>
            <a:pathLst>
              <a:path w="561" h="677">
                <a:moveTo>
                  <a:pt x="560" y="63"/>
                </a:moveTo>
                <a:lnTo>
                  <a:pt x="470" y="207"/>
                </a:lnTo>
                <a:lnTo>
                  <a:pt x="372" y="374"/>
                </a:lnTo>
                <a:lnTo>
                  <a:pt x="277" y="522"/>
                </a:lnTo>
                <a:lnTo>
                  <a:pt x="196" y="609"/>
                </a:lnTo>
                <a:lnTo>
                  <a:pt x="116" y="675"/>
                </a:lnTo>
                <a:lnTo>
                  <a:pt x="68" y="676"/>
                </a:lnTo>
                <a:lnTo>
                  <a:pt x="27" y="661"/>
                </a:lnTo>
                <a:lnTo>
                  <a:pt x="0" y="613"/>
                </a:lnTo>
                <a:lnTo>
                  <a:pt x="10" y="558"/>
                </a:lnTo>
                <a:lnTo>
                  <a:pt x="53" y="463"/>
                </a:lnTo>
                <a:lnTo>
                  <a:pt x="122" y="349"/>
                </a:lnTo>
                <a:lnTo>
                  <a:pt x="270" y="206"/>
                </a:lnTo>
                <a:lnTo>
                  <a:pt x="341" y="141"/>
                </a:lnTo>
                <a:lnTo>
                  <a:pt x="492" y="0"/>
                </a:lnTo>
                <a:lnTo>
                  <a:pt x="560" y="63"/>
                </a:lnTo>
                <a:lnTo>
                  <a:pt x="560" y="63"/>
                </a:lnTo>
              </a:path>
            </a:pathLst>
          </a:custGeom>
          <a:solidFill>
            <a:srgbClr val="E12000"/>
          </a:solidFill>
          <a:ln w="19050" cap="flat" cmpd="sng">
            <a:solidFill>
              <a:srgbClr val="000000"/>
            </a:solidFill>
            <a:prstDash val="solid"/>
            <a:round/>
            <a:headEnd type="none" w="med" len="med"/>
            <a:tailEnd type="none" w="med" len="med"/>
          </a:ln>
          <a:effectLst/>
        </p:spPr>
        <p:txBody>
          <a:bodyPr/>
          <a:lstStyle/>
          <a:p>
            <a:endParaRPr lang="en-US"/>
          </a:p>
        </p:txBody>
      </p:sp>
      <p:sp>
        <p:nvSpPr>
          <p:cNvPr id="915469" name="Freeform 13"/>
          <p:cNvSpPr>
            <a:spLocks/>
          </p:cNvSpPr>
          <p:nvPr/>
        </p:nvSpPr>
        <p:spPr bwMode="auto">
          <a:xfrm>
            <a:off x="2882900" y="2732088"/>
            <a:ext cx="93663" cy="111125"/>
          </a:xfrm>
          <a:custGeom>
            <a:avLst/>
            <a:gdLst/>
            <a:ahLst/>
            <a:cxnLst>
              <a:cxn ang="0">
                <a:pos x="3" y="0"/>
              </a:cxn>
              <a:cxn ang="0">
                <a:pos x="0" y="89"/>
              </a:cxn>
              <a:cxn ang="0">
                <a:pos x="75" y="93"/>
              </a:cxn>
              <a:cxn ang="0">
                <a:pos x="63" y="5"/>
              </a:cxn>
              <a:cxn ang="0">
                <a:pos x="3" y="3"/>
              </a:cxn>
              <a:cxn ang="0">
                <a:pos x="3" y="0"/>
              </a:cxn>
              <a:cxn ang="0">
                <a:pos x="3" y="0"/>
              </a:cxn>
            </a:cxnLst>
            <a:rect l="0" t="0" r="r" b="b"/>
            <a:pathLst>
              <a:path w="76" h="94">
                <a:moveTo>
                  <a:pt x="3" y="0"/>
                </a:moveTo>
                <a:lnTo>
                  <a:pt x="0" y="89"/>
                </a:lnTo>
                <a:lnTo>
                  <a:pt x="75" y="93"/>
                </a:lnTo>
                <a:lnTo>
                  <a:pt x="63" y="5"/>
                </a:lnTo>
                <a:lnTo>
                  <a:pt x="3" y="3"/>
                </a:lnTo>
                <a:lnTo>
                  <a:pt x="3" y="0"/>
                </a:lnTo>
                <a:lnTo>
                  <a:pt x="3" y="0"/>
                </a:lnTo>
              </a:path>
            </a:pathLst>
          </a:custGeom>
          <a:solidFill>
            <a:srgbClr val="E12000"/>
          </a:solidFill>
          <a:ln w="19050" cap="flat" cmpd="sng">
            <a:solidFill>
              <a:srgbClr val="E1E1E1"/>
            </a:solidFill>
            <a:prstDash val="solid"/>
            <a:round/>
            <a:headEnd type="none" w="med" len="med"/>
            <a:tailEnd type="none" w="med" len="med"/>
          </a:ln>
          <a:effectLst/>
        </p:spPr>
        <p:txBody>
          <a:bodyPr/>
          <a:lstStyle/>
          <a:p>
            <a:endParaRPr lang="en-US"/>
          </a:p>
        </p:txBody>
      </p:sp>
      <p:sp>
        <p:nvSpPr>
          <p:cNvPr id="915470" name="Line 14"/>
          <p:cNvSpPr>
            <a:spLocks noChangeShapeType="1"/>
          </p:cNvSpPr>
          <p:nvPr/>
        </p:nvSpPr>
        <p:spPr bwMode="auto">
          <a:xfrm>
            <a:off x="2827338" y="2725738"/>
            <a:ext cx="120650" cy="111125"/>
          </a:xfrm>
          <a:prstGeom prst="line">
            <a:avLst/>
          </a:prstGeom>
          <a:noFill/>
          <a:ln w="19050">
            <a:solidFill>
              <a:srgbClr val="000000"/>
            </a:solidFill>
            <a:round/>
            <a:headEnd/>
            <a:tailEnd/>
          </a:ln>
          <a:effectLst/>
        </p:spPr>
        <p:txBody>
          <a:bodyPr wrap="none" anchor="ctr"/>
          <a:lstStyle/>
          <a:p>
            <a:endParaRPr lang="en-US"/>
          </a:p>
        </p:txBody>
      </p:sp>
      <p:sp>
        <p:nvSpPr>
          <p:cNvPr id="915471" name="Oval 15"/>
          <p:cNvSpPr>
            <a:spLocks noChangeArrowheads="1"/>
          </p:cNvSpPr>
          <p:nvPr/>
        </p:nvSpPr>
        <p:spPr bwMode="auto">
          <a:xfrm>
            <a:off x="2916238" y="2744788"/>
            <a:ext cx="236537" cy="250825"/>
          </a:xfrm>
          <a:prstGeom prst="ellipse">
            <a:avLst/>
          </a:prstGeom>
          <a:solidFill>
            <a:srgbClr val="E12000"/>
          </a:solidFill>
          <a:ln w="19050">
            <a:solidFill>
              <a:srgbClr val="000000"/>
            </a:solidFill>
            <a:round/>
            <a:headEnd/>
            <a:tailEnd/>
          </a:ln>
          <a:effectLst/>
        </p:spPr>
        <p:txBody>
          <a:bodyPr wrap="none" anchor="ctr"/>
          <a:lstStyle/>
          <a:p>
            <a:endParaRPr lang="en-US"/>
          </a:p>
        </p:txBody>
      </p:sp>
      <p:grpSp>
        <p:nvGrpSpPr>
          <p:cNvPr id="915472" name="Group 16"/>
          <p:cNvGrpSpPr>
            <a:grpSpLocks/>
          </p:cNvGrpSpPr>
          <p:nvPr/>
        </p:nvGrpSpPr>
        <p:grpSpPr bwMode="auto">
          <a:xfrm>
            <a:off x="2378075" y="2811463"/>
            <a:ext cx="676275" cy="254000"/>
            <a:chOff x="621" y="1964"/>
            <a:chExt cx="553" cy="214"/>
          </a:xfrm>
        </p:grpSpPr>
        <p:sp>
          <p:nvSpPr>
            <p:cNvPr id="915473" name="Freeform 17"/>
            <p:cNvSpPr>
              <a:spLocks/>
            </p:cNvSpPr>
            <p:nvPr/>
          </p:nvSpPr>
          <p:spPr bwMode="auto">
            <a:xfrm>
              <a:off x="622" y="1964"/>
              <a:ext cx="547" cy="213"/>
            </a:xfrm>
            <a:custGeom>
              <a:avLst/>
              <a:gdLst/>
              <a:ahLst/>
              <a:cxnLst>
                <a:cxn ang="0">
                  <a:pos x="530" y="0"/>
                </a:cxn>
                <a:cxn ang="0">
                  <a:pos x="0" y="108"/>
                </a:cxn>
                <a:cxn ang="0">
                  <a:pos x="17" y="212"/>
                </a:cxn>
                <a:cxn ang="0">
                  <a:pos x="546" y="104"/>
                </a:cxn>
                <a:cxn ang="0">
                  <a:pos x="530" y="0"/>
                </a:cxn>
              </a:cxnLst>
              <a:rect l="0" t="0" r="r" b="b"/>
              <a:pathLst>
                <a:path w="547" h="213">
                  <a:moveTo>
                    <a:pt x="530" y="0"/>
                  </a:moveTo>
                  <a:lnTo>
                    <a:pt x="0" y="108"/>
                  </a:lnTo>
                  <a:lnTo>
                    <a:pt x="17" y="212"/>
                  </a:lnTo>
                  <a:lnTo>
                    <a:pt x="546" y="104"/>
                  </a:lnTo>
                  <a:lnTo>
                    <a:pt x="530" y="0"/>
                  </a:lnTo>
                </a:path>
              </a:pathLst>
            </a:custGeom>
            <a:solidFill>
              <a:srgbClr val="E1E1E1"/>
            </a:solidFill>
            <a:ln w="19050" cap="flat" cmpd="sng">
              <a:solidFill>
                <a:srgbClr val="000000"/>
              </a:solidFill>
              <a:prstDash val="solid"/>
              <a:round/>
              <a:headEnd type="none" w="med" len="med"/>
              <a:tailEnd type="none" w="med" len="med"/>
            </a:ln>
            <a:effectLst/>
          </p:spPr>
          <p:txBody>
            <a:bodyPr/>
            <a:lstStyle/>
            <a:p>
              <a:endParaRPr lang="en-US"/>
            </a:p>
          </p:txBody>
        </p:sp>
        <p:sp>
          <p:nvSpPr>
            <p:cNvPr id="915474" name="Oval 18"/>
            <p:cNvSpPr>
              <a:spLocks noChangeArrowheads="1"/>
            </p:cNvSpPr>
            <p:nvPr/>
          </p:nvSpPr>
          <p:spPr bwMode="auto">
            <a:xfrm rot="10620000">
              <a:off x="621" y="2068"/>
              <a:ext cx="24" cy="110"/>
            </a:xfrm>
            <a:prstGeom prst="ellipse">
              <a:avLst/>
            </a:prstGeom>
            <a:solidFill>
              <a:srgbClr val="E1E1E1"/>
            </a:solidFill>
            <a:ln w="19050">
              <a:solidFill>
                <a:srgbClr val="000000"/>
              </a:solidFill>
              <a:round/>
              <a:headEnd/>
              <a:tailEnd/>
            </a:ln>
            <a:effectLst/>
          </p:spPr>
          <p:txBody>
            <a:bodyPr wrap="none" anchor="ctr"/>
            <a:lstStyle/>
            <a:p>
              <a:endParaRPr lang="en-US"/>
            </a:p>
          </p:txBody>
        </p:sp>
        <p:sp>
          <p:nvSpPr>
            <p:cNvPr id="915475" name="Oval 19"/>
            <p:cNvSpPr>
              <a:spLocks noChangeArrowheads="1"/>
            </p:cNvSpPr>
            <p:nvPr/>
          </p:nvSpPr>
          <p:spPr bwMode="auto">
            <a:xfrm rot="10380000">
              <a:off x="1144" y="1966"/>
              <a:ext cx="30" cy="105"/>
            </a:xfrm>
            <a:prstGeom prst="ellipse">
              <a:avLst/>
            </a:prstGeom>
            <a:solidFill>
              <a:srgbClr val="E1E1E1"/>
            </a:solidFill>
            <a:ln w="19050">
              <a:solidFill>
                <a:srgbClr val="000000"/>
              </a:solidFill>
              <a:round/>
              <a:headEnd/>
              <a:tailEnd/>
            </a:ln>
            <a:effectLst/>
          </p:spPr>
          <p:txBody>
            <a:bodyPr wrap="none" anchor="ctr"/>
            <a:lstStyle/>
            <a:p>
              <a:endParaRPr lang="en-US"/>
            </a:p>
          </p:txBody>
        </p:sp>
        <p:sp>
          <p:nvSpPr>
            <p:cNvPr id="915476" name="Freeform 20"/>
            <p:cNvSpPr>
              <a:spLocks/>
            </p:cNvSpPr>
            <p:nvPr/>
          </p:nvSpPr>
          <p:spPr bwMode="auto">
            <a:xfrm>
              <a:off x="1124" y="1967"/>
              <a:ext cx="43" cy="102"/>
            </a:xfrm>
            <a:custGeom>
              <a:avLst/>
              <a:gdLst/>
              <a:ahLst/>
              <a:cxnLst>
                <a:cxn ang="0">
                  <a:pos x="27" y="0"/>
                </a:cxn>
                <a:cxn ang="0">
                  <a:pos x="0" y="11"/>
                </a:cxn>
                <a:cxn ang="0">
                  <a:pos x="6" y="98"/>
                </a:cxn>
                <a:cxn ang="0">
                  <a:pos x="42" y="101"/>
                </a:cxn>
                <a:cxn ang="0">
                  <a:pos x="27" y="0"/>
                </a:cxn>
                <a:cxn ang="0">
                  <a:pos x="27" y="0"/>
                </a:cxn>
              </a:cxnLst>
              <a:rect l="0" t="0" r="r" b="b"/>
              <a:pathLst>
                <a:path w="43" h="102">
                  <a:moveTo>
                    <a:pt x="27" y="0"/>
                  </a:moveTo>
                  <a:lnTo>
                    <a:pt x="0" y="11"/>
                  </a:lnTo>
                  <a:lnTo>
                    <a:pt x="6" y="98"/>
                  </a:lnTo>
                  <a:lnTo>
                    <a:pt x="42" y="101"/>
                  </a:lnTo>
                  <a:lnTo>
                    <a:pt x="27" y="0"/>
                  </a:lnTo>
                  <a:lnTo>
                    <a:pt x="27" y="0"/>
                  </a:lnTo>
                </a:path>
              </a:pathLst>
            </a:custGeom>
            <a:solidFill>
              <a:srgbClr val="E1E1E1"/>
            </a:solidFill>
            <a:ln w="19050" cap="flat" cmpd="sng">
              <a:solidFill>
                <a:srgbClr val="FFFFFF"/>
              </a:solidFill>
              <a:prstDash val="solid"/>
              <a:round/>
              <a:headEnd type="none" w="med" len="med"/>
              <a:tailEnd type="none" w="med" len="med"/>
            </a:ln>
            <a:effectLst/>
          </p:spPr>
          <p:txBody>
            <a:bodyPr/>
            <a:lstStyle/>
            <a:p>
              <a:endParaRPr lang="en-US"/>
            </a:p>
          </p:txBody>
        </p:sp>
      </p:grpSp>
      <p:grpSp>
        <p:nvGrpSpPr>
          <p:cNvPr id="915477" name="Group 21"/>
          <p:cNvGrpSpPr>
            <a:grpSpLocks/>
          </p:cNvGrpSpPr>
          <p:nvPr/>
        </p:nvGrpSpPr>
        <p:grpSpPr bwMode="auto">
          <a:xfrm>
            <a:off x="4678363" y="1371600"/>
            <a:ext cx="4465637" cy="3297238"/>
            <a:chOff x="2208" y="1054"/>
            <a:chExt cx="2813" cy="2077"/>
          </a:xfrm>
        </p:grpSpPr>
        <p:sp>
          <p:nvSpPr>
            <p:cNvPr id="915478" name="Line 22"/>
            <p:cNvSpPr>
              <a:spLocks noChangeShapeType="1"/>
            </p:cNvSpPr>
            <p:nvPr/>
          </p:nvSpPr>
          <p:spPr bwMode="auto">
            <a:xfrm>
              <a:off x="2553" y="1846"/>
              <a:ext cx="2007" cy="0"/>
            </a:xfrm>
            <a:prstGeom prst="line">
              <a:avLst/>
            </a:prstGeom>
            <a:noFill/>
            <a:ln w="19050">
              <a:solidFill>
                <a:srgbClr val="008280"/>
              </a:solidFill>
              <a:round/>
              <a:headEnd/>
              <a:tailEnd type="triangle" w="med" len="med"/>
            </a:ln>
            <a:effectLst/>
          </p:spPr>
          <p:txBody>
            <a:bodyPr wrap="none" anchor="ctr"/>
            <a:lstStyle/>
            <a:p>
              <a:endParaRPr lang="en-US"/>
            </a:p>
          </p:txBody>
        </p:sp>
        <p:sp>
          <p:nvSpPr>
            <p:cNvPr id="915479" name="Line 23"/>
            <p:cNvSpPr>
              <a:spLocks noChangeShapeType="1"/>
            </p:cNvSpPr>
            <p:nvPr/>
          </p:nvSpPr>
          <p:spPr bwMode="auto">
            <a:xfrm>
              <a:off x="2553" y="1155"/>
              <a:ext cx="0" cy="1377"/>
            </a:xfrm>
            <a:prstGeom prst="line">
              <a:avLst/>
            </a:prstGeom>
            <a:noFill/>
            <a:ln w="19050">
              <a:solidFill>
                <a:srgbClr val="008280"/>
              </a:solidFill>
              <a:round/>
              <a:headEnd/>
              <a:tailEnd/>
            </a:ln>
            <a:effectLst/>
          </p:spPr>
          <p:txBody>
            <a:bodyPr wrap="none" anchor="ctr"/>
            <a:lstStyle/>
            <a:p>
              <a:endParaRPr lang="en-US"/>
            </a:p>
          </p:txBody>
        </p:sp>
        <p:grpSp>
          <p:nvGrpSpPr>
            <p:cNvPr id="915480" name="Group 24"/>
            <p:cNvGrpSpPr>
              <a:grpSpLocks/>
            </p:cNvGrpSpPr>
            <p:nvPr/>
          </p:nvGrpSpPr>
          <p:grpSpPr bwMode="auto">
            <a:xfrm>
              <a:off x="2580" y="1248"/>
              <a:ext cx="416" cy="1193"/>
              <a:chOff x="2782" y="1414"/>
              <a:chExt cx="457" cy="1353"/>
            </a:xfrm>
          </p:grpSpPr>
          <p:sp>
            <p:nvSpPr>
              <p:cNvPr id="915481" name="Freeform 25"/>
              <p:cNvSpPr>
                <a:spLocks/>
              </p:cNvSpPr>
              <p:nvPr/>
            </p:nvSpPr>
            <p:spPr bwMode="auto">
              <a:xfrm>
                <a:off x="2782" y="1414"/>
                <a:ext cx="228" cy="672"/>
              </a:xfrm>
              <a:custGeom>
                <a:avLst/>
                <a:gdLst/>
                <a:ahLst/>
                <a:cxnLst>
                  <a:cxn ang="0">
                    <a:pos x="227" y="671"/>
                  </a:cxn>
                  <a:cxn ang="0">
                    <a:pos x="215" y="514"/>
                  </a:cxn>
                  <a:cxn ang="0">
                    <a:pos x="203" y="378"/>
                  </a:cxn>
                  <a:cxn ang="0">
                    <a:pos x="189" y="262"/>
                  </a:cxn>
                  <a:cxn ang="0">
                    <a:pos x="176" y="168"/>
                  </a:cxn>
                  <a:cxn ang="0">
                    <a:pos x="159" y="95"/>
                  </a:cxn>
                  <a:cxn ang="0">
                    <a:pos x="144" y="42"/>
                  </a:cxn>
                  <a:cxn ang="0">
                    <a:pos x="128" y="11"/>
                  </a:cxn>
                  <a:cxn ang="0">
                    <a:pos x="112" y="0"/>
                  </a:cxn>
                  <a:cxn ang="0">
                    <a:pos x="96" y="11"/>
                  </a:cxn>
                  <a:cxn ang="0">
                    <a:pos x="80" y="42"/>
                  </a:cxn>
                  <a:cxn ang="0">
                    <a:pos x="64" y="95"/>
                  </a:cxn>
                  <a:cxn ang="0">
                    <a:pos x="50" y="168"/>
                  </a:cxn>
                  <a:cxn ang="0">
                    <a:pos x="34" y="262"/>
                  </a:cxn>
                  <a:cxn ang="0">
                    <a:pos x="22" y="378"/>
                  </a:cxn>
                  <a:cxn ang="0">
                    <a:pos x="10" y="514"/>
                  </a:cxn>
                  <a:cxn ang="0">
                    <a:pos x="0" y="671"/>
                  </a:cxn>
                </a:cxnLst>
                <a:rect l="0" t="0" r="r" b="b"/>
                <a:pathLst>
                  <a:path w="228" h="672">
                    <a:moveTo>
                      <a:pt x="227" y="671"/>
                    </a:moveTo>
                    <a:lnTo>
                      <a:pt x="215" y="514"/>
                    </a:lnTo>
                    <a:lnTo>
                      <a:pt x="203" y="378"/>
                    </a:lnTo>
                    <a:lnTo>
                      <a:pt x="189" y="262"/>
                    </a:lnTo>
                    <a:lnTo>
                      <a:pt x="176" y="168"/>
                    </a:lnTo>
                    <a:lnTo>
                      <a:pt x="159" y="95"/>
                    </a:lnTo>
                    <a:lnTo>
                      <a:pt x="144" y="42"/>
                    </a:lnTo>
                    <a:lnTo>
                      <a:pt x="128" y="11"/>
                    </a:lnTo>
                    <a:lnTo>
                      <a:pt x="112" y="0"/>
                    </a:lnTo>
                    <a:lnTo>
                      <a:pt x="96" y="11"/>
                    </a:lnTo>
                    <a:lnTo>
                      <a:pt x="80" y="42"/>
                    </a:lnTo>
                    <a:lnTo>
                      <a:pt x="64" y="95"/>
                    </a:lnTo>
                    <a:lnTo>
                      <a:pt x="50" y="168"/>
                    </a:lnTo>
                    <a:lnTo>
                      <a:pt x="34" y="262"/>
                    </a:lnTo>
                    <a:lnTo>
                      <a:pt x="22" y="378"/>
                    </a:lnTo>
                    <a:lnTo>
                      <a:pt x="10" y="514"/>
                    </a:lnTo>
                    <a:lnTo>
                      <a:pt x="0" y="671"/>
                    </a:lnTo>
                  </a:path>
                </a:pathLst>
              </a:custGeom>
              <a:noFill/>
              <a:ln w="31750" cap="flat" cmpd="sng">
                <a:solidFill>
                  <a:srgbClr val="E12000"/>
                </a:solidFill>
                <a:prstDash val="solid"/>
                <a:round/>
                <a:headEnd type="none" w="med" len="med"/>
                <a:tailEnd type="none" w="med" len="med"/>
              </a:ln>
              <a:effectLst/>
            </p:spPr>
            <p:txBody>
              <a:bodyPr/>
              <a:lstStyle/>
              <a:p>
                <a:endParaRPr lang="en-US"/>
              </a:p>
            </p:txBody>
          </p:sp>
          <p:sp>
            <p:nvSpPr>
              <p:cNvPr id="915482" name="Freeform 26"/>
              <p:cNvSpPr>
                <a:spLocks/>
              </p:cNvSpPr>
              <p:nvPr/>
            </p:nvSpPr>
            <p:spPr bwMode="auto">
              <a:xfrm>
                <a:off x="3010" y="2095"/>
                <a:ext cx="229" cy="672"/>
              </a:xfrm>
              <a:custGeom>
                <a:avLst/>
                <a:gdLst/>
                <a:ahLst/>
                <a:cxnLst>
                  <a:cxn ang="0">
                    <a:pos x="228" y="0"/>
                  </a:cxn>
                  <a:cxn ang="0">
                    <a:pos x="216" y="158"/>
                  </a:cxn>
                  <a:cxn ang="0">
                    <a:pos x="204" y="294"/>
                  </a:cxn>
                  <a:cxn ang="0">
                    <a:pos x="190" y="410"/>
                  </a:cxn>
                  <a:cxn ang="0">
                    <a:pos x="176" y="504"/>
                  </a:cxn>
                  <a:cxn ang="0">
                    <a:pos x="160" y="578"/>
                  </a:cxn>
                  <a:cxn ang="0">
                    <a:pos x="145" y="630"/>
                  </a:cxn>
                  <a:cxn ang="0">
                    <a:pos x="128" y="661"/>
                  </a:cxn>
                  <a:cxn ang="0">
                    <a:pos x="113" y="671"/>
                  </a:cxn>
                  <a:cxn ang="0">
                    <a:pos x="96" y="661"/>
                  </a:cxn>
                  <a:cxn ang="0">
                    <a:pos x="80" y="630"/>
                  </a:cxn>
                  <a:cxn ang="0">
                    <a:pos x="64" y="578"/>
                  </a:cxn>
                  <a:cxn ang="0">
                    <a:pos x="50" y="504"/>
                  </a:cxn>
                  <a:cxn ang="0">
                    <a:pos x="35" y="410"/>
                  </a:cxn>
                  <a:cxn ang="0">
                    <a:pos x="22" y="294"/>
                  </a:cxn>
                  <a:cxn ang="0">
                    <a:pos x="10" y="158"/>
                  </a:cxn>
                  <a:cxn ang="0">
                    <a:pos x="0" y="0"/>
                  </a:cxn>
                </a:cxnLst>
                <a:rect l="0" t="0" r="r" b="b"/>
                <a:pathLst>
                  <a:path w="229" h="672">
                    <a:moveTo>
                      <a:pt x="228" y="0"/>
                    </a:moveTo>
                    <a:lnTo>
                      <a:pt x="216" y="158"/>
                    </a:lnTo>
                    <a:lnTo>
                      <a:pt x="204" y="294"/>
                    </a:lnTo>
                    <a:lnTo>
                      <a:pt x="190" y="410"/>
                    </a:lnTo>
                    <a:lnTo>
                      <a:pt x="176" y="504"/>
                    </a:lnTo>
                    <a:lnTo>
                      <a:pt x="160" y="578"/>
                    </a:lnTo>
                    <a:lnTo>
                      <a:pt x="145" y="630"/>
                    </a:lnTo>
                    <a:lnTo>
                      <a:pt x="128" y="661"/>
                    </a:lnTo>
                    <a:lnTo>
                      <a:pt x="113" y="671"/>
                    </a:lnTo>
                    <a:lnTo>
                      <a:pt x="96" y="661"/>
                    </a:lnTo>
                    <a:lnTo>
                      <a:pt x="80" y="630"/>
                    </a:lnTo>
                    <a:lnTo>
                      <a:pt x="64" y="578"/>
                    </a:lnTo>
                    <a:lnTo>
                      <a:pt x="50" y="504"/>
                    </a:lnTo>
                    <a:lnTo>
                      <a:pt x="35" y="410"/>
                    </a:lnTo>
                    <a:lnTo>
                      <a:pt x="22" y="294"/>
                    </a:lnTo>
                    <a:lnTo>
                      <a:pt x="10" y="158"/>
                    </a:lnTo>
                    <a:lnTo>
                      <a:pt x="0" y="0"/>
                    </a:lnTo>
                  </a:path>
                </a:pathLst>
              </a:custGeom>
              <a:noFill/>
              <a:ln w="31750" cap="flat" cmpd="sng">
                <a:solidFill>
                  <a:srgbClr val="E12000"/>
                </a:solidFill>
                <a:prstDash val="solid"/>
                <a:round/>
                <a:headEnd type="triangle" w="med" len="med"/>
                <a:tailEnd type="none" w="med" len="med"/>
              </a:ln>
              <a:effectLst/>
            </p:spPr>
            <p:txBody>
              <a:bodyPr/>
              <a:lstStyle/>
              <a:p>
                <a:endParaRPr lang="en-US"/>
              </a:p>
            </p:txBody>
          </p:sp>
        </p:grpSp>
        <p:sp>
          <p:nvSpPr>
            <p:cNvPr id="915483" name="Line 27"/>
            <p:cNvSpPr>
              <a:spLocks noChangeShapeType="1"/>
            </p:cNvSpPr>
            <p:nvPr/>
          </p:nvSpPr>
          <p:spPr bwMode="auto">
            <a:xfrm>
              <a:off x="2553" y="2837"/>
              <a:ext cx="1633" cy="0"/>
            </a:xfrm>
            <a:prstGeom prst="line">
              <a:avLst/>
            </a:prstGeom>
            <a:noFill/>
            <a:ln w="19050">
              <a:solidFill>
                <a:srgbClr val="008280"/>
              </a:solidFill>
              <a:round/>
              <a:headEnd/>
              <a:tailEnd/>
            </a:ln>
            <a:effectLst/>
          </p:spPr>
          <p:txBody>
            <a:bodyPr wrap="none" anchor="ctr"/>
            <a:lstStyle/>
            <a:p>
              <a:endParaRPr lang="en-US"/>
            </a:p>
          </p:txBody>
        </p:sp>
        <p:sp>
          <p:nvSpPr>
            <p:cNvPr id="915484" name="Line 28"/>
            <p:cNvSpPr>
              <a:spLocks noChangeShapeType="1"/>
            </p:cNvSpPr>
            <p:nvPr/>
          </p:nvSpPr>
          <p:spPr bwMode="auto">
            <a:xfrm>
              <a:off x="2553" y="2738"/>
              <a:ext cx="0" cy="198"/>
            </a:xfrm>
            <a:prstGeom prst="line">
              <a:avLst/>
            </a:prstGeom>
            <a:noFill/>
            <a:ln w="19050">
              <a:solidFill>
                <a:srgbClr val="008280"/>
              </a:solidFill>
              <a:round/>
              <a:headEnd/>
              <a:tailEnd/>
            </a:ln>
            <a:effectLst/>
          </p:spPr>
          <p:txBody>
            <a:bodyPr wrap="none" anchor="ctr"/>
            <a:lstStyle/>
            <a:p>
              <a:endParaRPr lang="en-US"/>
            </a:p>
          </p:txBody>
        </p:sp>
        <p:sp>
          <p:nvSpPr>
            <p:cNvPr id="915485" name="Line 29"/>
            <p:cNvSpPr>
              <a:spLocks noChangeShapeType="1"/>
            </p:cNvSpPr>
            <p:nvPr/>
          </p:nvSpPr>
          <p:spPr bwMode="auto">
            <a:xfrm>
              <a:off x="4186" y="2738"/>
              <a:ext cx="0" cy="198"/>
            </a:xfrm>
            <a:prstGeom prst="line">
              <a:avLst/>
            </a:prstGeom>
            <a:noFill/>
            <a:ln w="19050">
              <a:solidFill>
                <a:srgbClr val="008280"/>
              </a:solidFill>
              <a:round/>
              <a:headEnd/>
              <a:tailEnd/>
            </a:ln>
            <a:effectLst/>
          </p:spPr>
          <p:txBody>
            <a:bodyPr wrap="none" anchor="ctr"/>
            <a:lstStyle/>
            <a:p>
              <a:endParaRPr lang="en-US"/>
            </a:p>
          </p:txBody>
        </p:sp>
        <p:sp>
          <p:nvSpPr>
            <p:cNvPr id="915486" name="Text Box 30"/>
            <p:cNvSpPr txBox="1">
              <a:spLocks noChangeArrowheads="1"/>
            </p:cNvSpPr>
            <p:nvPr/>
          </p:nvSpPr>
          <p:spPr bwMode="auto">
            <a:xfrm>
              <a:off x="2859" y="2936"/>
              <a:ext cx="950" cy="19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800">
                  <a:solidFill>
                    <a:srgbClr val="000000"/>
                  </a:solidFill>
                  <a:latin typeface="Arial" pitchFamily="34" charset="0"/>
                </a:rPr>
                <a:t>1 revolution</a:t>
              </a:r>
              <a:endParaRPr lang="en-US" sz="1800">
                <a:latin typeface="Arial" pitchFamily="34" charset="0"/>
              </a:endParaRPr>
            </a:p>
          </p:txBody>
        </p:sp>
        <p:sp>
          <p:nvSpPr>
            <p:cNvPr id="915487" name="Text Box 31"/>
            <p:cNvSpPr txBox="1">
              <a:spLocks noChangeArrowheads="1"/>
            </p:cNvSpPr>
            <p:nvPr/>
          </p:nvSpPr>
          <p:spPr bwMode="auto">
            <a:xfrm>
              <a:off x="4608" y="1728"/>
              <a:ext cx="413" cy="194"/>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800">
                  <a:solidFill>
                    <a:srgbClr val="000000"/>
                  </a:solidFill>
                  <a:latin typeface="Arial" pitchFamily="34" charset="0"/>
                </a:rPr>
                <a:t>Time</a:t>
              </a:r>
              <a:endParaRPr lang="en-US" sz="1800">
                <a:latin typeface="Arial" pitchFamily="34" charset="0"/>
              </a:endParaRPr>
            </a:p>
          </p:txBody>
        </p:sp>
        <p:sp>
          <p:nvSpPr>
            <p:cNvPr id="915488" name="Text Box 32"/>
            <p:cNvSpPr txBox="1">
              <a:spLocks noChangeArrowheads="1"/>
            </p:cNvSpPr>
            <p:nvPr/>
          </p:nvSpPr>
          <p:spPr bwMode="auto">
            <a:xfrm rot="-5400000">
              <a:off x="1897" y="1751"/>
              <a:ext cx="818" cy="19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800">
                  <a:solidFill>
                    <a:srgbClr val="000000"/>
                  </a:solidFill>
                  <a:latin typeface="Arial" pitchFamily="34" charset="0"/>
                </a:rPr>
                <a:t>Amplitude</a:t>
              </a:r>
              <a:endParaRPr lang="en-US" sz="1800">
                <a:latin typeface="Arial" pitchFamily="34" charset="0"/>
              </a:endParaRPr>
            </a:p>
          </p:txBody>
        </p:sp>
        <p:sp>
          <p:nvSpPr>
            <p:cNvPr id="915489" name="Text Box 33"/>
            <p:cNvSpPr txBox="1">
              <a:spLocks noChangeArrowheads="1"/>
            </p:cNvSpPr>
            <p:nvPr/>
          </p:nvSpPr>
          <p:spPr bwMode="auto">
            <a:xfrm>
              <a:off x="2400" y="1747"/>
              <a:ext cx="108" cy="194"/>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0</a:t>
              </a:r>
              <a:endParaRPr lang="en-US" sz="1600">
                <a:latin typeface="Arial" pitchFamily="34" charset="0"/>
              </a:endParaRPr>
            </a:p>
          </p:txBody>
        </p:sp>
        <p:sp>
          <p:nvSpPr>
            <p:cNvPr id="915490" name="Text Box 34"/>
            <p:cNvSpPr txBox="1">
              <a:spLocks noChangeArrowheads="1"/>
            </p:cNvSpPr>
            <p:nvPr/>
          </p:nvSpPr>
          <p:spPr bwMode="auto">
            <a:xfrm>
              <a:off x="2400" y="1054"/>
              <a:ext cx="114" cy="194"/>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a:t>
              </a:r>
              <a:endParaRPr lang="en-US" sz="1600">
                <a:latin typeface="Arial" pitchFamily="34" charset="0"/>
              </a:endParaRPr>
            </a:p>
          </p:txBody>
        </p:sp>
        <p:sp>
          <p:nvSpPr>
            <p:cNvPr id="915491" name="Text Box 35"/>
            <p:cNvSpPr txBox="1">
              <a:spLocks noChangeArrowheads="1"/>
            </p:cNvSpPr>
            <p:nvPr/>
          </p:nvSpPr>
          <p:spPr bwMode="auto">
            <a:xfrm>
              <a:off x="2424" y="2342"/>
              <a:ext cx="98" cy="289"/>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a:t>
              </a:r>
              <a:endParaRPr lang="en-US" sz="1600">
                <a:latin typeface="Arial" pitchFamily="34" charset="0"/>
              </a:endParaRPr>
            </a:p>
          </p:txBody>
        </p:sp>
        <p:grpSp>
          <p:nvGrpSpPr>
            <p:cNvPr id="915492" name="Group 36"/>
            <p:cNvGrpSpPr>
              <a:grpSpLocks/>
            </p:cNvGrpSpPr>
            <p:nvPr/>
          </p:nvGrpSpPr>
          <p:grpSpPr bwMode="auto">
            <a:xfrm>
              <a:off x="3024" y="1262"/>
              <a:ext cx="415" cy="1194"/>
              <a:chOff x="3270" y="1430"/>
              <a:chExt cx="457" cy="1353"/>
            </a:xfrm>
          </p:grpSpPr>
          <p:sp>
            <p:nvSpPr>
              <p:cNvPr id="915493" name="Freeform 37"/>
              <p:cNvSpPr>
                <a:spLocks/>
              </p:cNvSpPr>
              <p:nvPr/>
            </p:nvSpPr>
            <p:spPr bwMode="auto">
              <a:xfrm>
                <a:off x="3270" y="1430"/>
                <a:ext cx="228" cy="671"/>
              </a:xfrm>
              <a:custGeom>
                <a:avLst/>
                <a:gdLst/>
                <a:ahLst/>
                <a:cxnLst>
                  <a:cxn ang="0">
                    <a:pos x="227" y="670"/>
                  </a:cxn>
                  <a:cxn ang="0">
                    <a:pos x="215" y="514"/>
                  </a:cxn>
                  <a:cxn ang="0">
                    <a:pos x="203" y="378"/>
                  </a:cxn>
                  <a:cxn ang="0">
                    <a:pos x="189" y="262"/>
                  </a:cxn>
                  <a:cxn ang="0">
                    <a:pos x="176" y="167"/>
                  </a:cxn>
                  <a:cxn ang="0">
                    <a:pos x="159" y="95"/>
                  </a:cxn>
                  <a:cxn ang="0">
                    <a:pos x="144" y="42"/>
                  </a:cxn>
                  <a:cxn ang="0">
                    <a:pos x="128" y="11"/>
                  </a:cxn>
                  <a:cxn ang="0">
                    <a:pos x="112" y="0"/>
                  </a:cxn>
                  <a:cxn ang="0">
                    <a:pos x="96" y="11"/>
                  </a:cxn>
                  <a:cxn ang="0">
                    <a:pos x="80" y="42"/>
                  </a:cxn>
                  <a:cxn ang="0">
                    <a:pos x="64" y="95"/>
                  </a:cxn>
                  <a:cxn ang="0">
                    <a:pos x="50" y="167"/>
                  </a:cxn>
                  <a:cxn ang="0">
                    <a:pos x="34" y="262"/>
                  </a:cxn>
                  <a:cxn ang="0">
                    <a:pos x="22" y="378"/>
                  </a:cxn>
                  <a:cxn ang="0">
                    <a:pos x="10" y="514"/>
                  </a:cxn>
                  <a:cxn ang="0">
                    <a:pos x="0" y="670"/>
                  </a:cxn>
                </a:cxnLst>
                <a:rect l="0" t="0" r="r" b="b"/>
                <a:pathLst>
                  <a:path w="228" h="671">
                    <a:moveTo>
                      <a:pt x="227" y="670"/>
                    </a:moveTo>
                    <a:lnTo>
                      <a:pt x="215" y="514"/>
                    </a:lnTo>
                    <a:lnTo>
                      <a:pt x="203" y="378"/>
                    </a:lnTo>
                    <a:lnTo>
                      <a:pt x="189" y="262"/>
                    </a:lnTo>
                    <a:lnTo>
                      <a:pt x="176" y="167"/>
                    </a:lnTo>
                    <a:lnTo>
                      <a:pt x="159" y="95"/>
                    </a:lnTo>
                    <a:lnTo>
                      <a:pt x="144" y="42"/>
                    </a:lnTo>
                    <a:lnTo>
                      <a:pt x="128" y="11"/>
                    </a:lnTo>
                    <a:lnTo>
                      <a:pt x="112" y="0"/>
                    </a:lnTo>
                    <a:lnTo>
                      <a:pt x="96" y="11"/>
                    </a:lnTo>
                    <a:lnTo>
                      <a:pt x="80" y="42"/>
                    </a:lnTo>
                    <a:lnTo>
                      <a:pt x="64" y="95"/>
                    </a:lnTo>
                    <a:lnTo>
                      <a:pt x="50" y="167"/>
                    </a:lnTo>
                    <a:lnTo>
                      <a:pt x="34" y="262"/>
                    </a:lnTo>
                    <a:lnTo>
                      <a:pt x="22" y="378"/>
                    </a:lnTo>
                    <a:lnTo>
                      <a:pt x="10" y="514"/>
                    </a:lnTo>
                    <a:lnTo>
                      <a:pt x="0" y="670"/>
                    </a:lnTo>
                  </a:path>
                </a:pathLst>
              </a:custGeom>
              <a:noFill/>
              <a:ln w="31750" cap="flat" cmpd="sng">
                <a:solidFill>
                  <a:srgbClr val="E12000"/>
                </a:solidFill>
                <a:prstDash val="solid"/>
                <a:round/>
                <a:headEnd type="none" w="med" len="med"/>
                <a:tailEnd type="none" w="med" len="med"/>
              </a:ln>
              <a:effectLst/>
            </p:spPr>
            <p:txBody>
              <a:bodyPr/>
              <a:lstStyle/>
              <a:p>
                <a:endParaRPr lang="en-US"/>
              </a:p>
            </p:txBody>
          </p:sp>
          <p:sp>
            <p:nvSpPr>
              <p:cNvPr id="915494" name="Freeform 38"/>
              <p:cNvSpPr>
                <a:spLocks/>
              </p:cNvSpPr>
              <p:nvPr/>
            </p:nvSpPr>
            <p:spPr bwMode="auto">
              <a:xfrm>
                <a:off x="3498" y="2110"/>
                <a:ext cx="229" cy="673"/>
              </a:xfrm>
              <a:custGeom>
                <a:avLst/>
                <a:gdLst/>
                <a:ahLst/>
                <a:cxnLst>
                  <a:cxn ang="0">
                    <a:pos x="228" y="0"/>
                  </a:cxn>
                  <a:cxn ang="0">
                    <a:pos x="216" y="159"/>
                  </a:cxn>
                  <a:cxn ang="0">
                    <a:pos x="204" y="295"/>
                  </a:cxn>
                  <a:cxn ang="0">
                    <a:pos x="190" y="410"/>
                  </a:cxn>
                  <a:cxn ang="0">
                    <a:pos x="176" y="504"/>
                  </a:cxn>
                  <a:cxn ang="0">
                    <a:pos x="160" y="579"/>
                  </a:cxn>
                  <a:cxn ang="0">
                    <a:pos x="145" y="630"/>
                  </a:cxn>
                  <a:cxn ang="0">
                    <a:pos x="128" y="662"/>
                  </a:cxn>
                  <a:cxn ang="0">
                    <a:pos x="113" y="672"/>
                  </a:cxn>
                  <a:cxn ang="0">
                    <a:pos x="96" y="662"/>
                  </a:cxn>
                  <a:cxn ang="0">
                    <a:pos x="80" y="630"/>
                  </a:cxn>
                  <a:cxn ang="0">
                    <a:pos x="64" y="579"/>
                  </a:cxn>
                  <a:cxn ang="0">
                    <a:pos x="50" y="504"/>
                  </a:cxn>
                  <a:cxn ang="0">
                    <a:pos x="35" y="410"/>
                  </a:cxn>
                  <a:cxn ang="0">
                    <a:pos x="22" y="295"/>
                  </a:cxn>
                  <a:cxn ang="0">
                    <a:pos x="10" y="159"/>
                  </a:cxn>
                  <a:cxn ang="0">
                    <a:pos x="0" y="0"/>
                  </a:cxn>
                </a:cxnLst>
                <a:rect l="0" t="0" r="r" b="b"/>
                <a:pathLst>
                  <a:path w="229" h="673">
                    <a:moveTo>
                      <a:pt x="228" y="0"/>
                    </a:moveTo>
                    <a:lnTo>
                      <a:pt x="216" y="159"/>
                    </a:lnTo>
                    <a:lnTo>
                      <a:pt x="204" y="295"/>
                    </a:lnTo>
                    <a:lnTo>
                      <a:pt x="190" y="410"/>
                    </a:lnTo>
                    <a:lnTo>
                      <a:pt x="176" y="504"/>
                    </a:lnTo>
                    <a:lnTo>
                      <a:pt x="160" y="579"/>
                    </a:lnTo>
                    <a:lnTo>
                      <a:pt x="145" y="630"/>
                    </a:lnTo>
                    <a:lnTo>
                      <a:pt x="128" y="662"/>
                    </a:lnTo>
                    <a:lnTo>
                      <a:pt x="113" y="672"/>
                    </a:lnTo>
                    <a:lnTo>
                      <a:pt x="96" y="662"/>
                    </a:lnTo>
                    <a:lnTo>
                      <a:pt x="80" y="630"/>
                    </a:lnTo>
                    <a:lnTo>
                      <a:pt x="64" y="579"/>
                    </a:lnTo>
                    <a:lnTo>
                      <a:pt x="50" y="504"/>
                    </a:lnTo>
                    <a:lnTo>
                      <a:pt x="35" y="410"/>
                    </a:lnTo>
                    <a:lnTo>
                      <a:pt x="22" y="295"/>
                    </a:lnTo>
                    <a:lnTo>
                      <a:pt x="10" y="159"/>
                    </a:lnTo>
                    <a:lnTo>
                      <a:pt x="0" y="0"/>
                    </a:lnTo>
                  </a:path>
                </a:pathLst>
              </a:custGeom>
              <a:noFill/>
              <a:ln w="31750" cap="flat" cmpd="sng">
                <a:solidFill>
                  <a:srgbClr val="E12000"/>
                </a:solidFill>
                <a:prstDash val="solid"/>
                <a:round/>
                <a:headEnd type="triangle" w="med" len="med"/>
                <a:tailEnd type="none" w="med" len="med"/>
              </a:ln>
              <a:effectLst/>
            </p:spPr>
            <p:txBody>
              <a:bodyPr/>
              <a:lstStyle/>
              <a:p>
                <a:endParaRPr lang="en-US"/>
              </a:p>
            </p:txBody>
          </p:sp>
        </p:grpSp>
        <p:grpSp>
          <p:nvGrpSpPr>
            <p:cNvPr id="915495" name="Group 39"/>
            <p:cNvGrpSpPr>
              <a:grpSpLocks/>
            </p:cNvGrpSpPr>
            <p:nvPr/>
          </p:nvGrpSpPr>
          <p:grpSpPr bwMode="auto">
            <a:xfrm>
              <a:off x="3465" y="1264"/>
              <a:ext cx="415" cy="1194"/>
              <a:chOff x="3755" y="1433"/>
              <a:chExt cx="457" cy="1353"/>
            </a:xfrm>
          </p:grpSpPr>
          <p:sp>
            <p:nvSpPr>
              <p:cNvPr id="915496" name="Freeform 40"/>
              <p:cNvSpPr>
                <a:spLocks/>
              </p:cNvSpPr>
              <p:nvPr/>
            </p:nvSpPr>
            <p:spPr bwMode="auto">
              <a:xfrm>
                <a:off x="3755" y="1433"/>
                <a:ext cx="228" cy="672"/>
              </a:xfrm>
              <a:custGeom>
                <a:avLst/>
                <a:gdLst/>
                <a:ahLst/>
                <a:cxnLst>
                  <a:cxn ang="0">
                    <a:pos x="227" y="671"/>
                  </a:cxn>
                  <a:cxn ang="0">
                    <a:pos x="215" y="514"/>
                  </a:cxn>
                  <a:cxn ang="0">
                    <a:pos x="203" y="378"/>
                  </a:cxn>
                  <a:cxn ang="0">
                    <a:pos x="190" y="262"/>
                  </a:cxn>
                  <a:cxn ang="0">
                    <a:pos x="176" y="167"/>
                  </a:cxn>
                  <a:cxn ang="0">
                    <a:pos x="160" y="95"/>
                  </a:cxn>
                  <a:cxn ang="0">
                    <a:pos x="145" y="42"/>
                  </a:cxn>
                  <a:cxn ang="0">
                    <a:pos x="128" y="11"/>
                  </a:cxn>
                  <a:cxn ang="0">
                    <a:pos x="113" y="0"/>
                  </a:cxn>
                  <a:cxn ang="0">
                    <a:pos x="96" y="11"/>
                  </a:cxn>
                  <a:cxn ang="0">
                    <a:pos x="80" y="42"/>
                  </a:cxn>
                  <a:cxn ang="0">
                    <a:pos x="64" y="95"/>
                  </a:cxn>
                  <a:cxn ang="0">
                    <a:pos x="50" y="167"/>
                  </a:cxn>
                  <a:cxn ang="0">
                    <a:pos x="35" y="262"/>
                  </a:cxn>
                  <a:cxn ang="0">
                    <a:pos x="22" y="378"/>
                  </a:cxn>
                  <a:cxn ang="0">
                    <a:pos x="10" y="514"/>
                  </a:cxn>
                  <a:cxn ang="0">
                    <a:pos x="0" y="671"/>
                  </a:cxn>
                </a:cxnLst>
                <a:rect l="0" t="0" r="r" b="b"/>
                <a:pathLst>
                  <a:path w="228" h="672">
                    <a:moveTo>
                      <a:pt x="227" y="671"/>
                    </a:moveTo>
                    <a:lnTo>
                      <a:pt x="215" y="514"/>
                    </a:lnTo>
                    <a:lnTo>
                      <a:pt x="203" y="378"/>
                    </a:lnTo>
                    <a:lnTo>
                      <a:pt x="190" y="262"/>
                    </a:lnTo>
                    <a:lnTo>
                      <a:pt x="176" y="167"/>
                    </a:lnTo>
                    <a:lnTo>
                      <a:pt x="160" y="95"/>
                    </a:lnTo>
                    <a:lnTo>
                      <a:pt x="145" y="42"/>
                    </a:lnTo>
                    <a:lnTo>
                      <a:pt x="128" y="11"/>
                    </a:lnTo>
                    <a:lnTo>
                      <a:pt x="113" y="0"/>
                    </a:lnTo>
                    <a:lnTo>
                      <a:pt x="96" y="11"/>
                    </a:lnTo>
                    <a:lnTo>
                      <a:pt x="80" y="42"/>
                    </a:lnTo>
                    <a:lnTo>
                      <a:pt x="64" y="95"/>
                    </a:lnTo>
                    <a:lnTo>
                      <a:pt x="50" y="167"/>
                    </a:lnTo>
                    <a:lnTo>
                      <a:pt x="35" y="262"/>
                    </a:lnTo>
                    <a:lnTo>
                      <a:pt x="22" y="378"/>
                    </a:lnTo>
                    <a:lnTo>
                      <a:pt x="10" y="514"/>
                    </a:lnTo>
                    <a:lnTo>
                      <a:pt x="0" y="671"/>
                    </a:lnTo>
                  </a:path>
                </a:pathLst>
              </a:custGeom>
              <a:noFill/>
              <a:ln w="31750" cap="flat" cmpd="sng">
                <a:solidFill>
                  <a:srgbClr val="E12000"/>
                </a:solidFill>
                <a:prstDash val="solid"/>
                <a:round/>
                <a:headEnd type="none" w="med" len="med"/>
                <a:tailEnd type="none" w="med" len="med"/>
              </a:ln>
              <a:effectLst/>
            </p:spPr>
            <p:txBody>
              <a:bodyPr/>
              <a:lstStyle/>
              <a:p>
                <a:endParaRPr lang="en-US"/>
              </a:p>
            </p:txBody>
          </p:sp>
          <p:sp>
            <p:nvSpPr>
              <p:cNvPr id="915497" name="Freeform 41"/>
              <p:cNvSpPr>
                <a:spLocks/>
              </p:cNvSpPr>
              <p:nvPr/>
            </p:nvSpPr>
            <p:spPr bwMode="auto">
              <a:xfrm>
                <a:off x="3984" y="2113"/>
                <a:ext cx="228" cy="673"/>
              </a:xfrm>
              <a:custGeom>
                <a:avLst/>
                <a:gdLst/>
                <a:ahLst/>
                <a:cxnLst>
                  <a:cxn ang="0">
                    <a:pos x="227" y="0"/>
                  </a:cxn>
                  <a:cxn ang="0">
                    <a:pos x="215" y="159"/>
                  </a:cxn>
                  <a:cxn ang="0">
                    <a:pos x="204" y="295"/>
                  </a:cxn>
                  <a:cxn ang="0">
                    <a:pos x="189" y="410"/>
                  </a:cxn>
                  <a:cxn ang="0">
                    <a:pos x="175" y="505"/>
                  </a:cxn>
                  <a:cxn ang="0">
                    <a:pos x="159" y="579"/>
                  </a:cxn>
                  <a:cxn ang="0">
                    <a:pos x="144" y="631"/>
                  </a:cxn>
                  <a:cxn ang="0">
                    <a:pos x="127" y="662"/>
                  </a:cxn>
                  <a:cxn ang="0">
                    <a:pos x="112" y="672"/>
                  </a:cxn>
                  <a:cxn ang="0">
                    <a:pos x="96" y="662"/>
                  </a:cxn>
                  <a:cxn ang="0">
                    <a:pos x="79" y="631"/>
                  </a:cxn>
                  <a:cxn ang="0">
                    <a:pos x="64" y="579"/>
                  </a:cxn>
                  <a:cxn ang="0">
                    <a:pos x="49" y="505"/>
                  </a:cxn>
                  <a:cxn ang="0">
                    <a:pos x="34" y="410"/>
                  </a:cxn>
                  <a:cxn ang="0">
                    <a:pos x="21" y="295"/>
                  </a:cxn>
                  <a:cxn ang="0">
                    <a:pos x="10" y="159"/>
                  </a:cxn>
                  <a:cxn ang="0">
                    <a:pos x="0" y="0"/>
                  </a:cxn>
                </a:cxnLst>
                <a:rect l="0" t="0" r="r" b="b"/>
                <a:pathLst>
                  <a:path w="228" h="673">
                    <a:moveTo>
                      <a:pt x="227" y="0"/>
                    </a:moveTo>
                    <a:lnTo>
                      <a:pt x="215" y="159"/>
                    </a:lnTo>
                    <a:lnTo>
                      <a:pt x="204" y="295"/>
                    </a:lnTo>
                    <a:lnTo>
                      <a:pt x="189" y="410"/>
                    </a:lnTo>
                    <a:lnTo>
                      <a:pt x="175" y="505"/>
                    </a:lnTo>
                    <a:lnTo>
                      <a:pt x="159" y="579"/>
                    </a:lnTo>
                    <a:lnTo>
                      <a:pt x="144" y="631"/>
                    </a:lnTo>
                    <a:lnTo>
                      <a:pt x="127" y="662"/>
                    </a:lnTo>
                    <a:lnTo>
                      <a:pt x="112" y="672"/>
                    </a:lnTo>
                    <a:lnTo>
                      <a:pt x="96" y="662"/>
                    </a:lnTo>
                    <a:lnTo>
                      <a:pt x="79" y="631"/>
                    </a:lnTo>
                    <a:lnTo>
                      <a:pt x="64" y="579"/>
                    </a:lnTo>
                    <a:lnTo>
                      <a:pt x="49" y="505"/>
                    </a:lnTo>
                    <a:lnTo>
                      <a:pt x="34" y="410"/>
                    </a:lnTo>
                    <a:lnTo>
                      <a:pt x="21" y="295"/>
                    </a:lnTo>
                    <a:lnTo>
                      <a:pt x="10" y="159"/>
                    </a:lnTo>
                    <a:lnTo>
                      <a:pt x="0" y="0"/>
                    </a:lnTo>
                  </a:path>
                </a:pathLst>
              </a:custGeom>
              <a:noFill/>
              <a:ln w="31750" cap="flat" cmpd="sng">
                <a:solidFill>
                  <a:srgbClr val="E12000"/>
                </a:solidFill>
                <a:prstDash val="solid"/>
                <a:round/>
                <a:headEnd type="triangle" w="med" len="med"/>
                <a:tailEnd type="none" w="med" len="med"/>
              </a:ln>
              <a:effectLst/>
            </p:spPr>
            <p:txBody>
              <a:bodyPr/>
              <a:lstStyle/>
              <a:p>
                <a:endParaRPr lang="en-US"/>
              </a:p>
            </p:txBody>
          </p:sp>
        </p:grpSp>
        <p:grpSp>
          <p:nvGrpSpPr>
            <p:cNvPr id="915498" name="Group 42"/>
            <p:cNvGrpSpPr>
              <a:grpSpLocks/>
            </p:cNvGrpSpPr>
            <p:nvPr/>
          </p:nvGrpSpPr>
          <p:grpSpPr bwMode="auto">
            <a:xfrm>
              <a:off x="3884" y="1262"/>
              <a:ext cx="415" cy="1194"/>
              <a:chOff x="4216" y="1430"/>
              <a:chExt cx="457" cy="1353"/>
            </a:xfrm>
          </p:grpSpPr>
          <p:sp>
            <p:nvSpPr>
              <p:cNvPr id="915499" name="Freeform 43"/>
              <p:cNvSpPr>
                <a:spLocks/>
              </p:cNvSpPr>
              <p:nvPr/>
            </p:nvSpPr>
            <p:spPr bwMode="auto">
              <a:xfrm>
                <a:off x="4216" y="1430"/>
                <a:ext cx="228" cy="671"/>
              </a:xfrm>
              <a:custGeom>
                <a:avLst/>
                <a:gdLst/>
                <a:ahLst/>
                <a:cxnLst>
                  <a:cxn ang="0">
                    <a:pos x="227" y="670"/>
                  </a:cxn>
                  <a:cxn ang="0">
                    <a:pos x="215" y="514"/>
                  </a:cxn>
                  <a:cxn ang="0">
                    <a:pos x="203" y="378"/>
                  </a:cxn>
                  <a:cxn ang="0">
                    <a:pos x="189" y="262"/>
                  </a:cxn>
                  <a:cxn ang="0">
                    <a:pos x="176" y="167"/>
                  </a:cxn>
                  <a:cxn ang="0">
                    <a:pos x="159" y="95"/>
                  </a:cxn>
                  <a:cxn ang="0">
                    <a:pos x="144" y="42"/>
                  </a:cxn>
                  <a:cxn ang="0">
                    <a:pos x="128" y="11"/>
                  </a:cxn>
                  <a:cxn ang="0">
                    <a:pos x="112" y="0"/>
                  </a:cxn>
                  <a:cxn ang="0">
                    <a:pos x="96" y="11"/>
                  </a:cxn>
                  <a:cxn ang="0">
                    <a:pos x="80" y="42"/>
                  </a:cxn>
                  <a:cxn ang="0">
                    <a:pos x="64" y="95"/>
                  </a:cxn>
                  <a:cxn ang="0">
                    <a:pos x="50" y="167"/>
                  </a:cxn>
                  <a:cxn ang="0">
                    <a:pos x="34" y="262"/>
                  </a:cxn>
                  <a:cxn ang="0">
                    <a:pos x="21" y="378"/>
                  </a:cxn>
                  <a:cxn ang="0">
                    <a:pos x="10" y="514"/>
                  </a:cxn>
                  <a:cxn ang="0">
                    <a:pos x="0" y="670"/>
                  </a:cxn>
                </a:cxnLst>
                <a:rect l="0" t="0" r="r" b="b"/>
                <a:pathLst>
                  <a:path w="228" h="671">
                    <a:moveTo>
                      <a:pt x="227" y="670"/>
                    </a:moveTo>
                    <a:lnTo>
                      <a:pt x="215" y="514"/>
                    </a:lnTo>
                    <a:lnTo>
                      <a:pt x="203" y="378"/>
                    </a:lnTo>
                    <a:lnTo>
                      <a:pt x="189" y="262"/>
                    </a:lnTo>
                    <a:lnTo>
                      <a:pt x="176" y="167"/>
                    </a:lnTo>
                    <a:lnTo>
                      <a:pt x="159" y="95"/>
                    </a:lnTo>
                    <a:lnTo>
                      <a:pt x="144" y="42"/>
                    </a:lnTo>
                    <a:lnTo>
                      <a:pt x="128" y="11"/>
                    </a:lnTo>
                    <a:lnTo>
                      <a:pt x="112" y="0"/>
                    </a:lnTo>
                    <a:lnTo>
                      <a:pt x="96" y="11"/>
                    </a:lnTo>
                    <a:lnTo>
                      <a:pt x="80" y="42"/>
                    </a:lnTo>
                    <a:lnTo>
                      <a:pt x="64" y="95"/>
                    </a:lnTo>
                    <a:lnTo>
                      <a:pt x="50" y="167"/>
                    </a:lnTo>
                    <a:lnTo>
                      <a:pt x="34" y="262"/>
                    </a:lnTo>
                    <a:lnTo>
                      <a:pt x="21" y="378"/>
                    </a:lnTo>
                    <a:lnTo>
                      <a:pt x="10" y="514"/>
                    </a:lnTo>
                    <a:lnTo>
                      <a:pt x="0" y="670"/>
                    </a:lnTo>
                  </a:path>
                </a:pathLst>
              </a:custGeom>
              <a:noFill/>
              <a:ln w="31750" cap="flat" cmpd="sng">
                <a:solidFill>
                  <a:srgbClr val="E12000"/>
                </a:solidFill>
                <a:prstDash val="solid"/>
                <a:round/>
                <a:headEnd type="none" w="med" len="med"/>
                <a:tailEnd type="none" w="med" len="med"/>
              </a:ln>
              <a:effectLst/>
            </p:spPr>
            <p:txBody>
              <a:bodyPr/>
              <a:lstStyle/>
              <a:p>
                <a:endParaRPr lang="en-US"/>
              </a:p>
            </p:txBody>
          </p:sp>
          <p:sp>
            <p:nvSpPr>
              <p:cNvPr id="915500" name="Freeform 44"/>
              <p:cNvSpPr>
                <a:spLocks/>
              </p:cNvSpPr>
              <p:nvPr/>
            </p:nvSpPr>
            <p:spPr bwMode="auto">
              <a:xfrm>
                <a:off x="4444" y="2110"/>
                <a:ext cx="229" cy="673"/>
              </a:xfrm>
              <a:custGeom>
                <a:avLst/>
                <a:gdLst/>
                <a:ahLst/>
                <a:cxnLst>
                  <a:cxn ang="0">
                    <a:pos x="228" y="0"/>
                  </a:cxn>
                  <a:cxn ang="0">
                    <a:pos x="216" y="159"/>
                  </a:cxn>
                  <a:cxn ang="0">
                    <a:pos x="204" y="295"/>
                  </a:cxn>
                  <a:cxn ang="0">
                    <a:pos x="190" y="410"/>
                  </a:cxn>
                  <a:cxn ang="0">
                    <a:pos x="176" y="504"/>
                  </a:cxn>
                  <a:cxn ang="0">
                    <a:pos x="160" y="579"/>
                  </a:cxn>
                  <a:cxn ang="0">
                    <a:pos x="145" y="630"/>
                  </a:cxn>
                  <a:cxn ang="0">
                    <a:pos x="128" y="662"/>
                  </a:cxn>
                  <a:cxn ang="0">
                    <a:pos x="113" y="672"/>
                  </a:cxn>
                  <a:cxn ang="0">
                    <a:pos x="96" y="662"/>
                  </a:cxn>
                  <a:cxn ang="0">
                    <a:pos x="80" y="630"/>
                  </a:cxn>
                  <a:cxn ang="0">
                    <a:pos x="64" y="579"/>
                  </a:cxn>
                  <a:cxn ang="0">
                    <a:pos x="50" y="504"/>
                  </a:cxn>
                  <a:cxn ang="0">
                    <a:pos x="35" y="410"/>
                  </a:cxn>
                  <a:cxn ang="0">
                    <a:pos x="22" y="295"/>
                  </a:cxn>
                  <a:cxn ang="0">
                    <a:pos x="10" y="159"/>
                  </a:cxn>
                  <a:cxn ang="0">
                    <a:pos x="0" y="0"/>
                  </a:cxn>
                </a:cxnLst>
                <a:rect l="0" t="0" r="r" b="b"/>
                <a:pathLst>
                  <a:path w="229" h="673">
                    <a:moveTo>
                      <a:pt x="228" y="0"/>
                    </a:moveTo>
                    <a:lnTo>
                      <a:pt x="216" y="159"/>
                    </a:lnTo>
                    <a:lnTo>
                      <a:pt x="204" y="295"/>
                    </a:lnTo>
                    <a:lnTo>
                      <a:pt x="190" y="410"/>
                    </a:lnTo>
                    <a:lnTo>
                      <a:pt x="176" y="504"/>
                    </a:lnTo>
                    <a:lnTo>
                      <a:pt x="160" y="579"/>
                    </a:lnTo>
                    <a:lnTo>
                      <a:pt x="145" y="630"/>
                    </a:lnTo>
                    <a:lnTo>
                      <a:pt x="128" y="662"/>
                    </a:lnTo>
                    <a:lnTo>
                      <a:pt x="113" y="672"/>
                    </a:lnTo>
                    <a:lnTo>
                      <a:pt x="96" y="662"/>
                    </a:lnTo>
                    <a:lnTo>
                      <a:pt x="80" y="630"/>
                    </a:lnTo>
                    <a:lnTo>
                      <a:pt x="64" y="579"/>
                    </a:lnTo>
                    <a:lnTo>
                      <a:pt x="50" y="504"/>
                    </a:lnTo>
                    <a:lnTo>
                      <a:pt x="35" y="410"/>
                    </a:lnTo>
                    <a:lnTo>
                      <a:pt x="22" y="295"/>
                    </a:lnTo>
                    <a:lnTo>
                      <a:pt x="10" y="159"/>
                    </a:lnTo>
                    <a:lnTo>
                      <a:pt x="0" y="0"/>
                    </a:lnTo>
                  </a:path>
                </a:pathLst>
              </a:custGeom>
              <a:noFill/>
              <a:ln w="31750" cap="flat" cmpd="sng">
                <a:solidFill>
                  <a:srgbClr val="E12000"/>
                </a:solidFill>
                <a:prstDash val="solid"/>
                <a:round/>
                <a:headEnd type="triangle" w="med" len="med"/>
                <a:tailEnd type="none" w="med" len="med"/>
              </a:ln>
              <a:effectLst/>
            </p:spPr>
            <p:txBody>
              <a:bodyPr/>
              <a:lstStyle/>
              <a:p>
                <a:endParaRPr lang="en-US"/>
              </a:p>
            </p:txBody>
          </p:sp>
        </p:grpSp>
      </p:grpSp>
      <p:sp>
        <p:nvSpPr>
          <p:cNvPr id="915501" name="Text Box 45"/>
          <p:cNvSpPr txBox="1">
            <a:spLocks noChangeArrowheads="1"/>
          </p:cNvSpPr>
          <p:nvPr/>
        </p:nvSpPr>
        <p:spPr bwMode="auto">
          <a:xfrm>
            <a:off x="1676400" y="4953000"/>
            <a:ext cx="6842125" cy="914400"/>
          </a:xfrm>
          <a:prstGeom prst="rect">
            <a:avLst/>
          </a:prstGeom>
          <a:noFill/>
          <a:ln w="9525">
            <a:noFill/>
            <a:miter lim="800000"/>
            <a:headEnd/>
            <a:tailEnd/>
          </a:ln>
          <a:effectLst/>
        </p:spPr>
        <p:txBody>
          <a:bodyPr lIns="0" tIns="0" rIns="0" bIns="0"/>
          <a:lstStyle/>
          <a:p>
            <a:pPr defTabSz="409575">
              <a:spcBef>
                <a:spcPct val="20000"/>
              </a:spcBef>
              <a:spcAft>
                <a:spcPct val="20000"/>
              </a:spcAft>
              <a:buClr>
                <a:srgbClr val="008280"/>
              </a:buClr>
              <a:buSzPct val="90000"/>
              <a:buFont typeface="Monotype Sorts" pitchFamily="2" charset="2"/>
              <a:buNone/>
            </a:pPr>
            <a:r>
              <a:rPr lang="en-US" sz="1800">
                <a:solidFill>
                  <a:srgbClr val="000000"/>
                </a:solidFill>
                <a:latin typeface="Arial" pitchFamily="34" charset="0"/>
              </a:rPr>
              <a:t>4 blades			=	Vibration occurs 4 times per revolution</a:t>
            </a:r>
          </a:p>
          <a:p>
            <a:pPr defTabSz="409575">
              <a:spcBef>
                <a:spcPct val="20000"/>
              </a:spcBef>
              <a:spcAft>
                <a:spcPct val="20000"/>
              </a:spcAft>
              <a:buClr>
                <a:srgbClr val="008280"/>
              </a:buClr>
              <a:buSzPct val="90000"/>
              <a:buFont typeface="Monotype Sorts" pitchFamily="2" charset="2"/>
              <a:buNone/>
            </a:pPr>
            <a:r>
              <a:rPr lang="en-US" sz="1800">
                <a:solidFill>
                  <a:srgbClr val="000000"/>
                </a:solidFill>
                <a:latin typeface="Arial" pitchFamily="34" charset="0"/>
              </a:rPr>
              <a:t>4 X 1000 RPM		=	Vibration occurs at 4000 cycles per minute</a:t>
            </a:r>
          </a:p>
          <a:p>
            <a:pPr defTabSz="409575">
              <a:spcBef>
                <a:spcPct val="20000"/>
              </a:spcBef>
              <a:spcAft>
                <a:spcPct val="20000"/>
              </a:spcAft>
              <a:buClr>
                <a:srgbClr val="008280"/>
              </a:buClr>
              <a:buSzPct val="90000"/>
              <a:buFont typeface="Monotype Sorts" pitchFamily="2" charset="2"/>
              <a:buNone/>
            </a:pPr>
            <a:r>
              <a:rPr lang="en-US" sz="1800">
                <a:solidFill>
                  <a:srgbClr val="000000"/>
                </a:solidFill>
                <a:latin typeface="Arial" pitchFamily="34" charset="0"/>
              </a:rPr>
              <a:t>					=	4000 CPM</a:t>
            </a:r>
            <a:endParaRPr lang="en-US" sz="2200">
              <a:latin typeface="Arial" pitchFamily="34" charset="0"/>
            </a:endParaRPr>
          </a:p>
        </p:txBody>
      </p:sp>
      <p:sp>
        <p:nvSpPr>
          <p:cNvPr id="915502" name="Rectangle 46"/>
          <p:cNvSpPr>
            <a:spLocks noGrp="1" noChangeArrowheads="1"/>
          </p:cNvSpPr>
          <p:nvPr>
            <p:ph type="title" idx="4294967295"/>
          </p:nvPr>
        </p:nvSpPr>
        <p:spPr>
          <a:xfrm>
            <a:off x="685800" y="390525"/>
            <a:ext cx="7772400" cy="828675"/>
          </a:xfrm>
        </p:spPr>
        <p:txBody>
          <a:bodyPr/>
          <a:lstStyle/>
          <a:p>
            <a:r>
              <a:rPr lang="en-US"/>
              <a:t>Time Waveform</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6482" name="Rectangle 1026"/>
          <p:cNvSpPr>
            <a:spLocks noGrp="1" noChangeArrowheads="1"/>
          </p:cNvSpPr>
          <p:nvPr>
            <p:ph type="body" idx="4294967295"/>
          </p:nvPr>
        </p:nvSpPr>
        <p:spPr>
          <a:xfrm>
            <a:off x="1920875" y="3317875"/>
            <a:ext cx="1001713" cy="446088"/>
          </a:xfrm>
          <a:noFill/>
          <a:ln/>
        </p:spPr>
        <p:txBody>
          <a:bodyPr lIns="0" tIns="0" rIns="0" bIns="0"/>
          <a:lstStyle/>
          <a:p>
            <a:pPr marL="0" indent="0" algn="ctr" defTabSz="457200">
              <a:lnSpc>
                <a:spcPct val="90000"/>
              </a:lnSpc>
              <a:spcBef>
                <a:spcPct val="0"/>
              </a:spcBef>
              <a:buClr>
                <a:srgbClr val="008280"/>
              </a:buClr>
              <a:buSzPct val="90000"/>
              <a:buFont typeface="Monotype Sorts" pitchFamily="2" charset="2"/>
              <a:buNone/>
            </a:pPr>
            <a:r>
              <a:rPr lang="en-US" sz="2000">
                <a:solidFill>
                  <a:srgbClr val="000000"/>
                </a:solidFill>
              </a:rPr>
              <a:t>12 tooth gear</a:t>
            </a:r>
            <a:endParaRPr lang="en-US" sz="2000"/>
          </a:p>
        </p:txBody>
      </p:sp>
      <p:grpSp>
        <p:nvGrpSpPr>
          <p:cNvPr id="916483" name="Group 1027"/>
          <p:cNvGrpSpPr>
            <a:grpSpLocks/>
          </p:cNvGrpSpPr>
          <p:nvPr/>
        </p:nvGrpSpPr>
        <p:grpSpPr bwMode="auto">
          <a:xfrm>
            <a:off x="2617788" y="2889250"/>
            <a:ext cx="387350" cy="1504950"/>
            <a:chOff x="805" y="1534"/>
            <a:chExt cx="341" cy="1361"/>
          </a:xfrm>
        </p:grpSpPr>
        <p:sp>
          <p:nvSpPr>
            <p:cNvPr id="916484" name="Line 1028"/>
            <p:cNvSpPr>
              <a:spLocks noChangeShapeType="1"/>
            </p:cNvSpPr>
            <p:nvPr/>
          </p:nvSpPr>
          <p:spPr bwMode="auto">
            <a:xfrm>
              <a:off x="922" y="1534"/>
              <a:ext cx="112" cy="0"/>
            </a:xfrm>
            <a:prstGeom prst="line">
              <a:avLst/>
            </a:prstGeom>
            <a:noFill/>
            <a:ln w="19050">
              <a:solidFill>
                <a:srgbClr val="008280"/>
              </a:solidFill>
              <a:round/>
              <a:headEnd/>
              <a:tailEnd/>
            </a:ln>
            <a:effectLst/>
          </p:spPr>
          <p:txBody>
            <a:bodyPr wrap="none" anchor="ctr"/>
            <a:lstStyle/>
            <a:p>
              <a:endParaRPr lang="en-US"/>
            </a:p>
          </p:txBody>
        </p:sp>
        <p:sp>
          <p:nvSpPr>
            <p:cNvPr id="916485" name="Line 1029"/>
            <p:cNvSpPr>
              <a:spLocks noChangeShapeType="1"/>
            </p:cNvSpPr>
            <p:nvPr/>
          </p:nvSpPr>
          <p:spPr bwMode="auto">
            <a:xfrm>
              <a:off x="1034" y="1534"/>
              <a:ext cx="112" cy="112"/>
            </a:xfrm>
            <a:prstGeom prst="line">
              <a:avLst/>
            </a:prstGeom>
            <a:noFill/>
            <a:ln w="19050">
              <a:solidFill>
                <a:srgbClr val="008280"/>
              </a:solidFill>
              <a:round/>
              <a:headEnd/>
              <a:tailEnd/>
            </a:ln>
            <a:effectLst/>
          </p:spPr>
          <p:txBody>
            <a:bodyPr wrap="none" anchor="ctr"/>
            <a:lstStyle/>
            <a:p>
              <a:endParaRPr lang="en-US"/>
            </a:p>
          </p:txBody>
        </p:sp>
        <p:sp>
          <p:nvSpPr>
            <p:cNvPr id="916486" name="Line 1030"/>
            <p:cNvSpPr>
              <a:spLocks noChangeShapeType="1"/>
            </p:cNvSpPr>
            <p:nvPr/>
          </p:nvSpPr>
          <p:spPr bwMode="auto">
            <a:xfrm flipH="1">
              <a:off x="809" y="1534"/>
              <a:ext cx="113" cy="112"/>
            </a:xfrm>
            <a:prstGeom prst="line">
              <a:avLst/>
            </a:prstGeom>
            <a:noFill/>
            <a:ln w="19050">
              <a:solidFill>
                <a:srgbClr val="008280"/>
              </a:solidFill>
              <a:round/>
              <a:headEnd/>
              <a:tailEnd/>
            </a:ln>
            <a:effectLst/>
          </p:spPr>
          <p:txBody>
            <a:bodyPr wrap="none" anchor="ctr"/>
            <a:lstStyle/>
            <a:p>
              <a:endParaRPr lang="en-US"/>
            </a:p>
          </p:txBody>
        </p:sp>
        <p:sp>
          <p:nvSpPr>
            <p:cNvPr id="916487" name="Line 1031"/>
            <p:cNvSpPr>
              <a:spLocks noChangeShapeType="1"/>
            </p:cNvSpPr>
            <p:nvPr/>
          </p:nvSpPr>
          <p:spPr bwMode="auto">
            <a:xfrm>
              <a:off x="917" y="2895"/>
              <a:ext cx="113" cy="0"/>
            </a:xfrm>
            <a:prstGeom prst="line">
              <a:avLst/>
            </a:prstGeom>
            <a:noFill/>
            <a:ln w="19050">
              <a:solidFill>
                <a:srgbClr val="008280"/>
              </a:solidFill>
              <a:round/>
              <a:headEnd/>
              <a:tailEnd/>
            </a:ln>
            <a:effectLst/>
          </p:spPr>
          <p:txBody>
            <a:bodyPr wrap="none" anchor="ctr"/>
            <a:lstStyle/>
            <a:p>
              <a:endParaRPr lang="en-US"/>
            </a:p>
          </p:txBody>
        </p:sp>
        <p:sp>
          <p:nvSpPr>
            <p:cNvPr id="916488" name="Line 1032"/>
            <p:cNvSpPr>
              <a:spLocks noChangeShapeType="1"/>
            </p:cNvSpPr>
            <p:nvPr/>
          </p:nvSpPr>
          <p:spPr bwMode="auto">
            <a:xfrm flipV="1">
              <a:off x="1030" y="2782"/>
              <a:ext cx="112" cy="113"/>
            </a:xfrm>
            <a:prstGeom prst="line">
              <a:avLst/>
            </a:prstGeom>
            <a:noFill/>
            <a:ln w="19050">
              <a:solidFill>
                <a:srgbClr val="008280"/>
              </a:solidFill>
              <a:round/>
              <a:headEnd/>
              <a:tailEnd/>
            </a:ln>
            <a:effectLst/>
          </p:spPr>
          <p:txBody>
            <a:bodyPr wrap="none" anchor="ctr"/>
            <a:lstStyle/>
            <a:p>
              <a:endParaRPr lang="en-US"/>
            </a:p>
          </p:txBody>
        </p:sp>
        <p:sp>
          <p:nvSpPr>
            <p:cNvPr id="916489" name="Line 1033"/>
            <p:cNvSpPr>
              <a:spLocks noChangeShapeType="1"/>
            </p:cNvSpPr>
            <p:nvPr/>
          </p:nvSpPr>
          <p:spPr bwMode="auto">
            <a:xfrm flipH="1" flipV="1">
              <a:off x="805" y="2782"/>
              <a:ext cx="112" cy="113"/>
            </a:xfrm>
            <a:prstGeom prst="line">
              <a:avLst/>
            </a:prstGeom>
            <a:noFill/>
            <a:ln w="19050">
              <a:solidFill>
                <a:srgbClr val="008280"/>
              </a:solidFill>
              <a:round/>
              <a:headEnd/>
              <a:tailEnd/>
            </a:ln>
            <a:effectLst/>
          </p:spPr>
          <p:txBody>
            <a:bodyPr wrap="none" anchor="ctr"/>
            <a:lstStyle/>
            <a:p>
              <a:endParaRPr lang="en-US"/>
            </a:p>
          </p:txBody>
        </p:sp>
      </p:grpSp>
      <p:grpSp>
        <p:nvGrpSpPr>
          <p:cNvPr id="916490" name="Group 1034"/>
          <p:cNvGrpSpPr>
            <a:grpSpLocks/>
          </p:cNvGrpSpPr>
          <p:nvPr/>
        </p:nvGrpSpPr>
        <p:grpSpPr bwMode="auto">
          <a:xfrm>
            <a:off x="2047875" y="3454400"/>
            <a:ext cx="1550988" cy="373063"/>
            <a:chOff x="306" y="2045"/>
            <a:chExt cx="1360" cy="338"/>
          </a:xfrm>
        </p:grpSpPr>
        <p:sp>
          <p:nvSpPr>
            <p:cNvPr id="916491" name="Line 1035"/>
            <p:cNvSpPr>
              <a:spLocks noChangeShapeType="1"/>
            </p:cNvSpPr>
            <p:nvPr/>
          </p:nvSpPr>
          <p:spPr bwMode="auto">
            <a:xfrm>
              <a:off x="1666" y="2156"/>
              <a:ext cx="0" cy="112"/>
            </a:xfrm>
            <a:prstGeom prst="line">
              <a:avLst/>
            </a:prstGeom>
            <a:noFill/>
            <a:ln w="19050">
              <a:solidFill>
                <a:srgbClr val="008280"/>
              </a:solidFill>
              <a:round/>
              <a:headEnd/>
              <a:tailEnd/>
            </a:ln>
            <a:effectLst/>
          </p:spPr>
          <p:txBody>
            <a:bodyPr wrap="none" anchor="ctr"/>
            <a:lstStyle/>
            <a:p>
              <a:endParaRPr lang="en-US"/>
            </a:p>
          </p:txBody>
        </p:sp>
        <p:sp>
          <p:nvSpPr>
            <p:cNvPr id="916492" name="Line 1036"/>
            <p:cNvSpPr>
              <a:spLocks noChangeShapeType="1"/>
            </p:cNvSpPr>
            <p:nvPr/>
          </p:nvSpPr>
          <p:spPr bwMode="auto">
            <a:xfrm flipH="1">
              <a:off x="1555" y="2268"/>
              <a:ext cx="111" cy="113"/>
            </a:xfrm>
            <a:prstGeom prst="line">
              <a:avLst/>
            </a:prstGeom>
            <a:noFill/>
            <a:ln w="19050">
              <a:solidFill>
                <a:srgbClr val="008280"/>
              </a:solidFill>
              <a:round/>
              <a:headEnd/>
              <a:tailEnd/>
            </a:ln>
            <a:effectLst/>
          </p:spPr>
          <p:txBody>
            <a:bodyPr wrap="none" anchor="ctr"/>
            <a:lstStyle/>
            <a:p>
              <a:endParaRPr lang="en-US"/>
            </a:p>
          </p:txBody>
        </p:sp>
        <p:sp>
          <p:nvSpPr>
            <p:cNvPr id="916493" name="Line 1037"/>
            <p:cNvSpPr>
              <a:spLocks noChangeShapeType="1"/>
            </p:cNvSpPr>
            <p:nvPr/>
          </p:nvSpPr>
          <p:spPr bwMode="auto">
            <a:xfrm flipH="1" flipV="1">
              <a:off x="1554" y="2045"/>
              <a:ext cx="112" cy="111"/>
            </a:xfrm>
            <a:prstGeom prst="line">
              <a:avLst/>
            </a:prstGeom>
            <a:noFill/>
            <a:ln w="19050">
              <a:solidFill>
                <a:srgbClr val="008280"/>
              </a:solidFill>
              <a:round/>
              <a:headEnd/>
              <a:tailEnd/>
            </a:ln>
            <a:effectLst/>
          </p:spPr>
          <p:txBody>
            <a:bodyPr wrap="none" anchor="ctr"/>
            <a:lstStyle/>
            <a:p>
              <a:endParaRPr lang="en-US"/>
            </a:p>
          </p:txBody>
        </p:sp>
        <p:sp>
          <p:nvSpPr>
            <p:cNvPr id="916494" name="Line 1038"/>
            <p:cNvSpPr>
              <a:spLocks noChangeShapeType="1"/>
            </p:cNvSpPr>
            <p:nvPr/>
          </p:nvSpPr>
          <p:spPr bwMode="auto">
            <a:xfrm>
              <a:off x="306" y="2160"/>
              <a:ext cx="0" cy="111"/>
            </a:xfrm>
            <a:prstGeom prst="line">
              <a:avLst/>
            </a:prstGeom>
            <a:noFill/>
            <a:ln w="19050">
              <a:solidFill>
                <a:srgbClr val="008280"/>
              </a:solidFill>
              <a:round/>
              <a:headEnd/>
              <a:tailEnd/>
            </a:ln>
            <a:effectLst/>
          </p:spPr>
          <p:txBody>
            <a:bodyPr wrap="none" anchor="ctr"/>
            <a:lstStyle/>
            <a:p>
              <a:endParaRPr lang="en-US"/>
            </a:p>
          </p:txBody>
        </p:sp>
        <p:sp>
          <p:nvSpPr>
            <p:cNvPr id="916495" name="Line 1039"/>
            <p:cNvSpPr>
              <a:spLocks noChangeShapeType="1"/>
            </p:cNvSpPr>
            <p:nvPr/>
          </p:nvSpPr>
          <p:spPr bwMode="auto">
            <a:xfrm>
              <a:off x="306" y="2271"/>
              <a:ext cx="113" cy="112"/>
            </a:xfrm>
            <a:prstGeom prst="line">
              <a:avLst/>
            </a:prstGeom>
            <a:noFill/>
            <a:ln w="19050">
              <a:solidFill>
                <a:srgbClr val="008280"/>
              </a:solidFill>
              <a:round/>
              <a:headEnd/>
              <a:tailEnd/>
            </a:ln>
            <a:effectLst/>
          </p:spPr>
          <p:txBody>
            <a:bodyPr wrap="none" anchor="ctr"/>
            <a:lstStyle/>
            <a:p>
              <a:endParaRPr lang="en-US"/>
            </a:p>
          </p:txBody>
        </p:sp>
        <p:sp>
          <p:nvSpPr>
            <p:cNvPr id="916496" name="Line 1040"/>
            <p:cNvSpPr>
              <a:spLocks noChangeShapeType="1"/>
            </p:cNvSpPr>
            <p:nvPr/>
          </p:nvSpPr>
          <p:spPr bwMode="auto">
            <a:xfrm flipV="1">
              <a:off x="306" y="2047"/>
              <a:ext cx="112" cy="113"/>
            </a:xfrm>
            <a:prstGeom prst="line">
              <a:avLst/>
            </a:prstGeom>
            <a:noFill/>
            <a:ln w="19050">
              <a:solidFill>
                <a:srgbClr val="008280"/>
              </a:solidFill>
              <a:round/>
              <a:headEnd/>
              <a:tailEnd/>
            </a:ln>
            <a:effectLst/>
          </p:spPr>
          <p:txBody>
            <a:bodyPr wrap="none" anchor="ctr"/>
            <a:lstStyle/>
            <a:p>
              <a:endParaRPr lang="en-US"/>
            </a:p>
          </p:txBody>
        </p:sp>
      </p:grpSp>
      <p:grpSp>
        <p:nvGrpSpPr>
          <p:cNvPr id="916497" name="Group 1041"/>
          <p:cNvGrpSpPr>
            <a:grpSpLocks/>
          </p:cNvGrpSpPr>
          <p:nvPr/>
        </p:nvGrpSpPr>
        <p:grpSpPr bwMode="auto">
          <a:xfrm>
            <a:off x="2125663" y="3152775"/>
            <a:ext cx="1389062" cy="971550"/>
            <a:chOff x="374" y="1773"/>
            <a:chExt cx="1218" cy="878"/>
          </a:xfrm>
        </p:grpSpPr>
        <p:sp>
          <p:nvSpPr>
            <p:cNvPr id="916498" name="Line 1042"/>
            <p:cNvSpPr>
              <a:spLocks noChangeShapeType="1"/>
            </p:cNvSpPr>
            <p:nvPr/>
          </p:nvSpPr>
          <p:spPr bwMode="auto">
            <a:xfrm>
              <a:off x="1534" y="1809"/>
              <a:ext cx="58" cy="96"/>
            </a:xfrm>
            <a:prstGeom prst="line">
              <a:avLst/>
            </a:prstGeom>
            <a:noFill/>
            <a:ln w="19050">
              <a:solidFill>
                <a:srgbClr val="008280"/>
              </a:solidFill>
              <a:round/>
              <a:headEnd/>
              <a:tailEnd/>
            </a:ln>
            <a:effectLst/>
          </p:spPr>
          <p:txBody>
            <a:bodyPr wrap="none" anchor="ctr"/>
            <a:lstStyle/>
            <a:p>
              <a:endParaRPr lang="en-US"/>
            </a:p>
          </p:txBody>
        </p:sp>
        <p:sp>
          <p:nvSpPr>
            <p:cNvPr id="916499" name="Line 1043"/>
            <p:cNvSpPr>
              <a:spLocks noChangeShapeType="1"/>
            </p:cNvSpPr>
            <p:nvPr/>
          </p:nvSpPr>
          <p:spPr bwMode="auto">
            <a:xfrm flipH="1">
              <a:off x="1556" y="1905"/>
              <a:ext cx="36" cy="154"/>
            </a:xfrm>
            <a:prstGeom prst="line">
              <a:avLst/>
            </a:prstGeom>
            <a:noFill/>
            <a:ln w="19050">
              <a:solidFill>
                <a:srgbClr val="008280"/>
              </a:solidFill>
              <a:round/>
              <a:headEnd/>
              <a:tailEnd/>
            </a:ln>
            <a:effectLst/>
          </p:spPr>
          <p:txBody>
            <a:bodyPr wrap="none" anchor="ctr"/>
            <a:lstStyle/>
            <a:p>
              <a:endParaRPr lang="en-US"/>
            </a:p>
          </p:txBody>
        </p:sp>
        <p:sp>
          <p:nvSpPr>
            <p:cNvPr id="916500" name="Line 1044"/>
            <p:cNvSpPr>
              <a:spLocks noChangeShapeType="1"/>
            </p:cNvSpPr>
            <p:nvPr/>
          </p:nvSpPr>
          <p:spPr bwMode="auto">
            <a:xfrm flipH="1" flipV="1">
              <a:off x="1380" y="1773"/>
              <a:ext cx="154" cy="36"/>
            </a:xfrm>
            <a:prstGeom prst="line">
              <a:avLst/>
            </a:prstGeom>
            <a:noFill/>
            <a:ln w="19050">
              <a:solidFill>
                <a:srgbClr val="008280"/>
              </a:solidFill>
              <a:round/>
              <a:headEnd/>
              <a:tailEnd/>
            </a:ln>
            <a:effectLst/>
          </p:spPr>
          <p:txBody>
            <a:bodyPr wrap="none" anchor="ctr"/>
            <a:lstStyle/>
            <a:p>
              <a:endParaRPr lang="en-US"/>
            </a:p>
          </p:txBody>
        </p:sp>
        <p:sp>
          <p:nvSpPr>
            <p:cNvPr id="916501" name="Line 1045"/>
            <p:cNvSpPr>
              <a:spLocks noChangeShapeType="1"/>
            </p:cNvSpPr>
            <p:nvPr/>
          </p:nvSpPr>
          <p:spPr bwMode="auto">
            <a:xfrm>
              <a:off x="374" y="2518"/>
              <a:ext cx="58" cy="95"/>
            </a:xfrm>
            <a:prstGeom prst="line">
              <a:avLst/>
            </a:prstGeom>
            <a:noFill/>
            <a:ln w="19050">
              <a:solidFill>
                <a:srgbClr val="008280"/>
              </a:solidFill>
              <a:round/>
              <a:headEnd/>
              <a:tailEnd/>
            </a:ln>
            <a:effectLst/>
          </p:spPr>
          <p:txBody>
            <a:bodyPr wrap="none" anchor="ctr"/>
            <a:lstStyle/>
            <a:p>
              <a:endParaRPr lang="en-US"/>
            </a:p>
          </p:txBody>
        </p:sp>
        <p:sp>
          <p:nvSpPr>
            <p:cNvPr id="916502" name="Line 1046"/>
            <p:cNvSpPr>
              <a:spLocks noChangeShapeType="1"/>
            </p:cNvSpPr>
            <p:nvPr/>
          </p:nvSpPr>
          <p:spPr bwMode="auto">
            <a:xfrm>
              <a:off x="432" y="2613"/>
              <a:ext cx="156" cy="38"/>
            </a:xfrm>
            <a:prstGeom prst="line">
              <a:avLst/>
            </a:prstGeom>
            <a:noFill/>
            <a:ln w="19050">
              <a:solidFill>
                <a:srgbClr val="008280"/>
              </a:solidFill>
              <a:round/>
              <a:headEnd/>
              <a:tailEnd/>
            </a:ln>
            <a:effectLst/>
          </p:spPr>
          <p:txBody>
            <a:bodyPr wrap="none" anchor="ctr"/>
            <a:lstStyle/>
            <a:p>
              <a:endParaRPr lang="en-US"/>
            </a:p>
          </p:txBody>
        </p:sp>
        <p:sp>
          <p:nvSpPr>
            <p:cNvPr id="916503" name="Line 1047"/>
            <p:cNvSpPr>
              <a:spLocks noChangeShapeType="1"/>
            </p:cNvSpPr>
            <p:nvPr/>
          </p:nvSpPr>
          <p:spPr bwMode="auto">
            <a:xfrm flipV="1">
              <a:off x="374" y="2363"/>
              <a:ext cx="36" cy="155"/>
            </a:xfrm>
            <a:prstGeom prst="line">
              <a:avLst/>
            </a:prstGeom>
            <a:noFill/>
            <a:ln w="19050">
              <a:solidFill>
                <a:srgbClr val="008280"/>
              </a:solidFill>
              <a:round/>
              <a:headEnd/>
              <a:tailEnd/>
            </a:ln>
            <a:effectLst/>
          </p:spPr>
          <p:txBody>
            <a:bodyPr wrap="none" anchor="ctr"/>
            <a:lstStyle/>
            <a:p>
              <a:endParaRPr lang="en-US"/>
            </a:p>
          </p:txBody>
        </p:sp>
      </p:grpSp>
      <p:grpSp>
        <p:nvGrpSpPr>
          <p:cNvPr id="916504" name="Group 1048"/>
          <p:cNvGrpSpPr>
            <a:grpSpLocks/>
          </p:cNvGrpSpPr>
          <p:nvPr/>
        </p:nvGrpSpPr>
        <p:grpSpPr bwMode="auto">
          <a:xfrm>
            <a:off x="2319338" y="2960688"/>
            <a:ext cx="995362" cy="1354137"/>
            <a:chOff x="543" y="1599"/>
            <a:chExt cx="873" cy="1225"/>
          </a:xfrm>
        </p:grpSpPr>
        <p:sp>
          <p:nvSpPr>
            <p:cNvPr id="916505" name="Line 1049"/>
            <p:cNvSpPr>
              <a:spLocks noChangeShapeType="1"/>
            </p:cNvSpPr>
            <p:nvPr/>
          </p:nvSpPr>
          <p:spPr bwMode="auto">
            <a:xfrm>
              <a:off x="1280" y="1599"/>
              <a:ext cx="96" cy="58"/>
            </a:xfrm>
            <a:prstGeom prst="line">
              <a:avLst/>
            </a:prstGeom>
            <a:noFill/>
            <a:ln w="19050">
              <a:solidFill>
                <a:srgbClr val="008280"/>
              </a:solidFill>
              <a:round/>
              <a:headEnd/>
              <a:tailEnd/>
            </a:ln>
            <a:effectLst/>
          </p:spPr>
          <p:txBody>
            <a:bodyPr wrap="none" anchor="ctr"/>
            <a:lstStyle/>
            <a:p>
              <a:endParaRPr lang="en-US"/>
            </a:p>
          </p:txBody>
        </p:sp>
        <p:sp>
          <p:nvSpPr>
            <p:cNvPr id="916506" name="Line 1050"/>
            <p:cNvSpPr>
              <a:spLocks noChangeShapeType="1"/>
            </p:cNvSpPr>
            <p:nvPr/>
          </p:nvSpPr>
          <p:spPr bwMode="auto">
            <a:xfrm>
              <a:off x="1376" y="1657"/>
              <a:ext cx="40" cy="154"/>
            </a:xfrm>
            <a:prstGeom prst="line">
              <a:avLst/>
            </a:prstGeom>
            <a:noFill/>
            <a:ln w="19050">
              <a:solidFill>
                <a:srgbClr val="008280"/>
              </a:solidFill>
              <a:round/>
              <a:headEnd/>
              <a:tailEnd/>
            </a:ln>
            <a:effectLst/>
          </p:spPr>
          <p:txBody>
            <a:bodyPr wrap="none" anchor="ctr"/>
            <a:lstStyle/>
            <a:p>
              <a:endParaRPr lang="en-US"/>
            </a:p>
          </p:txBody>
        </p:sp>
        <p:sp>
          <p:nvSpPr>
            <p:cNvPr id="916507" name="Line 1051"/>
            <p:cNvSpPr>
              <a:spLocks noChangeShapeType="1"/>
            </p:cNvSpPr>
            <p:nvPr/>
          </p:nvSpPr>
          <p:spPr bwMode="auto">
            <a:xfrm flipH="1">
              <a:off x="1126" y="1599"/>
              <a:ext cx="154" cy="39"/>
            </a:xfrm>
            <a:prstGeom prst="line">
              <a:avLst/>
            </a:prstGeom>
            <a:noFill/>
            <a:ln w="19050">
              <a:solidFill>
                <a:srgbClr val="008280"/>
              </a:solidFill>
              <a:round/>
              <a:headEnd/>
              <a:tailEnd/>
            </a:ln>
            <a:effectLst/>
          </p:spPr>
          <p:txBody>
            <a:bodyPr wrap="none" anchor="ctr"/>
            <a:lstStyle/>
            <a:p>
              <a:endParaRPr lang="en-US"/>
            </a:p>
          </p:txBody>
        </p:sp>
        <p:sp>
          <p:nvSpPr>
            <p:cNvPr id="916508" name="Line 1052"/>
            <p:cNvSpPr>
              <a:spLocks noChangeShapeType="1"/>
            </p:cNvSpPr>
            <p:nvPr/>
          </p:nvSpPr>
          <p:spPr bwMode="auto">
            <a:xfrm>
              <a:off x="582" y="2767"/>
              <a:ext cx="97" cy="57"/>
            </a:xfrm>
            <a:prstGeom prst="line">
              <a:avLst/>
            </a:prstGeom>
            <a:noFill/>
            <a:ln w="19050">
              <a:solidFill>
                <a:srgbClr val="008280"/>
              </a:solidFill>
              <a:round/>
              <a:headEnd/>
              <a:tailEnd/>
            </a:ln>
            <a:effectLst/>
          </p:spPr>
          <p:txBody>
            <a:bodyPr wrap="none" anchor="ctr"/>
            <a:lstStyle/>
            <a:p>
              <a:endParaRPr lang="en-US"/>
            </a:p>
          </p:txBody>
        </p:sp>
        <p:sp>
          <p:nvSpPr>
            <p:cNvPr id="916509" name="Line 1053"/>
            <p:cNvSpPr>
              <a:spLocks noChangeShapeType="1"/>
            </p:cNvSpPr>
            <p:nvPr/>
          </p:nvSpPr>
          <p:spPr bwMode="auto">
            <a:xfrm flipV="1">
              <a:off x="679" y="2785"/>
              <a:ext cx="153" cy="39"/>
            </a:xfrm>
            <a:prstGeom prst="line">
              <a:avLst/>
            </a:prstGeom>
            <a:noFill/>
            <a:ln w="19050">
              <a:solidFill>
                <a:srgbClr val="008280"/>
              </a:solidFill>
              <a:round/>
              <a:headEnd/>
              <a:tailEnd/>
            </a:ln>
            <a:effectLst/>
          </p:spPr>
          <p:txBody>
            <a:bodyPr wrap="none" anchor="ctr"/>
            <a:lstStyle/>
            <a:p>
              <a:endParaRPr lang="en-US"/>
            </a:p>
          </p:txBody>
        </p:sp>
        <p:sp>
          <p:nvSpPr>
            <p:cNvPr id="916510" name="Line 1054"/>
            <p:cNvSpPr>
              <a:spLocks noChangeShapeType="1"/>
            </p:cNvSpPr>
            <p:nvPr/>
          </p:nvSpPr>
          <p:spPr bwMode="auto">
            <a:xfrm flipH="1" flipV="1">
              <a:off x="543" y="2613"/>
              <a:ext cx="39" cy="154"/>
            </a:xfrm>
            <a:prstGeom prst="line">
              <a:avLst/>
            </a:prstGeom>
            <a:noFill/>
            <a:ln w="19050">
              <a:solidFill>
                <a:srgbClr val="008280"/>
              </a:solidFill>
              <a:round/>
              <a:headEnd/>
              <a:tailEnd/>
            </a:ln>
            <a:effectLst/>
          </p:spPr>
          <p:txBody>
            <a:bodyPr wrap="none" anchor="ctr"/>
            <a:lstStyle/>
            <a:p>
              <a:endParaRPr lang="en-US"/>
            </a:p>
          </p:txBody>
        </p:sp>
      </p:grpSp>
      <p:grpSp>
        <p:nvGrpSpPr>
          <p:cNvPr id="916511" name="Group 1055"/>
          <p:cNvGrpSpPr>
            <a:grpSpLocks/>
          </p:cNvGrpSpPr>
          <p:nvPr/>
        </p:nvGrpSpPr>
        <p:grpSpPr bwMode="auto">
          <a:xfrm>
            <a:off x="2125663" y="3163888"/>
            <a:ext cx="1403350" cy="958850"/>
            <a:chOff x="374" y="1784"/>
            <a:chExt cx="1230" cy="866"/>
          </a:xfrm>
        </p:grpSpPr>
        <p:sp>
          <p:nvSpPr>
            <p:cNvPr id="916512" name="Line 1056"/>
            <p:cNvSpPr>
              <a:spLocks noChangeShapeType="1"/>
            </p:cNvSpPr>
            <p:nvPr/>
          </p:nvSpPr>
          <p:spPr bwMode="auto">
            <a:xfrm flipH="1">
              <a:off x="1547" y="2513"/>
              <a:ext cx="57" cy="97"/>
            </a:xfrm>
            <a:prstGeom prst="line">
              <a:avLst/>
            </a:prstGeom>
            <a:noFill/>
            <a:ln w="19050">
              <a:solidFill>
                <a:srgbClr val="008280"/>
              </a:solidFill>
              <a:round/>
              <a:headEnd/>
              <a:tailEnd/>
            </a:ln>
            <a:effectLst/>
          </p:spPr>
          <p:txBody>
            <a:bodyPr wrap="none" anchor="ctr"/>
            <a:lstStyle/>
            <a:p>
              <a:endParaRPr lang="en-US"/>
            </a:p>
          </p:txBody>
        </p:sp>
        <p:sp>
          <p:nvSpPr>
            <p:cNvPr id="916513" name="Line 1057"/>
            <p:cNvSpPr>
              <a:spLocks noChangeShapeType="1"/>
            </p:cNvSpPr>
            <p:nvPr/>
          </p:nvSpPr>
          <p:spPr bwMode="auto">
            <a:xfrm flipH="1">
              <a:off x="1393" y="2610"/>
              <a:ext cx="154" cy="40"/>
            </a:xfrm>
            <a:prstGeom prst="line">
              <a:avLst/>
            </a:prstGeom>
            <a:noFill/>
            <a:ln w="19050">
              <a:solidFill>
                <a:srgbClr val="008280"/>
              </a:solidFill>
              <a:round/>
              <a:headEnd/>
              <a:tailEnd/>
            </a:ln>
            <a:effectLst/>
          </p:spPr>
          <p:txBody>
            <a:bodyPr wrap="none" anchor="ctr"/>
            <a:lstStyle/>
            <a:p>
              <a:endParaRPr lang="en-US"/>
            </a:p>
          </p:txBody>
        </p:sp>
        <p:sp>
          <p:nvSpPr>
            <p:cNvPr id="916514" name="Line 1058"/>
            <p:cNvSpPr>
              <a:spLocks noChangeShapeType="1"/>
            </p:cNvSpPr>
            <p:nvPr/>
          </p:nvSpPr>
          <p:spPr bwMode="auto">
            <a:xfrm flipH="1" flipV="1">
              <a:off x="1563" y="2359"/>
              <a:ext cx="41" cy="154"/>
            </a:xfrm>
            <a:prstGeom prst="line">
              <a:avLst/>
            </a:prstGeom>
            <a:noFill/>
            <a:ln w="19050">
              <a:solidFill>
                <a:srgbClr val="008280"/>
              </a:solidFill>
              <a:round/>
              <a:headEnd/>
              <a:tailEnd/>
            </a:ln>
            <a:effectLst/>
          </p:spPr>
          <p:txBody>
            <a:bodyPr wrap="none" anchor="ctr"/>
            <a:lstStyle/>
            <a:p>
              <a:endParaRPr lang="en-US"/>
            </a:p>
          </p:txBody>
        </p:sp>
        <p:sp>
          <p:nvSpPr>
            <p:cNvPr id="916515" name="Line 1059"/>
            <p:cNvSpPr>
              <a:spLocks noChangeShapeType="1"/>
            </p:cNvSpPr>
            <p:nvPr/>
          </p:nvSpPr>
          <p:spPr bwMode="auto">
            <a:xfrm flipH="1">
              <a:off x="374" y="1824"/>
              <a:ext cx="56" cy="98"/>
            </a:xfrm>
            <a:prstGeom prst="line">
              <a:avLst/>
            </a:prstGeom>
            <a:noFill/>
            <a:ln w="19050">
              <a:solidFill>
                <a:srgbClr val="008280"/>
              </a:solidFill>
              <a:round/>
              <a:headEnd/>
              <a:tailEnd/>
            </a:ln>
            <a:effectLst/>
          </p:spPr>
          <p:txBody>
            <a:bodyPr wrap="none" anchor="ctr"/>
            <a:lstStyle/>
            <a:p>
              <a:endParaRPr lang="en-US"/>
            </a:p>
          </p:txBody>
        </p:sp>
        <p:sp>
          <p:nvSpPr>
            <p:cNvPr id="916516" name="Line 1060"/>
            <p:cNvSpPr>
              <a:spLocks noChangeShapeType="1"/>
            </p:cNvSpPr>
            <p:nvPr/>
          </p:nvSpPr>
          <p:spPr bwMode="auto">
            <a:xfrm>
              <a:off x="374" y="1922"/>
              <a:ext cx="40" cy="153"/>
            </a:xfrm>
            <a:prstGeom prst="line">
              <a:avLst/>
            </a:prstGeom>
            <a:noFill/>
            <a:ln w="19050">
              <a:solidFill>
                <a:srgbClr val="008280"/>
              </a:solidFill>
              <a:round/>
              <a:headEnd/>
              <a:tailEnd/>
            </a:ln>
            <a:effectLst/>
          </p:spPr>
          <p:txBody>
            <a:bodyPr wrap="none" anchor="ctr"/>
            <a:lstStyle/>
            <a:p>
              <a:endParaRPr lang="en-US"/>
            </a:p>
          </p:txBody>
        </p:sp>
        <p:sp>
          <p:nvSpPr>
            <p:cNvPr id="916517" name="Line 1061"/>
            <p:cNvSpPr>
              <a:spLocks noChangeShapeType="1"/>
            </p:cNvSpPr>
            <p:nvPr/>
          </p:nvSpPr>
          <p:spPr bwMode="auto">
            <a:xfrm flipV="1">
              <a:off x="430" y="1784"/>
              <a:ext cx="153" cy="40"/>
            </a:xfrm>
            <a:prstGeom prst="line">
              <a:avLst/>
            </a:prstGeom>
            <a:noFill/>
            <a:ln w="19050">
              <a:solidFill>
                <a:srgbClr val="008280"/>
              </a:solidFill>
              <a:round/>
              <a:headEnd/>
              <a:tailEnd/>
            </a:ln>
            <a:effectLst/>
          </p:spPr>
          <p:txBody>
            <a:bodyPr wrap="none" anchor="ctr"/>
            <a:lstStyle/>
            <a:p>
              <a:endParaRPr lang="en-US"/>
            </a:p>
          </p:txBody>
        </p:sp>
      </p:grpSp>
      <p:grpSp>
        <p:nvGrpSpPr>
          <p:cNvPr id="916518" name="Group 1062"/>
          <p:cNvGrpSpPr>
            <a:grpSpLocks/>
          </p:cNvGrpSpPr>
          <p:nvPr/>
        </p:nvGrpSpPr>
        <p:grpSpPr bwMode="auto">
          <a:xfrm>
            <a:off x="2317750" y="2979738"/>
            <a:ext cx="1017588" cy="1335087"/>
            <a:chOff x="542" y="1617"/>
            <a:chExt cx="893" cy="1207"/>
          </a:xfrm>
        </p:grpSpPr>
        <p:sp>
          <p:nvSpPr>
            <p:cNvPr id="916519" name="Line 1063"/>
            <p:cNvSpPr>
              <a:spLocks noChangeShapeType="1"/>
            </p:cNvSpPr>
            <p:nvPr/>
          </p:nvSpPr>
          <p:spPr bwMode="auto">
            <a:xfrm flipH="1">
              <a:off x="1307" y="2764"/>
              <a:ext cx="94" cy="60"/>
            </a:xfrm>
            <a:prstGeom prst="line">
              <a:avLst/>
            </a:prstGeom>
            <a:noFill/>
            <a:ln w="19050">
              <a:solidFill>
                <a:srgbClr val="008280"/>
              </a:solidFill>
              <a:round/>
              <a:headEnd/>
              <a:tailEnd/>
            </a:ln>
            <a:effectLst/>
          </p:spPr>
          <p:txBody>
            <a:bodyPr wrap="none" anchor="ctr"/>
            <a:lstStyle/>
            <a:p>
              <a:endParaRPr lang="en-US"/>
            </a:p>
          </p:txBody>
        </p:sp>
        <p:sp>
          <p:nvSpPr>
            <p:cNvPr id="916520" name="Line 1064"/>
            <p:cNvSpPr>
              <a:spLocks noChangeShapeType="1"/>
            </p:cNvSpPr>
            <p:nvPr/>
          </p:nvSpPr>
          <p:spPr bwMode="auto">
            <a:xfrm flipH="1" flipV="1">
              <a:off x="1152" y="2790"/>
              <a:ext cx="155" cy="34"/>
            </a:xfrm>
            <a:prstGeom prst="line">
              <a:avLst/>
            </a:prstGeom>
            <a:noFill/>
            <a:ln w="19050">
              <a:solidFill>
                <a:srgbClr val="008280"/>
              </a:solidFill>
              <a:round/>
              <a:headEnd/>
              <a:tailEnd/>
            </a:ln>
            <a:effectLst/>
          </p:spPr>
          <p:txBody>
            <a:bodyPr wrap="none" anchor="ctr"/>
            <a:lstStyle/>
            <a:p>
              <a:endParaRPr lang="en-US"/>
            </a:p>
          </p:txBody>
        </p:sp>
        <p:sp>
          <p:nvSpPr>
            <p:cNvPr id="916521" name="Line 1065"/>
            <p:cNvSpPr>
              <a:spLocks noChangeShapeType="1"/>
            </p:cNvSpPr>
            <p:nvPr/>
          </p:nvSpPr>
          <p:spPr bwMode="auto">
            <a:xfrm flipV="1">
              <a:off x="1401" y="2608"/>
              <a:ext cx="34" cy="156"/>
            </a:xfrm>
            <a:prstGeom prst="line">
              <a:avLst/>
            </a:prstGeom>
            <a:noFill/>
            <a:ln w="19050">
              <a:solidFill>
                <a:srgbClr val="008280"/>
              </a:solidFill>
              <a:round/>
              <a:headEnd/>
              <a:tailEnd/>
            </a:ln>
            <a:effectLst/>
          </p:spPr>
          <p:txBody>
            <a:bodyPr wrap="none" anchor="ctr"/>
            <a:lstStyle/>
            <a:p>
              <a:endParaRPr lang="en-US"/>
            </a:p>
          </p:txBody>
        </p:sp>
        <p:sp>
          <p:nvSpPr>
            <p:cNvPr id="916522" name="Line 1066"/>
            <p:cNvSpPr>
              <a:spLocks noChangeShapeType="1"/>
            </p:cNvSpPr>
            <p:nvPr/>
          </p:nvSpPr>
          <p:spPr bwMode="auto">
            <a:xfrm flipH="1">
              <a:off x="575" y="1617"/>
              <a:ext cx="95" cy="61"/>
            </a:xfrm>
            <a:prstGeom prst="line">
              <a:avLst/>
            </a:prstGeom>
            <a:noFill/>
            <a:ln w="19050">
              <a:solidFill>
                <a:srgbClr val="008280"/>
              </a:solidFill>
              <a:round/>
              <a:headEnd/>
              <a:tailEnd/>
            </a:ln>
            <a:effectLst/>
          </p:spPr>
          <p:txBody>
            <a:bodyPr wrap="none" anchor="ctr"/>
            <a:lstStyle/>
            <a:p>
              <a:endParaRPr lang="en-US"/>
            </a:p>
          </p:txBody>
        </p:sp>
        <p:sp>
          <p:nvSpPr>
            <p:cNvPr id="916523" name="Line 1067"/>
            <p:cNvSpPr>
              <a:spLocks noChangeShapeType="1"/>
            </p:cNvSpPr>
            <p:nvPr/>
          </p:nvSpPr>
          <p:spPr bwMode="auto">
            <a:xfrm flipH="1">
              <a:off x="542" y="1678"/>
              <a:ext cx="33" cy="155"/>
            </a:xfrm>
            <a:prstGeom prst="line">
              <a:avLst/>
            </a:prstGeom>
            <a:noFill/>
            <a:ln w="19050">
              <a:solidFill>
                <a:srgbClr val="008280"/>
              </a:solidFill>
              <a:round/>
              <a:headEnd/>
              <a:tailEnd/>
            </a:ln>
            <a:effectLst/>
          </p:spPr>
          <p:txBody>
            <a:bodyPr wrap="none" anchor="ctr"/>
            <a:lstStyle/>
            <a:p>
              <a:endParaRPr lang="en-US"/>
            </a:p>
          </p:txBody>
        </p:sp>
        <p:sp>
          <p:nvSpPr>
            <p:cNvPr id="916524" name="Line 1068"/>
            <p:cNvSpPr>
              <a:spLocks noChangeShapeType="1"/>
            </p:cNvSpPr>
            <p:nvPr/>
          </p:nvSpPr>
          <p:spPr bwMode="auto">
            <a:xfrm>
              <a:off x="670" y="1617"/>
              <a:ext cx="155" cy="34"/>
            </a:xfrm>
            <a:prstGeom prst="line">
              <a:avLst/>
            </a:prstGeom>
            <a:noFill/>
            <a:ln w="19050">
              <a:solidFill>
                <a:srgbClr val="008280"/>
              </a:solidFill>
              <a:round/>
              <a:headEnd/>
              <a:tailEnd/>
            </a:ln>
            <a:effectLst/>
          </p:spPr>
          <p:txBody>
            <a:bodyPr wrap="none" anchor="ctr"/>
            <a:lstStyle/>
            <a:p>
              <a:endParaRPr lang="en-US"/>
            </a:p>
          </p:txBody>
        </p:sp>
      </p:grpSp>
      <p:grpSp>
        <p:nvGrpSpPr>
          <p:cNvPr id="916525" name="Group 1069"/>
          <p:cNvGrpSpPr>
            <a:grpSpLocks/>
          </p:cNvGrpSpPr>
          <p:nvPr/>
        </p:nvGrpSpPr>
        <p:grpSpPr bwMode="auto">
          <a:xfrm>
            <a:off x="2398713" y="1447800"/>
            <a:ext cx="387350" cy="1506538"/>
            <a:chOff x="612" y="232"/>
            <a:chExt cx="341" cy="1361"/>
          </a:xfrm>
        </p:grpSpPr>
        <p:sp>
          <p:nvSpPr>
            <p:cNvPr id="916526" name="Line 1070"/>
            <p:cNvSpPr>
              <a:spLocks noChangeShapeType="1"/>
            </p:cNvSpPr>
            <p:nvPr/>
          </p:nvSpPr>
          <p:spPr bwMode="auto">
            <a:xfrm>
              <a:off x="729" y="232"/>
              <a:ext cx="112" cy="0"/>
            </a:xfrm>
            <a:prstGeom prst="line">
              <a:avLst/>
            </a:prstGeom>
            <a:noFill/>
            <a:ln w="19050">
              <a:solidFill>
                <a:srgbClr val="008280"/>
              </a:solidFill>
              <a:round/>
              <a:headEnd/>
              <a:tailEnd/>
            </a:ln>
            <a:effectLst/>
          </p:spPr>
          <p:txBody>
            <a:bodyPr wrap="none" anchor="ctr"/>
            <a:lstStyle/>
            <a:p>
              <a:endParaRPr lang="en-US"/>
            </a:p>
          </p:txBody>
        </p:sp>
        <p:sp>
          <p:nvSpPr>
            <p:cNvPr id="916527" name="Line 1071"/>
            <p:cNvSpPr>
              <a:spLocks noChangeShapeType="1"/>
            </p:cNvSpPr>
            <p:nvPr/>
          </p:nvSpPr>
          <p:spPr bwMode="auto">
            <a:xfrm>
              <a:off x="841" y="232"/>
              <a:ext cx="112" cy="112"/>
            </a:xfrm>
            <a:prstGeom prst="line">
              <a:avLst/>
            </a:prstGeom>
            <a:noFill/>
            <a:ln w="19050">
              <a:solidFill>
                <a:srgbClr val="008280"/>
              </a:solidFill>
              <a:round/>
              <a:headEnd/>
              <a:tailEnd/>
            </a:ln>
            <a:effectLst/>
          </p:spPr>
          <p:txBody>
            <a:bodyPr wrap="none" anchor="ctr"/>
            <a:lstStyle/>
            <a:p>
              <a:endParaRPr lang="en-US"/>
            </a:p>
          </p:txBody>
        </p:sp>
        <p:sp>
          <p:nvSpPr>
            <p:cNvPr id="916528" name="Line 1072"/>
            <p:cNvSpPr>
              <a:spLocks noChangeShapeType="1"/>
            </p:cNvSpPr>
            <p:nvPr/>
          </p:nvSpPr>
          <p:spPr bwMode="auto">
            <a:xfrm flipH="1">
              <a:off x="616" y="232"/>
              <a:ext cx="113" cy="112"/>
            </a:xfrm>
            <a:prstGeom prst="line">
              <a:avLst/>
            </a:prstGeom>
            <a:noFill/>
            <a:ln w="19050">
              <a:solidFill>
                <a:srgbClr val="008280"/>
              </a:solidFill>
              <a:round/>
              <a:headEnd/>
              <a:tailEnd/>
            </a:ln>
            <a:effectLst/>
          </p:spPr>
          <p:txBody>
            <a:bodyPr wrap="none" anchor="ctr"/>
            <a:lstStyle/>
            <a:p>
              <a:endParaRPr lang="en-US"/>
            </a:p>
          </p:txBody>
        </p:sp>
        <p:sp>
          <p:nvSpPr>
            <p:cNvPr id="916529" name="Line 1073"/>
            <p:cNvSpPr>
              <a:spLocks noChangeShapeType="1"/>
            </p:cNvSpPr>
            <p:nvPr/>
          </p:nvSpPr>
          <p:spPr bwMode="auto">
            <a:xfrm>
              <a:off x="724" y="1593"/>
              <a:ext cx="112" cy="0"/>
            </a:xfrm>
            <a:prstGeom prst="line">
              <a:avLst/>
            </a:prstGeom>
            <a:noFill/>
            <a:ln w="19050">
              <a:solidFill>
                <a:srgbClr val="008280"/>
              </a:solidFill>
              <a:round/>
              <a:headEnd/>
              <a:tailEnd/>
            </a:ln>
            <a:effectLst/>
          </p:spPr>
          <p:txBody>
            <a:bodyPr wrap="none" anchor="ctr"/>
            <a:lstStyle/>
            <a:p>
              <a:endParaRPr lang="en-US"/>
            </a:p>
          </p:txBody>
        </p:sp>
        <p:sp>
          <p:nvSpPr>
            <p:cNvPr id="916530" name="Line 1074"/>
            <p:cNvSpPr>
              <a:spLocks noChangeShapeType="1"/>
            </p:cNvSpPr>
            <p:nvPr/>
          </p:nvSpPr>
          <p:spPr bwMode="auto">
            <a:xfrm flipV="1">
              <a:off x="836" y="1481"/>
              <a:ext cx="113" cy="112"/>
            </a:xfrm>
            <a:prstGeom prst="line">
              <a:avLst/>
            </a:prstGeom>
            <a:noFill/>
            <a:ln w="19050">
              <a:solidFill>
                <a:srgbClr val="008280"/>
              </a:solidFill>
              <a:round/>
              <a:headEnd/>
              <a:tailEnd/>
            </a:ln>
            <a:effectLst/>
          </p:spPr>
          <p:txBody>
            <a:bodyPr wrap="none" anchor="ctr"/>
            <a:lstStyle/>
            <a:p>
              <a:endParaRPr lang="en-US"/>
            </a:p>
          </p:txBody>
        </p:sp>
        <p:sp>
          <p:nvSpPr>
            <p:cNvPr id="916531" name="Line 1075"/>
            <p:cNvSpPr>
              <a:spLocks noChangeShapeType="1"/>
            </p:cNvSpPr>
            <p:nvPr/>
          </p:nvSpPr>
          <p:spPr bwMode="auto">
            <a:xfrm flipH="1" flipV="1">
              <a:off x="612" y="1481"/>
              <a:ext cx="112" cy="112"/>
            </a:xfrm>
            <a:prstGeom prst="line">
              <a:avLst/>
            </a:prstGeom>
            <a:noFill/>
            <a:ln w="19050">
              <a:solidFill>
                <a:srgbClr val="008280"/>
              </a:solidFill>
              <a:round/>
              <a:headEnd/>
              <a:tailEnd/>
            </a:ln>
            <a:effectLst/>
          </p:spPr>
          <p:txBody>
            <a:bodyPr wrap="none" anchor="ctr"/>
            <a:lstStyle/>
            <a:p>
              <a:endParaRPr lang="en-US"/>
            </a:p>
          </p:txBody>
        </p:sp>
      </p:grpSp>
      <p:grpSp>
        <p:nvGrpSpPr>
          <p:cNvPr id="916532" name="Group 1076"/>
          <p:cNvGrpSpPr>
            <a:grpSpLocks/>
          </p:cNvGrpSpPr>
          <p:nvPr/>
        </p:nvGrpSpPr>
        <p:grpSpPr bwMode="auto">
          <a:xfrm>
            <a:off x="1828800" y="2012950"/>
            <a:ext cx="1550988" cy="374650"/>
            <a:chOff x="113" y="743"/>
            <a:chExt cx="1361" cy="338"/>
          </a:xfrm>
        </p:grpSpPr>
        <p:sp>
          <p:nvSpPr>
            <p:cNvPr id="916533" name="Line 1077"/>
            <p:cNvSpPr>
              <a:spLocks noChangeShapeType="1"/>
            </p:cNvSpPr>
            <p:nvPr/>
          </p:nvSpPr>
          <p:spPr bwMode="auto">
            <a:xfrm>
              <a:off x="1473" y="855"/>
              <a:ext cx="1" cy="111"/>
            </a:xfrm>
            <a:prstGeom prst="line">
              <a:avLst/>
            </a:prstGeom>
            <a:noFill/>
            <a:ln w="19050">
              <a:solidFill>
                <a:srgbClr val="008280"/>
              </a:solidFill>
              <a:round/>
              <a:headEnd/>
              <a:tailEnd/>
            </a:ln>
            <a:effectLst/>
          </p:spPr>
          <p:txBody>
            <a:bodyPr wrap="none" anchor="ctr"/>
            <a:lstStyle/>
            <a:p>
              <a:endParaRPr lang="en-US"/>
            </a:p>
          </p:txBody>
        </p:sp>
        <p:sp>
          <p:nvSpPr>
            <p:cNvPr id="916534" name="Line 1078"/>
            <p:cNvSpPr>
              <a:spLocks noChangeShapeType="1"/>
            </p:cNvSpPr>
            <p:nvPr/>
          </p:nvSpPr>
          <p:spPr bwMode="auto">
            <a:xfrm flipH="1">
              <a:off x="1362" y="966"/>
              <a:ext cx="112" cy="114"/>
            </a:xfrm>
            <a:prstGeom prst="line">
              <a:avLst/>
            </a:prstGeom>
            <a:noFill/>
            <a:ln w="19050">
              <a:solidFill>
                <a:srgbClr val="008280"/>
              </a:solidFill>
              <a:round/>
              <a:headEnd/>
              <a:tailEnd/>
            </a:ln>
            <a:effectLst/>
          </p:spPr>
          <p:txBody>
            <a:bodyPr wrap="none" anchor="ctr"/>
            <a:lstStyle/>
            <a:p>
              <a:endParaRPr lang="en-US"/>
            </a:p>
          </p:txBody>
        </p:sp>
        <p:sp>
          <p:nvSpPr>
            <p:cNvPr id="916535" name="Line 1079"/>
            <p:cNvSpPr>
              <a:spLocks noChangeShapeType="1"/>
            </p:cNvSpPr>
            <p:nvPr/>
          </p:nvSpPr>
          <p:spPr bwMode="auto">
            <a:xfrm flipH="1" flipV="1">
              <a:off x="1361" y="743"/>
              <a:ext cx="112" cy="112"/>
            </a:xfrm>
            <a:prstGeom prst="line">
              <a:avLst/>
            </a:prstGeom>
            <a:noFill/>
            <a:ln w="19050">
              <a:solidFill>
                <a:srgbClr val="008280"/>
              </a:solidFill>
              <a:round/>
              <a:headEnd/>
              <a:tailEnd/>
            </a:ln>
            <a:effectLst/>
          </p:spPr>
          <p:txBody>
            <a:bodyPr wrap="none" anchor="ctr"/>
            <a:lstStyle/>
            <a:p>
              <a:endParaRPr lang="en-US"/>
            </a:p>
          </p:txBody>
        </p:sp>
        <p:sp>
          <p:nvSpPr>
            <p:cNvPr id="916536" name="Line 1080"/>
            <p:cNvSpPr>
              <a:spLocks noChangeShapeType="1"/>
            </p:cNvSpPr>
            <p:nvPr/>
          </p:nvSpPr>
          <p:spPr bwMode="auto">
            <a:xfrm>
              <a:off x="113" y="858"/>
              <a:ext cx="0" cy="112"/>
            </a:xfrm>
            <a:prstGeom prst="line">
              <a:avLst/>
            </a:prstGeom>
            <a:noFill/>
            <a:ln w="19050">
              <a:solidFill>
                <a:srgbClr val="008280"/>
              </a:solidFill>
              <a:round/>
              <a:headEnd/>
              <a:tailEnd/>
            </a:ln>
            <a:effectLst/>
          </p:spPr>
          <p:txBody>
            <a:bodyPr wrap="none" anchor="ctr"/>
            <a:lstStyle/>
            <a:p>
              <a:endParaRPr lang="en-US"/>
            </a:p>
          </p:txBody>
        </p:sp>
        <p:sp>
          <p:nvSpPr>
            <p:cNvPr id="916537" name="Line 1081"/>
            <p:cNvSpPr>
              <a:spLocks noChangeShapeType="1"/>
            </p:cNvSpPr>
            <p:nvPr/>
          </p:nvSpPr>
          <p:spPr bwMode="auto">
            <a:xfrm>
              <a:off x="113" y="970"/>
              <a:ext cx="113" cy="111"/>
            </a:xfrm>
            <a:prstGeom prst="line">
              <a:avLst/>
            </a:prstGeom>
            <a:noFill/>
            <a:ln w="19050">
              <a:solidFill>
                <a:srgbClr val="008280"/>
              </a:solidFill>
              <a:round/>
              <a:headEnd/>
              <a:tailEnd/>
            </a:ln>
            <a:effectLst/>
          </p:spPr>
          <p:txBody>
            <a:bodyPr wrap="none" anchor="ctr"/>
            <a:lstStyle/>
            <a:p>
              <a:endParaRPr lang="en-US"/>
            </a:p>
          </p:txBody>
        </p:sp>
        <p:sp>
          <p:nvSpPr>
            <p:cNvPr id="916538" name="Line 1082"/>
            <p:cNvSpPr>
              <a:spLocks noChangeShapeType="1"/>
            </p:cNvSpPr>
            <p:nvPr/>
          </p:nvSpPr>
          <p:spPr bwMode="auto">
            <a:xfrm flipV="1">
              <a:off x="113" y="745"/>
              <a:ext cx="112" cy="113"/>
            </a:xfrm>
            <a:prstGeom prst="line">
              <a:avLst/>
            </a:prstGeom>
            <a:noFill/>
            <a:ln w="19050">
              <a:solidFill>
                <a:srgbClr val="008280"/>
              </a:solidFill>
              <a:round/>
              <a:headEnd/>
              <a:tailEnd/>
            </a:ln>
            <a:effectLst/>
          </p:spPr>
          <p:txBody>
            <a:bodyPr wrap="none" anchor="ctr"/>
            <a:lstStyle/>
            <a:p>
              <a:endParaRPr lang="en-US"/>
            </a:p>
          </p:txBody>
        </p:sp>
      </p:grpSp>
      <p:grpSp>
        <p:nvGrpSpPr>
          <p:cNvPr id="916539" name="Group 1083"/>
          <p:cNvGrpSpPr>
            <a:grpSpLocks/>
          </p:cNvGrpSpPr>
          <p:nvPr/>
        </p:nvGrpSpPr>
        <p:grpSpPr bwMode="auto">
          <a:xfrm>
            <a:off x="1906588" y="1712913"/>
            <a:ext cx="1389062" cy="971550"/>
            <a:chOff x="181" y="471"/>
            <a:chExt cx="1219" cy="878"/>
          </a:xfrm>
        </p:grpSpPr>
        <p:sp>
          <p:nvSpPr>
            <p:cNvPr id="916540" name="Line 1084"/>
            <p:cNvSpPr>
              <a:spLocks noChangeShapeType="1"/>
            </p:cNvSpPr>
            <p:nvPr/>
          </p:nvSpPr>
          <p:spPr bwMode="auto">
            <a:xfrm>
              <a:off x="1341" y="507"/>
              <a:ext cx="59" cy="96"/>
            </a:xfrm>
            <a:prstGeom prst="line">
              <a:avLst/>
            </a:prstGeom>
            <a:noFill/>
            <a:ln w="19050">
              <a:solidFill>
                <a:srgbClr val="008280"/>
              </a:solidFill>
              <a:round/>
              <a:headEnd/>
              <a:tailEnd/>
            </a:ln>
            <a:effectLst/>
          </p:spPr>
          <p:txBody>
            <a:bodyPr wrap="none" anchor="ctr"/>
            <a:lstStyle/>
            <a:p>
              <a:endParaRPr lang="en-US"/>
            </a:p>
          </p:txBody>
        </p:sp>
        <p:sp>
          <p:nvSpPr>
            <p:cNvPr id="916541" name="Line 1085"/>
            <p:cNvSpPr>
              <a:spLocks noChangeShapeType="1"/>
            </p:cNvSpPr>
            <p:nvPr/>
          </p:nvSpPr>
          <p:spPr bwMode="auto">
            <a:xfrm flipH="1">
              <a:off x="1363" y="603"/>
              <a:ext cx="37" cy="155"/>
            </a:xfrm>
            <a:prstGeom prst="line">
              <a:avLst/>
            </a:prstGeom>
            <a:noFill/>
            <a:ln w="19050">
              <a:solidFill>
                <a:srgbClr val="008280"/>
              </a:solidFill>
              <a:round/>
              <a:headEnd/>
              <a:tailEnd/>
            </a:ln>
            <a:effectLst/>
          </p:spPr>
          <p:txBody>
            <a:bodyPr wrap="none" anchor="ctr"/>
            <a:lstStyle/>
            <a:p>
              <a:endParaRPr lang="en-US"/>
            </a:p>
          </p:txBody>
        </p:sp>
        <p:sp>
          <p:nvSpPr>
            <p:cNvPr id="916542" name="Line 1086"/>
            <p:cNvSpPr>
              <a:spLocks noChangeShapeType="1"/>
            </p:cNvSpPr>
            <p:nvPr/>
          </p:nvSpPr>
          <p:spPr bwMode="auto">
            <a:xfrm flipH="1" flipV="1">
              <a:off x="1187" y="471"/>
              <a:ext cx="154" cy="36"/>
            </a:xfrm>
            <a:prstGeom prst="line">
              <a:avLst/>
            </a:prstGeom>
            <a:noFill/>
            <a:ln w="19050">
              <a:solidFill>
                <a:srgbClr val="008280"/>
              </a:solidFill>
              <a:round/>
              <a:headEnd/>
              <a:tailEnd/>
            </a:ln>
            <a:effectLst/>
          </p:spPr>
          <p:txBody>
            <a:bodyPr wrap="none" anchor="ctr"/>
            <a:lstStyle/>
            <a:p>
              <a:endParaRPr lang="en-US"/>
            </a:p>
          </p:txBody>
        </p:sp>
        <p:sp>
          <p:nvSpPr>
            <p:cNvPr id="916543" name="Line 1087"/>
            <p:cNvSpPr>
              <a:spLocks noChangeShapeType="1"/>
            </p:cNvSpPr>
            <p:nvPr/>
          </p:nvSpPr>
          <p:spPr bwMode="auto">
            <a:xfrm>
              <a:off x="181" y="1217"/>
              <a:ext cx="59" cy="95"/>
            </a:xfrm>
            <a:prstGeom prst="line">
              <a:avLst/>
            </a:prstGeom>
            <a:noFill/>
            <a:ln w="19050">
              <a:solidFill>
                <a:srgbClr val="008280"/>
              </a:solidFill>
              <a:round/>
              <a:headEnd/>
              <a:tailEnd/>
            </a:ln>
            <a:effectLst/>
          </p:spPr>
          <p:txBody>
            <a:bodyPr wrap="none" anchor="ctr"/>
            <a:lstStyle/>
            <a:p>
              <a:endParaRPr lang="en-US"/>
            </a:p>
          </p:txBody>
        </p:sp>
        <p:sp>
          <p:nvSpPr>
            <p:cNvPr id="916544" name="Line 1088"/>
            <p:cNvSpPr>
              <a:spLocks noChangeShapeType="1"/>
            </p:cNvSpPr>
            <p:nvPr/>
          </p:nvSpPr>
          <p:spPr bwMode="auto">
            <a:xfrm>
              <a:off x="240" y="1312"/>
              <a:ext cx="155" cy="37"/>
            </a:xfrm>
            <a:prstGeom prst="line">
              <a:avLst/>
            </a:prstGeom>
            <a:noFill/>
            <a:ln w="19050">
              <a:solidFill>
                <a:srgbClr val="008280"/>
              </a:solidFill>
              <a:round/>
              <a:headEnd/>
              <a:tailEnd/>
            </a:ln>
            <a:effectLst/>
          </p:spPr>
          <p:txBody>
            <a:bodyPr wrap="none" anchor="ctr"/>
            <a:lstStyle/>
            <a:p>
              <a:endParaRPr lang="en-US"/>
            </a:p>
          </p:txBody>
        </p:sp>
        <p:sp>
          <p:nvSpPr>
            <p:cNvPr id="916545" name="Line 1089"/>
            <p:cNvSpPr>
              <a:spLocks noChangeShapeType="1"/>
            </p:cNvSpPr>
            <p:nvPr/>
          </p:nvSpPr>
          <p:spPr bwMode="auto">
            <a:xfrm flipV="1">
              <a:off x="181" y="1061"/>
              <a:ext cx="37" cy="156"/>
            </a:xfrm>
            <a:prstGeom prst="line">
              <a:avLst/>
            </a:prstGeom>
            <a:noFill/>
            <a:ln w="19050">
              <a:solidFill>
                <a:srgbClr val="008280"/>
              </a:solidFill>
              <a:round/>
              <a:headEnd/>
              <a:tailEnd/>
            </a:ln>
            <a:effectLst/>
          </p:spPr>
          <p:txBody>
            <a:bodyPr wrap="none" anchor="ctr"/>
            <a:lstStyle/>
            <a:p>
              <a:endParaRPr lang="en-US"/>
            </a:p>
          </p:txBody>
        </p:sp>
      </p:grpSp>
      <p:grpSp>
        <p:nvGrpSpPr>
          <p:cNvPr id="916546" name="Group 1090"/>
          <p:cNvGrpSpPr>
            <a:grpSpLocks/>
          </p:cNvGrpSpPr>
          <p:nvPr/>
        </p:nvGrpSpPr>
        <p:grpSpPr bwMode="auto">
          <a:xfrm>
            <a:off x="2098675" y="1520825"/>
            <a:ext cx="995363" cy="1354138"/>
            <a:chOff x="350" y="298"/>
            <a:chExt cx="873" cy="1224"/>
          </a:xfrm>
        </p:grpSpPr>
        <p:sp>
          <p:nvSpPr>
            <p:cNvPr id="916547" name="Line 1091"/>
            <p:cNvSpPr>
              <a:spLocks noChangeShapeType="1"/>
            </p:cNvSpPr>
            <p:nvPr/>
          </p:nvSpPr>
          <p:spPr bwMode="auto">
            <a:xfrm>
              <a:off x="1087" y="298"/>
              <a:ext cx="97" cy="57"/>
            </a:xfrm>
            <a:prstGeom prst="line">
              <a:avLst/>
            </a:prstGeom>
            <a:noFill/>
            <a:ln w="19050">
              <a:solidFill>
                <a:srgbClr val="008280"/>
              </a:solidFill>
              <a:round/>
              <a:headEnd/>
              <a:tailEnd/>
            </a:ln>
            <a:effectLst/>
          </p:spPr>
          <p:txBody>
            <a:bodyPr wrap="none" anchor="ctr"/>
            <a:lstStyle/>
            <a:p>
              <a:endParaRPr lang="en-US"/>
            </a:p>
          </p:txBody>
        </p:sp>
        <p:sp>
          <p:nvSpPr>
            <p:cNvPr id="916548" name="Line 1092"/>
            <p:cNvSpPr>
              <a:spLocks noChangeShapeType="1"/>
            </p:cNvSpPr>
            <p:nvPr/>
          </p:nvSpPr>
          <p:spPr bwMode="auto">
            <a:xfrm>
              <a:off x="1184" y="355"/>
              <a:ext cx="39" cy="154"/>
            </a:xfrm>
            <a:prstGeom prst="line">
              <a:avLst/>
            </a:prstGeom>
            <a:noFill/>
            <a:ln w="19050">
              <a:solidFill>
                <a:srgbClr val="008280"/>
              </a:solidFill>
              <a:round/>
              <a:headEnd/>
              <a:tailEnd/>
            </a:ln>
            <a:effectLst/>
          </p:spPr>
          <p:txBody>
            <a:bodyPr wrap="none" anchor="ctr"/>
            <a:lstStyle/>
            <a:p>
              <a:endParaRPr lang="en-US"/>
            </a:p>
          </p:txBody>
        </p:sp>
        <p:sp>
          <p:nvSpPr>
            <p:cNvPr id="916549" name="Line 1093"/>
            <p:cNvSpPr>
              <a:spLocks noChangeShapeType="1"/>
            </p:cNvSpPr>
            <p:nvPr/>
          </p:nvSpPr>
          <p:spPr bwMode="auto">
            <a:xfrm flipH="1">
              <a:off x="933" y="298"/>
              <a:ext cx="154" cy="39"/>
            </a:xfrm>
            <a:prstGeom prst="line">
              <a:avLst/>
            </a:prstGeom>
            <a:noFill/>
            <a:ln w="19050">
              <a:solidFill>
                <a:srgbClr val="008280"/>
              </a:solidFill>
              <a:round/>
              <a:headEnd/>
              <a:tailEnd/>
            </a:ln>
            <a:effectLst/>
          </p:spPr>
          <p:txBody>
            <a:bodyPr wrap="none" anchor="ctr"/>
            <a:lstStyle/>
            <a:p>
              <a:endParaRPr lang="en-US"/>
            </a:p>
          </p:txBody>
        </p:sp>
        <p:sp>
          <p:nvSpPr>
            <p:cNvPr id="916550" name="Line 1094"/>
            <p:cNvSpPr>
              <a:spLocks noChangeShapeType="1"/>
            </p:cNvSpPr>
            <p:nvPr/>
          </p:nvSpPr>
          <p:spPr bwMode="auto">
            <a:xfrm>
              <a:off x="389" y="1465"/>
              <a:ext cx="97" cy="57"/>
            </a:xfrm>
            <a:prstGeom prst="line">
              <a:avLst/>
            </a:prstGeom>
            <a:noFill/>
            <a:ln w="19050">
              <a:solidFill>
                <a:srgbClr val="008280"/>
              </a:solidFill>
              <a:round/>
              <a:headEnd/>
              <a:tailEnd/>
            </a:ln>
            <a:effectLst/>
          </p:spPr>
          <p:txBody>
            <a:bodyPr wrap="none" anchor="ctr"/>
            <a:lstStyle/>
            <a:p>
              <a:endParaRPr lang="en-US"/>
            </a:p>
          </p:txBody>
        </p:sp>
        <p:sp>
          <p:nvSpPr>
            <p:cNvPr id="916551" name="Line 1095"/>
            <p:cNvSpPr>
              <a:spLocks noChangeShapeType="1"/>
            </p:cNvSpPr>
            <p:nvPr/>
          </p:nvSpPr>
          <p:spPr bwMode="auto">
            <a:xfrm flipV="1">
              <a:off x="486" y="1483"/>
              <a:ext cx="154" cy="39"/>
            </a:xfrm>
            <a:prstGeom prst="line">
              <a:avLst/>
            </a:prstGeom>
            <a:noFill/>
            <a:ln w="19050">
              <a:solidFill>
                <a:srgbClr val="008280"/>
              </a:solidFill>
              <a:round/>
              <a:headEnd/>
              <a:tailEnd/>
            </a:ln>
            <a:effectLst/>
          </p:spPr>
          <p:txBody>
            <a:bodyPr wrap="none" anchor="ctr"/>
            <a:lstStyle/>
            <a:p>
              <a:endParaRPr lang="en-US"/>
            </a:p>
          </p:txBody>
        </p:sp>
        <p:sp>
          <p:nvSpPr>
            <p:cNvPr id="916552" name="Line 1096"/>
            <p:cNvSpPr>
              <a:spLocks noChangeShapeType="1"/>
            </p:cNvSpPr>
            <p:nvPr/>
          </p:nvSpPr>
          <p:spPr bwMode="auto">
            <a:xfrm flipH="1" flipV="1">
              <a:off x="350" y="1312"/>
              <a:ext cx="39" cy="153"/>
            </a:xfrm>
            <a:prstGeom prst="line">
              <a:avLst/>
            </a:prstGeom>
            <a:noFill/>
            <a:ln w="19050">
              <a:solidFill>
                <a:srgbClr val="008280"/>
              </a:solidFill>
              <a:round/>
              <a:headEnd/>
              <a:tailEnd/>
            </a:ln>
            <a:effectLst/>
          </p:spPr>
          <p:txBody>
            <a:bodyPr wrap="none" anchor="ctr"/>
            <a:lstStyle/>
            <a:p>
              <a:endParaRPr lang="en-US"/>
            </a:p>
          </p:txBody>
        </p:sp>
      </p:grpSp>
      <p:grpSp>
        <p:nvGrpSpPr>
          <p:cNvPr id="916553" name="Group 1097"/>
          <p:cNvGrpSpPr>
            <a:grpSpLocks/>
          </p:cNvGrpSpPr>
          <p:nvPr/>
        </p:nvGrpSpPr>
        <p:grpSpPr bwMode="auto">
          <a:xfrm>
            <a:off x="1906588" y="1725613"/>
            <a:ext cx="1401762" cy="957262"/>
            <a:chOff x="181" y="482"/>
            <a:chExt cx="1230" cy="866"/>
          </a:xfrm>
        </p:grpSpPr>
        <p:sp>
          <p:nvSpPr>
            <p:cNvPr id="916554" name="Line 1098"/>
            <p:cNvSpPr>
              <a:spLocks noChangeShapeType="1"/>
            </p:cNvSpPr>
            <p:nvPr/>
          </p:nvSpPr>
          <p:spPr bwMode="auto">
            <a:xfrm flipH="1">
              <a:off x="1354" y="1211"/>
              <a:ext cx="57" cy="97"/>
            </a:xfrm>
            <a:prstGeom prst="line">
              <a:avLst/>
            </a:prstGeom>
            <a:noFill/>
            <a:ln w="19050">
              <a:solidFill>
                <a:srgbClr val="008280"/>
              </a:solidFill>
              <a:round/>
              <a:headEnd/>
              <a:tailEnd/>
            </a:ln>
            <a:effectLst/>
          </p:spPr>
          <p:txBody>
            <a:bodyPr wrap="none" anchor="ctr"/>
            <a:lstStyle/>
            <a:p>
              <a:endParaRPr lang="en-US"/>
            </a:p>
          </p:txBody>
        </p:sp>
        <p:sp>
          <p:nvSpPr>
            <p:cNvPr id="916555" name="Line 1099"/>
            <p:cNvSpPr>
              <a:spLocks noChangeShapeType="1"/>
            </p:cNvSpPr>
            <p:nvPr/>
          </p:nvSpPr>
          <p:spPr bwMode="auto">
            <a:xfrm flipH="1">
              <a:off x="1200" y="1308"/>
              <a:ext cx="154" cy="40"/>
            </a:xfrm>
            <a:prstGeom prst="line">
              <a:avLst/>
            </a:prstGeom>
            <a:noFill/>
            <a:ln w="19050">
              <a:solidFill>
                <a:srgbClr val="008280"/>
              </a:solidFill>
              <a:round/>
              <a:headEnd/>
              <a:tailEnd/>
            </a:ln>
            <a:effectLst/>
          </p:spPr>
          <p:txBody>
            <a:bodyPr wrap="none" anchor="ctr"/>
            <a:lstStyle/>
            <a:p>
              <a:endParaRPr lang="en-US"/>
            </a:p>
          </p:txBody>
        </p:sp>
        <p:sp>
          <p:nvSpPr>
            <p:cNvPr id="916556" name="Line 1100"/>
            <p:cNvSpPr>
              <a:spLocks noChangeShapeType="1"/>
            </p:cNvSpPr>
            <p:nvPr/>
          </p:nvSpPr>
          <p:spPr bwMode="auto">
            <a:xfrm flipH="1" flipV="1">
              <a:off x="1370" y="1058"/>
              <a:ext cx="41" cy="153"/>
            </a:xfrm>
            <a:prstGeom prst="line">
              <a:avLst/>
            </a:prstGeom>
            <a:noFill/>
            <a:ln w="19050">
              <a:solidFill>
                <a:srgbClr val="008280"/>
              </a:solidFill>
              <a:round/>
              <a:headEnd/>
              <a:tailEnd/>
            </a:ln>
            <a:effectLst/>
          </p:spPr>
          <p:txBody>
            <a:bodyPr wrap="none" anchor="ctr"/>
            <a:lstStyle/>
            <a:p>
              <a:endParaRPr lang="en-US"/>
            </a:p>
          </p:txBody>
        </p:sp>
        <p:sp>
          <p:nvSpPr>
            <p:cNvPr id="916557" name="Line 1101"/>
            <p:cNvSpPr>
              <a:spLocks noChangeShapeType="1"/>
            </p:cNvSpPr>
            <p:nvPr/>
          </p:nvSpPr>
          <p:spPr bwMode="auto">
            <a:xfrm flipH="1">
              <a:off x="181" y="523"/>
              <a:ext cx="56" cy="97"/>
            </a:xfrm>
            <a:prstGeom prst="line">
              <a:avLst/>
            </a:prstGeom>
            <a:noFill/>
            <a:ln w="19050">
              <a:solidFill>
                <a:srgbClr val="008280"/>
              </a:solidFill>
              <a:round/>
              <a:headEnd/>
              <a:tailEnd/>
            </a:ln>
            <a:effectLst/>
          </p:spPr>
          <p:txBody>
            <a:bodyPr wrap="none" anchor="ctr"/>
            <a:lstStyle/>
            <a:p>
              <a:endParaRPr lang="en-US"/>
            </a:p>
          </p:txBody>
        </p:sp>
        <p:sp>
          <p:nvSpPr>
            <p:cNvPr id="916558" name="Line 1102"/>
            <p:cNvSpPr>
              <a:spLocks noChangeShapeType="1"/>
            </p:cNvSpPr>
            <p:nvPr/>
          </p:nvSpPr>
          <p:spPr bwMode="auto">
            <a:xfrm>
              <a:off x="181" y="620"/>
              <a:ext cx="40" cy="154"/>
            </a:xfrm>
            <a:prstGeom prst="line">
              <a:avLst/>
            </a:prstGeom>
            <a:noFill/>
            <a:ln w="19050">
              <a:solidFill>
                <a:srgbClr val="008280"/>
              </a:solidFill>
              <a:round/>
              <a:headEnd/>
              <a:tailEnd/>
            </a:ln>
            <a:effectLst/>
          </p:spPr>
          <p:txBody>
            <a:bodyPr wrap="none" anchor="ctr"/>
            <a:lstStyle/>
            <a:p>
              <a:endParaRPr lang="en-US"/>
            </a:p>
          </p:txBody>
        </p:sp>
        <p:sp>
          <p:nvSpPr>
            <p:cNvPr id="916559" name="Line 1103"/>
            <p:cNvSpPr>
              <a:spLocks noChangeShapeType="1"/>
            </p:cNvSpPr>
            <p:nvPr/>
          </p:nvSpPr>
          <p:spPr bwMode="auto">
            <a:xfrm flipV="1">
              <a:off x="237" y="482"/>
              <a:ext cx="153" cy="41"/>
            </a:xfrm>
            <a:prstGeom prst="line">
              <a:avLst/>
            </a:prstGeom>
            <a:noFill/>
            <a:ln w="19050">
              <a:solidFill>
                <a:srgbClr val="008280"/>
              </a:solidFill>
              <a:round/>
              <a:headEnd/>
              <a:tailEnd/>
            </a:ln>
            <a:effectLst/>
          </p:spPr>
          <p:txBody>
            <a:bodyPr wrap="none" anchor="ctr"/>
            <a:lstStyle/>
            <a:p>
              <a:endParaRPr lang="en-US"/>
            </a:p>
          </p:txBody>
        </p:sp>
      </p:grpSp>
      <p:grpSp>
        <p:nvGrpSpPr>
          <p:cNvPr id="916560" name="Group 1104"/>
          <p:cNvGrpSpPr>
            <a:grpSpLocks/>
          </p:cNvGrpSpPr>
          <p:nvPr/>
        </p:nvGrpSpPr>
        <p:grpSpPr bwMode="auto">
          <a:xfrm>
            <a:off x="2097088" y="1539875"/>
            <a:ext cx="1017587" cy="1335088"/>
            <a:chOff x="349" y="316"/>
            <a:chExt cx="893" cy="1206"/>
          </a:xfrm>
        </p:grpSpPr>
        <p:sp>
          <p:nvSpPr>
            <p:cNvPr id="916561" name="Line 1105"/>
            <p:cNvSpPr>
              <a:spLocks noChangeShapeType="1"/>
            </p:cNvSpPr>
            <p:nvPr/>
          </p:nvSpPr>
          <p:spPr bwMode="auto">
            <a:xfrm flipH="1">
              <a:off x="1114" y="1462"/>
              <a:ext cx="94" cy="60"/>
            </a:xfrm>
            <a:prstGeom prst="line">
              <a:avLst/>
            </a:prstGeom>
            <a:noFill/>
            <a:ln w="19050">
              <a:solidFill>
                <a:srgbClr val="008280"/>
              </a:solidFill>
              <a:round/>
              <a:headEnd/>
              <a:tailEnd/>
            </a:ln>
            <a:effectLst/>
          </p:spPr>
          <p:txBody>
            <a:bodyPr wrap="none" anchor="ctr"/>
            <a:lstStyle/>
            <a:p>
              <a:endParaRPr lang="en-US"/>
            </a:p>
          </p:txBody>
        </p:sp>
        <p:sp>
          <p:nvSpPr>
            <p:cNvPr id="916562" name="Line 1106"/>
            <p:cNvSpPr>
              <a:spLocks noChangeShapeType="1"/>
            </p:cNvSpPr>
            <p:nvPr/>
          </p:nvSpPr>
          <p:spPr bwMode="auto">
            <a:xfrm flipH="1" flipV="1">
              <a:off x="959" y="1489"/>
              <a:ext cx="155" cy="33"/>
            </a:xfrm>
            <a:prstGeom prst="line">
              <a:avLst/>
            </a:prstGeom>
            <a:noFill/>
            <a:ln w="19050">
              <a:solidFill>
                <a:srgbClr val="008280"/>
              </a:solidFill>
              <a:round/>
              <a:headEnd/>
              <a:tailEnd/>
            </a:ln>
            <a:effectLst/>
          </p:spPr>
          <p:txBody>
            <a:bodyPr wrap="none" anchor="ctr"/>
            <a:lstStyle/>
            <a:p>
              <a:endParaRPr lang="en-US"/>
            </a:p>
          </p:txBody>
        </p:sp>
        <p:sp>
          <p:nvSpPr>
            <p:cNvPr id="916563" name="Line 1107"/>
            <p:cNvSpPr>
              <a:spLocks noChangeShapeType="1"/>
            </p:cNvSpPr>
            <p:nvPr/>
          </p:nvSpPr>
          <p:spPr bwMode="auto">
            <a:xfrm flipV="1">
              <a:off x="1208" y="1306"/>
              <a:ext cx="34" cy="156"/>
            </a:xfrm>
            <a:prstGeom prst="line">
              <a:avLst/>
            </a:prstGeom>
            <a:noFill/>
            <a:ln w="19050">
              <a:solidFill>
                <a:srgbClr val="008280"/>
              </a:solidFill>
              <a:round/>
              <a:headEnd/>
              <a:tailEnd/>
            </a:ln>
            <a:effectLst/>
          </p:spPr>
          <p:txBody>
            <a:bodyPr wrap="none" anchor="ctr"/>
            <a:lstStyle/>
            <a:p>
              <a:endParaRPr lang="en-US"/>
            </a:p>
          </p:txBody>
        </p:sp>
        <p:sp>
          <p:nvSpPr>
            <p:cNvPr id="916564" name="Line 1108"/>
            <p:cNvSpPr>
              <a:spLocks noChangeShapeType="1"/>
            </p:cNvSpPr>
            <p:nvPr/>
          </p:nvSpPr>
          <p:spPr bwMode="auto">
            <a:xfrm flipH="1">
              <a:off x="382" y="316"/>
              <a:ext cx="95" cy="60"/>
            </a:xfrm>
            <a:prstGeom prst="line">
              <a:avLst/>
            </a:prstGeom>
            <a:noFill/>
            <a:ln w="19050">
              <a:solidFill>
                <a:srgbClr val="008280"/>
              </a:solidFill>
              <a:round/>
              <a:headEnd/>
              <a:tailEnd/>
            </a:ln>
            <a:effectLst/>
          </p:spPr>
          <p:txBody>
            <a:bodyPr wrap="none" anchor="ctr"/>
            <a:lstStyle/>
            <a:p>
              <a:endParaRPr lang="en-US"/>
            </a:p>
          </p:txBody>
        </p:sp>
        <p:sp>
          <p:nvSpPr>
            <p:cNvPr id="916565" name="Line 1109"/>
            <p:cNvSpPr>
              <a:spLocks noChangeShapeType="1"/>
            </p:cNvSpPr>
            <p:nvPr/>
          </p:nvSpPr>
          <p:spPr bwMode="auto">
            <a:xfrm flipH="1">
              <a:off x="349" y="376"/>
              <a:ext cx="33" cy="156"/>
            </a:xfrm>
            <a:prstGeom prst="line">
              <a:avLst/>
            </a:prstGeom>
            <a:noFill/>
            <a:ln w="19050">
              <a:solidFill>
                <a:srgbClr val="008280"/>
              </a:solidFill>
              <a:round/>
              <a:headEnd/>
              <a:tailEnd/>
            </a:ln>
            <a:effectLst/>
          </p:spPr>
          <p:txBody>
            <a:bodyPr wrap="none" anchor="ctr"/>
            <a:lstStyle/>
            <a:p>
              <a:endParaRPr lang="en-US"/>
            </a:p>
          </p:txBody>
        </p:sp>
        <p:sp>
          <p:nvSpPr>
            <p:cNvPr id="916566" name="Line 1110"/>
            <p:cNvSpPr>
              <a:spLocks noChangeShapeType="1"/>
            </p:cNvSpPr>
            <p:nvPr/>
          </p:nvSpPr>
          <p:spPr bwMode="auto">
            <a:xfrm>
              <a:off x="477" y="316"/>
              <a:ext cx="155" cy="33"/>
            </a:xfrm>
            <a:prstGeom prst="line">
              <a:avLst/>
            </a:prstGeom>
            <a:noFill/>
            <a:ln w="19050">
              <a:solidFill>
                <a:srgbClr val="008280"/>
              </a:solidFill>
              <a:round/>
              <a:headEnd/>
              <a:tailEnd/>
            </a:ln>
            <a:effectLst/>
          </p:spPr>
          <p:txBody>
            <a:bodyPr wrap="none" anchor="ctr"/>
            <a:lstStyle/>
            <a:p>
              <a:endParaRPr lang="en-US"/>
            </a:p>
          </p:txBody>
        </p:sp>
      </p:grpSp>
      <p:sp>
        <p:nvSpPr>
          <p:cNvPr id="916567" name="Freeform 1111"/>
          <p:cNvSpPr>
            <a:spLocks/>
          </p:cNvSpPr>
          <p:nvPr/>
        </p:nvSpPr>
        <p:spPr bwMode="auto">
          <a:xfrm>
            <a:off x="2146300" y="4295775"/>
            <a:ext cx="1295400" cy="336550"/>
          </a:xfrm>
          <a:custGeom>
            <a:avLst/>
            <a:gdLst/>
            <a:ahLst/>
            <a:cxnLst>
              <a:cxn ang="0">
                <a:pos x="0" y="0"/>
              </a:cxn>
              <a:cxn ang="0">
                <a:pos x="53" y="66"/>
              </a:cxn>
              <a:cxn ang="0">
                <a:pos x="113" y="124"/>
              </a:cxn>
              <a:cxn ang="0">
                <a:pos x="177" y="174"/>
              </a:cxn>
              <a:cxn ang="0">
                <a:pos x="246" y="215"/>
              </a:cxn>
              <a:cxn ang="0">
                <a:pos x="317" y="249"/>
              </a:cxn>
              <a:cxn ang="0">
                <a:pos x="393" y="275"/>
              </a:cxn>
              <a:cxn ang="0">
                <a:pos x="470" y="293"/>
              </a:cxn>
              <a:cxn ang="0">
                <a:pos x="549" y="302"/>
              </a:cxn>
              <a:cxn ang="0">
                <a:pos x="627" y="303"/>
              </a:cxn>
              <a:cxn ang="0">
                <a:pos x="705" y="297"/>
              </a:cxn>
              <a:cxn ang="0">
                <a:pos x="783" y="282"/>
              </a:cxn>
              <a:cxn ang="0">
                <a:pos x="860" y="257"/>
              </a:cxn>
              <a:cxn ang="0">
                <a:pos x="933" y="225"/>
              </a:cxn>
              <a:cxn ang="0">
                <a:pos x="1004" y="184"/>
              </a:cxn>
              <a:cxn ang="0">
                <a:pos x="1071" y="136"/>
              </a:cxn>
              <a:cxn ang="0">
                <a:pos x="1135" y="77"/>
              </a:cxn>
            </a:cxnLst>
            <a:rect l="0" t="0" r="r" b="b"/>
            <a:pathLst>
              <a:path w="1136" h="304">
                <a:moveTo>
                  <a:pt x="0" y="0"/>
                </a:moveTo>
                <a:lnTo>
                  <a:pt x="53" y="66"/>
                </a:lnTo>
                <a:lnTo>
                  <a:pt x="113" y="124"/>
                </a:lnTo>
                <a:lnTo>
                  <a:pt x="177" y="174"/>
                </a:lnTo>
                <a:lnTo>
                  <a:pt x="246" y="215"/>
                </a:lnTo>
                <a:lnTo>
                  <a:pt x="317" y="249"/>
                </a:lnTo>
                <a:lnTo>
                  <a:pt x="393" y="275"/>
                </a:lnTo>
                <a:lnTo>
                  <a:pt x="470" y="293"/>
                </a:lnTo>
                <a:lnTo>
                  <a:pt x="549" y="302"/>
                </a:lnTo>
                <a:lnTo>
                  <a:pt x="627" y="303"/>
                </a:lnTo>
                <a:lnTo>
                  <a:pt x="705" y="297"/>
                </a:lnTo>
                <a:lnTo>
                  <a:pt x="783" y="282"/>
                </a:lnTo>
                <a:lnTo>
                  <a:pt x="860" y="257"/>
                </a:lnTo>
                <a:lnTo>
                  <a:pt x="933" y="225"/>
                </a:lnTo>
                <a:lnTo>
                  <a:pt x="1004" y="184"/>
                </a:lnTo>
                <a:lnTo>
                  <a:pt x="1071" y="136"/>
                </a:lnTo>
                <a:lnTo>
                  <a:pt x="1135" y="77"/>
                </a:lnTo>
              </a:path>
            </a:pathLst>
          </a:custGeom>
          <a:noFill/>
          <a:ln w="19050" cap="flat" cmpd="sng">
            <a:solidFill>
              <a:srgbClr val="00605E"/>
            </a:solidFill>
            <a:prstDash val="solid"/>
            <a:round/>
            <a:headEnd type="triangle" w="med" len="med"/>
            <a:tailEnd type="none" w="med" len="med"/>
          </a:ln>
          <a:effectLst/>
        </p:spPr>
        <p:txBody>
          <a:bodyPr/>
          <a:lstStyle/>
          <a:p>
            <a:endParaRPr lang="en-US"/>
          </a:p>
        </p:txBody>
      </p:sp>
      <p:sp>
        <p:nvSpPr>
          <p:cNvPr id="916568" name="Text Box 1112"/>
          <p:cNvSpPr txBox="1">
            <a:spLocks noChangeArrowheads="1"/>
          </p:cNvSpPr>
          <p:nvPr/>
        </p:nvSpPr>
        <p:spPr bwMode="auto">
          <a:xfrm>
            <a:off x="2286000" y="4800600"/>
            <a:ext cx="1109663" cy="327025"/>
          </a:xfrm>
          <a:prstGeom prst="rect">
            <a:avLst/>
          </a:prstGeom>
          <a:noFill/>
          <a:ln w="9525">
            <a:noFill/>
            <a:miter lim="800000"/>
            <a:headEnd/>
            <a:tailEnd/>
          </a:ln>
          <a:effectLst/>
        </p:spPr>
        <p:txBody>
          <a:bodyPr lIns="0" tIns="0" rIns="0" bIns="0"/>
          <a:lstStyle/>
          <a:p>
            <a:pPr defTabSz="409575">
              <a:buClr>
                <a:srgbClr val="008280"/>
              </a:buClr>
              <a:buSzPct val="90000"/>
              <a:buFont typeface="Monotype Sorts" pitchFamily="2" charset="2"/>
              <a:buNone/>
            </a:pPr>
            <a:r>
              <a:rPr lang="en-US" sz="1800">
                <a:solidFill>
                  <a:srgbClr val="000000"/>
                </a:solidFill>
                <a:latin typeface="Arial" pitchFamily="34" charset="0"/>
              </a:rPr>
              <a:t>1000 RPM</a:t>
            </a:r>
            <a:endParaRPr lang="en-US" sz="1800">
              <a:latin typeface="Arial" pitchFamily="34" charset="0"/>
            </a:endParaRPr>
          </a:p>
        </p:txBody>
      </p:sp>
      <p:sp>
        <p:nvSpPr>
          <p:cNvPr id="916569" name="Text Box 1113"/>
          <p:cNvSpPr txBox="1">
            <a:spLocks noChangeArrowheads="1"/>
          </p:cNvSpPr>
          <p:nvPr/>
        </p:nvSpPr>
        <p:spPr bwMode="auto">
          <a:xfrm>
            <a:off x="4529138" y="504825"/>
            <a:ext cx="3582987" cy="531813"/>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endParaRPr lang="en-US" sz="2200"/>
          </a:p>
        </p:txBody>
      </p:sp>
      <p:sp>
        <p:nvSpPr>
          <p:cNvPr id="916570" name="Line 1114"/>
          <p:cNvSpPr>
            <a:spLocks noChangeShapeType="1"/>
          </p:cNvSpPr>
          <p:nvPr/>
        </p:nvSpPr>
        <p:spPr bwMode="auto">
          <a:xfrm>
            <a:off x="5348288" y="2705100"/>
            <a:ext cx="2881312" cy="0"/>
          </a:xfrm>
          <a:prstGeom prst="line">
            <a:avLst/>
          </a:prstGeom>
          <a:noFill/>
          <a:ln w="19050">
            <a:solidFill>
              <a:srgbClr val="008280"/>
            </a:solidFill>
            <a:round/>
            <a:headEnd/>
            <a:tailEnd type="triangle" w="med" len="med"/>
          </a:ln>
          <a:effectLst/>
        </p:spPr>
        <p:txBody>
          <a:bodyPr wrap="none" anchor="ctr"/>
          <a:lstStyle/>
          <a:p>
            <a:endParaRPr lang="en-US"/>
          </a:p>
        </p:txBody>
      </p:sp>
      <p:sp>
        <p:nvSpPr>
          <p:cNvPr id="916571" name="Line 1115"/>
          <p:cNvSpPr>
            <a:spLocks noChangeShapeType="1"/>
          </p:cNvSpPr>
          <p:nvPr/>
        </p:nvSpPr>
        <p:spPr bwMode="auto">
          <a:xfrm>
            <a:off x="5348288" y="1608138"/>
            <a:ext cx="0" cy="2185987"/>
          </a:xfrm>
          <a:prstGeom prst="line">
            <a:avLst/>
          </a:prstGeom>
          <a:noFill/>
          <a:ln w="19050">
            <a:solidFill>
              <a:srgbClr val="008280"/>
            </a:solidFill>
            <a:round/>
            <a:headEnd/>
            <a:tailEnd/>
          </a:ln>
          <a:effectLst/>
        </p:spPr>
        <p:txBody>
          <a:bodyPr wrap="none" anchor="ctr"/>
          <a:lstStyle/>
          <a:p>
            <a:endParaRPr lang="en-US"/>
          </a:p>
        </p:txBody>
      </p:sp>
      <p:sp>
        <p:nvSpPr>
          <p:cNvPr id="916572" name="Line 1116"/>
          <p:cNvSpPr>
            <a:spLocks noChangeShapeType="1"/>
          </p:cNvSpPr>
          <p:nvPr/>
        </p:nvSpPr>
        <p:spPr bwMode="auto">
          <a:xfrm>
            <a:off x="5348288" y="4278313"/>
            <a:ext cx="2592387" cy="0"/>
          </a:xfrm>
          <a:prstGeom prst="line">
            <a:avLst/>
          </a:prstGeom>
          <a:noFill/>
          <a:ln w="19050">
            <a:solidFill>
              <a:srgbClr val="008280"/>
            </a:solidFill>
            <a:round/>
            <a:headEnd/>
            <a:tailEnd/>
          </a:ln>
          <a:effectLst/>
        </p:spPr>
        <p:txBody>
          <a:bodyPr wrap="none" anchor="ctr"/>
          <a:lstStyle/>
          <a:p>
            <a:endParaRPr lang="en-US"/>
          </a:p>
        </p:txBody>
      </p:sp>
      <p:sp>
        <p:nvSpPr>
          <p:cNvPr id="916573" name="Line 1117"/>
          <p:cNvSpPr>
            <a:spLocks noChangeShapeType="1"/>
          </p:cNvSpPr>
          <p:nvPr/>
        </p:nvSpPr>
        <p:spPr bwMode="auto">
          <a:xfrm>
            <a:off x="5348288" y="4121150"/>
            <a:ext cx="0" cy="314325"/>
          </a:xfrm>
          <a:prstGeom prst="line">
            <a:avLst/>
          </a:prstGeom>
          <a:noFill/>
          <a:ln w="19050">
            <a:solidFill>
              <a:srgbClr val="008280"/>
            </a:solidFill>
            <a:round/>
            <a:headEnd/>
            <a:tailEnd/>
          </a:ln>
          <a:effectLst/>
        </p:spPr>
        <p:txBody>
          <a:bodyPr wrap="none" anchor="ctr"/>
          <a:lstStyle/>
          <a:p>
            <a:endParaRPr lang="en-US"/>
          </a:p>
        </p:txBody>
      </p:sp>
      <p:sp>
        <p:nvSpPr>
          <p:cNvPr id="916574" name="Line 1118"/>
          <p:cNvSpPr>
            <a:spLocks noChangeShapeType="1"/>
          </p:cNvSpPr>
          <p:nvPr/>
        </p:nvSpPr>
        <p:spPr bwMode="auto">
          <a:xfrm>
            <a:off x="7940675" y="4121150"/>
            <a:ext cx="0" cy="314325"/>
          </a:xfrm>
          <a:prstGeom prst="line">
            <a:avLst/>
          </a:prstGeom>
          <a:noFill/>
          <a:ln w="19050">
            <a:solidFill>
              <a:srgbClr val="008280"/>
            </a:solidFill>
            <a:round/>
            <a:headEnd/>
            <a:tailEnd/>
          </a:ln>
          <a:effectLst/>
        </p:spPr>
        <p:txBody>
          <a:bodyPr wrap="none" anchor="ctr"/>
          <a:lstStyle/>
          <a:p>
            <a:endParaRPr lang="en-US"/>
          </a:p>
        </p:txBody>
      </p:sp>
      <p:sp>
        <p:nvSpPr>
          <p:cNvPr id="916575" name="Text Box 1119"/>
          <p:cNvSpPr txBox="1">
            <a:spLocks noChangeArrowheads="1"/>
          </p:cNvSpPr>
          <p:nvPr/>
        </p:nvSpPr>
        <p:spPr bwMode="auto">
          <a:xfrm>
            <a:off x="5834063" y="4435475"/>
            <a:ext cx="1508125" cy="309563"/>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800">
                <a:solidFill>
                  <a:srgbClr val="000000"/>
                </a:solidFill>
                <a:latin typeface="Arial" pitchFamily="34" charset="0"/>
              </a:rPr>
              <a:t>1 revolution</a:t>
            </a:r>
            <a:endParaRPr lang="en-US" sz="1800">
              <a:latin typeface="Arial" pitchFamily="34" charset="0"/>
            </a:endParaRPr>
          </a:p>
        </p:txBody>
      </p:sp>
      <p:sp>
        <p:nvSpPr>
          <p:cNvPr id="916576" name="Text Box 1120"/>
          <p:cNvSpPr txBox="1">
            <a:spLocks noChangeArrowheads="1"/>
          </p:cNvSpPr>
          <p:nvPr/>
        </p:nvSpPr>
        <p:spPr bwMode="auto">
          <a:xfrm>
            <a:off x="8305800" y="2593975"/>
            <a:ext cx="655638" cy="3079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800">
                <a:solidFill>
                  <a:srgbClr val="000000"/>
                </a:solidFill>
                <a:latin typeface="Arial" pitchFamily="34" charset="0"/>
              </a:rPr>
              <a:t>Time</a:t>
            </a:r>
            <a:endParaRPr lang="en-US" sz="1800">
              <a:latin typeface="Arial" pitchFamily="34" charset="0"/>
            </a:endParaRPr>
          </a:p>
        </p:txBody>
      </p:sp>
      <p:sp>
        <p:nvSpPr>
          <p:cNvPr id="916577" name="Text Box 1121"/>
          <p:cNvSpPr txBox="1">
            <a:spLocks noChangeArrowheads="1"/>
          </p:cNvSpPr>
          <p:nvPr/>
        </p:nvSpPr>
        <p:spPr bwMode="auto">
          <a:xfrm rot="-5400000">
            <a:off x="4306094" y="2555081"/>
            <a:ext cx="1298575" cy="309563"/>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800">
                <a:solidFill>
                  <a:srgbClr val="000000"/>
                </a:solidFill>
                <a:latin typeface="Arial" pitchFamily="34" charset="0"/>
              </a:rPr>
              <a:t>Amplitude</a:t>
            </a:r>
            <a:endParaRPr lang="en-US" sz="1800">
              <a:latin typeface="Arial" pitchFamily="34" charset="0"/>
            </a:endParaRPr>
          </a:p>
        </p:txBody>
      </p:sp>
      <p:sp>
        <p:nvSpPr>
          <p:cNvPr id="916578" name="Text Box 1122"/>
          <p:cNvSpPr txBox="1">
            <a:spLocks noChangeArrowheads="1"/>
          </p:cNvSpPr>
          <p:nvPr/>
        </p:nvSpPr>
        <p:spPr bwMode="auto">
          <a:xfrm>
            <a:off x="5181600" y="2547938"/>
            <a:ext cx="171450" cy="3079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0</a:t>
            </a:r>
            <a:endParaRPr lang="en-US" sz="1600">
              <a:latin typeface="Arial" pitchFamily="34" charset="0"/>
            </a:endParaRPr>
          </a:p>
        </p:txBody>
      </p:sp>
      <p:sp>
        <p:nvSpPr>
          <p:cNvPr id="916579" name="Text Box 1123"/>
          <p:cNvSpPr txBox="1">
            <a:spLocks noChangeArrowheads="1"/>
          </p:cNvSpPr>
          <p:nvPr/>
        </p:nvSpPr>
        <p:spPr bwMode="auto">
          <a:xfrm>
            <a:off x="5181600" y="1447800"/>
            <a:ext cx="180975" cy="3079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a:t>
            </a:r>
            <a:endParaRPr lang="en-US" sz="1600">
              <a:latin typeface="Arial" pitchFamily="34" charset="0"/>
            </a:endParaRPr>
          </a:p>
        </p:txBody>
      </p:sp>
      <p:sp>
        <p:nvSpPr>
          <p:cNvPr id="916580" name="Text Box 1124"/>
          <p:cNvSpPr txBox="1">
            <a:spLocks noChangeArrowheads="1"/>
          </p:cNvSpPr>
          <p:nvPr/>
        </p:nvSpPr>
        <p:spPr bwMode="auto">
          <a:xfrm>
            <a:off x="5219700" y="3492500"/>
            <a:ext cx="155575" cy="458788"/>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a:t>
            </a:r>
            <a:endParaRPr lang="en-US" sz="1600">
              <a:latin typeface="Arial" pitchFamily="34" charset="0"/>
            </a:endParaRPr>
          </a:p>
        </p:txBody>
      </p:sp>
      <p:grpSp>
        <p:nvGrpSpPr>
          <p:cNvPr id="916581" name="Group 1125"/>
          <p:cNvGrpSpPr>
            <a:grpSpLocks/>
          </p:cNvGrpSpPr>
          <p:nvPr/>
        </p:nvGrpSpPr>
        <p:grpSpPr bwMode="auto">
          <a:xfrm>
            <a:off x="5373688" y="1755775"/>
            <a:ext cx="2570162" cy="1928813"/>
            <a:chOff x="2802" y="1414"/>
            <a:chExt cx="1781" cy="1377"/>
          </a:xfrm>
        </p:grpSpPr>
        <p:grpSp>
          <p:nvGrpSpPr>
            <p:cNvPr id="916582" name="Group 1126"/>
            <p:cNvGrpSpPr>
              <a:grpSpLocks/>
            </p:cNvGrpSpPr>
            <p:nvPr/>
          </p:nvGrpSpPr>
          <p:grpSpPr bwMode="auto">
            <a:xfrm>
              <a:off x="2802" y="1414"/>
              <a:ext cx="888" cy="1365"/>
              <a:chOff x="2802" y="1414"/>
              <a:chExt cx="888" cy="1365"/>
            </a:xfrm>
          </p:grpSpPr>
          <p:sp>
            <p:nvSpPr>
              <p:cNvPr id="916583" name="Freeform 1127"/>
              <p:cNvSpPr>
                <a:spLocks/>
              </p:cNvSpPr>
              <p:nvPr/>
            </p:nvSpPr>
            <p:spPr bwMode="auto">
              <a:xfrm>
                <a:off x="2802" y="1414"/>
                <a:ext cx="77" cy="672"/>
              </a:xfrm>
              <a:custGeom>
                <a:avLst/>
                <a:gdLst/>
                <a:ahLst/>
                <a:cxnLst>
                  <a:cxn ang="0">
                    <a:pos x="76" y="671"/>
                  </a:cxn>
                  <a:cxn ang="0">
                    <a:pos x="71" y="514"/>
                  </a:cxn>
                  <a:cxn ang="0">
                    <a:pos x="68" y="378"/>
                  </a:cxn>
                  <a:cxn ang="0">
                    <a:pos x="62" y="262"/>
                  </a:cxn>
                  <a:cxn ang="0">
                    <a:pos x="58" y="168"/>
                  </a:cxn>
                  <a:cxn ang="0">
                    <a:pos x="53" y="95"/>
                  </a:cxn>
                  <a:cxn ang="0">
                    <a:pos x="48" y="42"/>
                  </a:cxn>
                  <a:cxn ang="0">
                    <a:pos x="42" y="11"/>
                  </a:cxn>
                  <a:cxn ang="0">
                    <a:pos x="38" y="0"/>
                  </a:cxn>
                  <a:cxn ang="0">
                    <a:pos x="32" y="11"/>
                  </a:cxn>
                  <a:cxn ang="0">
                    <a:pos x="26" y="42"/>
                  </a:cxn>
                  <a:cxn ang="0">
                    <a:pos x="21" y="95"/>
                  </a:cxn>
                  <a:cxn ang="0">
                    <a:pos x="16" y="168"/>
                  </a:cxn>
                  <a:cxn ang="0">
                    <a:pos x="10" y="262"/>
                  </a:cxn>
                  <a:cxn ang="0">
                    <a:pos x="6" y="378"/>
                  </a:cxn>
                  <a:cxn ang="0">
                    <a:pos x="3" y="514"/>
                  </a:cxn>
                  <a:cxn ang="0">
                    <a:pos x="0" y="671"/>
                  </a:cxn>
                </a:cxnLst>
                <a:rect l="0" t="0" r="r" b="b"/>
                <a:pathLst>
                  <a:path w="77" h="672">
                    <a:moveTo>
                      <a:pt x="76" y="671"/>
                    </a:moveTo>
                    <a:lnTo>
                      <a:pt x="71" y="514"/>
                    </a:lnTo>
                    <a:lnTo>
                      <a:pt x="68" y="378"/>
                    </a:lnTo>
                    <a:lnTo>
                      <a:pt x="62" y="262"/>
                    </a:lnTo>
                    <a:lnTo>
                      <a:pt x="58" y="168"/>
                    </a:lnTo>
                    <a:lnTo>
                      <a:pt x="53" y="95"/>
                    </a:lnTo>
                    <a:lnTo>
                      <a:pt x="48" y="42"/>
                    </a:lnTo>
                    <a:lnTo>
                      <a:pt x="42" y="11"/>
                    </a:lnTo>
                    <a:lnTo>
                      <a:pt x="38" y="0"/>
                    </a:lnTo>
                    <a:lnTo>
                      <a:pt x="32" y="11"/>
                    </a:lnTo>
                    <a:lnTo>
                      <a:pt x="26" y="42"/>
                    </a:lnTo>
                    <a:lnTo>
                      <a:pt x="21" y="95"/>
                    </a:lnTo>
                    <a:lnTo>
                      <a:pt x="16" y="168"/>
                    </a:lnTo>
                    <a:lnTo>
                      <a:pt x="10" y="262"/>
                    </a:lnTo>
                    <a:lnTo>
                      <a:pt x="6" y="378"/>
                    </a:lnTo>
                    <a:lnTo>
                      <a:pt x="3" y="514"/>
                    </a:lnTo>
                    <a:lnTo>
                      <a:pt x="0" y="67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584" name="Freeform 1128"/>
              <p:cNvSpPr>
                <a:spLocks/>
              </p:cNvSpPr>
              <p:nvPr/>
            </p:nvSpPr>
            <p:spPr bwMode="auto">
              <a:xfrm>
                <a:off x="2878" y="2095"/>
                <a:ext cx="77" cy="672"/>
              </a:xfrm>
              <a:custGeom>
                <a:avLst/>
                <a:gdLst/>
                <a:ahLst/>
                <a:cxnLst>
                  <a:cxn ang="0">
                    <a:pos x="76" y="0"/>
                  </a:cxn>
                  <a:cxn ang="0">
                    <a:pos x="72" y="158"/>
                  </a:cxn>
                  <a:cxn ang="0">
                    <a:pos x="68" y="294"/>
                  </a:cxn>
                  <a:cxn ang="0">
                    <a:pos x="62" y="410"/>
                  </a:cxn>
                  <a:cxn ang="0">
                    <a:pos x="58" y="504"/>
                  </a:cxn>
                  <a:cxn ang="0">
                    <a:pos x="53" y="578"/>
                  </a:cxn>
                  <a:cxn ang="0">
                    <a:pos x="48" y="630"/>
                  </a:cxn>
                  <a:cxn ang="0">
                    <a:pos x="42" y="661"/>
                  </a:cxn>
                  <a:cxn ang="0">
                    <a:pos x="38" y="671"/>
                  </a:cxn>
                  <a:cxn ang="0">
                    <a:pos x="32" y="661"/>
                  </a:cxn>
                  <a:cxn ang="0">
                    <a:pos x="26" y="630"/>
                  </a:cxn>
                  <a:cxn ang="0">
                    <a:pos x="21" y="578"/>
                  </a:cxn>
                  <a:cxn ang="0">
                    <a:pos x="16" y="504"/>
                  </a:cxn>
                  <a:cxn ang="0">
                    <a:pos x="11" y="410"/>
                  </a:cxn>
                  <a:cxn ang="0">
                    <a:pos x="7" y="294"/>
                  </a:cxn>
                  <a:cxn ang="0">
                    <a:pos x="4" y="158"/>
                  </a:cxn>
                  <a:cxn ang="0">
                    <a:pos x="0" y="0"/>
                  </a:cxn>
                </a:cxnLst>
                <a:rect l="0" t="0" r="r" b="b"/>
                <a:pathLst>
                  <a:path w="77" h="672">
                    <a:moveTo>
                      <a:pt x="76" y="0"/>
                    </a:moveTo>
                    <a:lnTo>
                      <a:pt x="72" y="158"/>
                    </a:lnTo>
                    <a:lnTo>
                      <a:pt x="68" y="294"/>
                    </a:lnTo>
                    <a:lnTo>
                      <a:pt x="62" y="410"/>
                    </a:lnTo>
                    <a:lnTo>
                      <a:pt x="58" y="504"/>
                    </a:lnTo>
                    <a:lnTo>
                      <a:pt x="53" y="578"/>
                    </a:lnTo>
                    <a:lnTo>
                      <a:pt x="48" y="630"/>
                    </a:lnTo>
                    <a:lnTo>
                      <a:pt x="42" y="661"/>
                    </a:lnTo>
                    <a:lnTo>
                      <a:pt x="38" y="671"/>
                    </a:lnTo>
                    <a:lnTo>
                      <a:pt x="32" y="661"/>
                    </a:lnTo>
                    <a:lnTo>
                      <a:pt x="26" y="630"/>
                    </a:lnTo>
                    <a:lnTo>
                      <a:pt x="21" y="578"/>
                    </a:lnTo>
                    <a:lnTo>
                      <a:pt x="16" y="504"/>
                    </a:lnTo>
                    <a:lnTo>
                      <a:pt x="11" y="410"/>
                    </a:lnTo>
                    <a:lnTo>
                      <a:pt x="7" y="294"/>
                    </a:lnTo>
                    <a:lnTo>
                      <a:pt x="4" y="158"/>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585" name="Freeform 1129"/>
              <p:cNvSpPr>
                <a:spLocks/>
              </p:cNvSpPr>
              <p:nvPr/>
            </p:nvSpPr>
            <p:spPr bwMode="auto">
              <a:xfrm>
                <a:off x="2964" y="1418"/>
                <a:ext cx="77" cy="672"/>
              </a:xfrm>
              <a:custGeom>
                <a:avLst/>
                <a:gdLst/>
                <a:ahLst/>
                <a:cxnLst>
                  <a:cxn ang="0">
                    <a:pos x="76" y="671"/>
                  </a:cxn>
                  <a:cxn ang="0">
                    <a:pos x="72" y="514"/>
                  </a:cxn>
                  <a:cxn ang="0">
                    <a:pos x="68" y="378"/>
                  </a:cxn>
                  <a:cxn ang="0">
                    <a:pos x="62" y="263"/>
                  </a:cxn>
                  <a:cxn ang="0">
                    <a:pos x="58" y="168"/>
                  </a:cxn>
                  <a:cxn ang="0">
                    <a:pos x="53" y="96"/>
                  </a:cxn>
                  <a:cxn ang="0">
                    <a:pos x="48" y="43"/>
                  </a:cxn>
                  <a:cxn ang="0">
                    <a:pos x="42" y="12"/>
                  </a:cxn>
                  <a:cxn ang="0">
                    <a:pos x="38" y="0"/>
                  </a:cxn>
                  <a:cxn ang="0">
                    <a:pos x="32" y="12"/>
                  </a:cxn>
                  <a:cxn ang="0">
                    <a:pos x="27" y="43"/>
                  </a:cxn>
                  <a:cxn ang="0">
                    <a:pos x="21" y="96"/>
                  </a:cxn>
                  <a:cxn ang="0">
                    <a:pos x="16" y="168"/>
                  </a:cxn>
                  <a:cxn ang="0">
                    <a:pos x="10" y="263"/>
                  </a:cxn>
                  <a:cxn ang="0">
                    <a:pos x="7" y="378"/>
                  </a:cxn>
                  <a:cxn ang="0">
                    <a:pos x="3" y="514"/>
                  </a:cxn>
                  <a:cxn ang="0">
                    <a:pos x="0" y="671"/>
                  </a:cxn>
                </a:cxnLst>
                <a:rect l="0" t="0" r="r" b="b"/>
                <a:pathLst>
                  <a:path w="77" h="672">
                    <a:moveTo>
                      <a:pt x="76" y="671"/>
                    </a:moveTo>
                    <a:lnTo>
                      <a:pt x="72" y="514"/>
                    </a:lnTo>
                    <a:lnTo>
                      <a:pt x="68" y="378"/>
                    </a:lnTo>
                    <a:lnTo>
                      <a:pt x="62" y="263"/>
                    </a:lnTo>
                    <a:lnTo>
                      <a:pt x="58" y="168"/>
                    </a:lnTo>
                    <a:lnTo>
                      <a:pt x="53" y="96"/>
                    </a:lnTo>
                    <a:lnTo>
                      <a:pt x="48" y="43"/>
                    </a:lnTo>
                    <a:lnTo>
                      <a:pt x="42" y="12"/>
                    </a:lnTo>
                    <a:lnTo>
                      <a:pt x="38" y="0"/>
                    </a:lnTo>
                    <a:lnTo>
                      <a:pt x="32" y="12"/>
                    </a:lnTo>
                    <a:lnTo>
                      <a:pt x="27" y="43"/>
                    </a:lnTo>
                    <a:lnTo>
                      <a:pt x="21" y="96"/>
                    </a:lnTo>
                    <a:lnTo>
                      <a:pt x="16" y="168"/>
                    </a:lnTo>
                    <a:lnTo>
                      <a:pt x="10" y="263"/>
                    </a:lnTo>
                    <a:lnTo>
                      <a:pt x="7" y="378"/>
                    </a:lnTo>
                    <a:lnTo>
                      <a:pt x="3" y="514"/>
                    </a:lnTo>
                    <a:lnTo>
                      <a:pt x="0" y="67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586" name="Freeform 1130"/>
              <p:cNvSpPr>
                <a:spLocks/>
              </p:cNvSpPr>
              <p:nvPr/>
            </p:nvSpPr>
            <p:spPr bwMode="auto">
              <a:xfrm>
                <a:off x="3040" y="2099"/>
                <a:ext cx="77" cy="672"/>
              </a:xfrm>
              <a:custGeom>
                <a:avLst/>
                <a:gdLst/>
                <a:ahLst/>
                <a:cxnLst>
                  <a:cxn ang="0">
                    <a:pos x="76" y="0"/>
                  </a:cxn>
                  <a:cxn ang="0">
                    <a:pos x="72" y="159"/>
                  </a:cxn>
                  <a:cxn ang="0">
                    <a:pos x="68" y="295"/>
                  </a:cxn>
                  <a:cxn ang="0">
                    <a:pos x="62" y="410"/>
                  </a:cxn>
                  <a:cxn ang="0">
                    <a:pos x="58" y="504"/>
                  </a:cxn>
                  <a:cxn ang="0">
                    <a:pos x="53" y="579"/>
                  </a:cxn>
                  <a:cxn ang="0">
                    <a:pos x="48" y="630"/>
                  </a:cxn>
                  <a:cxn ang="0">
                    <a:pos x="42" y="661"/>
                  </a:cxn>
                  <a:cxn ang="0">
                    <a:pos x="38" y="671"/>
                  </a:cxn>
                  <a:cxn ang="0">
                    <a:pos x="32" y="661"/>
                  </a:cxn>
                  <a:cxn ang="0">
                    <a:pos x="27" y="630"/>
                  </a:cxn>
                  <a:cxn ang="0">
                    <a:pos x="21" y="579"/>
                  </a:cxn>
                  <a:cxn ang="0">
                    <a:pos x="17" y="504"/>
                  </a:cxn>
                  <a:cxn ang="0">
                    <a:pos x="11" y="410"/>
                  </a:cxn>
                  <a:cxn ang="0">
                    <a:pos x="8" y="295"/>
                  </a:cxn>
                  <a:cxn ang="0">
                    <a:pos x="4" y="159"/>
                  </a:cxn>
                  <a:cxn ang="0">
                    <a:pos x="0" y="0"/>
                  </a:cxn>
                </a:cxnLst>
                <a:rect l="0" t="0" r="r" b="b"/>
                <a:pathLst>
                  <a:path w="77" h="672">
                    <a:moveTo>
                      <a:pt x="76" y="0"/>
                    </a:moveTo>
                    <a:lnTo>
                      <a:pt x="72" y="159"/>
                    </a:lnTo>
                    <a:lnTo>
                      <a:pt x="68" y="295"/>
                    </a:lnTo>
                    <a:lnTo>
                      <a:pt x="62" y="410"/>
                    </a:lnTo>
                    <a:lnTo>
                      <a:pt x="58" y="504"/>
                    </a:lnTo>
                    <a:lnTo>
                      <a:pt x="53" y="579"/>
                    </a:lnTo>
                    <a:lnTo>
                      <a:pt x="48" y="630"/>
                    </a:lnTo>
                    <a:lnTo>
                      <a:pt x="42" y="661"/>
                    </a:lnTo>
                    <a:lnTo>
                      <a:pt x="38" y="671"/>
                    </a:lnTo>
                    <a:lnTo>
                      <a:pt x="32" y="661"/>
                    </a:lnTo>
                    <a:lnTo>
                      <a:pt x="27" y="630"/>
                    </a:lnTo>
                    <a:lnTo>
                      <a:pt x="21" y="579"/>
                    </a:lnTo>
                    <a:lnTo>
                      <a:pt x="17" y="504"/>
                    </a:lnTo>
                    <a:lnTo>
                      <a:pt x="11" y="410"/>
                    </a:lnTo>
                    <a:lnTo>
                      <a:pt x="8" y="295"/>
                    </a:lnTo>
                    <a:lnTo>
                      <a:pt x="4" y="159"/>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587" name="Freeform 1131"/>
              <p:cNvSpPr>
                <a:spLocks/>
              </p:cNvSpPr>
              <p:nvPr/>
            </p:nvSpPr>
            <p:spPr bwMode="auto">
              <a:xfrm>
                <a:off x="3116" y="1426"/>
                <a:ext cx="77" cy="672"/>
              </a:xfrm>
              <a:custGeom>
                <a:avLst/>
                <a:gdLst/>
                <a:ahLst/>
                <a:cxnLst>
                  <a:cxn ang="0">
                    <a:pos x="76" y="671"/>
                  </a:cxn>
                  <a:cxn ang="0">
                    <a:pos x="70" y="514"/>
                  </a:cxn>
                  <a:cxn ang="0">
                    <a:pos x="67" y="378"/>
                  </a:cxn>
                  <a:cxn ang="0">
                    <a:pos x="61" y="263"/>
                  </a:cxn>
                  <a:cxn ang="0">
                    <a:pos x="58" y="168"/>
                  </a:cxn>
                  <a:cxn ang="0">
                    <a:pos x="52" y="96"/>
                  </a:cxn>
                  <a:cxn ang="0">
                    <a:pos x="47" y="43"/>
                  </a:cxn>
                  <a:cxn ang="0">
                    <a:pos x="41" y="12"/>
                  </a:cxn>
                  <a:cxn ang="0">
                    <a:pos x="37" y="0"/>
                  </a:cxn>
                  <a:cxn ang="0">
                    <a:pos x="31" y="12"/>
                  </a:cxn>
                  <a:cxn ang="0">
                    <a:pos x="26" y="43"/>
                  </a:cxn>
                  <a:cxn ang="0">
                    <a:pos x="20" y="96"/>
                  </a:cxn>
                  <a:cxn ang="0">
                    <a:pos x="16" y="168"/>
                  </a:cxn>
                  <a:cxn ang="0">
                    <a:pos x="10" y="263"/>
                  </a:cxn>
                  <a:cxn ang="0">
                    <a:pos x="6" y="378"/>
                  </a:cxn>
                  <a:cxn ang="0">
                    <a:pos x="2" y="514"/>
                  </a:cxn>
                  <a:cxn ang="0">
                    <a:pos x="0" y="671"/>
                  </a:cxn>
                </a:cxnLst>
                <a:rect l="0" t="0" r="r" b="b"/>
                <a:pathLst>
                  <a:path w="77" h="672">
                    <a:moveTo>
                      <a:pt x="76" y="671"/>
                    </a:moveTo>
                    <a:lnTo>
                      <a:pt x="70" y="514"/>
                    </a:lnTo>
                    <a:lnTo>
                      <a:pt x="67" y="378"/>
                    </a:lnTo>
                    <a:lnTo>
                      <a:pt x="61" y="263"/>
                    </a:lnTo>
                    <a:lnTo>
                      <a:pt x="58" y="168"/>
                    </a:lnTo>
                    <a:lnTo>
                      <a:pt x="52" y="96"/>
                    </a:lnTo>
                    <a:lnTo>
                      <a:pt x="47" y="43"/>
                    </a:lnTo>
                    <a:lnTo>
                      <a:pt x="41" y="12"/>
                    </a:lnTo>
                    <a:lnTo>
                      <a:pt x="37" y="0"/>
                    </a:lnTo>
                    <a:lnTo>
                      <a:pt x="31" y="12"/>
                    </a:lnTo>
                    <a:lnTo>
                      <a:pt x="26" y="43"/>
                    </a:lnTo>
                    <a:lnTo>
                      <a:pt x="20" y="96"/>
                    </a:lnTo>
                    <a:lnTo>
                      <a:pt x="16" y="168"/>
                    </a:lnTo>
                    <a:lnTo>
                      <a:pt x="10" y="263"/>
                    </a:lnTo>
                    <a:lnTo>
                      <a:pt x="6" y="378"/>
                    </a:lnTo>
                    <a:lnTo>
                      <a:pt x="2" y="514"/>
                    </a:lnTo>
                    <a:lnTo>
                      <a:pt x="0" y="67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588" name="Freeform 1132"/>
              <p:cNvSpPr>
                <a:spLocks/>
              </p:cNvSpPr>
              <p:nvPr/>
            </p:nvSpPr>
            <p:spPr bwMode="auto">
              <a:xfrm>
                <a:off x="3192" y="2107"/>
                <a:ext cx="76" cy="672"/>
              </a:xfrm>
              <a:custGeom>
                <a:avLst/>
                <a:gdLst/>
                <a:ahLst/>
                <a:cxnLst>
                  <a:cxn ang="0">
                    <a:pos x="75" y="0"/>
                  </a:cxn>
                  <a:cxn ang="0">
                    <a:pos x="71" y="159"/>
                  </a:cxn>
                  <a:cxn ang="0">
                    <a:pos x="67" y="295"/>
                  </a:cxn>
                  <a:cxn ang="0">
                    <a:pos x="61" y="410"/>
                  </a:cxn>
                  <a:cxn ang="0">
                    <a:pos x="58" y="504"/>
                  </a:cxn>
                  <a:cxn ang="0">
                    <a:pos x="52" y="579"/>
                  </a:cxn>
                  <a:cxn ang="0">
                    <a:pos x="47" y="630"/>
                  </a:cxn>
                  <a:cxn ang="0">
                    <a:pos x="41" y="661"/>
                  </a:cxn>
                  <a:cxn ang="0">
                    <a:pos x="37" y="671"/>
                  </a:cxn>
                  <a:cxn ang="0">
                    <a:pos x="31" y="661"/>
                  </a:cxn>
                  <a:cxn ang="0">
                    <a:pos x="26" y="630"/>
                  </a:cxn>
                  <a:cxn ang="0">
                    <a:pos x="20" y="579"/>
                  </a:cxn>
                  <a:cxn ang="0">
                    <a:pos x="16" y="504"/>
                  </a:cxn>
                  <a:cxn ang="0">
                    <a:pos x="10" y="410"/>
                  </a:cxn>
                  <a:cxn ang="0">
                    <a:pos x="6" y="295"/>
                  </a:cxn>
                  <a:cxn ang="0">
                    <a:pos x="3" y="159"/>
                  </a:cxn>
                  <a:cxn ang="0">
                    <a:pos x="0" y="0"/>
                  </a:cxn>
                </a:cxnLst>
                <a:rect l="0" t="0" r="r" b="b"/>
                <a:pathLst>
                  <a:path w="76" h="672">
                    <a:moveTo>
                      <a:pt x="75" y="0"/>
                    </a:moveTo>
                    <a:lnTo>
                      <a:pt x="71" y="159"/>
                    </a:lnTo>
                    <a:lnTo>
                      <a:pt x="67" y="295"/>
                    </a:lnTo>
                    <a:lnTo>
                      <a:pt x="61" y="410"/>
                    </a:lnTo>
                    <a:lnTo>
                      <a:pt x="58" y="504"/>
                    </a:lnTo>
                    <a:lnTo>
                      <a:pt x="52" y="579"/>
                    </a:lnTo>
                    <a:lnTo>
                      <a:pt x="47" y="630"/>
                    </a:lnTo>
                    <a:lnTo>
                      <a:pt x="41" y="661"/>
                    </a:lnTo>
                    <a:lnTo>
                      <a:pt x="37" y="671"/>
                    </a:lnTo>
                    <a:lnTo>
                      <a:pt x="31" y="661"/>
                    </a:lnTo>
                    <a:lnTo>
                      <a:pt x="26" y="630"/>
                    </a:lnTo>
                    <a:lnTo>
                      <a:pt x="20" y="579"/>
                    </a:lnTo>
                    <a:lnTo>
                      <a:pt x="16" y="504"/>
                    </a:lnTo>
                    <a:lnTo>
                      <a:pt x="10" y="410"/>
                    </a:lnTo>
                    <a:lnTo>
                      <a:pt x="6" y="295"/>
                    </a:lnTo>
                    <a:lnTo>
                      <a:pt x="3" y="159"/>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589" name="Freeform 1133"/>
              <p:cNvSpPr>
                <a:spLocks/>
              </p:cNvSpPr>
              <p:nvPr/>
            </p:nvSpPr>
            <p:spPr bwMode="auto">
              <a:xfrm>
                <a:off x="3253" y="1426"/>
                <a:ext cx="78" cy="671"/>
              </a:xfrm>
              <a:custGeom>
                <a:avLst/>
                <a:gdLst/>
                <a:ahLst/>
                <a:cxnLst>
                  <a:cxn ang="0">
                    <a:pos x="77" y="670"/>
                  </a:cxn>
                  <a:cxn ang="0">
                    <a:pos x="71" y="514"/>
                  </a:cxn>
                  <a:cxn ang="0">
                    <a:pos x="68" y="378"/>
                  </a:cxn>
                  <a:cxn ang="0">
                    <a:pos x="62" y="262"/>
                  </a:cxn>
                  <a:cxn ang="0">
                    <a:pos x="58" y="168"/>
                  </a:cxn>
                  <a:cxn ang="0">
                    <a:pos x="53" y="95"/>
                  </a:cxn>
                  <a:cxn ang="0">
                    <a:pos x="48" y="42"/>
                  </a:cxn>
                  <a:cxn ang="0">
                    <a:pos x="42" y="11"/>
                  </a:cxn>
                  <a:cxn ang="0">
                    <a:pos x="37" y="0"/>
                  </a:cxn>
                  <a:cxn ang="0">
                    <a:pos x="31" y="11"/>
                  </a:cxn>
                  <a:cxn ang="0">
                    <a:pos x="26" y="42"/>
                  </a:cxn>
                  <a:cxn ang="0">
                    <a:pos x="20" y="95"/>
                  </a:cxn>
                  <a:cxn ang="0">
                    <a:pos x="16" y="168"/>
                  </a:cxn>
                  <a:cxn ang="0">
                    <a:pos x="10" y="262"/>
                  </a:cxn>
                  <a:cxn ang="0">
                    <a:pos x="7" y="378"/>
                  </a:cxn>
                  <a:cxn ang="0">
                    <a:pos x="3" y="514"/>
                  </a:cxn>
                  <a:cxn ang="0">
                    <a:pos x="0" y="670"/>
                  </a:cxn>
                </a:cxnLst>
                <a:rect l="0" t="0" r="r" b="b"/>
                <a:pathLst>
                  <a:path w="78" h="671">
                    <a:moveTo>
                      <a:pt x="77" y="670"/>
                    </a:moveTo>
                    <a:lnTo>
                      <a:pt x="71" y="514"/>
                    </a:lnTo>
                    <a:lnTo>
                      <a:pt x="68" y="378"/>
                    </a:lnTo>
                    <a:lnTo>
                      <a:pt x="62" y="262"/>
                    </a:lnTo>
                    <a:lnTo>
                      <a:pt x="58" y="168"/>
                    </a:lnTo>
                    <a:lnTo>
                      <a:pt x="53" y="95"/>
                    </a:lnTo>
                    <a:lnTo>
                      <a:pt x="48" y="42"/>
                    </a:lnTo>
                    <a:lnTo>
                      <a:pt x="42" y="11"/>
                    </a:lnTo>
                    <a:lnTo>
                      <a:pt x="37" y="0"/>
                    </a:lnTo>
                    <a:lnTo>
                      <a:pt x="31" y="11"/>
                    </a:lnTo>
                    <a:lnTo>
                      <a:pt x="26" y="42"/>
                    </a:lnTo>
                    <a:lnTo>
                      <a:pt x="20" y="95"/>
                    </a:lnTo>
                    <a:lnTo>
                      <a:pt x="16" y="168"/>
                    </a:lnTo>
                    <a:lnTo>
                      <a:pt x="10" y="262"/>
                    </a:lnTo>
                    <a:lnTo>
                      <a:pt x="7" y="378"/>
                    </a:lnTo>
                    <a:lnTo>
                      <a:pt x="3" y="514"/>
                    </a:lnTo>
                    <a:lnTo>
                      <a:pt x="0" y="67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590" name="Freeform 1134"/>
              <p:cNvSpPr>
                <a:spLocks/>
              </p:cNvSpPr>
              <p:nvPr/>
            </p:nvSpPr>
            <p:spPr bwMode="auto">
              <a:xfrm>
                <a:off x="3330" y="2106"/>
                <a:ext cx="76" cy="673"/>
              </a:xfrm>
              <a:custGeom>
                <a:avLst/>
                <a:gdLst/>
                <a:ahLst/>
                <a:cxnLst>
                  <a:cxn ang="0">
                    <a:pos x="75" y="0"/>
                  </a:cxn>
                  <a:cxn ang="0">
                    <a:pos x="71" y="159"/>
                  </a:cxn>
                  <a:cxn ang="0">
                    <a:pos x="67" y="295"/>
                  </a:cxn>
                  <a:cxn ang="0">
                    <a:pos x="61" y="410"/>
                  </a:cxn>
                  <a:cxn ang="0">
                    <a:pos x="58" y="505"/>
                  </a:cxn>
                  <a:cxn ang="0">
                    <a:pos x="52" y="579"/>
                  </a:cxn>
                  <a:cxn ang="0">
                    <a:pos x="47" y="631"/>
                  </a:cxn>
                  <a:cxn ang="0">
                    <a:pos x="41" y="662"/>
                  </a:cxn>
                  <a:cxn ang="0">
                    <a:pos x="37" y="672"/>
                  </a:cxn>
                  <a:cxn ang="0">
                    <a:pos x="31" y="662"/>
                  </a:cxn>
                  <a:cxn ang="0">
                    <a:pos x="26" y="631"/>
                  </a:cxn>
                  <a:cxn ang="0">
                    <a:pos x="20" y="579"/>
                  </a:cxn>
                  <a:cxn ang="0">
                    <a:pos x="16" y="505"/>
                  </a:cxn>
                  <a:cxn ang="0">
                    <a:pos x="10" y="410"/>
                  </a:cxn>
                  <a:cxn ang="0">
                    <a:pos x="6" y="295"/>
                  </a:cxn>
                  <a:cxn ang="0">
                    <a:pos x="2" y="159"/>
                  </a:cxn>
                  <a:cxn ang="0">
                    <a:pos x="0" y="0"/>
                  </a:cxn>
                </a:cxnLst>
                <a:rect l="0" t="0" r="r" b="b"/>
                <a:pathLst>
                  <a:path w="76" h="673">
                    <a:moveTo>
                      <a:pt x="75" y="0"/>
                    </a:moveTo>
                    <a:lnTo>
                      <a:pt x="71" y="159"/>
                    </a:lnTo>
                    <a:lnTo>
                      <a:pt x="67" y="295"/>
                    </a:lnTo>
                    <a:lnTo>
                      <a:pt x="61" y="410"/>
                    </a:lnTo>
                    <a:lnTo>
                      <a:pt x="58" y="505"/>
                    </a:lnTo>
                    <a:lnTo>
                      <a:pt x="52" y="579"/>
                    </a:lnTo>
                    <a:lnTo>
                      <a:pt x="47" y="631"/>
                    </a:lnTo>
                    <a:lnTo>
                      <a:pt x="41" y="662"/>
                    </a:lnTo>
                    <a:lnTo>
                      <a:pt x="37" y="672"/>
                    </a:lnTo>
                    <a:lnTo>
                      <a:pt x="31" y="662"/>
                    </a:lnTo>
                    <a:lnTo>
                      <a:pt x="26" y="631"/>
                    </a:lnTo>
                    <a:lnTo>
                      <a:pt x="20" y="579"/>
                    </a:lnTo>
                    <a:lnTo>
                      <a:pt x="16" y="505"/>
                    </a:lnTo>
                    <a:lnTo>
                      <a:pt x="10" y="410"/>
                    </a:lnTo>
                    <a:lnTo>
                      <a:pt x="6" y="295"/>
                    </a:lnTo>
                    <a:lnTo>
                      <a:pt x="2" y="159"/>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591" name="Freeform 1135"/>
              <p:cNvSpPr>
                <a:spLocks/>
              </p:cNvSpPr>
              <p:nvPr/>
            </p:nvSpPr>
            <p:spPr bwMode="auto">
              <a:xfrm>
                <a:off x="3391" y="1417"/>
                <a:ext cx="77" cy="672"/>
              </a:xfrm>
              <a:custGeom>
                <a:avLst/>
                <a:gdLst/>
                <a:ahLst/>
                <a:cxnLst>
                  <a:cxn ang="0">
                    <a:pos x="76" y="671"/>
                  </a:cxn>
                  <a:cxn ang="0">
                    <a:pos x="71" y="514"/>
                  </a:cxn>
                  <a:cxn ang="0">
                    <a:pos x="67" y="378"/>
                  </a:cxn>
                  <a:cxn ang="0">
                    <a:pos x="61" y="263"/>
                  </a:cxn>
                  <a:cxn ang="0">
                    <a:pos x="58" y="168"/>
                  </a:cxn>
                  <a:cxn ang="0">
                    <a:pos x="52" y="95"/>
                  </a:cxn>
                  <a:cxn ang="0">
                    <a:pos x="47" y="43"/>
                  </a:cxn>
                  <a:cxn ang="0">
                    <a:pos x="41" y="11"/>
                  </a:cxn>
                  <a:cxn ang="0">
                    <a:pos x="37" y="0"/>
                  </a:cxn>
                  <a:cxn ang="0">
                    <a:pos x="31" y="11"/>
                  </a:cxn>
                  <a:cxn ang="0">
                    <a:pos x="26" y="43"/>
                  </a:cxn>
                  <a:cxn ang="0">
                    <a:pos x="20" y="95"/>
                  </a:cxn>
                  <a:cxn ang="0">
                    <a:pos x="16" y="168"/>
                  </a:cxn>
                  <a:cxn ang="0">
                    <a:pos x="10" y="263"/>
                  </a:cxn>
                  <a:cxn ang="0">
                    <a:pos x="7" y="378"/>
                  </a:cxn>
                  <a:cxn ang="0">
                    <a:pos x="3" y="514"/>
                  </a:cxn>
                  <a:cxn ang="0">
                    <a:pos x="0" y="671"/>
                  </a:cxn>
                </a:cxnLst>
                <a:rect l="0" t="0" r="r" b="b"/>
                <a:pathLst>
                  <a:path w="77" h="672">
                    <a:moveTo>
                      <a:pt x="76" y="671"/>
                    </a:moveTo>
                    <a:lnTo>
                      <a:pt x="71" y="514"/>
                    </a:lnTo>
                    <a:lnTo>
                      <a:pt x="67" y="378"/>
                    </a:lnTo>
                    <a:lnTo>
                      <a:pt x="61" y="263"/>
                    </a:lnTo>
                    <a:lnTo>
                      <a:pt x="58" y="168"/>
                    </a:lnTo>
                    <a:lnTo>
                      <a:pt x="52" y="95"/>
                    </a:lnTo>
                    <a:lnTo>
                      <a:pt x="47" y="43"/>
                    </a:lnTo>
                    <a:lnTo>
                      <a:pt x="41" y="11"/>
                    </a:lnTo>
                    <a:lnTo>
                      <a:pt x="37" y="0"/>
                    </a:lnTo>
                    <a:lnTo>
                      <a:pt x="31" y="11"/>
                    </a:lnTo>
                    <a:lnTo>
                      <a:pt x="26" y="43"/>
                    </a:lnTo>
                    <a:lnTo>
                      <a:pt x="20" y="95"/>
                    </a:lnTo>
                    <a:lnTo>
                      <a:pt x="16" y="168"/>
                    </a:lnTo>
                    <a:lnTo>
                      <a:pt x="10" y="263"/>
                    </a:lnTo>
                    <a:lnTo>
                      <a:pt x="7" y="378"/>
                    </a:lnTo>
                    <a:lnTo>
                      <a:pt x="3" y="514"/>
                    </a:lnTo>
                    <a:lnTo>
                      <a:pt x="0" y="67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592" name="Freeform 1136"/>
              <p:cNvSpPr>
                <a:spLocks/>
              </p:cNvSpPr>
              <p:nvPr/>
            </p:nvSpPr>
            <p:spPr bwMode="auto">
              <a:xfrm>
                <a:off x="3467" y="2098"/>
                <a:ext cx="76" cy="672"/>
              </a:xfrm>
              <a:custGeom>
                <a:avLst/>
                <a:gdLst/>
                <a:ahLst/>
                <a:cxnLst>
                  <a:cxn ang="0">
                    <a:pos x="75" y="0"/>
                  </a:cxn>
                  <a:cxn ang="0">
                    <a:pos x="71" y="158"/>
                  </a:cxn>
                  <a:cxn ang="0">
                    <a:pos x="67" y="294"/>
                  </a:cxn>
                  <a:cxn ang="0">
                    <a:pos x="61" y="410"/>
                  </a:cxn>
                  <a:cxn ang="0">
                    <a:pos x="58" y="504"/>
                  </a:cxn>
                  <a:cxn ang="0">
                    <a:pos x="52" y="578"/>
                  </a:cxn>
                  <a:cxn ang="0">
                    <a:pos x="47" y="630"/>
                  </a:cxn>
                  <a:cxn ang="0">
                    <a:pos x="41" y="661"/>
                  </a:cxn>
                  <a:cxn ang="0">
                    <a:pos x="37" y="671"/>
                  </a:cxn>
                  <a:cxn ang="0">
                    <a:pos x="31" y="661"/>
                  </a:cxn>
                  <a:cxn ang="0">
                    <a:pos x="26" y="630"/>
                  </a:cxn>
                  <a:cxn ang="0">
                    <a:pos x="20" y="578"/>
                  </a:cxn>
                  <a:cxn ang="0">
                    <a:pos x="16" y="504"/>
                  </a:cxn>
                  <a:cxn ang="0">
                    <a:pos x="10" y="410"/>
                  </a:cxn>
                  <a:cxn ang="0">
                    <a:pos x="7" y="294"/>
                  </a:cxn>
                  <a:cxn ang="0">
                    <a:pos x="3" y="158"/>
                  </a:cxn>
                  <a:cxn ang="0">
                    <a:pos x="0" y="0"/>
                  </a:cxn>
                </a:cxnLst>
                <a:rect l="0" t="0" r="r" b="b"/>
                <a:pathLst>
                  <a:path w="76" h="672">
                    <a:moveTo>
                      <a:pt x="75" y="0"/>
                    </a:moveTo>
                    <a:lnTo>
                      <a:pt x="71" y="158"/>
                    </a:lnTo>
                    <a:lnTo>
                      <a:pt x="67" y="294"/>
                    </a:lnTo>
                    <a:lnTo>
                      <a:pt x="61" y="410"/>
                    </a:lnTo>
                    <a:lnTo>
                      <a:pt x="58" y="504"/>
                    </a:lnTo>
                    <a:lnTo>
                      <a:pt x="52" y="578"/>
                    </a:lnTo>
                    <a:lnTo>
                      <a:pt x="47" y="630"/>
                    </a:lnTo>
                    <a:lnTo>
                      <a:pt x="41" y="661"/>
                    </a:lnTo>
                    <a:lnTo>
                      <a:pt x="37" y="671"/>
                    </a:lnTo>
                    <a:lnTo>
                      <a:pt x="31" y="661"/>
                    </a:lnTo>
                    <a:lnTo>
                      <a:pt x="26" y="630"/>
                    </a:lnTo>
                    <a:lnTo>
                      <a:pt x="20" y="578"/>
                    </a:lnTo>
                    <a:lnTo>
                      <a:pt x="16" y="504"/>
                    </a:lnTo>
                    <a:lnTo>
                      <a:pt x="10" y="410"/>
                    </a:lnTo>
                    <a:lnTo>
                      <a:pt x="7" y="294"/>
                    </a:lnTo>
                    <a:lnTo>
                      <a:pt x="3" y="158"/>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593" name="Freeform 1137"/>
              <p:cNvSpPr>
                <a:spLocks/>
              </p:cNvSpPr>
              <p:nvPr/>
            </p:nvSpPr>
            <p:spPr bwMode="auto">
              <a:xfrm>
                <a:off x="3537" y="1426"/>
                <a:ext cx="77" cy="672"/>
              </a:xfrm>
              <a:custGeom>
                <a:avLst/>
                <a:gdLst/>
                <a:ahLst/>
                <a:cxnLst>
                  <a:cxn ang="0">
                    <a:pos x="76" y="671"/>
                  </a:cxn>
                  <a:cxn ang="0">
                    <a:pos x="71" y="514"/>
                  </a:cxn>
                  <a:cxn ang="0">
                    <a:pos x="68" y="378"/>
                  </a:cxn>
                  <a:cxn ang="0">
                    <a:pos x="62" y="263"/>
                  </a:cxn>
                  <a:cxn ang="0">
                    <a:pos x="58" y="168"/>
                  </a:cxn>
                  <a:cxn ang="0">
                    <a:pos x="53" y="96"/>
                  </a:cxn>
                  <a:cxn ang="0">
                    <a:pos x="48" y="43"/>
                  </a:cxn>
                  <a:cxn ang="0">
                    <a:pos x="42" y="12"/>
                  </a:cxn>
                  <a:cxn ang="0">
                    <a:pos x="38" y="0"/>
                  </a:cxn>
                  <a:cxn ang="0">
                    <a:pos x="32" y="12"/>
                  </a:cxn>
                  <a:cxn ang="0">
                    <a:pos x="27" y="43"/>
                  </a:cxn>
                  <a:cxn ang="0">
                    <a:pos x="21" y="96"/>
                  </a:cxn>
                  <a:cxn ang="0">
                    <a:pos x="16" y="168"/>
                  </a:cxn>
                  <a:cxn ang="0">
                    <a:pos x="10" y="263"/>
                  </a:cxn>
                  <a:cxn ang="0">
                    <a:pos x="7" y="378"/>
                  </a:cxn>
                  <a:cxn ang="0">
                    <a:pos x="3" y="514"/>
                  </a:cxn>
                  <a:cxn ang="0">
                    <a:pos x="0" y="671"/>
                  </a:cxn>
                </a:cxnLst>
                <a:rect l="0" t="0" r="r" b="b"/>
                <a:pathLst>
                  <a:path w="77" h="672">
                    <a:moveTo>
                      <a:pt x="76" y="671"/>
                    </a:moveTo>
                    <a:lnTo>
                      <a:pt x="71" y="514"/>
                    </a:lnTo>
                    <a:lnTo>
                      <a:pt x="68" y="378"/>
                    </a:lnTo>
                    <a:lnTo>
                      <a:pt x="62" y="263"/>
                    </a:lnTo>
                    <a:lnTo>
                      <a:pt x="58" y="168"/>
                    </a:lnTo>
                    <a:lnTo>
                      <a:pt x="53" y="96"/>
                    </a:lnTo>
                    <a:lnTo>
                      <a:pt x="48" y="43"/>
                    </a:lnTo>
                    <a:lnTo>
                      <a:pt x="42" y="12"/>
                    </a:lnTo>
                    <a:lnTo>
                      <a:pt x="38" y="0"/>
                    </a:lnTo>
                    <a:lnTo>
                      <a:pt x="32" y="12"/>
                    </a:lnTo>
                    <a:lnTo>
                      <a:pt x="27" y="43"/>
                    </a:lnTo>
                    <a:lnTo>
                      <a:pt x="21" y="96"/>
                    </a:lnTo>
                    <a:lnTo>
                      <a:pt x="16" y="168"/>
                    </a:lnTo>
                    <a:lnTo>
                      <a:pt x="10" y="263"/>
                    </a:lnTo>
                    <a:lnTo>
                      <a:pt x="7" y="378"/>
                    </a:lnTo>
                    <a:lnTo>
                      <a:pt x="3" y="514"/>
                    </a:lnTo>
                    <a:lnTo>
                      <a:pt x="0" y="67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594" name="Freeform 1138"/>
              <p:cNvSpPr>
                <a:spLocks/>
              </p:cNvSpPr>
              <p:nvPr/>
            </p:nvSpPr>
            <p:spPr bwMode="auto">
              <a:xfrm>
                <a:off x="3613" y="2107"/>
                <a:ext cx="77" cy="672"/>
              </a:xfrm>
              <a:custGeom>
                <a:avLst/>
                <a:gdLst/>
                <a:ahLst/>
                <a:cxnLst>
                  <a:cxn ang="0">
                    <a:pos x="76" y="0"/>
                  </a:cxn>
                  <a:cxn ang="0">
                    <a:pos x="71" y="159"/>
                  </a:cxn>
                  <a:cxn ang="0">
                    <a:pos x="68" y="295"/>
                  </a:cxn>
                  <a:cxn ang="0">
                    <a:pos x="62" y="410"/>
                  </a:cxn>
                  <a:cxn ang="0">
                    <a:pos x="59" y="504"/>
                  </a:cxn>
                  <a:cxn ang="0">
                    <a:pos x="53" y="579"/>
                  </a:cxn>
                  <a:cxn ang="0">
                    <a:pos x="48" y="630"/>
                  </a:cxn>
                  <a:cxn ang="0">
                    <a:pos x="42" y="661"/>
                  </a:cxn>
                  <a:cxn ang="0">
                    <a:pos x="38" y="671"/>
                  </a:cxn>
                  <a:cxn ang="0">
                    <a:pos x="32" y="661"/>
                  </a:cxn>
                  <a:cxn ang="0">
                    <a:pos x="27" y="630"/>
                  </a:cxn>
                  <a:cxn ang="0">
                    <a:pos x="21" y="579"/>
                  </a:cxn>
                  <a:cxn ang="0">
                    <a:pos x="17" y="504"/>
                  </a:cxn>
                  <a:cxn ang="0">
                    <a:pos x="11" y="410"/>
                  </a:cxn>
                  <a:cxn ang="0">
                    <a:pos x="7" y="295"/>
                  </a:cxn>
                  <a:cxn ang="0">
                    <a:pos x="3" y="159"/>
                  </a:cxn>
                  <a:cxn ang="0">
                    <a:pos x="0" y="0"/>
                  </a:cxn>
                </a:cxnLst>
                <a:rect l="0" t="0" r="r" b="b"/>
                <a:pathLst>
                  <a:path w="77" h="672">
                    <a:moveTo>
                      <a:pt x="76" y="0"/>
                    </a:moveTo>
                    <a:lnTo>
                      <a:pt x="71" y="159"/>
                    </a:lnTo>
                    <a:lnTo>
                      <a:pt x="68" y="295"/>
                    </a:lnTo>
                    <a:lnTo>
                      <a:pt x="62" y="410"/>
                    </a:lnTo>
                    <a:lnTo>
                      <a:pt x="59" y="504"/>
                    </a:lnTo>
                    <a:lnTo>
                      <a:pt x="53" y="579"/>
                    </a:lnTo>
                    <a:lnTo>
                      <a:pt x="48" y="630"/>
                    </a:lnTo>
                    <a:lnTo>
                      <a:pt x="42" y="661"/>
                    </a:lnTo>
                    <a:lnTo>
                      <a:pt x="38" y="671"/>
                    </a:lnTo>
                    <a:lnTo>
                      <a:pt x="32" y="661"/>
                    </a:lnTo>
                    <a:lnTo>
                      <a:pt x="27" y="630"/>
                    </a:lnTo>
                    <a:lnTo>
                      <a:pt x="21" y="579"/>
                    </a:lnTo>
                    <a:lnTo>
                      <a:pt x="17" y="504"/>
                    </a:lnTo>
                    <a:lnTo>
                      <a:pt x="11" y="410"/>
                    </a:lnTo>
                    <a:lnTo>
                      <a:pt x="7" y="295"/>
                    </a:lnTo>
                    <a:lnTo>
                      <a:pt x="3" y="159"/>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grpSp>
        <p:grpSp>
          <p:nvGrpSpPr>
            <p:cNvPr id="916595" name="Group 1139"/>
            <p:cNvGrpSpPr>
              <a:grpSpLocks/>
            </p:cNvGrpSpPr>
            <p:nvPr/>
          </p:nvGrpSpPr>
          <p:grpSpPr bwMode="auto">
            <a:xfrm>
              <a:off x="3695" y="1425"/>
              <a:ext cx="888" cy="1366"/>
              <a:chOff x="3695" y="1425"/>
              <a:chExt cx="888" cy="1366"/>
            </a:xfrm>
          </p:grpSpPr>
          <p:sp>
            <p:nvSpPr>
              <p:cNvPr id="916596" name="Freeform 1140"/>
              <p:cNvSpPr>
                <a:spLocks/>
              </p:cNvSpPr>
              <p:nvPr/>
            </p:nvSpPr>
            <p:spPr bwMode="auto">
              <a:xfrm>
                <a:off x="3695" y="1425"/>
                <a:ext cx="77" cy="672"/>
              </a:xfrm>
              <a:custGeom>
                <a:avLst/>
                <a:gdLst/>
                <a:ahLst/>
                <a:cxnLst>
                  <a:cxn ang="0">
                    <a:pos x="76" y="671"/>
                  </a:cxn>
                  <a:cxn ang="0">
                    <a:pos x="71" y="514"/>
                  </a:cxn>
                  <a:cxn ang="0">
                    <a:pos x="67" y="378"/>
                  </a:cxn>
                  <a:cxn ang="0">
                    <a:pos x="62" y="263"/>
                  </a:cxn>
                  <a:cxn ang="0">
                    <a:pos x="58" y="168"/>
                  </a:cxn>
                  <a:cxn ang="0">
                    <a:pos x="53" y="95"/>
                  </a:cxn>
                  <a:cxn ang="0">
                    <a:pos x="47" y="43"/>
                  </a:cxn>
                  <a:cxn ang="0">
                    <a:pos x="42" y="11"/>
                  </a:cxn>
                  <a:cxn ang="0">
                    <a:pos x="37" y="0"/>
                  </a:cxn>
                  <a:cxn ang="0">
                    <a:pos x="32" y="11"/>
                  </a:cxn>
                  <a:cxn ang="0">
                    <a:pos x="26" y="43"/>
                  </a:cxn>
                  <a:cxn ang="0">
                    <a:pos x="21" y="95"/>
                  </a:cxn>
                  <a:cxn ang="0">
                    <a:pos x="16" y="168"/>
                  </a:cxn>
                  <a:cxn ang="0">
                    <a:pos x="11" y="263"/>
                  </a:cxn>
                  <a:cxn ang="0">
                    <a:pos x="7" y="378"/>
                  </a:cxn>
                  <a:cxn ang="0">
                    <a:pos x="3" y="514"/>
                  </a:cxn>
                  <a:cxn ang="0">
                    <a:pos x="0" y="671"/>
                  </a:cxn>
                </a:cxnLst>
                <a:rect l="0" t="0" r="r" b="b"/>
                <a:pathLst>
                  <a:path w="77" h="672">
                    <a:moveTo>
                      <a:pt x="76" y="671"/>
                    </a:moveTo>
                    <a:lnTo>
                      <a:pt x="71" y="514"/>
                    </a:lnTo>
                    <a:lnTo>
                      <a:pt x="67" y="378"/>
                    </a:lnTo>
                    <a:lnTo>
                      <a:pt x="62" y="263"/>
                    </a:lnTo>
                    <a:lnTo>
                      <a:pt x="58" y="168"/>
                    </a:lnTo>
                    <a:lnTo>
                      <a:pt x="53" y="95"/>
                    </a:lnTo>
                    <a:lnTo>
                      <a:pt x="47" y="43"/>
                    </a:lnTo>
                    <a:lnTo>
                      <a:pt x="42" y="11"/>
                    </a:lnTo>
                    <a:lnTo>
                      <a:pt x="37" y="0"/>
                    </a:lnTo>
                    <a:lnTo>
                      <a:pt x="32" y="11"/>
                    </a:lnTo>
                    <a:lnTo>
                      <a:pt x="26" y="43"/>
                    </a:lnTo>
                    <a:lnTo>
                      <a:pt x="21" y="95"/>
                    </a:lnTo>
                    <a:lnTo>
                      <a:pt x="16" y="168"/>
                    </a:lnTo>
                    <a:lnTo>
                      <a:pt x="11" y="263"/>
                    </a:lnTo>
                    <a:lnTo>
                      <a:pt x="7" y="378"/>
                    </a:lnTo>
                    <a:lnTo>
                      <a:pt x="3" y="514"/>
                    </a:lnTo>
                    <a:lnTo>
                      <a:pt x="0" y="67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597" name="Freeform 1141"/>
              <p:cNvSpPr>
                <a:spLocks/>
              </p:cNvSpPr>
              <p:nvPr/>
            </p:nvSpPr>
            <p:spPr bwMode="auto">
              <a:xfrm>
                <a:off x="3771" y="2106"/>
                <a:ext cx="77" cy="672"/>
              </a:xfrm>
              <a:custGeom>
                <a:avLst/>
                <a:gdLst/>
                <a:ahLst/>
                <a:cxnLst>
                  <a:cxn ang="0">
                    <a:pos x="76" y="0"/>
                  </a:cxn>
                  <a:cxn ang="0">
                    <a:pos x="72" y="158"/>
                  </a:cxn>
                  <a:cxn ang="0">
                    <a:pos x="68" y="294"/>
                  </a:cxn>
                  <a:cxn ang="0">
                    <a:pos x="63" y="410"/>
                  </a:cxn>
                  <a:cxn ang="0">
                    <a:pos x="59" y="504"/>
                  </a:cxn>
                  <a:cxn ang="0">
                    <a:pos x="53" y="578"/>
                  </a:cxn>
                  <a:cxn ang="0">
                    <a:pos x="48" y="630"/>
                  </a:cxn>
                  <a:cxn ang="0">
                    <a:pos x="43" y="661"/>
                  </a:cxn>
                  <a:cxn ang="0">
                    <a:pos x="38" y="671"/>
                  </a:cxn>
                  <a:cxn ang="0">
                    <a:pos x="33" y="661"/>
                  </a:cxn>
                  <a:cxn ang="0">
                    <a:pos x="27" y="630"/>
                  </a:cxn>
                  <a:cxn ang="0">
                    <a:pos x="21" y="578"/>
                  </a:cxn>
                  <a:cxn ang="0">
                    <a:pos x="17" y="504"/>
                  </a:cxn>
                  <a:cxn ang="0">
                    <a:pos x="11" y="410"/>
                  </a:cxn>
                  <a:cxn ang="0">
                    <a:pos x="7" y="294"/>
                  </a:cxn>
                  <a:cxn ang="0">
                    <a:pos x="3" y="158"/>
                  </a:cxn>
                  <a:cxn ang="0">
                    <a:pos x="0" y="0"/>
                  </a:cxn>
                </a:cxnLst>
                <a:rect l="0" t="0" r="r" b="b"/>
                <a:pathLst>
                  <a:path w="77" h="672">
                    <a:moveTo>
                      <a:pt x="76" y="0"/>
                    </a:moveTo>
                    <a:lnTo>
                      <a:pt x="72" y="158"/>
                    </a:lnTo>
                    <a:lnTo>
                      <a:pt x="68" y="294"/>
                    </a:lnTo>
                    <a:lnTo>
                      <a:pt x="63" y="410"/>
                    </a:lnTo>
                    <a:lnTo>
                      <a:pt x="59" y="504"/>
                    </a:lnTo>
                    <a:lnTo>
                      <a:pt x="53" y="578"/>
                    </a:lnTo>
                    <a:lnTo>
                      <a:pt x="48" y="630"/>
                    </a:lnTo>
                    <a:lnTo>
                      <a:pt x="43" y="661"/>
                    </a:lnTo>
                    <a:lnTo>
                      <a:pt x="38" y="671"/>
                    </a:lnTo>
                    <a:lnTo>
                      <a:pt x="33" y="661"/>
                    </a:lnTo>
                    <a:lnTo>
                      <a:pt x="27" y="630"/>
                    </a:lnTo>
                    <a:lnTo>
                      <a:pt x="21" y="578"/>
                    </a:lnTo>
                    <a:lnTo>
                      <a:pt x="17" y="504"/>
                    </a:lnTo>
                    <a:lnTo>
                      <a:pt x="11" y="410"/>
                    </a:lnTo>
                    <a:lnTo>
                      <a:pt x="7" y="294"/>
                    </a:lnTo>
                    <a:lnTo>
                      <a:pt x="3" y="158"/>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598" name="Freeform 1142"/>
              <p:cNvSpPr>
                <a:spLocks/>
              </p:cNvSpPr>
              <p:nvPr/>
            </p:nvSpPr>
            <p:spPr bwMode="auto">
              <a:xfrm>
                <a:off x="3857" y="1430"/>
                <a:ext cx="78" cy="671"/>
              </a:xfrm>
              <a:custGeom>
                <a:avLst/>
                <a:gdLst/>
                <a:ahLst/>
                <a:cxnLst>
                  <a:cxn ang="0">
                    <a:pos x="77" y="670"/>
                  </a:cxn>
                  <a:cxn ang="0">
                    <a:pos x="72" y="514"/>
                  </a:cxn>
                  <a:cxn ang="0">
                    <a:pos x="68" y="378"/>
                  </a:cxn>
                  <a:cxn ang="0">
                    <a:pos x="63" y="262"/>
                  </a:cxn>
                  <a:cxn ang="0">
                    <a:pos x="59" y="167"/>
                  </a:cxn>
                  <a:cxn ang="0">
                    <a:pos x="53" y="95"/>
                  </a:cxn>
                  <a:cxn ang="0">
                    <a:pos x="49" y="42"/>
                  </a:cxn>
                  <a:cxn ang="0">
                    <a:pos x="43" y="11"/>
                  </a:cxn>
                  <a:cxn ang="0">
                    <a:pos x="39" y="0"/>
                  </a:cxn>
                  <a:cxn ang="0">
                    <a:pos x="33" y="11"/>
                  </a:cxn>
                  <a:cxn ang="0">
                    <a:pos x="27" y="42"/>
                  </a:cxn>
                  <a:cxn ang="0">
                    <a:pos x="21" y="95"/>
                  </a:cxn>
                  <a:cxn ang="0">
                    <a:pos x="17" y="167"/>
                  </a:cxn>
                  <a:cxn ang="0">
                    <a:pos x="11" y="262"/>
                  </a:cxn>
                  <a:cxn ang="0">
                    <a:pos x="7" y="378"/>
                  </a:cxn>
                  <a:cxn ang="0">
                    <a:pos x="3" y="514"/>
                  </a:cxn>
                  <a:cxn ang="0">
                    <a:pos x="0" y="670"/>
                  </a:cxn>
                </a:cxnLst>
                <a:rect l="0" t="0" r="r" b="b"/>
                <a:pathLst>
                  <a:path w="78" h="671">
                    <a:moveTo>
                      <a:pt x="77" y="670"/>
                    </a:moveTo>
                    <a:lnTo>
                      <a:pt x="72" y="514"/>
                    </a:lnTo>
                    <a:lnTo>
                      <a:pt x="68" y="378"/>
                    </a:lnTo>
                    <a:lnTo>
                      <a:pt x="63" y="262"/>
                    </a:lnTo>
                    <a:lnTo>
                      <a:pt x="59" y="167"/>
                    </a:lnTo>
                    <a:lnTo>
                      <a:pt x="53" y="95"/>
                    </a:lnTo>
                    <a:lnTo>
                      <a:pt x="49" y="42"/>
                    </a:lnTo>
                    <a:lnTo>
                      <a:pt x="43" y="11"/>
                    </a:lnTo>
                    <a:lnTo>
                      <a:pt x="39" y="0"/>
                    </a:lnTo>
                    <a:lnTo>
                      <a:pt x="33" y="11"/>
                    </a:lnTo>
                    <a:lnTo>
                      <a:pt x="27" y="42"/>
                    </a:lnTo>
                    <a:lnTo>
                      <a:pt x="21" y="95"/>
                    </a:lnTo>
                    <a:lnTo>
                      <a:pt x="17" y="167"/>
                    </a:lnTo>
                    <a:lnTo>
                      <a:pt x="11" y="262"/>
                    </a:lnTo>
                    <a:lnTo>
                      <a:pt x="7" y="378"/>
                    </a:lnTo>
                    <a:lnTo>
                      <a:pt x="3" y="514"/>
                    </a:lnTo>
                    <a:lnTo>
                      <a:pt x="0" y="67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599" name="Freeform 1143"/>
              <p:cNvSpPr>
                <a:spLocks/>
              </p:cNvSpPr>
              <p:nvPr/>
            </p:nvSpPr>
            <p:spPr bwMode="auto">
              <a:xfrm>
                <a:off x="3934" y="2110"/>
                <a:ext cx="77" cy="673"/>
              </a:xfrm>
              <a:custGeom>
                <a:avLst/>
                <a:gdLst/>
                <a:ahLst/>
                <a:cxnLst>
                  <a:cxn ang="0">
                    <a:pos x="76" y="0"/>
                  </a:cxn>
                  <a:cxn ang="0">
                    <a:pos x="71" y="159"/>
                  </a:cxn>
                  <a:cxn ang="0">
                    <a:pos x="68" y="295"/>
                  </a:cxn>
                  <a:cxn ang="0">
                    <a:pos x="62" y="410"/>
                  </a:cxn>
                  <a:cxn ang="0">
                    <a:pos x="58" y="504"/>
                  </a:cxn>
                  <a:cxn ang="0">
                    <a:pos x="52" y="579"/>
                  </a:cxn>
                  <a:cxn ang="0">
                    <a:pos x="48" y="630"/>
                  </a:cxn>
                  <a:cxn ang="0">
                    <a:pos x="42" y="662"/>
                  </a:cxn>
                  <a:cxn ang="0">
                    <a:pos x="38" y="672"/>
                  </a:cxn>
                  <a:cxn ang="0">
                    <a:pos x="32" y="662"/>
                  </a:cxn>
                  <a:cxn ang="0">
                    <a:pos x="26" y="630"/>
                  </a:cxn>
                  <a:cxn ang="0">
                    <a:pos x="21" y="579"/>
                  </a:cxn>
                  <a:cxn ang="0">
                    <a:pos x="16" y="504"/>
                  </a:cxn>
                  <a:cxn ang="0">
                    <a:pos x="11" y="410"/>
                  </a:cxn>
                  <a:cxn ang="0">
                    <a:pos x="7" y="295"/>
                  </a:cxn>
                  <a:cxn ang="0">
                    <a:pos x="3" y="159"/>
                  </a:cxn>
                  <a:cxn ang="0">
                    <a:pos x="0" y="0"/>
                  </a:cxn>
                </a:cxnLst>
                <a:rect l="0" t="0" r="r" b="b"/>
                <a:pathLst>
                  <a:path w="77" h="673">
                    <a:moveTo>
                      <a:pt x="76" y="0"/>
                    </a:moveTo>
                    <a:lnTo>
                      <a:pt x="71" y="159"/>
                    </a:lnTo>
                    <a:lnTo>
                      <a:pt x="68" y="295"/>
                    </a:lnTo>
                    <a:lnTo>
                      <a:pt x="62" y="410"/>
                    </a:lnTo>
                    <a:lnTo>
                      <a:pt x="58" y="504"/>
                    </a:lnTo>
                    <a:lnTo>
                      <a:pt x="52" y="579"/>
                    </a:lnTo>
                    <a:lnTo>
                      <a:pt x="48" y="630"/>
                    </a:lnTo>
                    <a:lnTo>
                      <a:pt x="42" y="662"/>
                    </a:lnTo>
                    <a:lnTo>
                      <a:pt x="38" y="672"/>
                    </a:lnTo>
                    <a:lnTo>
                      <a:pt x="32" y="662"/>
                    </a:lnTo>
                    <a:lnTo>
                      <a:pt x="26" y="630"/>
                    </a:lnTo>
                    <a:lnTo>
                      <a:pt x="21" y="579"/>
                    </a:lnTo>
                    <a:lnTo>
                      <a:pt x="16" y="504"/>
                    </a:lnTo>
                    <a:lnTo>
                      <a:pt x="11" y="410"/>
                    </a:lnTo>
                    <a:lnTo>
                      <a:pt x="7" y="295"/>
                    </a:lnTo>
                    <a:lnTo>
                      <a:pt x="3" y="159"/>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600" name="Freeform 1144"/>
              <p:cNvSpPr>
                <a:spLocks/>
              </p:cNvSpPr>
              <p:nvPr/>
            </p:nvSpPr>
            <p:spPr bwMode="auto">
              <a:xfrm>
                <a:off x="4008" y="1438"/>
                <a:ext cx="78" cy="671"/>
              </a:xfrm>
              <a:custGeom>
                <a:avLst/>
                <a:gdLst/>
                <a:ahLst/>
                <a:cxnLst>
                  <a:cxn ang="0">
                    <a:pos x="77" y="670"/>
                  </a:cxn>
                  <a:cxn ang="0">
                    <a:pos x="72" y="514"/>
                  </a:cxn>
                  <a:cxn ang="0">
                    <a:pos x="68" y="378"/>
                  </a:cxn>
                  <a:cxn ang="0">
                    <a:pos x="63" y="262"/>
                  </a:cxn>
                  <a:cxn ang="0">
                    <a:pos x="59" y="168"/>
                  </a:cxn>
                  <a:cxn ang="0">
                    <a:pos x="54" y="95"/>
                  </a:cxn>
                  <a:cxn ang="0">
                    <a:pos x="48" y="42"/>
                  </a:cxn>
                  <a:cxn ang="0">
                    <a:pos x="43" y="11"/>
                  </a:cxn>
                  <a:cxn ang="0">
                    <a:pos x="38" y="0"/>
                  </a:cxn>
                  <a:cxn ang="0">
                    <a:pos x="33" y="11"/>
                  </a:cxn>
                  <a:cxn ang="0">
                    <a:pos x="27" y="42"/>
                  </a:cxn>
                  <a:cxn ang="0">
                    <a:pos x="22" y="95"/>
                  </a:cxn>
                  <a:cxn ang="0">
                    <a:pos x="17" y="168"/>
                  </a:cxn>
                  <a:cxn ang="0">
                    <a:pos x="11" y="262"/>
                  </a:cxn>
                  <a:cxn ang="0">
                    <a:pos x="7" y="378"/>
                  </a:cxn>
                  <a:cxn ang="0">
                    <a:pos x="4" y="514"/>
                  </a:cxn>
                  <a:cxn ang="0">
                    <a:pos x="0" y="670"/>
                  </a:cxn>
                </a:cxnLst>
                <a:rect l="0" t="0" r="r" b="b"/>
                <a:pathLst>
                  <a:path w="78" h="671">
                    <a:moveTo>
                      <a:pt x="77" y="670"/>
                    </a:moveTo>
                    <a:lnTo>
                      <a:pt x="72" y="514"/>
                    </a:lnTo>
                    <a:lnTo>
                      <a:pt x="68" y="378"/>
                    </a:lnTo>
                    <a:lnTo>
                      <a:pt x="63" y="262"/>
                    </a:lnTo>
                    <a:lnTo>
                      <a:pt x="59" y="168"/>
                    </a:lnTo>
                    <a:lnTo>
                      <a:pt x="54" y="95"/>
                    </a:lnTo>
                    <a:lnTo>
                      <a:pt x="48" y="42"/>
                    </a:lnTo>
                    <a:lnTo>
                      <a:pt x="43" y="11"/>
                    </a:lnTo>
                    <a:lnTo>
                      <a:pt x="38" y="0"/>
                    </a:lnTo>
                    <a:lnTo>
                      <a:pt x="33" y="11"/>
                    </a:lnTo>
                    <a:lnTo>
                      <a:pt x="27" y="42"/>
                    </a:lnTo>
                    <a:lnTo>
                      <a:pt x="22" y="95"/>
                    </a:lnTo>
                    <a:lnTo>
                      <a:pt x="17" y="168"/>
                    </a:lnTo>
                    <a:lnTo>
                      <a:pt x="11" y="262"/>
                    </a:lnTo>
                    <a:lnTo>
                      <a:pt x="7" y="378"/>
                    </a:lnTo>
                    <a:lnTo>
                      <a:pt x="4" y="514"/>
                    </a:lnTo>
                    <a:lnTo>
                      <a:pt x="0" y="67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601" name="Freeform 1145"/>
              <p:cNvSpPr>
                <a:spLocks/>
              </p:cNvSpPr>
              <p:nvPr/>
            </p:nvSpPr>
            <p:spPr bwMode="auto">
              <a:xfrm>
                <a:off x="4085" y="2118"/>
                <a:ext cx="77" cy="673"/>
              </a:xfrm>
              <a:custGeom>
                <a:avLst/>
                <a:gdLst/>
                <a:ahLst/>
                <a:cxnLst>
                  <a:cxn ang="0">
                    <a:pos x="76" y="0"/>
                  </a:cxn>
                  <a:cxn ang="0">
                    <a:pos x="71" y="159"/>
                  </a:cxn>
                  <a:cxn ang="0">
                    <a:pos x="67" y="295"/>
                  </a:cxn>
                  <a:cxn ang="0">
                    <a:pos x="62" y="410"/>
                  </a:cxn>
                  <a:cxn ang="0">
                    <a:pos x="58" y="504"/>
                  </a:cxn>
                  <a:cxn ang="0">
                    <a:pos x="53" y="579"/>
                  </a:cxn>
                  <a:cxn ang="0">
                    <a:pos x="47" y="631"/>
                  </a:cxn>
                  <a:cxn ang="0">
                    <a:pos x="42" y="662"/>
                  </a:cxn>
                  <a:cxn ang="0">
                    <a:pos x="37" y="672"/>
                  </a:cxn>
                  <a:cxn ang="0">
                    <a:pos x="32" y="662"/>
                  </a:cxn>
                  <a:cxn ang="0">
                    <a:pos x="26" y="631"/>
                  </a:cxn>
                  <a:cxn ang="0">
                    <a:pos x="21" y="579"/>
                  </a:cxn>
                  <a:cxn ang="0">
                    <a:pos x="16" y="504"/>
                  </a:cxn>
                  <a:cxn ang="0">
                    <a:pos x="11" y="410"/>
                  </a:cxn>
                  <a:cxn ang="0">
                    <a:pos x="7" y="295"/>
                  </a:cxn>
                  <a:cxn ang="0">
                    <a:pos x="3" y="159"/>
                  </a:cxn>
                  <a:cxn ang="0">
                    <a:pos x="0" y="0"/>
                  </a:cxn>
                </a:cxnLst>
                <a:rect l="0" t="0" r="r" b="b"/>
                <a:pathLst>
                  <a:path w="77" h="673">
                    <a:moveTo>
                      <a:pt x="76" y="0"/>
                    </a:moveTo>
                    <a:lnTo>
                      <a:pt x="71" y="159"/>
                    </a:lnTo>
                    <a:lnTo>
                      <a:pt x="67" y="295"/>
                    </a:lnTo>
                    <a:lnTo>
                      <a:pt x="62" y="410"/>
                    </a:lnTo>
                    <a:lnTo>
                      <a:pt x="58" y="504"/>
                    </a:lnTo>
                    <a:lnTo>
                      <a:pt x="53" y="579"/>
                    </a:lnTo>
                    <a:lnTo>
                      <a:pt x="47" y="631"/>
                    </a:lnTo>
                    <a:lnTo>
                      <a:pt x="42" y="662"/>
                    </a:lnTo>
                    <a:lnTo>
                      <a:pt x="37" y="672"/>
                    </a:lnTo>
                    <a:lnTo>
                      <a:pt x="32" y="662"/>
                    </a:lnTo>
                    <a:lnTo>
                      <a:pt x="26" y="631"/>
                    </a:lnTo>
                    <a:lnTo>
                      <a:pt x="21" y="579"/>
                    </a:lnTo>
                    <a:lnTo>
                      <a:pt x="16" y="504"/>
                    </a:lnTo>
                    <a:lnTo>
                      <a:pt x="11" y="410"/>
                    </a:lnTo>
                    <a:lnTo>
                      <a:pt x="7" y="295"/>
                    </a:lnTo>
                    <a:lnTo>
                      <a:pt x="3" y="159"/>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602" name="Freeform 1146"/>
              <p:cNvSpPr>
                <a:spLocks/>
              </p:cNvSpPr>
              <p:nvPr/>
            </p:nvSpPr>
            <p:spPr bwMode="auto">
              <a:xfrm>
                <a:off x="4146" y="1437"/>
                <a:ext cx="77" cy="672"/>
              </a:xfrm>
              <a:custGeom>
                <a:avLst/>
                <a:gdLst/>
                <a:ahLst/>
                <a:cxnLst>
                  <a:cxn ang="0">
                    <a:pos x="76" y="671"/>
                  </a:cxn>
                  <a:cxn ang="0">
                    <a:pos x="72" y="514"/>
                  </a:cxn>
                  <a:cxn ang="0">
                    <a:pos x="68" y="378"/>
                  </a:cxn>
                  <a:cxn ang="0">
                    <a:pos x="62" y="263"/>
                  </a:cxn>
                  <a:cxn ang="0">
                    <a:pos x="58" y="168"/>
                  </a:cxn>
                  <a:cxn ang="0">
                    <a:pos x="53" y="95"/>
                  </a:cxn>
                  <a:cxn ang="0">
                    <a:pos x="48" y="43"/>
                  </a:cxn>
                  <a:cxn ang="0">
                    <a:pos x="42" y="11"/>
                  </a:cxn>
                  <a:cxn ang="0">
                    <a:pos x="38" y="0"/>
                  </a:cxn>
                  <a:cxn ang="0">
                    <a:pos x="32" y="11"/>
                  </a:cxn>
                  <a:cxn ang="0">
                    <a:pos x="26" y="43"/>
                  </a:cxn>
                  <a:cxn ang="0">
                    <a:pos x="21" y="95"/>
                  </a:cxn>
                  <a:cxn ang="0">
                    <a:pos x="16" y="168"/>
                  </a:cxn>
                  <a:cxn ang="0">
                    <a:pos x="11" y="263"/>
                  </a:cxn>
                  <a:cxn ang="0">
                    <a:pos x="7" y="378"/>
                  </a:cxn>
                  <a:cxn ang="0">
                    <a:pos x="4" y="514"/>
                  </a:cxn>
                  <a:cxn ang="0">
                    <a:pos x="0" y="671"/>
                  </a:cxn>
                </a:cxnLst>
                <a:rect l="0" t="0" r="r" b="b"/>
                <a:pathLst>
                  <a:path w="77" h="672">
                    <a:moveTo>
                      <a:pt x="76" y="671"/>
                    </a:moveTo>
                    <a:lnTo>
                      <a:pt x="72" y="514"/>
                    </a:lnTo>
                    <a:lnTo>
                      <a:pt x="68" y="378"/>
                    </a:lnTo>
                    <a:lnTo>
                      <a:pt x="62" y="263"/>
                    </a:lnTo>
                    <a:lnTo>
                      <a:pt x="58" y="168"/>
                    </a:lnTo>
                    <a:lnTo>
                      <a:pt x="53" y="95"/>
                    </a:lnTo>
                    <a:lnTo>
                      <a:pt x="48" y="43"/>
                    </a:lnTo>
                    <a:lnTo>
                      <a:pt x="42" y="11"/>
                    </a:lnTo>
                    <a:lnTo>
                      <a:pt x="38" y="0"/>
                    </a:lnTo>
                    <a:lnTo>
                      <a:pt x="32" y="11"/>
                    </a:lnTo>
                    <a:lnTo>
                      <a:pt x="26" y="43"/>
                    </a:lnTo>
                    <a:lnTo>
                      <a:pt x="21" y="95"/>
                    </a:lnTo>
                    <a:lnTo>
                      <a:pt x="16" y="168"/>
                    </a:lnTo>
                    <a:lnTo>
                      <a:pt x="11" y="263"/>
                    </a:lnTo>
                    <a:lnTo>
                      <a:pt x="7" y="378"/>
                    </a:lnTo>
                    <a:lnTo>
                      <a:pt x="4" y="514"/>
                    </a:lnTo>
                    <a:lnTo>
                      <a:pt x="0" y="67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603" name="Freeform 1147"/>
              <p:cNvSpPr>
                <a:spLocks/>
              </p:cNvSpPr>
              <p:nvPr/>
            </p:nvSpPr>
            <p:spPr bwMode="auto">
              <a:xfrm>
                <a:off x="4222" y="2118"/>
                <a:ext cx="77" cy="672"/>
              </a:xfrm>
              <a:custGeom>
                <a:avLst/>
                <a:gdLst/>
                <a:ahLst/>
                <a:cxnLst>
                  <a:cxn ang="0">
                    <a:pos x="76" y="0"/>
                  </a:cxn>
                  <a:cxn ang="0">
                    <a:pos x="72" y="158"/>
                  </a:cxn>
                  <a:cxn ang="0">
                    <a:pos x="68" y="294"/>
                  </a:cxn>
                  <a:cxn ang="0">
                    <a:pos x="63" y="410"/>
                  </a:cxn>
                  <a:cxn ang="0">
                    <a:pos x="59" y="504"/>
                  </a:cxn>
                  <a:cxn ang="0">
                    <a:pos x="54" y="578"/>
                  </a:cxn>
                  <a:cxn ang="0">
                    <a:pos x="48" y="630"/>
                  </a:cxn>
                  <a:cxn ang="0">
                    <a:pos x="43" y="661"/>
                  </a:cxn>
                  <a:cxn ang="0">
                    <a:pos x="38" y="671"/>
                  </a:cxn>
                  <a:cxn ang="0">
                    <a:pos x="33" y="661"/>
                  </a:cxn>
                  <a:cxn ang="0">
                    <a:pos x="27" y="630"/>
                  </a:cxn>
                  <a:cxn ang="0">
                    <a:pos x="22" y="578"/>
                  </a:cxn>
                  <a:cxn ang="0">
                    <a:pos x="17" y="504"/>
                  </a:cxn>
                  <a:cxn ang="0">
                    <a:pos x="11" y="410"/>
                  </a:cxn>
                  <a:cxn ang="0">
                    <a:pos x="7" y="294"/>
                  </a:cxn>
                  <a:cxn ang="0">
                    <a:pos x="4" y="158"/>
                  </a:cxn>
                  <a:cxn ang="0">
                    <a:pos x="0" y="0"/>
                  </a:cxn>
                </a:cxnLst>
                <a:rect l="0" t="0" r="r" b="b"/>
                <a:pathLst>
                  <a:path w="77" h="672">
                    <a:moveTo>
                      <a:pt x="76" y="0"/>
                    </a:moveTo>
                    <a:lnTo>
                      <a:pt x="72" y="158"/>
                    </a:lnTo>
                    <a:lnTo>
                      <a:pt x="68" y="294"/>
                    </a:lnTo>
                    <a:lnTo>
                      <a:pt x="63" y="410"/>
                    </a:lnTo>
                    <a:lnTo>
                      <a:pt x="59" y="504"/>
                    </a:lnTo>
                    <a:lnTo>
                      <a:pt x="54" y="578"/>
                    </a:lnTo>
                    <a:lnTo>
                      <a:pt x="48" y="630"/>
                    </a:lnTo>
                    <a:lnTo>
                      <a:pt x="43" y="661"/>
                    </a:lnTo>
                    <a:lnTo>
                      <a:pt x="38" y="671"/>
                    </a:lnTo>
                    <a:lnTo>
                      <a:pt x="33" y="661"/>
                    </a:lnTo>
                    <a:lnTo>
                      <a:pt x="27" y="630"/>
                    </a:lnTo>
                    <a:lnTo>
                      <a:pt x="22" y="578"/>
                    </a:lnTo>
                    <a:lnTo>
                      <a:pt x="17" y="504"/>
                    </a:lnTo>
                    <a:lnTo>
                      <a:pt x="11" y="410"/>
                    </a:lnTo>
                    <a:lnTo>
                      <a:pt x="7" y="294"/>
                    </a:lnTo>
                    <a:lnTo>
                      <a:pt x="4" y="158"/>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604" name="Freeform 1148"/>
              <p:cNvSpPr>
                <a:spLocks/>
              </p:cNvSpPr>
              <p:nvPr/>
            </p:nvSpPr>
            <p:spPr bwMode="auto">
              <a:xfrm>
                <a:off x="4284" y="1428"/>
                <a:ext cx="77" cy="672"/>
              </a:xfrm>
              <a:custGeom>
                <a:avLst/>
                <a:gdLst/>
                <a:ahLst/>
                <a:cxnLst>
                  <a:cxn ang="0">
                    <a:pos x="76" y="671"/>
                  </a:cxn>
                  <a:cxn ang="0">
                    <a:pos x="71" y="514"/>
                  </a:cxn>
                  <a:cxn ang="0">
                    <a:pos x="68" y="378"/>
                  </a:cxn>
                  <a:cxn ang="0">
                    <a:pos x="62" y="263"/>
                  </a:cxn>
                  <a:cxn ang="0">
                    <a:pos x="58" y="168"/>
                  </a:cxn>
                  <a:cxn ang="0">
                    <a:pos x="53" y="96"/>
                  </a:cxn>
                  <a:cxn ang="0">
                    <a:pos x="48" y="43"/>
                  </a:cxn>
                  <a:cxn ang="0">
                    <a:pos x="42" y="12"/>
                  </a:cxn>
                  <a:cxn ang="0">
                    <a:pos x="38" y="0"/>
                  </a:cxn>
                  <a:cxn ang="0">
                    <a:pos x="32" y="12"/>
                  </a:cxn>
                  <a:cxn ang="0">
                    <a:pos x="26" y="43"/>
                  </a:cxn>
                  <a:cxn ang="0">
                    <a:pos x="21" y="96"/>
                  </a:cxn>
                  <a:cxn ang="0">
                    <a:pos x="16" y="168"/>
                  </a:cxn>
                  <a:cxn ang="0">
                    <a:pos x="11" y="263"/>
                  </a:cxn>
                  <a:cxn ang="0">
                    <a:pos x="7" y="378"/>
                  </a:cxn>
                  <a:cxn ang="0">
                    <a:pos x="3" y="514"/>
                  </a:cxn>
                  <a:cxn ang="0">
                    <a:pos x="0" y="671"/>
                  </a:cxn>
                </a:cxnLst>
                <a:rect l="0" t="0" r="r" b="b"/>
                <a:pathLst>
                  <a:path w="77" h="672">
                    <a:moveTo>
                      <a:pt x="76" y="671"/>
                    </a:moveTo>
                    <a:lnTo>
                      <a:pt x="71" y="514"/>
                    </a:lnTo>
                    <a:lnTo>
                      <a:pt x="68" y="378"/>
                    </a:lnTo>
                    <a:lnTo>
                      <a:pt x="62" y="263"/>
                    </a:lnTo>
                    <a:lnTo>
                      <a:pt x="58" y="168"/>
                    </a:lnTo>
                    <a:lnTo>
                      <a:pt x="53" y="96"/>
                    </a:lnTo>
                    <a:lnTo>
                      <a:pt x="48" y="43"/>
                    </a:lnTo>
                    <a:lnTo>
                      <a:pt x="42" y="12"/>
                    </a:lnTo>
                    <a:lnTo>
                      <a:pt x="38" y="0"/>
                    </a:lnTo>
                    <a:lnTo>
                      <a:pt x="32" y="12"/>
                    </a:lnTo>
                    <a:lnTo>
                      <a:pt x="26" y="43"/>
                    </a:lnTo>
                    <a:lnTo>
                      <a:pt x="21" y="96"/>
                    </a:lnTo>
                    <a:lnTo>
                      <a:pt x="16" y="168"/>
                    </a:lnTo>
                    <a:lnTo>
                      <a:pt x="11" y="263"/>
                    </a:lnTo>
                    <a:lnTo>
                      <a:pt x="7" y="378"/>
                    </a:lnTo>
                    <a:lnTo>
                      <a:pt x="3" y="514"/>
                    </a:lnTo>
                    <a:lnTo>
                      <a:pt x="0" y="67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605" name="Freeform 1149"/>
              <p:cNvSpPr>
                <a:spLocks/>
              </p:cNvSpPr>
              <p:nvPr/>
            </p:nvSpPr>
            <p:spPr bwMode="auto">
              <a:xfrm>
                <a:off x="4360" y="2109"/>
                <a:ext cx="77" cy="672"/>
              </a:xfrm>
              <a:custGeom>
                <a:avLst/>
                <a:gdLst/>
                <a:ahLst/>
                <a:cxnLst>
                  <a:cxn ang="0">
                    <a:pos x="76" y="0"/>
                  </a:cxn>
                  <a:cxn ang="0">
                    <a:pos x="72" y="159"/>
                  </a:cxn>
                  <a:cxn ang="0">
                    <a:pos x="68" y="295"/>
                  </a:cxn>
                  <a:cxn ang="0">
                    <a:pos x="62" y="410"/>
                  </a:cxn>
                  <a:cxn ang="0">
                    <a:pos x="58" y="504"/>
                  </a:cxn>
                  <a:cxn ang="0">
                    <a:pos x="53" y="579"/>
                  </a:cxn>
                  <a:cxn ang="0">
                    <a:pos x="48" y="630"/>
                  </a:cxn>
                  <a:cxn ang="0">
                    <a:pos x="42" y="661"/>
                  </a:cxn>
                  <a:cxn ang="0">
                    <a:pos x="38" y="671"/>
                  </a:cxn>
                  <a:cxn ang="0">
                    <a:pos x="32" y="661"/>
                  </a:cxn>
                  <a:cxn ang="0">
                    <a:pos x="26" y="630"/>
                  </a:cxn>
                  <a:cxn ang="0">
                    <a:pos x="21" y="579"/>
                  </a:cxn>
                  <a:cxn ang="0">
                    <a:pos x="16" y="504"/>
                  </a:cxn>
                  <a:cxn ang="0">
                    <a:pos x="11" y="410"/>
                  </a:cxn>
                  <a:cxn ang="0">
                    <a:pos x="7" y="295"/>
                  </a:cxn>
                  <a:cxn ang="0">
                    <a:pos x="4" y="159"/>
                  </a:cxn>
                  <a:cxn ang="0">
                    <a:pos x="0" y="0"/>
                  </a:cxn>
                </a:cxnLst>
                <a:rect l="0" t="0" r="r" b="b"/>
                <a:pathLst>
                  <a:path w="77" h="672">
                    <a:moveTo>
                      <a:pt x="76" y="0"/>
                    </a:moveTo>
                    <a:lnTo>
                      <a:pt x="72" y="159"/>
                    </a:lnTo>
                    <a:lnTo>
                      <a:pt x="68" y="295"/>
                    </a:lnTo>
                    <a:lnTo>
                      <a:pt x="62" y="410"/>
                    </a:lnTo>
                    <a:lnTo>
                      <a:pt x="58" y="504"/>
                    </a:lnTo>
                    <a:lnTo>
                      <a:pt x="53" y="579"/>
                    </a:lnTo>
                    <a:lnTo>
                      <a:pt x="48" y="630"/>
                    </a:lnTo>
                    <a:lnTo>
                      <a:pt x="42" y="661"/>
                    </a:lnTo>
                    <a:lnTo>
                      <a:pt x="38" y="671"/>
                    </a:lnTo>
                    <a:lnTo>
                      <a:pt x="32" y="661"/>
                    </a:lnTo>
                    <a:lnTo>
                      <a:pt x="26" y="630"/>
                    </a:lnTo>
                    <a:lnTo>
                      <a:pt x="21" y="579"/>
                    </a:lnTo>
                    <a:lnTo>
                      <a:pt x="16" y="504"/>
                    </a:lnTo>
                    <a:lnTo>
                      <a:pt x="11" y="410"/>
                    </a:lnTo>
                    <a:lnTo>
                      <a:pt x="7" y="295"/>
                    </a:lnTo>
                    <a:lnTo>
                      <a:pt x="4" y="159"/>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606" name="Freeform 1150"/>
              <p:cNvSpPr>
                <a:spLocks/>
              </p:cNvSpPr>
              <p:nvPr/>
            </p:nvSpPr>
            <p:spPr bwMode="auto">
              <a:xfrm>
                <a:off x="4430" y="1438"/>
                <a:ext cx="78" cy="671"/>
              </a:xfrm>
              <a:custGeom>
                <a:avLst/>
                <a:gdLst/>
                <a:ahLst/>
                <a:cxnLst>
                  <a:cxn ang="0">
                    <a:pos x="77" y="670"/>
                  </a:cxn>
                  <a:cxn ang="0">
                    <a:pos x="72" y="514"/>
                  </a:cxn>
                  <a:cxn ang="0">
                    <a:pos x="68" y="378"/>
                  </a:cxn>
                  <a:cxn ang="0">
                    <a:pos x="63" y="262"/>
                  </a:cxn>
                  <a:cxn ang="0">
                    <a:pos x="59" y="168"/>
                  </a:cxn>
                  <a:cxn ang="0">
                    <a:pos x="53" y="95"/>
                  </a:cxn>
                  <a:cxn ang="0">
                    <a:pos x="48" y="42"/>
                  </a:cxn>
                  <a:cxn ang="0">
                    <a:pos x="43" y="11"/>
                  </a:cxn>
                  <a:cxn ang="0">
                    <a:pos x="38" y="0"/>
                  </a:cxn>
                  <a:cxn ang="0">
                    <a:pos x="33" y="11"/>
                  </a:cxn>
                  <a:cxn ang="0">
                    <a:pos x="27" y="42"/>
                  </a:cxn>
                  <a:cxn ang="0">
                    <a:pos x="22" y="95"/>
                  </a:cxn>
                  <a:cxn ang="0">
                    <a:pos x="16" y="168"/>
                  </a:cxn>
                  <a:cxn ang="0">
                    <a:pos x="11" y="262"/>
                  </a:cxn>
                  <a:cxn ang="0">
                    <a:pos x="7" y="378"/>
                  </a:cxn>
                  <a:cxn ang="0">
                    <a:pos x="3" y="514"/>
                  </a:cxn>
                  <a:cxn ang="0">
                    <a:pos x="0" y="670"/>
                  </a:cxn>
                </a:cxnLst>
                <a:rect l="0" t="0" r="r" b="b"/>
                <a:pathLst>
                  <a:path w="78" h="671">
                    <a:moveTo>
                      <a:pt x="77" y="670"/>
                    </a:moveTo>
                    <a:lnTo>
                      <a:pt x="72" y="514"/>
                    </a:lnTo>
                    <a:lnTo>
                      <a:pt x="68" y="378"/>
                    </a:lnTo>
                    <a:lnTo>
                      <a:pt x="63" y="262"/>
                    </a:lnTo>
                    <a:lnTo>
                      <a:pt x="59" y="168"/>
                    </a:lnTo>
                    <a:lnTo>
                      <a:pt x="53" y="95"/>
                    </a:lnTo>
                    <a:lnTo>
                      <a:pt x="48" y="42"/>
                    </a:lnTo>
                    <a:lnTo>
                      <a:pt x="43" y="11"/>
                    </a:lnTo>
                    <a:lnTo>
                      <a:pt x="38" y="0"/>
                    </a:lnTo>
                    <a:lnTo>
                      <a:pt x="33" y="11"/>
                    </a:lnTo>
                    <a:lnTo>
                      <a:pt x="27" y="42"/>
                    </a:lnTo>
                    <a:lnTo>
                      <a:pt x="22" y="95"/>
                    </a:lnTo>
                    <a:lnTo>
                      <a:pt x="16" y="168"/>
                    </a:lnTo>
                    <a:lnTo>
                      <a:pt x="11" y="262"/>
                    </a:lnTo>
                    <a:lnTo>
                      <a:pt x="7" y="378"/>
                    </a:lnTo>
                    <a:lnTo>
                      <a:pt x="3" y="514"/>
                    </a:lnTo>
                    <a:lnTo>
                      <a:pt x="0" y="67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6607" name="Freeform 1151"/>
              <p:cNvSpPr>
                <a:spLocks/>
              </p:cNvSpPr>
              <p:nvPr/>
            </p:nvSpPr>
            <p:spPr bwMode="auto">
              <a:xfrm>
                <a:off x="4507" y="2118"/>
                <a:ext cx="76" cy="673"/>
              </a:xfrm>
              <a:custGeom>
                <a:avLst/>
                <a:gdLst/>
                <a:ahLst/>
                <a:cxnLst>
                  <a:cxn ang="0">
                    <a:pos x="75" y="0"/>
                  </a:cxn>
                  <a:cxn ang="0">
                    <a:pos x="71" y="159"/>
                  </a:cxn>
                  <a:cxn ang="0">
                    <a:pos x="67" y="295"/>
                  </a:cxn>
                  <a:cxn ang="0">
                    <a:pos x="62" y="410"/>
                  </a:cxn>
                  <a:cxn ang="0">
                    <a:pos x="58" y="504"/>
                  </a:cxn>
                  <a:cxn ang="0">
                    <a:pos x="52" y="579"/>
                  </a:cxn>
                  <a:cxn ang="0">
                    <a:pos x="47" y="631"/>
                  </a:cxn>
                  <a:cxn ang="0">
                    <a:pos x="42" y="662"/>
                  </a:cxn>
                  <a:cxn ang="0">
                    <a:pos x="37" y="672"/>
                  </a:cxn>
                  <a:cxn ang="0">
                    <a:pos x="32" y="662"/>
                  </a:cxn>
                  <a:cxn ang="0">
                    <a:pos x="26" y="631"/>
                  </a:cxn>
                  <a:cxn ang="0">
                    <a:pos x="21" y="579"/>
                  </a:cxn>
                  <a:cxn ang="0">
                    <a:pos x="16" y="504"/>
                  </a:cxn>
                  <a:cxn ang="0">
                    <a:pos x="11" y="410"/>
                  </a:cxn>
                  <a:cxn ang="0">
                    <a:pos x="7" y="295"/>
                  </a:cxn>
                  <a:cxn ang="0">
                    <a:pos x="3" y="159"/>
                  </a:cxn>
                  <a:cxn ang="0">
                    <a:pos x="0" y="0"/>
                  </a:cxn>
                </a:cxnLst>
                <a:rect l="0" t="0" r="r" b="b"/>
                <a:pathLst>
                  <a:path w="76" h="673">
                    <a:moveTo>
                      <a:pt x="75" y="0"/>
                    </a:moveTo>
                    <a:lnTo>
                      <a:pt x="71" y="159"/>
                    </a:lnTo>
                    <a:lnTo>
                      <a:pt x="67" y="295"/>
                    </a:lnTo>
                    <a:lnTo>
                      <a:pt x="62" y="410"/>
                    </a:lnTo>
                    <a:lnTo>
                      <a:pt x="58" y="504"/>
                    </a:lnTo>
                    <a:lnTo>
                      <a:pt x="52" y="579"/>
                    </a:lnTo>
                    <a:lnTo>
                      <a:pt x="47" y="631"/>
                    </a:lnTo>
                    <a:lnTo>
                      <a:pt x="42" y="662"/>
                    </a:lnTo>
                    <a:lnTo>
                      <a:pt x="37" y="672"/>
                    </a:lnTo>
                    <a:lnTo>
                      <a:pt x="32" y="662"/>
                    </a:lnTo>
                    <a:lnTo>
                      <a:pt x="26" y="631"/>
                    </a:lnTo>
                    <a:lnTo>
                      <a:pt x="21" y="579"/>
                    </a:lnTo>
                    <a:lnTo>
                      <a:pt x="16" y="504"/>
                    </a:lnTo>
                    <a:lnTo>
                      <a:pt x="11" y="410"/>
                    </a:lnTo>
                    <a:lnTo>
                      <a:pt x="7" y="295"/>
                    </a:lnTo>
                    <a:lnTo>
                      <a:pt x="3" y="159"/>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grpSp>
      </p:grpSp>
      <p:sp>
        <p:nvSpPr>
          <p:cNvPr id="916608" name="Text Box 1152"/>
          <p:cNvSpPr txBox="1">
            <a:spLocks noChangeArrowheads="1"/>
          </p:cNvSpPr>
          <p:nvPr/>
        </p:nvSpPr>
        <p:spPr bwMode="auto">
          <a:xfrm>
            <a:off x="1676400" y="5257800"/>
            <a:ext cx="7170738" cy="806450"/>
          </a:xfrm>
          <a:prstGeom prst="rect">
            <a:avLst/>
          </a:prstGeom>
          <a:noFill/>
          <a:ln w="9525">
            <a:noFill/>
            <a:miter lim="800000"/>
            <a:headEnd/>
            <a:tailEnd/>
          </a:ln>
          <a:effectLst/>
        </p:spPr>
        <p:txBody>
          <a:bodyPr lIns="0" tIns="0" rIns="0" bIns="0"/>
          <a:lstStyle/>
          <a:p>
            <a:pPr defTabSz="409575">
              <a:spcBef>
                <a:spcPct val="20000"/>
              </a:spcBef>
              <a:buClr>
                <a:srgbClr val="008280"/>
              </a:buClr>
              <a:buSzPct val="90000"/>
              <a:buFont typeface="Monotype Sorts" pitchFamily="2" charset="2"/>
              <a:buNone/>
            </a:pPr>
            <a:r>
              <a:rPr lang="en-US" sz="1800">
                <a:solidFill>
                  <a:srgbClr val="000000"/>
                </a:solidFill>
                <a:latin typeface="Arial" pitchFamily="34" charset="0"/>
              </a:rPr>
              <a:t>12 teeth are meshing every revolution of the gear</a:t>
            </a:r>
          </a:p>
          <a:p>
            <a:pPr defTabSz="409575">
              <a:spcBef>
                <a:spcPct val="20000"/>
              </a:spcBef>
              <a:buClr>
                <a:srgbClr val="008280"/>
              </a:buClr>
              <a:buSzPct val="90000"/>
              <a:buFont typeface="Monotype Sorts" pitchFamily="2" charset="2"/>
              <a:buNone/>
            </a:pPr>
            <a:r>
              <a:rPr lang="en-US" sz="1800">
                <a:solidFill>
                  <a:srgbClr val="000000"/>
                </a:solidFill>
                <a:latin typeface="Arial" pitchFamily="34" charset="0"/>
              </a:rPr>
              <a:t>12 x 1000 RPM		=	vibration occurs at 12,000 cycles per minute</a:t>
            </a:r>
          </a:p>
          <a:p>
            <a:pPr defTabSz="409575">
              <a:spcBef>
                <a:spcPct val="20000"/>
              </a:spcBef>
              <a:buClr>
                <a:srgbClr val="008280"/>
              </a:buClr>
              <a:buSzPct val="90000"/>
              <a:buFont typeface="Monotype Sorts" pitchFamily="2" charset="2"/>
              <a:buNone/>
            </a:pPr>
            <a:r>
              <a:rPr lang="en-US" sz="1800">
                <a:solidFill>
                  <a:srgbClr val="000000"/>
                </a:solidFill>
                <a:latin typeface="Arial" pitchFamily="34" charset="0"/>
              </a:rPr>
              <a:t>					=	12,000 cpm		=	200 Hz</a:t>
            </a:r>
            <a:endParaRPr lang="en-US" sz="1800">
              <a:latin typeface="Arial" pitchFamily="34" charset="0"/>
            </a:endParaRPr>
          </a:p>
        </p:txBody>
      </p:sp>
      <p:sp>
        <p:nvSpPr>
          <p:cNvPr id="916609" name="Rectangle 1153"/>
          <p:cNvSpPr>
            <a:spLocks noGrp="1" noChangeArrowheads="1"/>
          </p:cNvSpPr>
          <p:nvPr>
            <p:ph type="title" idx="4294967295"/>
          </p:nvPr>
        </p:nvSpPr>
        <p:spPr>
          <a:xfrm>
            <a:off x="685800" y="390525"/>
            <a:ext cx="7772400" cy="828675"/>
          </a:xfrm>
        </p:spPr>
        <p:txBody>
          <a:bodyPr/>
          <a:lstStyle/>
          <a:p>
            <a:r>
              <a:rPr lang="en-US"/>
              <a:t>Time Waveform</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17506" name="Group 2"/>
          <p:cNvGrpSpPr>
            <a:grpSpLocks/>
          </p:cNvGrpSpPr>
          <p:nvPr/>
        </p:nvGrpSpPr>
        <p:grpSpPr bwMode="auto">
          <a:xfrm>
            <a:off x="1600200" y="1447800"/>
            <a:ext cx="1257300" cy="1181100"/>
            <a:chOff x="326" y="257"/>
            <a:chExt cx="1115" cy="1047"/>
          </a:xfrm>
        </p:grpSpPr>
        <p:sp>
          <p:nvSpPr>
            <p:cNvPr id="917507" name="Oval 3"/>
            <p:cNvSpPr>
              <a:spLocks noChangeArrowheads="1"/>
            </p:cNvSpPr>
            <p:nvPr/>
          </p:nvSpPr>
          <p:spPr bwMode="auto">
            <a:xfrm>
              <a:off x="326" y="257"/>
              <a:ext cx="1115" cy="1047"/>
            </a:xfrm>
            <a:prstGeom prst="ellipse">
              <a:avLst/>
            </a:prstGeom>
            <a:solidFill>
              <a:srgbClr val="E1E1E1"/>
            </a:solidFill>
            <a:ln w="19050">
              <a:solidFill>
                <a:srgbClr val="000000"/>
              </a:solidFill>
              <a:round/>
              <a:headEnd/>
              <a:tailEnd/>
            </a:ln>
            <a:effectLst/>
          </p:spPr>
          <p:txBody>
            <a:bodyPr wrap="none" anchor="ctr"/>
            <a:lstStyle/>
            <a:p>
              <a:endParaRPr lang="en-US"/>
            </a:p>
          </p:txBody>
        </p:sp>
        <p:sp>
          <p:nvSpPr>
            <p:cNvPr id="917508" name="Oval 4"/>
            <p:cNvSpPr>
              <a:spLocks noChangeArrowheads="1"/>
            </p:cNvSpPr>
            <p:nvPr/>
          </p:nvSpPr>
          <p:spPr bwMode="auto">
            <a:xfrm>
              <a:off x="853" y="762"/>
              <a:ext cx="40" cy="40"/>
            </a:xfrm>
            <a:prstGeom prst="ellipse">
              <a:avLst/>
            </a:prstGeom>
            <a:solidFill>
              <a:srgbClr val="FF0000"/>
            </a:solidFill>
            <a:ln w="19050">
              <a:solidFill>
                <a:srgbClr val="FF0000"/>
              </a:solidFill>
              <a:round/>
              <a:headEnd/>
              <a:tailEnd/>
            </a:ln>
            <a:effectLst/>
          </p:spPr>
          <p:txBody>
            <a:bodyPr wrap="none" anchor="ctr"/>
            <a:lstStyle/>
            <a:p>
              <a:endParaRPr lang="en-US"/>
            </a:p>
          </p:txBody>
        </p:sp>
        <p:sp>
          <p:nvSpPr>
            <p:cNvPr id="917509" name="Oval 5"/>
            <p:cNvSpPr>
              <a:spLocks noChangeArrowheads="1"/>
            </p:cNvSpPr>
            <p:nvPr/>
          </p:nvSpPr>
          <p:spPr bwMode="auto">
            <a:xfrm>
              <a:off x="375" y="434"/>
              <a:ext cx="180" cy="203"/>
            </a:xfrm>
            <a:prstGeom prst="ellipse">
              <a:avLst/>
            </a:prstGeom>
            <a:solidFill>
              <a:srgbClr val="008000"/>
            </a:solidFill>
            <a:ln w="19050">
              <a:solidFill>
                <a:srgbClr val="008000"/>
              </a:solidFill>
              <a:round/>
              <a:headEnd/>
              <a:tailEnd/>
            </a:ln>
            <a:effectLst/>
          </p:spPr>
          <p:txBody>
            <a:bodyPr wrap="none" anchor="ctr"/>
            <a:lstStyle/>
            <a:p>
              <a:endParaRPr lang="en-US"/>
            </a:p>
          </p:txBody>
        </p:sp>
      </p:grpSp>
      <p:grpSp>
        <p:nvGrpSpPr>
          <p:cNvPr id="917510" name="Group 6"/>
          <p:cNvGrpSpPr>
            <a:grpSpLocks/>
          </p:cNvGrpSpPr>
          <p:nvPr/>
        </p:nvGrpSpPr>
        <p:grpSpPr bwMode="auto">
          <a:xfrm>
            <a:off x="1676400" y="3048000"/>
            <a:ext cx="1204913" cy="1403350"/>
            <a:chOff x="354" y="1445"/>
            <a:chExt cx="1068" cy="1244"/>
          </a:xfrm>
        </p:grpSpPr>
        <p:grpSp>
          <p:nvGrpSpPr>
            <p:cNvPr id="917511" name="Group 7"/>
            <p:cNvGrpSpPr>
              <a:grpSpLocks/>
            </p:cNvGrpSpPr>
            <p:nvPr/>
          </p:nvGrpSpPr>
          <p:grpSpPr bwMode="auto">
            <a:xfrm>
              <a:off x="886" y="1919"/>
              <a:ext cx="529" cy="189"/>
              <a:chOff x="975" y="2175"/>
              <a:chExt cx="582" cy="214"/>
            </a:xfrm>
          </p:grpSpPr>
          <p:sp>
            <p:nvSpPr>
              <p:cNvPr id="917512" name="Freeform 8"/>
              <p:cNvSpPr>
                <a:spLocks/>
              </p:cNvSpPr>
              <p:nvPr/>
            </p:nvSpPr>
            <p:spPr bwMode="auto">
              <a:xfrm>
                <a:off x="976" y="2175"/>
                <a:ext cx="579" cy="213"/>
              </a:xfrm>
              <a:custGeom>
                <a:avLst/>
                <a:gdLst/>
                <a:ahLst/>
                <a:cxnLst>
                  <a:cxn ang="0">
                    <a:pos x="561" y="0"/>
                  </a:cxn>
                  <a:cxn ang="0">
                    <a:pos x="0" y="108"/>
                  </a:cxn>
                  <a:cxn ang="0">
                    <a:pos x="18" y="212"/>
                  </a:cxn>
                  <a:cxn ang="0">
                    <a:pos x="578" y="104"/>
                  </a:cxn>
                  <a:cxn ang="0">
                    <a:pos x="561" y="0"/>
                  </a:cxn>
                </a:cxnLst>
                <a:rect l="0" t="0" r="r" b="b"/>
                <a:pathLst>
                  <a:path w="579" h="213">
                    <a:moveTo>
                      <a:pt x="561" y="0"/>
                    </a:moveTo>
                    <a:lnTo>
                      <a:pt x="0" y="108"/>
                    </a:lnTo>
                    <a:lnTo>
                      <a:pt x="18" y="212"/>
                    </a:lnTo>
                    <a:lnTo>
                      <a:pt x="578" y="104"/>
                    </a:lnTo>
                    <a:lnTo>
                      <a:pt x="561" y="0"/>
                    </a:lnTo>
                  </a:path>
                </a:pathLst>
              </a:custGeom>
              <a:solidFill>
                <a:srgbClr val="E1E1E1"/>
              </a:solidFill>
              <a:ln w="19050" cap="flat" cmpd="sng">
                <a:solidFill>
                  <a:srgbClr val="000000"/>
                </a:solidFill>
                <a:prstDash val="solid"/>
                <a:round/>
                <a:headEnd type="none" w="med" len="med"/>
                <a:tailEnd type="none" w="med" len="med"/>
              </a:ln>
              <a:effectLst/>
            </p:spPr>
            <p:txBody>
              <a:bodyPr/>
              <a:lstStyle/>
              <a:p>
                <a:endParaRPr lang="en-US"/>
              </a:p>
            </p:txBody>
          </p:sp>
          <p:sp>
            <p:nvSpPr>
              <p:cNvPr id="917513" name="Oval 9"/>
              <p:cNvSpPr>
                <a:spLocks noChangeArrowheads="1"/>
              </p:cNvSpPr>
              <p:nvPr/>
            </p:nvSpPr>
            <p:spPr bwMode="auto">
              <a:xfrm rot="10500000">
                <a:off x="975" y="2279"/>
                <a:ext cx="27" cy="110"/>
              </a:xfrm>
              <a:prstGeom prst="ellipse">
                <a:avLst/>
              </a:prstGeom>
              <a:solidFill>
                <a:srgbClr val="E1E1E1"/>
              </a:solidFill>
              <a:ln w="19050">
                <a:solidFill>
                  <a:srgbClr val="000000"/>
                </a:solidFill>
                <a:round/>
                <a:headEnd/>
                <a:tailEnd/>
              </a:ln>
              <a:effectLst/>
            </p:spPr>
            <p:txBody>
              <a:bodyPr wrap="none" anchor="ctr"/>
              <a:lstStyle/>
              <a:p>
                <a:endParaRPr lang="en-US"/>
              </a:p>
            </p:txBody>
          </p:sp>
          <p:sp>
            <p:nvSpPr>
              <p:cNvPr id="917514" name="Oval 10"/>
              <p:cNvSpPr>
                <a:spLocks noChangeArrowheads="1"/>
              </p:cNvSpPr>
              <p:nvPr/>
            </p:nvSpPr>
            <p:spPr bwMode="auto">
              <a:xfrm rot="10500000">
                <a:off x="1529" y="2177"/>
                <a:ext cx="28" cy="105"/>
              </a:xfrm>
              <a:prstGeom prst="ellipse">
                <a:avLst/>
              </a:prstGeom>
              <a:solidFill>
                <a:srgbClr val="E1E1E1"/>
              </a:solidFill>
              <a:ln w="19050">
                <a:solidFill>
                  <a:srgbClr val="000000"/>
                </a:solidFill>
                <a:round/>
                <a:headEnd/>
                <a:tailEnd/>
              </a:ln>
              <a:effectLst/>
            </p:spPr>
            <p:txBody>
              <a:bodyPr wrap="none" anchor="ctr"/>
              <a:lstStyle/>
              <a:p>
                <a:endParaRPr lang="en-US"/>
              </a:p>
            </p:txBody>
          </p:sp>
          <p:sp>
            <p:nvSpPr>
              <p:cNvPr id="917515" name="Freeform 11"/>
              <p:cNvSpPr>
                <a:spLocks/>
              </p:cNvSpPr>
              <p:nvPr/>
            </p:nvSpPr>
            <p:spPr bwMode="auto">
              <a:xfrm>
                <a:off x="1506" y="2178"/>
                <a:ext cx="45" cy="102"/>
              </a:xfrm>
              <a:custGeom>
                <a:avLst/>
                <a:gdLst/>
                <a:ahLst/>
                <a:cxnLst>
                  <a:cxn ang="0">
                    <a:pos x="30" y="0"/>
                  </a:cxn>
                  <a:cxn ang="0">
                    <a:pos x="0" y="12"/>
                  </a:cxn>
                  <a:cxn ang="0">
                    <a:pos x="6" y="98"/>
                  </a:cxn>
                  <a:cxn ang="0">
                    <a:pos x="44" y="101"/>
                  </a:cxn>
                  <a:cxn ang="0">
                    <a:pos x="30" y="0"/>
                  </a:cxn>
                  <a:cxn ang="0">
                    <a:pos x="30" y="0"/>
                  </a:cxn>
                </a:cxnLst>
                <a:rect l="0" t="0" r="r" b="b"/>
                <a:pathLst>
                  <a:path w="45" h="102">
                    <a:moveTo>
                      <a:pt x="30" y="0"/>
                    </a:moveTo>
                    <a:lnTo>
                      <a:pt x="0" y="12"/>
                    </a:lnTo>
                    <a:lnTo>
                      <a:pt x="6" y="98"/>
                    </a:lnTo>
                    <a:lnTo>
                      <a:pt x="44" y="101"/>
                    </a:lnTo>
                    <a:lnTo>
                      <a:pt x="30" y="0"/>
                    </a:lnTo>
                    <a:lnTo>
                      <a:pt x="30" y="0"/>
                    </a:lnTo>
                  </a:path>
                </a:pathLst>
              </a:custGeom>
              <a:solidFill>
                <a:srgbClr val="E1E1E1"/>
              </a:solidFill>
              <a:ln w="19050" cap="flat" cmpd="sng">
                <a:solidFill>
                  <a:srgbClr val="FFFFFF"/>
                </a:solidFill>
                <a:prstDash val="solid"/>
                <a:round/>
                <a:headEnd type="none" w="med" len="med"/>
                <a:tailEnd type="none" w="med" len="med"/>
              </a:ln>
              <a:effectLst/>
            </p:spPr>
            <p:txBody>
              <a:bodyPr/>
              <a:lstStyle/>
              <a:p>
                <a:endParaRPr lang="en-US"/>
              </a:p>
            </p:txBody>
          </p:sp>
        </p:grpSp>
        <p:sp>
          <p:nvSpPr>
            <p:cNvPr id="917516" name="Freeform 12"/>
            <p:cNvSpPr>
              <a:spLocks/>
            </p:cNvSpPr>
            <p:nvPr/>
          </p:nvSpPr>
          <p:spPr bwMode="auto">
            <a:xfrm>
              <a:off x="374" y="1445"/>
              <a:ext cx="510" cy="597"/>
            </a:xfrm>
            <a:custGeom>
              <a:avLst/>
              <a:gdLst/>
              <a:ahLst/>
              <a:cxnLst>
                <a:cxn ang="0">
                  <a:pos x="560" y="612"/>
                </a:cxn>
                <a:cxn ang="0">
                  <a:pos x="471" y="468"/>
                </a:cxn>
                <a:cxn ang="0">
                  <a:pos x="372" y="301"/>
                </a:cxn>
                <a:cxn ang="0">
                  <a:pos x="277" y="154"/>
                </a:cxn>
                <a:cxn ang="0">
                  <a:pos x="197" y="66"/>
                </a:cxn>
                <a:cxn ang="0">
                  <a:pos x="116" y="0"/>
                </a:cxn>
                <a:cxn ang="0">
                  <a:pos x="68" y="0"/>
                </a:cxn>
                <a:cxn ang="0">
                  <a:pos x="27" y="15"/>
                </a:cxn>
                <a:cxn ang="0">
                  <a:pos x="0" y="62"/>
                </a:cxn>
                <a:cxn ang="0">
                  <a:pos x="10" y="117"/>
                </a:cxn>
                <a:cxn ang="0">
                  <a:pos x="53" y="212"/>
                </a:cxn>
                <a:cxn ang="0">
                  <a:pos x="122" y="327"/>
                </a:cxn>
                <a:cxn ang="0">
                  <a:pos x="270" y="469"/>
                </a:cxn>
                <a:cxn ang="0">
                  <a:pos x="341" y="535"/>
                </a:cxn>
                <a:cxn ang="0">
                  <a:pos x="491" y="675"/>
                </a:cxn>
                <a:cxn ang="0">
                  <a:pos x="560" y="612"/>
                </a:cxn>
                <a:cxn ang="0">
                  <a:pos x="560" y="612"/>
                </a:cxn>
              </a:cxnLst>
              <a:rect l="0" t="0" r="r" b="b"/>
              <a:pathLst>
                <a:path w="561" h="676">
                  <a:moveTo>
                    <a:pt x="560" y="612"/>
                  </a:moveTo>
                  <a:lnTo>
                    <a:pt x="471" y="468"/>
                  </a:lnTo>
                  <a:lnTo>
                    <a:pt x="372" y="301"/>
                  </a:lnTo>
                  <a:lnTo>
                    <a:pt x="277" y="154"/>
                  </a:lnTo>
                  <a:lnTo>
                    <a:pt x="197" y="66"/>
                  </a:lnTo>
                  <a:lnTo>
                    <a:pt x="116" y="0"/>
                  </a:lnTo>
                  <a:lnTo>
                    <a:pt x="68" y="0"/>
                  </a:lnTo>
                  <a:lnTo>
                    <a:pt x="27" y="15"/>
                  </a:lnTo>
                  <a:lnTo>
                    <a:pt x="0" y="62"/>
                  </a:lnTo>
                  <a:lnTo>
                    <a:pt x="10" y="117"/>
                  </a:lnTo>
                  <a:lnTo>
                    <a:pt x="53" y="212"/>
                  </a:lnTo>
                  <a:lnTo>
                    <a:pt x="122" y="327"/>
                  </a:lnTo>
                  <a:lnTo>
                    <a:pt x="270" y="469"/>
                  </a:lnTo>
                  <a:lnTo>
                    <a:pt x="341" y="535"/>
                  </a:lnTo>
                  <a:lnTo>
                    <a:pt x="491" y="675"/>
                  </a:lnTo>
                  <a:lnTo>
                    <a:pt x="560" y="612"/>
                  </a:lnTo>
                  <a:lnTo>
                    <a:pt x="560" y="612"/>
                  </a:lnTo>
                </a:path>
              </a:pathLst>
            </a:custGeom>
            <a:solidFill>
              <a:srgbClr val="E12000"/>
            </a:solidFill>
            <a:ln w="19050" cap="flat" cmpd="sng">
              <a:solidFill>
                <a:srgbClr val="000000"/>
              </a:solidFill>
              <a:prstDash val="solid"/>
              <a:round/>
              <a:headEnd type="none" w="med" len="med"/>
              <a:tailEnd type="none" w="med" len="med"/>
            </a:ln>
            <a:effectLst/>
          </p:spPr>
          <p:txBody>
            <a:bodyPr/>
            <a:lstStyle/>
            <a:p>
              <a:endParaRPr lang="en-US"/>
            </a:p>
          </p:txBody>
        </p:sp>
        <p:sp>
          <p:nvSpPr>
            <p:cNvPr id="917517" name="Freeform 13"/>
            <p:cNvSpPr>
              <a:spLocks/>
            </p:cNvSpPr>
            <p:nvPr/>
          </p:nvSpPr>
          <p:spPr bwMode="auto">
            <a:xfrm>
              <a:off x="912" y="1455"/>
              <a:ext cx="510" cy="596"/>
            </a:xfrm>
            <a:custGeom>
              <a:avLst/>
              <a:gdLst/>
              <a:ahLst/>
              <a:cxnLst>
                <a:cxn ang="0">
                  <a:pos x="0" y="612"/>
                </a:cxn>
                <a:cxn ang="0">
                  <a:pos x="89" y="468"/>
                </a:cxn>
                <a:cxn ang="0">
                  <a:pos x="188" y="301"/>
                </a:cxn>
                <a:cxn ang="0">
                  <a:pos x="283" y="154"/>
                </a:cxn>
                <a:cxn ang="0">
                  <a:pos x="364" y="66"/>
                </a:cxn>
                <a:cxn ang="0">
                  <a:pos x="443" y="0"/>
                </a:cxn>
                <a:cxn ang="0">
                  <a:pos x="492" y="0"/>
                </a:cxn>
                <a:cxn ang="0">
                  <a:pos x="533" y="15"/>
                </a:cxn>
                <a:cxn ang="0">
                  <a:pos x="560" y="63"/>
                </a:cxn>
                <a:cxn ang="0">
                  <a:pos x="550" y="117"/>
                </a:cxn>
                <a:cxn ang="0">
                  <a:pos x="507" y="212"/>
                </a:cxn>
                <a:cxn ang="0">
                  <a:pos x="438" y="327"/>
                </a:cxn>
                <a:cxn ang="0">
                  <a:pos x="290" y="469"/>
                </a:cxn>
                <a:cxn ang="0">
                  <a:pos x="219" y="535"/>
                </a:cxn>
                <a:cxn ang="0">
                  <a:pos x="68" y="675"/>
                </a:cxn>
                <a:cxn ang="0">
                  <a:pos x="0" y="612"/>
                </a:cxn>
                <a:cxn ang="0">
                  <a:pos x="0" y="612"/>
                </a:cxn>
              </a:cxnLst>
              <a:rect l="0" t="0" r="r" b="b"/>
              <a:pathLst>
                <a:path w="561" h="676">
                  <a:moveTo>
                    <a:pt x="0" y="612"/>
                  </a:moveTo>
                  <a:lnTo>
                    <a:pt x="89" y="468"/>
                  </a:lnTo>
                  <a:lnTo>
                    <a:pt x="188" y="301"/>
                  </a:lnTo>
                  <a:lnTo>
                    <a:pt x="283" y="154"/>
                  </a:lnTo>
                  <a:lnTo>
                    <a:pt x="364" y="66"/>
                  </a:lnTo>
                  <a:lnTo>
                    <a:pt x="443" y="0"/>
                  </a:lnTo>
                  <a:lnTo>
                    <a:pt x="492" y="0"/>
                  </a:lnTo>
                  <a:lnTo>
                    <a:pt x="533" y="15"/>
                  </a:lnTo>
                  <a:lnTo>
                    <a:pt x="560" y="63"/>
                  </a:lnTo>
                  <a:lnTo>
                    <a:pt x="550" y="117"/>
                  </a:lnTo>
                  <a:lnTo>
                    <a:pt x="507" y="212"/>
                  </a:lnTo>
                  <a:lnTo>
                    <a:pt x="438" y="327"/>
                  </a:lnTo>
                  <a:lnTo>
                    <a:pt x="290" y="469"/>
                  </a:lnTo>
                  <a:lnTo>
                    <a:pt x="219" y="535"/>
                  </a:lnTo>
                  <a:lnTo>
                    <a:pt x="68" y="675"/>
                  </a:lnTo>
                  <a:lnTo>
                    <a:pt x="0" y="612"/>
                  </a:lnTo>
                  <a:lnTo>
                    <a:pt x="0" y="612"/>
                  </a:lnTo>
                </a:path>
              </a:pathLst>
            </a:custGeom>
            <a:solidFill>
              <a:srgbClr val="E12000"/>
            </a:solidFill>
            <a:ln w="19050" cap="flat" cmpd="sng">
              <a:solidFill>
                <a:srgbClr val="000000"/>
              </a:solidFill>
              <a:prstDash val="solid"/>
              <a:round/>
              <a:headEnd type="none" w="med" len="med"/>
              <a:tailEnd type="none" w="med" len="med"/>
            </a:ln>
            <a:effectLst/>
          </p:spPr>
          <p:txBody>
            <a:bodyPr/>
            <a:lstStyle/>
            <a:p>
              <a:endParaRPr lang="en-US"/>
            </a:p>
          </p:txBody>
        </p:sp>
        <p:sp>
          <p:nvSpPr>
            <p:cNvPr id="917518" name="Freeform 14"/>
            <p:cNvSpPr>
              <a:spLocks/>
            </p:cNvSpPr>
            <p:nvPr/>
          </p:nvSpPr>
          <p:spPr bwMode="auto">
            <a:xfrm>
              <a:off x="898" y="2092"/>
              <a:ext cx="509" cy="597"/>
            </a:xfrm>
            <a:custGeom>
              <a:avLst/>
              <a:gdLst/>
              <a:ahLst/>
              <a:cxnLst>
                <a:cxn ang="0">
                  <a:pos x="0" y="63"/>
                </a:cxn>
                <a:cxn ang="0">
                  <a:pos x="88" y="207"/>
                </a:cxn>
                <a:cxn ang="0">
                  <a:pos x="188" y="375"/>
                </a:cxn>
                <a:cxn ang="0">
                  <a:pos x="283" y="522"/>
                </a:cxn>
                <a:cxn ang="0">
                  <a:pos x="363" y="609"/>
                </a:cxn>
                <a:cxn ang="0">
                  <a:pos x="442" y="675"/>
                </a:cxn>
                <a:cxn ang="0">
                  <a:pos x="492" y="676"/>
                </a:cxn>
                <a:cxn ang="0">
                  <a:pos x="532" y="661"/>
                </a:cxn>
                <a:cxn ang="0">
                  <a:pos x="559" y="613"/>
                </a:cxn>
                <a:cxn ang="0">
                  <a:pos x="550" y="558"/>
                </a:cxn>
                <a:cxn ang="0">
                  <a:pos x="507" y="463"/>
                </a:cxn>
                <a:cxn ang="0">
                  <a:pos x="438" y="349"/>
                </a:cxn>
                <a:cxn ang="0">
                  <a:pos x="288" y="206"/>
                </a:cxn>
                <a:cxn ang="0">
                  <a:pos x="218" y="141"/>
                </a:cxn>
                <a:cxn ang="0">
                  <a:pos x="68" y="0"/>
                </a:cxn>
                <a:cxn ang="0">
                  <a:pos x="0" y="63"/>
                </a:cxn>
                <a:cxn ang="0">
                  <a:pos x="0" y="63"/>
                </a:cxn>
              </a:cxnLst>
              <a:rect l="0" t="0" r="r" b="b"/>
              <a:pathLst>
                <a:path w="560" h="677">
                  <a:moveTo>
                    <a:pt x="0" y="63"/>
                  </a:moveTo>
                  <a:lnTo>
                    <a:pt x="88" y="207"/>
                  </a:lnTo>
                  <a:lnTo>
                    <a:pt x="188" y="375"/>
                  </a:lnTo>
                  <a:lnTo>
                    <a:pt x="283" y="522"/>
                  </a:lnTo>
                  <a:lnTo>
                    <a:pt x="363" y="609"/>
                  </a:lnTo>
                  <a:lnTo>
                    <a:pt x="442" y="675"/>
                  </a:lnTo>
                  <a:lnTo>
                    <a:pt x="492" y="676"/>
                  </a:lnTo>
                  <a:lnTo>
                    <a:pt x="532" y="661"/>
                  </a:lnTo>
                  <a:lnTo>
                    <a:pt x="559" y="613"/>
                  </a:lnTo>
                  <a:lnTo>
                    <a:pt x="550" y="558"/>
                  </a:lnTo>
                  <a:lnTo>
                    <a:pt x="507" y="463"/>
                  </a:lnTo>
                  <a:lnTo>
                    <a:pt x="438" y="349"/>
                  </a:lnTo>
                  <a:lnTo>
                    <a:pt x="288" y="206"/>
                  </a:lnTo>
                  <a:lnTo>
                    <a:pt x="218" y="141"/>
                  </a:lnTo>
                  <a:lnTo>
                    <a:pt x="68" y="0"/>
                  </a:lnTo>
                  <a:lnTo>
                    <a:pt x="0" y="63"/>
                  </a:lnTo>
                  <a:lnTo>
                    <a:pt x="0" y="63"/>
                  </a:lnTo>
                </a:path>
              </a:pathLst>
            </a:custGeom>
            <a:solidFill>
              <a:srgbClr val="E12000"/>
            </a:solidFill>
            <a:ln w="19050" cap="flat" cmpd="sng">
              <a:solidFill>
                <a:srgbClr val="000000"/>
              </a:solidFill>
              <a:prstDash val="solid"/>
              <a:round/>
              <a:headEnd type="none" w="med" len="med"/>
              <a:tailEnd type="none" w="med" len="med"/>
            </a:ln>
            <a:effectLst/>
          </p:spPr>
          <p:txBody>
            <a:bodyPr/>
            <a:lstStyle/>
            <a:p>
              <a:endParaRPr lang="en-US"/>
            </a:p>
          </p:txBody>
        </p:sp>
        <p:sp>
          <p:nvSpPr>
            <p:cNvPr id="917519" name="Freeform 15"/>
            <p:cNvSpPr>
              <a:spLocks/>
            </p:cNvSpPr>
            <p:nvPr/>
          </p:nvSpPr>
          <p:spPr bwMode="auto">
            <a:xfrm>
              <a:off x="354" y="2092"/>
              <a:ext cx="510" cy="597"/>
            </a:xfrm>
            <a:custGeom>
              <a:avLst/>
              <a:gdLst/>
              <a:ahLst/>
              <a:cxnLst>
                <a:cxn ang="0">
                  <a:pos x="560" y="63"/>
                </a:cxn>
                <a:cxn ang="0">
                  <a:pos x="471" y="207"/>
                </a:cxn>
                <a:cxn ang="0">
                  <a:pos x="372" y="375"/>
                </a:cxn>
                <a:cxn ang="0">
                  <a:pos x="277" y="522"/>
                </a:cxn>
                <a:cxn ang="0">
                  <a:pos x="196" y="609"/>
                </a:cxn>
                <a:cxn ang="0">
                  <a:pos x="116" y="675"/>
                </a:cxn>
                <a:cxn ang="0">
                  <a:pos x="68" y="676"/>
                </a:cxn>
                <a:cxn ang="0">
                  <a:pos x="28" y="661"/>
                </a:cxn>
                <a:cxn ang="0">
                  <a:pos x="0" y="613"/>
                </a:cxn>
                <a:cxn ang="0">
                  <a:pos x="11" y="558"/>
                </a:cxn>
                <a:cxn ang="0">
                  <a:pos x="53" y="463"/>
                </a:cxn>
                <a:cxn ang="0">
                  <a:pos x="123" y="349"/>
                </a:cxn>
                <a:cxn ang="0">
                  <a:pos x="270" y="206"/>
                </a:cxn>
                <a:cxn ang="0">
                  <a:pos x="341" y="141"/>
                </a:cxn>
                <a:cxn ang="0">
                  <a:pos x="492" y="0"/>
                </a:cxn>
                <a:cxn ang="0">
                  <a:pos x="560" y="63"/>
                </a:cxn>
                <a:cxn ang="0">
                  <a:pos x="560" y="63"/>
                </a:cxn>
              </a:cxnLst>
              <a:rect l="0" t="0" r="r" b="b"/>
              <a:pathLst>
                <a:path w="561" h="677">
                  <a:moveTo>
                    <a:pt x="560" y="63"/>
                  </a:moveTo>
                  <a:lnTo>
                    <a:pt x="471" y="207"/>
                  </a:lnTo>
                  <a:lnTo>
                    <a:pt x="372" y="375"/>
                  </a:lnTo>
                  <a:lnTo>
                    <a:pt x="277" y="522"/>
                  </a:lnTo>
                  <a:lnTo>
                    <a:pt x="196" y="609"/>
                  </a:lnTo>
                  <a:lnTo>
                    <a:pt x="116" y="675"/>
                  </a:lnTo>
                  <a:lnTo>
                    <a:pt x="68" y="676"/>
                  </a:lnTo>
                  <a:lnTo>
                    <a:pt x="28" y="661"/>
                  </a:lnTo>
                  <a:lnTo>
                    <a:pt x="0" y="613"/>
                  </a:lnTo>
                  <a:lnTo>
                    <a:pt x="11" y="558"/>
                  </a:lnTo>
                  <a:lnTo>
                    <a:pt x="53" y="463"/>
                  </a:lnTo>
                  <a:lnTo>
                    <a:pt x="123" y="349"/>
                  </a:lnTo>
                  <a:lnTo>
                    <a:pt x="270" y="206"/>
                  </a:lnTo>
                  <a:lnTo>
                    <a:pt x="341" y="141"/>
                  </a:lnTo>
                  <a:lnTo>
                    <a:pt x="492" y="0"/>
                  </a:lnTo>
                  <a:lnTo>
                    <a:pt x="560" y="63"/>
                  </a:lnTo>
                  <a:lnTo>
                    <a:pt x="560" y="63"/>
                  </a:lnTo>
                </a:path>
              </a:pathLst>
            </a:custGeom>
            <a:solidFill>
              <a:srgbClr val="E12000"/>
            </a:solidFill>
            <a:ln w="19050" cap="flat" cmpd="sng">
              <a:solidFill>
                <a:srgbClr val="000000"/>
              </a:solidFill>
              <a:prstDash val="solid"/>
              <a:round/>
              <a:headEnd type="none" w="med" len="med"/>
              <a:tailEnd type="none" w="med" len="med"/>
            </a:ln>
            <a:effectLst/>
          </p:spPr>
          <p:txBody>
            <a:bodyPr/>
            <a:lstStyle/>
            <a:p>
              <a:endParaRPr lang="en-US"/>
            </a:p>
          </p:txBody>
        </p:sp>
        <p:sp>
          <p:nvSpPr>
            <p:cNvPr id="917520" name="Freeform 16"/>
            <p:cNvSpPr>
              <a:spLocks/>
            </p:cNvSpPr>
            <p:nvPr/>
          </p:nvSpPr>
          <p:spPr bwMode="auto">
            <a:xfrm>
              <a:off x="782" y="1971"/>
              <a:ext cx="68" cy="84"/>
            </a:xfrm>
            <a:custGeom>
              <a:avLst/>
              <a:gdLst/>
              <a:ahLst/>
              <a:cxnLst>
                <a:cxn ang="0">
                  <a:pos x="2" y="0"/>
                </a:cxn>
                <a:cxn ang="0">
                  <a:pos x="0" y="88"/>
                </a:cxn>
                <a:cxn ang="0">
                  <a:pos x="74" y="94"/>
                </a:cxn>
                <a:cxn ang="0">
                  <a:pos x="62" y="6"/>
                </a:cxn>
                <a:cxn ang="0">
                  <a:pos x="2" y="3"/>
                </a:cxn>
                <a:cxn ang="0">
                  <a:pos x="2" y="0"/>
                </a:cxn>
                <a:cxn ang="0">
                  <a:pos x="2" y="0"/>
                </a:cxn>
              </a:cxnLst>
              <a:rect l="0" t="0" r="r" b="b"/>
              <a:pathLst>
                <a:path w="75" h="95">
                  <a:moveTo>
                    <a:pt x="2" y="0"/>
                  </a:moveTo>
                  <a:lnTo>
                    <a:pt x="0" y="88"/>
                  </a:lnTo>
                  <a:lnTo>
                    <a:pt x="74" y="94"/>
                  </a:lnTo>
                  <a:lnTo>
                    <a:pt x="62" y="6"/>
                  </a:lnTo>
                  <a:lnTo>
                    <a:pt x="2" y="3"/>
                  </a:lnTo>
                  <a:lnTo>
                    <a:pt x="2" y="0"/>
                  </a:lnTo>
                  <a:lnTo>
                    <a:pt x="2" y="0"/>
                  </a:lnTo>
                </a:path>
              </a:pathLst>
            </a:custGeom>
            <a:solidFill>
              <a:srgbClr val="E12000"/>
            </a:solidFill>
            <a:ln w="19050" cap="flat" cmpd="sng">
              <a:solidFill>
                <a:srgbClr val="E1E1E1"/>
              </a:solidFill>
              <a:prstDash val="solid"/>
              <a:round/>
              <a:headEnd type="none" w="med" len="med"/>
              <a:tailEnd type="none" w="med" len="med"/>
            </a:ln>
            <a:effectLst/>
          </p:spPr>
          <p:txBody>
            <a:bodyPr/>
            <a:lstStyle/>
            <a:p>
              <a:endParaRPr lang="en-US"/>
            </a:p>
          </p:txBody>
        </p:sp>
        <p:sp>
          <p:nvSpPr>
            <p:cNvPr id="917521" name="Line 17"/>
            <p:cNvSpPr>
              <a:spLocks noChangeShapeType="1"/>
            </p:cNvSpPr>
            <p:nvPr/>
          </p:nvSpPr>
          <p:spPr bwMode="auto">
            <a:xfrm>
              <a:off x="740" y="1967"/>
              <a:ext cx="89" cy="83"/>
            </a:xfrm>
            <a:prstGeom prst="line">
              <a:avLst/>
            </a:prstGeom>
            <a:noFill/>
            <a:ln w="19050">
              <a:solidFill>
                <a:srgbClr val="000000"/>
              </a:solidFill>
              <a:round/>
              <a:headEnd/>
              <a:tailEnd/>
            </a:ln>
            <a:effectLst/>
          </p:spPr>
          <p:txBody>
            <a:bodyPr wrap="none" anchor="ctr"/>
            <a:lstStyle/>
            <a:p>
              <a:endParaRPr lang="en-US"/>
            </a:p>
          </p:txBody>
        </p:sp>
        <p:sp>
          <p:nvSpPr>
            <p:cNvPr id="917522" name="Oval 18"/>
            <p:cNvSpPr>
              <a:spLocks noChangeArrowheads="1"/>
            </p:cNvSpPr>
            <p:nvPr/>
          </p:nvSpPr>
          <p:spPr bwMode="auto">
            <a:xfrm>
              <a:off x="806" y="1980"/>
              <a:ext cx="175" cy="187"/>
            </a:xfrm>
            <a:prstGeom prst="ellipse">
              <a:avLst/>
            </a:prstGeom>
            <a:solidFill>
              <a:srgbClr val="E12000"/>
            </a:solidFill>
            <a:ln w="19050">
              <a:solidFill>
                <a:srgbClr val="000000"/>
              </a:solidFill>
              <a:round/>
              <a:headEnd/>
              <a:tailEnd/>
            </a:ln>
            <a:effectLst/>
          </p:spPr>
          <p:txBody>
            <a:bodyPr wrap="none" anchor="ctr"/>
            <a:lstStyle/>
            <a:p>
              <a:endParaRPr lang="en-US"/>
            </a:p>
          </p:txBody>
        </p:sp>
        <p:grpSp>
          <p:nvGrpSpPr>
            <p:cNvPr id="917523" name="Group 19"/>
            <p:cNvGrpSpPr>
              <a:grpSpLocks/>
            </p:cNvGrpSpPr>
            <p:nvPr/>
          </p:nvGrpSpPr>
          <p:grpSpPr bwMode="auto">
            <a:xfrm>
              <a:off x="405" y="2029"/>
              <a:ext cx="503" cy="190"/>
              <a:chOff x="446" y="2300"/>
              <a:chExt cx="553" cy="215"/>
            </a:xfrm>
          </p:grpSpPr>
          <p:sp>
            <p:nvSpPr>
              <p:cNvPr id="917524" name="Freeform 20"/>
              <p:cNvSpPr>
                <a:spLocks/>
              </p:cNvSpPr>
              <p:nvPr/>
            </p:nvSpPr>
            <p:spPr bwMode="auto">
              <a:xfrm>
                <a:off x="447" y="2300"/>
                <a:ext cx="548" cy="214"/>
              </a:xfrm>
              <a:custGeom>
                <a:avLst/>
                <a:gdLst/>
                <a:ahLst/>
                <a:cxnLst>
                  <a:cxn ang="0">
                    <a:pos x="531" y="0"/>
                  </a:cxn>
                  <a:cxn ang="0">
                    <a:pos x="0" y="109"/>
                  </a:cxn>
                  <a:cxn ang="0">
                    <a:pos x="17" y="213"/>
                  </a:cxn>
                  <a:cxn ang="0">
                    <a:pos x="547" y="106"/>
                  </a:cxn>
                  <a:cxn ang="0">
                    <a:pos x="531" y="0"/>
                  </a:cxn>
                </a:cxnLst>
                <a:rect l="0" t="0" r="r" b="b"/>
                <a:pathLst>
                  <a:path w="548" h="214">
                    <a:moveTo>
                      <a:pt x="531" y="0"/>
                    </a:moveTo>
                    <a:lnTo>
                      <a:pt x="0" y="109"/>
                    </a:lnTo>
                    <a:lnTo>
                      <a:pt x="17" y="213"/>
                    </a:lnTo>
                    <a:lnTo>
                      <a:pt x="547" y="106"/>
                    </a:lnTo>
                    <a:lnTo>
                      <a:pt x="531" y="0"/>
                    </a:lnTo>
                  </a:path>
                </a:pathLst>
              </a:custGeom>
              <a:solidFill>
                <a:srgbClr val="E1E1E1"/>
              </a:solidFill>
              <a:ln w="19050" cap="flat" cmpd="sng">
                <a:solidFill>
                  <a:srgbClr val="000000"/>
                </a:solidFill>
                <a:prstDash val="solid"/>
                <a:round/>
                <a:headEnd type="none" w="med" len="med"/>
                <a:tailEnd type="none" w="med" len="med"/>
              </a:ln>
              <a:effectLst/>
            </p:spPr>
            <p:txBody>
              <a:bodyPr/>
              <a:lstStyle/>
              <a:p>
                <a:endParaRPr lang="en-US"/>
              </a:p>
            </p:txBody>
          </p:sp>
          <p:sp>
            <p:nvSpPr>
              <p:cNvPr id="917525" name="Oval 21"/>
              <p:cNvSpPr>
                <a:spLocks noChangeArrowheads="1"/>
              </p:cNvSpPr>
              <p:nvPr/>
            </p:nvSpPr>
            <p:spPr bwMode="auto">
              <a:xfrm rot="10620000">
                <a:off x="446" y="2405"/>
                <a:ext cx="24" cy="110"/>
              </a:xfrm>
              <a:prstGeom prst="ellipse">
                <a:avLst/>
              </a:prstGeom>
              <a:solidFill>
                <a:srgbClr val="E1E1E1"/>
              </a:solidFill>
              <a:ln w="19050">
                <a:solidFill>
                  <a:srgbClr val="000000"/>
                </a:solidFill>
                <a:round/>
                <a:headEnd/>
                <a:tailEnd/>
              </a:ln>
              <a:effectLst/>
            </p:spPr>
            <p:txBody>
              <a:bodyPr wrap="none" anchor="ctr"/>
              <a:lstStyle/>
              <a:p>
                <a:endParaRPr lang="en-US"/>
              </a:p>
            </p:txBody>
          </p:sp>
          <p:sp>
            <p:nvSpPr>
              <p:cNvPr id="917526" name="Oval 22"/>
              <p:cNvSpPr>
                <a:spLocks noChangeArrowheads="1"/>
              </p:cNvSpPr>
              <p:nvPr/>
            </p:nvSpPr>
            <p:spPr bwMode="auto">
              <a:xfrm rot="10380000">
                <a:off x="969" y="2303"/>
                <a:ext cx="30" cy="105"/>
              </a:xfrm>
              <a:prstGeom prst="ellipse">
                <a:avLst/>
              </a:prstGeom>
              <a:solidFill>
                <a:srgbClr val="E1E1E1"/>
              </a:solidFill>
              <a:ln w="19050">
                <a:solidFill>
                  <a:srgbClr val="000000"/>
                </a:solidFill>
                <a:round/>
                <a:headEnd/>
                <a:tailEnd/>
              </a:ln>
              <a:effectLst/>
            </p:spPr>
            <p:txBody>
              <a:bodyPr wrap="none" anchor="ctr"/>
              <a:lstStyle/>
              <a:p>
                <a:endParaRPr lang="en-US"/>
              </a:p>
            </p:txBody>
          </p:sp>
          <p:sp>
            <p:nvSpPr>
              <p:cNvPr id="917527" name="Freeform 23"/>
              <p:cNvSpPr>
                <a:spLocks/>
              </p:cNvSpPr>
              <p:nvPr/>
            </p:nvSpPr>
            <p:spPr bwMode="auto">
              <a:xfrm>
                <a:off x="949" y="2304"/>
                <a:ext cx="43" cy="103"/>
              </a:xfrm>
              <a:custGeom>
                <a:avLst/>
                <a:gdLst/>
                <a:ahLst/>
                <a:cxnLst>
                  <a:cxn ang="0">
                    <a:pos x="27" y="0"/>
                  </a:cxn>
                  <a:cxn ang="0">
                    <a:pos x="0" y="11"/>
                  </a:cxn>
                  <a:cxn ang="0">
                    <a:pos x="6" y="98"/>
                  </a:cxn>
                  <a:cxn ang="0">
                    <a:pos x="42" y="102"/>
                  </a:cxn>
                  <a:cxn ang="0">
                    <a:pos x="27" y="0"/>
                  </a:cxn>
                  <a:cxn ang="0">
                    <a:pos x="27" y="0"/>
                  </a:cxn>
                </a:cxnLst>
                <a:rect l="0" t="0" r="r" b="b"/>
                <a:pathLst>
                  <a:path w="43" h="103">
                    <a:moveTo>
                      <a:pt x="27" y="0"/>
                    </a:moveTo>
                    <a:lnTo>
                      <a:pt x="0" y="11"/>
                    </a:lnTo>
                    <a:lnTo>
                      <a:pt x="6" y="98"/>
                    </a:lnTo>
                    <a:lnTo>
                      <a:pt x="42" y="102"/>
                    </a:lnTo>
                    <a:lnTo>
                      <a:pt x="27" y="0"/>
                    </a:lnTo>
                    <a:lnTo>
                      <a:pt x="27" y="0"/>
                    </a:lnTo>
                  </a:path>
                </a:pathLst>
              </a:custGeom>
              <a:solidFill>
                <a:srgbClr val="E1E1E1"/>
              </a:solidFill>
              <a:ln w="19050" cap="flat" cmpd="sng">
                <a:solidFill>
                  <a:srgbClr val="FFFFFF"/>
                </a:solidFill>
                <a:prstDash val="solid"/>
                <a:round/>
                <a:headEnd type="none" w="med" len="med"/>
                <a:tailEnd type="none" w="med" len="med"/>
              </a:ln>
              <a:effectLst/>
            </p:spPr>
            <p:txBody>
              <a:bodyPr/>
              <a:lstStyle/>
              <a:p>
                <a:endParaRPr lang="en-US"/>
              </a:p>
            </p:txBody>
          </p:sp>
        </p:grpSp>
      </p:grpSp>
      <p:grpSp>
        <p:nvGrpSpPr>
          <p:cNvPr id="917528" name="Group 24"/>
          <p:cNvGrpSpPr>
            <a:grpSpLocks/>
          </p:cNvGrpSpPr>
          <p:nvPr/>
        </p:nvGrpSpPr>
        <p:grpSpPr bwMode="auto">
          <a:xfrm>
            <a:off x="1600200" y="4800600"/>
            <a:ext cx="1397000" cy="1354138"/>
            <a:chOff x="292" y="3231"/>
            <a:chExt cx="1362" cy="1361"/>
          </a:xfrm>
        </p:grpSpPr>
        <p:grpSp>
          <p:nvGrpSpPr>
            <p:cNvPr id="917529" name="Group 25"/>
            <p:cNvGrpSpPr>
              <a:grpSpLocks/>
            </p:cNvGrpSpPr>
            <p:nvPr/>
          </p:nvGrpSpPr>
          <p:grpSpPr bwMode="auto">
            <a:xfrm>
              <a:off x="792" y="3231"/>
              <a:ext cx="341" cy="1361"/>
              <a:chOff x="792" y="3231"/>
              <a:chExt cx="341" cy="1361"/>
            </a:xfrm>
          </p:grpSpPr>
          <p:sp>
            <p:nvSpPr>
              <p:cNvPr id="917530" name="Line 26"/>
              <p:cNvSpPr>
                <a:spLocks noChangeShapeType="1"/>
              </p:cNvSpPr>
              <p:nvPr/>
            </p:nvSpPr>
            <p:spPr bwMode="auto">
              <a:xfrm>
                <a:off x="908" y="3231"/>
                <a:ext cx="113" cy="0"/>
              </a:xfrm>
              <a:prstGeom prst="line">
                <a:avLst/>
              </a:prstGeom>
              <a:noFill/>
              <a:ln w="19050">
                <a:solidFill>
                  <a:srgbClr val="008280"/>
                </a:solidFill>
                <a:round/>
                <a:headEnd/>
                <a:tailEnd/>
              </a:ln>
              <a:effectLst/>
            </p:spPr>
            <p:txBody>
              <a:bodyPr wrap="none" anchor="ctr"/>
              <a:lstStyle/>
              <a:p>
                <a:endParaRPr lang="en-US"/>
              </a:p>
            </p:txBody>
          </p:sp>
          <p:sp>
            <p:nvSpPr>
              <p:cNvPr id="917531" name="Line 27"/>
              <p:cNvSpPr>
                <a:spLocks noChangeShapeType="1"/>
              </p:cNvSpPr>
              <p:nvPr/>
            </p:nvSpPr>
            <p:spPr bwMode="auto">
              <a:xfrm>
                <a:off x="1021" y="3231"/>
                <a:ext cx="112" cy="112"/>
              </a:xfrm>
              <a:prstGeom prst="line">
                <a:avLst/>
              </a:prstGeom>
              <a:noFill/>
              <a:ln w="19050">
                <a:solidFill>
                  <a:srgbClr val="008280"/>
                </a:solidFill>
                <a:round/>
                <a:headEnd/>
                <a:tailEnd/>
              </a:ln>
              <a:effectLst/>
            </p:spPr>
            <p:txBody>
              <a:bodyPr wrap="none" anchor="ctr"/>
              <a:lstStyle/>
              <a:p>
                <a:endParaRPr lang="en-US"/>
              </a:p>
            </p:txBody>
          </p:sp>
          <p:sp>
            <p:nvSpPr>
              <p:cNvPr id="917532" name="Line 28"/>
              <p:cNvSpPr>
                <a:spLocks noChangeShapeType="1"/>
              </p:cNvSpPr>
              <p:nvPr/>
            </p:nvSpPr>
            <p:spPr bwMode="auto">
              <a:xfrm flipH="1">
                <a:off x="796" y="3231"/>
                <a:ext cx="112" cy="112"/>
              </a:xfrm>
              <a:prstGeom prst="line">
                <a:avLst/>
              </a:prstGeom>
              <a:noFill/>
              <a:ln w="19050">
                <a:solidFill>
                  <a:srgbClr val="008280"/>
                </a:solidFill>
                <a:round/>
                <a:headEnd/>
                <a:tailEnd/>
              </a:ln>
              <a:effectLst/>
            </p:spPr>
            <p:txBody>
              <a:bodyPr wrap="none" anchor="ctr"/>
              <a:lstStyle/>
              <a:p>
                <a:endParaRPr lang="en-US"/>
              </a:p>
            </p:txBody>
          </p:sp>
          <p:sp>
            <p:nvSpPr>
              <p:cNvPr id="917533" name="Line 29"/>
              <p:cNvSpPr>
                <a:spLocks noChangeShapeType="1"/>
              </p:cNvSpPr>
              <p:nvPr/>
            </p:nvSpPr>
            <p:spPr bwMode="auto">
              <a:xfrm>
                <a:off x="904" y="4592"/>
                <a:ext cx="112" cy="0"/>
              </a:xfrm>
              <a:prstGeom prst="line">
                <a:avLst/>
              </a:prstGeom>
              <a:noFill/>
              <a:ln w="19050">
                <a:solidFill>
                  <a:srgbClr val="008280"/>
                </a:solidFill>
                <a:round/>
                <a:headEnd/>
                <a:tailEnd/>
              </a:ln>
              <a:effectLst/>
            </p:spPr>
            <p:txBody>
              <a:bodyPr wrap="none" anchor="ctr"/>
              <a:lstStyle/>
              <a:p>
                <a:endParaRPr lang="en-US"/>
              </a:p>
            </p:txBody>
          </p:sp>
          <p:sp>
            <p:nvSpPr>
              <p:cNvPr id="917534" name="Line 30"/>
              <p:cNvSpPr>
                <a:spLocks noChangeShapeType="1"/>
              </p:cNvSpPr>
              <p:nvPr/>
            </p:nvSpPr>
            <p:spPr bwMode="auto">
              <a:xfrm flipV="1">
                <a:off x="1016" y="4480"/>
                <a:ext cx="113" cy="112"/>
              </a:xfrm>
              <a:prstGeom prst="line">
                <a:avLst/>
              </a:prstGeom>
              <a:noFill/>
              <a:ln w="19050">
                <a:solidFill>
                  <a:srgbClr val="008280"/>
                </a:solidFill>
                <a:round/>
                <a:headEnd/>
                <a:tailEnd/>
              </a:ln>
              <a:effectLst/>
            </p:spPr>
            <p:txBody>
              <a:bodyPr wrap="none" anchor="ctr"/>
              <a:lstStyle/>
              <a:p>
                <a:endParaRPr lang="en-US"/>
              </a:p>
            </p:txBody>
          </p:sp>
          <p:sp>
            <p:nvSpPr>
              <p:cNvPr id="917535" name="Line 31"/>
              <p:cNvSpPr>
                <a:spLocks noChangeShapeType="1"/>
              </p:cNvSpPr>
              <p:nvPr/>
            </p:nvSpPr>
            <p:spPr bwMode="auto">
              <a:xfrm flipH="1" flipV="1">
                <a:off x="792" y="4480"/>
                <a:ext cx="112" cy="112"/>
              </a:xfrm>
              <a:prstGeom prst="line">
                <a:avLst/>
              </a:prstGeom>
              <a:noFill/>
              <a:ln w="19050">
                <a:solidFill>
                  <a:srgbClr val="008280"/>
                </a:solidFill>
                <a:round/>
                <a:headEnd/>
                <a:tailEnd/>
              </a:ln>
              <a:effectLst/>
            </p:spPr>
            <p:txBody>
              <a:bodyPr wrap="none" anchor="ctr"/>
              <a:lstStyle/>
              <a:p>
                <a:endParaRPr lang="en-US"/>
              </a:p>
            </p:txBody>
          </p:sp>
        </p:grpSp>
        <p:grpSp>
          <p:nvGrpSpPr>
            <p:cNvPr id="917536" name="Group 32"/>
            <p:cNvGrpSpPr>
              <a:grpSpLocks/>
            </p:cNvGrpSpPr>
            <p:nvPr/>
          </p:nvGrpSpPr>
          <p:grpSpPr bwMode="auto">
            <a:xfrm>
              <a:off x="292" y="3742"/>
              <a:ext cx="1362" cy="338"/>
              <a:chOff x="292" y="3742"/>
              <a:chExt cx="1362" cy="338"/>
            </a:xfrm>
          </p:grpSpPr>
          <p:sp>
            <p:nvSpPr>
              <p:cNvPr id="917537" name="Line 33"/>
              <p:cNvSpPr>
                <a:spLocks noChangeShapeType="1"/>
              </p:cNvSpPr>
              <p:nvPr/>
            </p:nvSpPr>
            <p:spPr bwMode="auto">
              <a:xfrm>
                <a:off x="1653" y="3854"/>
                <a:ext cx="1" cy="112"/>
              </a:xfrm>
              <a:prstGeom prst="line">
                <a:avLst/>
              </a:prstGeom>
              <a:noFill/>
              <a:ln w="19050">
                <a:solidFill>
                  <a:srgbClr val="008280"/>
                </a:solidFill>
                <a:round/>
                <a:headEnd/>
                <a:tailEnd/>
              </a:ln>
              <a:effectLst/>
            </p:spPr>
            <p:txBody>
              <a:bodyPr wrap="none" anchor="ctr"/>
              <a:lstStyle/>
              <a:p>
                <a:endParaRPr lang="en-US"/>
              </a:p>
            </p:txBody>
          </p:sp>
          <p:sp>
            <p:nvSpPr>
              <p:cNvPr id="917538" name="Line 34"/>
              <p:cNvSpPr>
                <a:spLocks noChangeShapeType="1"/>
              </p:cNvSpPr>
              <p:nvPr/>
            </p:nvSpPr>
            <p:spPr bwMode="auto">
              <a:xfrm flipH="1">
                <a:off x="1542" y="3966"/>
                <a:ext cx="112" cy="112"/>
              </a:xfrm>
              <a:prstGeom prst="line">
                <a:avLst/>
              </a:prstGeom>
              <a:noFill/>
              <a:ln w="19050">
                <a:solidFill>
                  <a:srgbClr val="008280"/>
                </a:solidFill>
                <a:round/>
                <a:headEnd/>
                <a:tailEnd/>
              </a:ln>
              <a:effectLst/>
            </p:spPr>
            <p:txBody>
              <a:bodyPr wrap="none" anchor="ctr"/>
              <a:lstStyle/>
              <a:p>
                <a:endParaRPr lang="en-US"/>
              </a:p>
            </p:txBody>
          </p:sp>
          <p:sp>
            <p:nvSpPr>
              <p:cNvPr id="917539" name="Line 35"/>
              <p:cNvSpPr>
                <a:spLocks noChangeShapeType="1"/>
              </p:cNvSpPr>
              <p:nvPr/>
            </p:nvSpPr>
            <p:spPr bwMode="auto">
              <a:xfrm flipH="1" flipV="1">
                <a:off x="1540" y="3742"/>
                <a:ext cx="113" cy="112"/>
              </a:xfrm>
              <a:prstGeom prst="line">
                <a:avLst/>
              </a:prstGeom>
              <a:noFill/>
              <a:ln w="19050">
                <a:solidFill>
                  <a:srgbClr val="008280"/>
                </a:solidFill>
                <a:round/>
                <a:headEnd/>
                <a:tailEnd/>
              </a:ln>
              <a:effectLst/>
            </p:spPr>
            <p:txBody>
              <a:bodyPr wrap="none" anchor="ctr"/>
              <a:lstStyle/>
              <a:p>
                <a:endParaRPr lang="en-US"/>
              </a:p>
            </p:txBody>
          </p:sp>
          <p:sp>
            <p:nvSpPr>
              <p:cNvPr id="917540" name="Line 36"/>
              <p:cNvSpPr>
                <a:spLocks noChangeShapeType="1"/>
              </p:cNvSpPr>
              <p:nvPr/>
            </p:nvSpPr>
            <p:spPr bwMode="auto">
              <a:xfrm>
                <a:off x="292" y="3857"/>
                <a:ext cx="1" cy="111"/>
              </a:xfrm>
              <a:prstGeom prst="line">
                <a:avLst/>
              </a:prstGeom>
              <a:noFill/>
              <a:ln w="19050">
                <a:solidFill>
                  <a:srgbClr val="008280"/>
                </a:solidFill>
                <a:round/>
                <a:headEnd/>
                <a:tailEnd/>
              </a:ln>
              <a:effectLst/>
            </p:spPr>
            <p:txBody>
              <a:bodyPr wrap="none" anchor="ctr"/>
              <a:lstStyle/>
              <a:p>
                <a:endParaRPr lang="en-US"/>
              </a:p>
            </p:txBody>
          </p:sp>
          <p:sp>
            <p:nvSpPr>
              <p:cNvPr id="917541" name="Line 37"/>
              <p:cNvSpPr>
                <a:spLocks noChangeShapeType="1"/>
              </p:cNvSpPr>
              <p:nvPr/>
            </p:nvSpPr>
            <p:spPr bwMode="auto">
              <a:xfrm>
                <a:off x="293" y="3968"/>
                <a:ext cx="113" cy="112"/>
              </a:xfrm>
              <a:prstGeom prst="line">
                <a:avLst/>
              </a:prstGeom>
              <a:noFill/>
              <a:ln w="19050">
                <a:solidFill>
                  <a:srgbClr val="008280"/>
                </a:solidFill>
                <a:round/>
                <a:headEnd/>
                <a:tailEnd/>
              </a:ln>
              <a:effectLst/>
            </p:spPr>
            <p:txBody>
              <a:bodyPr wrap="none" anchor="ctr"/>
              <a:lstStyle/>
              <a:p>
                <a:endParaRPr lang="en-US"/>
              </a:p>
            </p:txBody>
          </p:sp>
          <p:sp>
            <p:nvSpPr>
              <p:cNvPr id="917542" name="Line 38"/>
              <p:cNvSpPr>
                <a:spLocks noChangeShapeType="1"/>
              </p:cNvSpPr>
              <p:nvPr/>
            </p:nvSpPr>
            <p:spPr bwMode="auto">
              <a:xfrm flipV="1">
                <a:off x="292" y="3744"/>
                <a:ext cx="113" cy="113"/>
              </a:xfrm>
              <a:prstGeom prst="line">
                <a:avLst/>
              </a:prstGeom>
              <a:noFill/>
              <a:ln w="19050">
                <a:solidFill>
                  <a:srgbClr val="008280"/>
                </a:solidFill>
                <a:round/>
                <a:headEnd/>
                <a:tailEnd/>
              </a:ln>
              <a:effectLst/>
            </p:spPr>
            <p:txBody>
              <a:bodyPr wrap="none" anchor="ctr"/>
              <a:lstStyle/>
              <a:p>
                <a:endParaRPr lang="en-US"/>
              </a:p>
            </p:txBody>
          </p:sp>
        </p:grpSp>
        <p:grpSp>
          <p:nvGrpSpPr>
            <p:cNvPr id="917543" name="Group 39"/>
            <p:cNvGrpSpPr>
              <a:grpSpLocks/>
            </p:cNvGrpSpPr>
            <p:nvPr/>
          </p:nvGrpSpPr>
          <p:grpSpPr bwMode="auto">
            <a:xfrm>
              <a:off x="361" y="3470"/>
              <a:ext cx="1218" cy="878"/>
              <a:chOff x="361" y="3470"/>
              <a:chExt cx="1218" cy="878"/>
            </a:xfrm>
          </p:grpSpPr>
          <p:sp>
            <p:nvSpPr>
              <p:cNvPr id="917544" name="Line 40"/>
              <p:cNvSpPr>
                <a:spLocks noChangeShapeType="1"/>
              </p:cNvSpPr>
              <p:nvPr/>
            </p:nvSpPr>
            <p:spPr bwMode="auto">
              <a:xfrm>
                <a:off x="1520" y="3506"/>
                <a:ext cx="59" cy="96"/>
              </a:xfrm>
              <a:prstGeom prst="line">
                <a:avLst/>
              </a:prstGeom>
              <a:noFill/>
              <a:ln w="19050">
                <a:solidFill>
                  <a:srgbClr val="008280"/>
                </a:solidFill>
                <a:round/>
                <a:headEnd/>
                <a:tailEnd/>
              </a:ln>
              <a:effectLst/>
            </p:spPr>
            <p:txBody>
              <a:bodyPr wrap="none" anchor="ctr"/>
              <a:lstStyle/>
              <a:p>
                <a:endParaRPr lang="en-US"/>
              </a:p>
            </p:txBody>
          </p:sp>
          <p:sp>
            <p:nvSpPr>
              <p:cNvPr id="917545" name="Line 41"/>
              <p:cNvSpPr>
                <a:spLocks noChangeShapeType="1"/>
              </p:cNvSpPr>
              <p:nvPr/>
            </p:nvSpPr>
            <p:spPr bwMode="auto">
              <a:xfrm flipH="1">
                <a:off x="1542" y="3602"/>
                <a:ext cx="37" cy="154"/>
              </a:xfrm>
              <a:prstGeom prst="line">
                <a:avLst/>
              </a:prstGeom>
              <a:noFill/>
              <a:ln w="19050">
                <a:solidFill>
                  <a:srgbClr val="008280"/>
                </a:solidFill>
                <a:round/>
                <a:headEnd/>
                <a:tailEnd/>
              </a:ln>
              <a:effectLst/>
            </p:spPr>
            <p:txBody>
              <a:bodyPr wrap="none" anchor="ctr"/>
              <a:lstStyle/>
              <a:p>
                <a:endParaRPr lang="en-US"/>
              </a:p>
            </p:txBody>
          </p:sp>
          <p:sp>
            <p:nvSpPr>
              <p:cNvPr id="917546" name="Line 42"/>
              <p:cNvSpPr>
                <a:spLocks noChangeShapeType="1"/>
              </p:cNvSpPr>
              <p:nvPr/>
            </p:nvSpPr>
            <p:spPr bwMode="auto">
              <a:xfrm flipH="1" flipV="1">
                <a:off x="1366" y="3470"/>
                <a:ext cx="154" cy="36"/>
              </a:xfrm>
              <a:prstGeom prst="line">
                <a:avLst/>
              </a:prstGeom>
              <a:noFill/>
              <a:ln w="19050">
                <a:solidFill>
                  <a:srgbClr val="008280"/>
                </a:solidFill>
                <a:round/>
                <a:headEnd/>
                <a:tailEnd/>
              </a:ln>
              <a:effectLst/>
            </p:spPr>
            <p:txBody>
              <a:bodyPr wrap="none" anchor="ctr"/>
              <a:lstStyle/>
              <a:p>
                <a:endParaRPr lang="en-US"/>
              </a:p>
            </p:txBody>
          </p:sp>
          <p:sp>
            <p:nvSpPr>
              <p:cNvPr id="917547" name="Line 43"/>
              <p:cNvSpPr>
                <a:spLocks noChangeShapeType="1"/>
              </p:cNvSpPr>
              <p:nvPr/>
            </p:nvSpPr>
            <p:spPr bwMode="auto">
              <a:xfrm>
                <a:off x="361" y="4216"/>
                <a:ext cx="58" cy="94"/>
              </a:xfrm>
              <a:prstGeom prst="line">
                <a:avLst/>
              </a:prstGeom>
              <a:noFill/>
              <a:ln w="19050">
                <a:solidFill>
                  <a:srgbClr val="008280"/>
                </a:solidFill>
                <a:round/>
                <a:headEnd/>
                <a:tailEnd/>
              </a:ln>
              <a:effectLst/>
            </p:spPr>
            <p:txBody>
              <a:bodyPr wrap="none" anchor="ctr"/>
              <a:lstStyle/>
              <a:p>
                <a:endParaRPr lang="en-US"/>
              </a:p>
            </p:txBody>
          </p:sp>
          <p:sp>
            <p:nvSpPr>
              <p:cNvPr id="917548" name="Line 44"/>
              <p:cNvSpPr>
                <a:spLocks noChangeShapeType="1"/>
              </p:cNvSpPr>
              <p:nvPr/>
            </p:nvSpPr>
            <p:spPr bwMode="auto">
              <a:xfrm>
                <a:off x="419" y="4310"/>
                <a:ext cx="155" cy="38"/>
              </a:xfrm>
              <a:prstGeom prst="line">
                <a:avLst/>
              </a:prstGeom>
              <a:noFill/>
              <a:ln w="19050">
                <a:solidFill>
                  <a:srgbClr val="008280"/>
                </a:solidFill>
                <a:round/>
                <a:headEnd/>
                <a:tailEnd/>
              </a:ln>
              <a:effectLst/>
            </p:spPr>
            <p:txBody>
              <a:bodyPr wrap="none" anchor="ctr"/>
              <a:lstStyle/>
              <a:p>
                <a:endParaRPr lang="en-US"/>
              </a:p>
            </p:txBody>
          </p:sp>
          <p:sp>
            <p:nvSpPr>
              <p:cNvPr id="917549" name="Line 45"/>
              <p:cNvSpPr>
                <a:spLocks noChangeShapeType="1"/>
              </p:cNvSpPr>
              <p:nvPr/>
            </p:nvSpPr>
            <p:spPr bwMode="auto">
              <a:xfrm flipV="1">
                <a:off x="361" y="4060"/>
                <a:ext cx="36" cy="156"/>
              </a:xfrm>
              <a:prstGeom prst="line">
                <a:avLst/>
              </a:prstGeom>
              <a:noFill/>
              <a:ln w="19050">
                <a:solidFill>
                  <a:srgbClr val="008280"/>
                </a:solidFill>
                <a:round/>
                <a:headEnd/>
                <a:tailEnd/>
              </a:ln>
              <a:effectLst/>
            </p:spPr>
            <p:txBody>
              <a:bodyPr wrap="none" anchor="ctr"/>
              <a:lstStyle/>
              <a:p>
                <a:endParaRPr lang="en-US"/>
              </a:p>
            </p:txBody>
          </p:sp>
        </p:grpSp>
        <p:grpSp>
          <p:nvGrpSpPr>
            <p:cNvPr id="917550" name="Group 46"/>
            <p:cNvGrpSpPr>
              <a:grpSpLocks/>
            </p:cNvGrpSpPr>
            <p:nvPr/>
          </p:nvGrpSpPr>
          <p:grpSpPr bwMode="auto">
            <a:xfrm>
              <a:off x="530" y="3296"/>
              <a:ext cx="872" cy="1226"/>
              <a:chOff x="530" y="3296"/>
              <a:chExt cx="872" cy="1226"/>
            </a:xfrm>
          </p:grpSpPr>
          <p:sp>
            <p:nvSpPr>
              <p:cNvPr id="917551" name="Line 47"/>
              <p:cNvSpPr>
                <a:spLocks noChangeShapeType="1"/>
              </p:cNvSpPr>
              <p:nvPr/>
            </p:nvSpPr>
            <p:spPr bwMode="auto">
              <a:xfrm>
                <a:off x="1266" y="3296"/>
                <a:ext cx="97" cy="58"/>
              </a:xfrm>
              <a:prstGeom prst="line">
                <a:avLst/>
              </a:prstGeom>
              <a:noFill/>
              <a:ln w="19050">
                <a:solidFill>
                  <a:srgbClr val="008280"/>
                </a:solidFill>
                <a:round/>
                <a:headEnd/>
                <a:tailEnd/>
              </a:ln>
              <a:effectLst/>
            </p:spPr>
            <p:txBody>
              <a:bodyPr wrap="none" anchor="ctr"/>
              <a:lstStyle/>
              <a:p>
                <a:endParaRPr lang="en-US"/>
              </a:p>
            </p:txBody>
          </p:sp>
          <p:sp>
            <p:nvSpPr>
              <p:cNvPr id="917552" name="Line 48"/>
              <p:cNvSpPr>
                <a:spLocks noChangeShapeType="1"/>
              </p:cNvSpPr>
              <p:nvPr/>
            </p:nvSpPr>
            <p:spPr bwMode="auto">
              <a:xfrm>
                <a:off x="1363" y="3354"/>
                <a:ext cx="39" cy="154"/>
              </a:xfrm>
              <a:prstGeom prst="line">
                <a:avLst/>
              </a:prstGeom>
              <a:noFill/>
              <a:ln w="19050">
                <a:solidFill>
                  <a:srgbClr val="008280"/>
                </a:solidFill>
                <a:round/>
                <a:headEnd/>
                <a:tailEnd/>
              </a:ln>
              <a:effectLst/>
            </p:spPr>
            <p:txBody>
              <a:bodyPr wrap="none" anchor="ctr"/>
              <a:lstStyle/>
              <a:p>
                <a:endParaRPr lang="en-US"/>
              </a:p>
            </p:txBody>
          </p:sp>
          <p:sp>
            <p:nvSpPr>
              <p:cNvPr id="917553" name="Line 49"/>
              <p:cNvSpPr>
                <a:spLocks noChangeShapeType="1"/>
              </p:cNvSpPr>
              <p:nvPr/>
            </p:nvSpPr>
            <p:spPr bwMode="auto">
              <a:xfrm flipH="1">
                <a:off x="1113" y="3296"/>
                <a:ext cx="153" cy="40"/>
              </a:xfrm>
              <a:prstGeom prst="line">
                <a:avLst/>
              </a:prstGeom>
              <a:noFill/>
              <a:ln w="19050">
                <a:solidFill>
                  <a:srgbClr val="008280"/>
                </a:solidFill>
                <a:round/>
                <a:headEnd/>
                <a:tailEnd/>
              </a:ln>
              <a:effectLst/>
            </p:spPr>
            <p:txBody>
              <a:bodyPr wrap="none" anchor="ctr"/>
              <a:lstStyle/>
              <a:p>
                <a:endParaRPr lang="en-US"/>
              </a:p>
            </p:txBody>
          </p:sp>
          <p:sp>
            <p:nvSpPr>
              <p:cNvPr id="917554" name="Line 50"/>
              <p:cNvSpPr>
                <a:spLocks noChangeShapeType="1"/>
              </p:cNvSpPr>
              <p:nvPr/>
            </p:nvSpPr>
            <p:spPr bwMode="auto">
              <a:xfrm>
                <a:off x="569" y="4464"/>
                <a:ext cx="97" cy="58"/>
              </a:xfrm>
              <a:prstGeom prst="line">
                <a:avLst/>
              </a:prstGeom>
              <a:noFill/>
              <a:ln w="19050">
                <a:solidFill>
                  <a:srgbClr val="008280"/>
                </a:solidFill>
                <a:round/>
                <a:headEnd/>
                <a:tailEnd/>
              </a:ln>
              <a:effectLst/>
            </p:spPr>
            <p:txBody>
              <a:bodyPr wrap="none" anchor="ctr"/>
              <a:lstStyle/>
              <a:p>
                <a:endParaRPr lang="en-US"/>
              </a:p>
            </p:txBody>
          </p:sp>
          <p:sp>
            <p:nvSpPr>
              <p:cNvPr id="917555" name="Line 51"/>
              <p:cNvSpPr>
                <a:spLocks noChangeShapeType="1"/>
              </p:cNvSpPr>
              <p:nvPr/>
            </p:nvSpPr>
            <p:spPr bwMode="auto">
              <a:xfrm flipV="1">
                <a:off x="666" y="4482"/>
                <a:ext cx="153" cy="40"/>
              </a:xfrm>
              <a:prstGeom prst="line">
                <a:avLst/>
              </a:prstGeom>
              <a:noFill/>
              <a:ln w="19050">
                <a:solidFill>
                  <a:srgbClr val="008280"/>
                </a:solidFill>
                <a:round/>
                <a:headEnd/>
                <a:tailEnd/>
              </a:ln>
              <a:effectLst/>
            </p:spPr>
            <p:txBody>
              <a:bodyPr wrap="none" anchor="ctr"/>
              <a:lstStyle/>
              <a:p>
                <a:endParaRPr lang="en-US"/>
              </a:p>
            </p:txBody>
          </p:sp>
          <p:sp>
            <p:nvSpPr>
              <p:cNvPr id="917556" name="Line 52"/>
              <p:cNvSpPr>
                <a:spLocks noChangeShapeType="1"/>
              </p:cNvSpPr>
              <p:nvPr/>
            </p:nvSpPr>
            <p:spPr bwMode="auto">
              <a:xfrm flipH="1" flipV="1">
                <a:off x="530" y="4310"/>
                <a:ext cx="39" cy="154"/>
              </a:xfrm>
              <a:prstGeom prst="line">
                <a:avLst/>
              </a:prstGeom>
              <a:noFill/>
              <a:ln w="19050">
                <a:solidFill>
                  <a:srgbClr val="008280"/>
                </a:solidFill>
                <a:round/>
                <a:headEnd/>
                <a:tailEnd/>
              </a:ln>
              <a:effectLst/>
            </p:spPr>
            <p:txBody>
              <a:bodyPr wrap="none" anchor="ctr"/>
              <a:lstStyle/>
              <a:p>
                <a:endParaRPr lang="en-US"/>
              </a:p>
            </p:txBody>
          </p:sp>
        </p:grpSp>
        <p:grpSp>
          <p:nvGrpSpPr>
            <p:cNvPr id="917557" name="Group 53"/>
            <p:cNvGrpSpPr>
              <a:grpSpLocks/>
            </p:cNvGrpSpPr>
            <p:nvPr/>
          </p:nvGrpSpPr>
          <p:grpSpPr bwMode="auto">
            <a:xfrm>
              <a:off x="360" y="3481"/>
              <a:ext cx="1230" cy="866"/>
              <a:chOff x="360" y="3481"/>
              <a:chExt cx="1230" cy="866"/>
            </a:xfrm>
          </p:grpSpPr>
          <p:sp>
            <p:nvSpPr>
              <p:cNvPr id="917558" name="Line 54"/>
              <p:cNvSpPr>
                <a:spLocks noChangeShapeType="1"/>
              </p:cNvSpPr>
              <p:nvPr/>
            </p:nvSpPr>
            <p:spPr bwMode="auto">
              <a:xfrm flipH="1">
                <a:off x="1534" y="4210"/>
                <a:ext cx="56" cy="97"/>
              </a:xfrm>
              <a:prstGeom prst="line">
                <a:avLst/>
              </a:prstGeom>
              <a:noFill/>
              <a:ln w="19050">
                <a:solidFill>
                  <a:srgbClr val="008280"/>
                </a:solidFill>
                <a:round/>
                <a:headEnd/>
                <a:tailEnd/>
              </a:ln>
              <a:effectLst/>
            </p:spPr>
            <p:txBody>
              <a:bodyPr wrap="none" anchor="ctr"/>
              <a:lstStyle/>
              <a:p>
                <a:endParaRPr lang="en-US"/>
              </a:p>
            </p:txBody>
          </p:sp>
          <p:sp>
            <p:nvSpPr>
              <p:cNvPr id="917559" name="Line 55"/>
              <p:cNvSpPr>
                <a:spLocks noChangeShapeType="1"/>
              </p:cNvSpPr>
              <p:nvPr/>
            </p:nvSpPr>
            <p:spPr bwMode="auto">
              <a:xfrm flipH="1">
                <a:off x="1380" y="4307"/>
                <a:ext cx="154" cy="40"/>
              </a:xfrm>
              <a:prstGeom prst="line">
                <a:avLst/>
              </a:prstGeom>
              <a:noFill/>
              <a:ln w="19050">
                <a:solidFill>
                  <a:srgbClr val="008280"/>
                </a:solidFill>
                <a:round/>
                <a:headEnd/>
                <a:tailEnd/>
              </a:ln>
              <a:effectLst/>
            </p:spPr>
            <p:txBody>
              <a:bodyPr wrap="none" anchor="ctr"/>
              <a:lstStyle/>
              <a:p>
                <a:endParaRPr lang="en-US"/>
              </a:p>
            </p:txBody>
          </p:sp>
          <p:sp>
            <p:nvSpPr>
              <p:cNvPr id="917560" name="Line 56"/>
              <p:cNvSpPr>
                <a:spLocks noChangeShapeType="1"/>
              </p:cNvSpPr>
              <p:nvPr/>
            </p:nvSpPr>
            <p:spPr bwMode="auto">
              <a:xfrm flipH="1" flipV="1">
                <a:off x="1550" y="4056"/>
                <a:ext cx="40" cy="154"/>
              </a:xfrm>
              <a:prstGeom prst="line">
                <a:avLst/>
              </a:prstGeom>
              <a:noFill/>
              <a:ln w="19050">
                <a:solidFill>
                  <a:srgbClr val="008280"/>
                </a:solidFill>
                <a:round/>
                <a:headEnd/>
                <a:tailEnd/>
              </a:ln>
              <a:effectLst/>
            </p:spPr>
            <p:txBody>
              <a:bodyPr wrap="none" anchor="ctr"/>
              <a:lstStyle/>
              <a:p>
                <a:endParaRPr lang="en-US"/>
              </a:p>
            </p:txBody>
          </p:sp>
          <p:sp>
            <p:nvSpPr>
              <p:cNvPr id="917561" name="Line 57"/>
              <p:cNvSpPr>
                <a:spLocks noChangeShapeType="1"/>
              </p:cNvSpPr>
              <p:nvPr/>
            </p:nvSpPr>
            <p:spPr bwMode="auto">
              <a:xfrm flipH="1">
                <a:off x="360" y="3522"/>
                <a:ext cx="57" cy="97"/>
              </a:xfrm>
              <a:prstGeom prst="line">
                <a:avLst/>
              </a:prstGeom>
              <a:noFill/>
              <a:ln w="19050">
                <a:solidFill>
                  <a:srgbClr val="008280"/>
                </a:solidFill>
                <a:round/>
                <a:headEnd/>
                <a:tailEnd/>
              </a:ln>
              <a:effectLst/>
            </p:spPr>
            <p:txBody>
              <a:bodyPr wrap="none" anchor="ctr"/>
              <a:lstStyle/>
              <a:p>
                <a:endParaRPr lang="en-US"/>
              </a:p>
            </p:txBody>
          </p:sp>
          <p:sp>
            <p:nvSpPr>
              <p:cNvPr id="917562" name="Line 58"/>
              <p:cNvSpPr>
                <a:spLocks noChangeShapeType="1"/>
              </p:cNvSpPr>
              <p:nvPr/>
            </p:nvSpPr>
            <p:spPr bwMode="auto">
              <a:xfrm>
                <a:off x="360" y="3619"/>
                <a:ext cx="41" cy="154"/>
              </a:xfrm>
              <a:prstGeom prst="line">
                <a:avLst/>
              </a:prstGeom>
              <a:noFill/>
              <a:ln w="19050">
                <a:solidFill>
                  <a:srgbClr val="008280"/>
                </a:solidFill>
                <a:round/>
                <a:headEnd/>
                <a:tailEnd/>
              </a:ln>
              <a:effectLst/>
            </p:spPr>
            <p:txBody>
              <a:bodyPr wrap="none" anchor="ctr"/>
              <a:lstStyle/>
              <a:p>
                <a:endParaRPr lang="en-US"/>
              </a:p>
            </p:txBody>
          </p:sp>
          <p:sp>
            <p:nvSpPr>
              <p:cNvPr id="917563" name="Line 59"/>
              <p:cNvSpPr>
                <a:spLocks noChangeShapeType="1"/>
              </p:cNvSpPr>
              <p:nvPr/>
            </p:nvSpPr>
            <p:spPr bwMode="auto">
              <a:xfrm flipV="1">
                <a:off x="417" y="3481"/>
                <a:ext cx="153" cy="41"/>
              </a:xfrm>
              <a:prstGeom prst="line">
                <a:avLst/>
              </a:prstGeom>
              <a:noFill/>
              <a:ln w="19050">
                <a:solidFill>
                  <a:srgbClr val="008280"/>
                </a:solidFill>
                <a:round/>
                <a:headEnd/>
                <a:tailEnd/>
              </a:ln>
              <a:effectLst/>
            </p:spPr>
            <p:txBody>
              <a:bodyPr wrap="none" anchor="ctr"/>
              <a:lstStyle/>
              <a:p>
                <a:endParaRPr lang="en-US"/>
              </a:p>
            </p:txBody>
          </p:sp>
        </p:grpSp>
        <p:grpSp>
          <p:nvGrpSpPr>
            <p:cNvPr id="917564" name="Group 60"/>
            <p:cNvGrpSpPr>
              <a:grpSpLocks/>
            </p:cNvGrpSpPr>
            <p:nvPr/>
          </p:nvGrpSpPr>
          <p:grpSpPr bwMode="auto">
            <a:xfrm>
              <a:off x="528" y="3314"/>
              <a:ext cx="894" cy="1208"/>
              <a:chOff x="528" y="3314"/>
              <a:chExt cx="894" cy="1208"/>
            </a:xfrm>
          </p:grpSpPr>
          <p:sp>
            <p:nvSpPr>
              <p:cNvPr id="917565" name="Line 61"/>
              <p:cNvSpPr>
                <a:spLocks noChangeShapeType="1"/>
              </p:cNvSpPr>
              <p:nvPr/>
            </p:nvSpPr>
            <p:spPr bwMode="auto">
              <a:xfrm flipH="1">
                <a:off x="1294" y="4461"/>
                <a:ext cx="94" cy="61"/>
              </a:xfrm>
              <a:prstGeom prst="line">
                <a:avLst/>
              </a:prstGeom>
              <a:noFill/>
              <a:ln w="19050">
                <a:solidFill>
                  <a:srgbClr val="008280"/>
                </a:solidFill>
                <a:round/>
                <a:headEnd/>
                <a:tailEnd/>
              </a:ln>
              <a:effectLst/>
            </p:spPr>
            <p:txBody>
              <a:bodyPr wrap="none" anchor="ctr"/>
              <a:lstStyle/>
              <a:p>
                <a:endParaRPr lang="en-US"/>
              </a:p>
            </p:txBody>
          </p:sp>
          <p:sp>
            <p:nvSpPr>
              <p:cNvPr id="917566" name="Line 62"/>
              <p:cNvSpPr>
                <a:spLocks noChangeShapeType="1"/>
              </p:cNvSpPr>
              <p:nvPr/>
            </p:nvSpPr>
            <p:spPr bwMode="auto">
              <a:xfrm flipH="1" flipV="1">
                <a:off x="1139" y="4488"/>
                <a:ext cx="155" cy="34"/>
              </a:xfrm>
              <a:prstGeom prst="line">
                <a:avLst/>
              </a:prstGeom>
              <a:noFill/>
              <a:ln w="19050">
                <a:solidFill>
                  <a:srgbClr val="008280"/>
                </a:solidFill>
                <a:round/>
                <a:headEnd/>
                <a:tailEnd/>
              </a:ln>
              <a:effectLst/>
            </p:spPr>
            <p:txBody>
              <a:bodyPr wrap="none" anchor="ctr"/>
              <a:lstStyle/>
              <a:p>
                <a:endParaRPr lang="en-US"/>
              </a:p>
            </p:txBody>
          </p:sp>
          <p:sp>
            <p:nvSpPr>
              <p:cNvPr id="917567" name="Line 63"/>
              <p:cNvSpPr>
                <a:spLocks noChangeShapeType="1"/>
              </p:cNvSpPr>
              <p:nvPr/>
            </p:nvSpPr>
            <p:spPr bwMode="auto">
              <a:xfrm flipV="1">
                <a:off x="1388" y="4306"/>
                <a:ext cx="34" cy="155"/>
              </a:xfrm>
              <a:prstGeom prst="line">
                <a:avLst/>
              </a:prstGeom>
              <a:noFill/>
              <a:ln w="19050">
                <a:solidFill>
                  <a:srgbClr val="008280"/>
                </a:solidFill>
                <a:round/>
                <a:headEnd/>
                <a:tailEnd/>
              </a:ln>
              <a:effectLst/>
            </p:spPr>
            <p:txBody>
              <a:bodyPr wrap="none" anchor="ctr"/>
              <a:lstStyle/>
              <a:p>
                <a:endParaRPr lang="en-US"/>
              </a:p>
            </p:txBody>
          </p:sp>
          <p:sp>
            <p:nvSpPr>
              <p:cNvPr id="917568" name="Line 64"/>
              <p:cNvSpPr>
                <a:spLocks noChangeShapeType="1"/>
              </p:cNvSpPr>
              <p:nvPr/>
            </p:nvSpPr>
            <p:spPr bwMode="auto">
              <a:xfrm flipH="1">
                <a:off x="562" y="3314"/>
                <a:ext cx="95" cy="61"/>
              </a:xfrm>
              <a:prstGeom prst="line">
                <a:avLst/>
              </a:prstGeom>
              <a:noFill/>
              <a:ln w="19050">
                <a:solidFill>
                  <a:srgbClr val="008280"/>
                </a:solidFill>
                <a:round/>
                <a:headEnd/>
                <a:tailEnd/>
              </a:ln>
              <a:effectLst/>
            </p:spPr>
            <p:txBody>
              <a:bodyPr wrap="none" anchor="ctr"/>
              <a:lstStyle/>
              <a:p>
                <a:endParaRPr lang="en-US"/>
              </a:p>
            </p:txBody>
          </p:sp>
          <p:sp>
            <p:nvSpPr>
              <p:cNvPr id="917569" name="Line 65"/>
              <p:cNvSpPr>
                <a:spLocks noChangeShapeType="1"/>
              </p:cNvSpPr>
              <p:nvPr/>
            </p:nvSpPr>
            <p:spPr bwMode="auto">
              <a:xfrm flipH="1">
                <a:off x="528" y="3375"/>
                <a:ext cx="34" cy="155"/>
              </a:xfrm>
              <a:prstGeom prst="line">
                <a:avLst/>
              </a:prstGeom>
              <a:noFill/>
              <a:ln w="19050">
                <a:solidFill>
                  <a:srgbClr val="008280"/>
                </a:solidFill>
                <a:round/>
                <a:headEnd/>
                <a:tailEnd/>
              </a:ln>
              <a:effectLst/>
            </p:spPr>
            <p:txBody>
              <a:bodyPr wrap="none" anchor="ctr"/>
              <a:lstStyle/>
              <a:p>
                <a:endParaRPr lang="en-US"/>
              </a:p>
            </p:txBody>
          </p:sp>
          <p:sp>
            <p:nvSpPr>
              <p:cNvPr id="917570" name="Line 66"/>
              <p:cNvSpPr>
                <a:spLocks noChangeShapeType="1"/>
              </p:cNvSpPr>
              <p:nvPr/>
            </p:nvSpPr>
            <p:spPr bwMode="auto">
              <a:xfrm>
                <a:off x="657" y="3314"/>
                <a:ext cx="155" cy="34"/>
              </a:xfrm>
              <a:prstGeom prst="line">
                <a:avLst/>
              </a:prstGeom>
              <a:noFill/>
              <a:ln w="19050">
                <a:solidFill>
                  <a:srgbClr val="008280"/>
                </a:solidFill>
                <a:round/>
                <a:headEnd/>
                <a:tailEnd/>
              </a:ln>
              <a:effectLst/>
            </p:spPr>
            <p:txBody>
              <a:bodyPr wrap="none" anchor="ctr"/>
              <a:lstStyle/>
              <a:p>
                <a:endParaRPr lang="en-US"/>
              </a:p>
            </p:txBody>
          </p:sp>
        </p:grpSp>
      </p:grpSp>
      <p:grpSp>
        <p:nvGrpSpPr>
          <p:cNvPr id="917571" name="Group 67"/>
          <p:cNvGrpSpPr>
            <a:grpSpLocks/>
          </p:cNvGrpSpPr>
          <p:nvPr/>
        </p:nvGrpSpPr>
        <p:grpSpPr bwMode="auto">
          <a:xfrm>
            <a:off x="4724400" y="1447800"/>
            <a:ext cx="2362200" cy="1052513"/>
            <a:chOff x="2551" y="326"/>
            <a:chExt cx="1865" cy="860"/>
          </a:xfrm>
        </p:grpSpPr>
        <p:sp>
          <p:nvSpPr>
            <p:cNvPr id="917572" name="Line 68"/>
            <p:cNvSpPr>
              <a:spLocks noChangeShapeType="1"/>
            </p:cNvSpPr>
            <p:nvPr/>
          </p:nvSpPr>
          <p:spPr bwMode="auto">
            <a:xfrm>
              <a:off x="2553" y="757"/>
              <a:ext cx="1863" cy="1"/>
            </a:xfrm>
            <a:prstGeom prst="line">
              <a:avLst/>
            </a:prstGeom>
            <a:noFill/>
            <a:ln w="19050">
              <a:solidFill>
                <a:srgbClr val="008280"/>
              </a:solidFill>
              <a:round/>
              <a:headEnd/>
              <a:tailEnd type="triangle" w="med" len="med"/>
            </a:ln>
            <a:effectLst/>
          </p:spPr>
          <p:txBody>
            <a:bodyPr wrap="none" anchor="ctr"/>
            <a:lstStyle/>
            <a:p>
              <a:endParaRPr lang="en-US"/>
            </a:p>
          </p:txBody>
        </p:sp>
        <p:sp>
          <p:nvSpPr>
            <p:cNvPr id="917573" name="Line 69"/>
            <p:cNvSpPr>
              <a:spLocks noChangeShapeType="1"/>
            </p:cNvSpPr>
            <p:nvPr/>
          </p:nvSpPr>
          <p:spPr bwMode="auto">
            <a:xfrm>
              <a:off x="2553" y="326"/>
              <a:ext cx="1" cy="860"/>
            </a:xfrm>
            <a:prstGeom prst="line">
              <a:avLst/>
            </a:prstGeom>
            <a:noFill/>
            <a:ln w="19050">
              <a:solidFill>
                <a:srgbClr val="008280"/>
              </a:solidFill>
              <a:round/>
              <a:headEnd/>
              <a:tailEnd/>
            </a:ln>
            <a:effectLst/>
          </p:spPr>
          <p:txBody>
            <a:bodyPr wrap="none" anchor="ctr"/>
            <a:lstStyle/>
            <a:p>
              <a:endParaRPr lang="en-US"/>
            </a:p>
          </p:txBody>
        </p:sp>
        <p:grpSp>
          <p:nvGrpSpPr>
            <p:cNvPr id="917574" name="Group 70"/>
            <p:cNvGrpSpPr>
              <a:grpSpLocks/>
            </p:cNvGrpSpPr>
            <p:nvPr/>
          </p:nvGrpSpPr>
          <p:grpSpPr bwMode="auto">
            <a:xfrm>
              <a:off x="2551" y="385"/>
              <a:ext cx="1633" cy="744"/>
              <a:chOff x="2806" y="436"/>
              <a:chExt cx="1796" cy="844"/>
            </a:xfrm>
          </p:grpSpPr>
          <p:sp>
            <p:nvSpPr>
              <p:cNvPr id="917575" name="Freeform 71"/>
              <p:cNvSpPr>
                <a:spLocks/>
              </p:cNvSpPr>
              <p:nvPr/>
            </p:nvSpPr>
            <p:spPr bwMode="auto">
              <a:xfrm>
                <a:off x="2806" y="436"/>
                <a:ext cx="896" cy="419"/>
              </a:xfrm>
              <a:custGeom>
                <a:avLst/>
                <a:gdLst/>
                <a:ahLst/>
                <a:cxnLst>
                  <a:cxn ang="0">
                    <a:pos x="895" y="418"/>
                  </a:cxn>
                  <a:cxn ang="0">
                    <a:pos x="852" y="321"/>
                  </a:cxn>
                  <a:cxn ang="0">
                    <a:pos x="804" y="235"/>
                  </a:cxn>
                  <a:cxn ang="0">
                    <a:pos x="751" y="164"/>
                  </a:cxn>
                  <a:cxn ang="0">
                    <a:pos x="695" y="104"/>
                  </a:cxn>
                  <a:cxn ang="0">
                    <a:pos x="635" y="59"/>
                  </a:cxn>
                  <a:cxn ang="0">
                    <a:pos x="574" y="26"/>
                  </a:cxn>
                  <a:cxn ang="0">
                    <a:pos x="510" y="6"/>
                  </a:cxn>
                  <a:cxn ang="0">
                    <a:pos x="447" y="0"/>
                  </a:cxn>
                  <a:cxn ang="0">
                    <a:pos x="382" y="6"/>
                  </a:cxn>
                  <a:cxn ang="0">
                    <a:pos x="320" y="26"/>
                  </a:cxn>
                  <a:cxn ang="0">
                    <a:pos x="258" y="59"/>
                  </a:cxn>
                  <a:cxn ang="0">
                    <a:pos x="199" y="104"/>
                  </a:cxn>
                  <a:cxn ang="0">
                    <a:pos x="143" y="164"/>
                  </a:cxn>
                  <a:cxn ang="0">
                    <a:pos x="90" y="235"/>
                  </a:cxn>
                  <a:cxn ang="0">
                    <a:pos x="42" y="321"/>
                  </a:cxn>
                  <a:cxn ang="0">
                    <a:pos x="0" y="418"/>
                  </a:cxn>
                </a:cxnLst>
                <a:rect l="0" t="0" r="r" b="b"/>
                <a:pathLst>
                  <a:path w="896" h="419">
                    <a:moveTo>
                      <a:pt x="895" y="418"/>
                    </a:moveTo>
                    <a:lnTo>
                      <a:pt x="852" y="321"/>
                    </a:lnTo>
                    <a:lnTo>
                      <a:pt x="804" y="235"/>
                    </a:lnTo>
                    <a:lnTo>
                      <a:pt x="751" y="164"/>
                    </a:lnTo>
                    <a:lnTo>
                      <a:pt x="695" y="104"/>
                    </a:lnTo>
                    <a:lnTo>
                      <a:pt x="635" y="59"/>
                    </a:lnTo>
                    <a:lnTo>
                      <a:pt x="574" y="26"/>
                    </a:lnTo>
                    <a:lnTo>
                      <a:pt x="510" y="6"/>
                    </a:lnTo>
                    <a:lnTo>
                      <a:pt x="447" y="0"/>
                    </a:lnTo>
                    <a:lnTo>
                      <a:pt x="382" y="6"/>
                    </a:lnTo>
                    <a:lnTo>
                      <a:pt x="320" y="26"/>
                    </a:lnTo>
                    <a:lnTo>
                      <a:pt x="258" y="59"/>
                    </a:lnTo>
                    <a:lnTo>
                      <a:pt x="199" y="104"/>
                    </a:lnTo>
                    <a:lnTo>
                      <a:pt x="143" y="164"/>
                    </a:lnTo>
                    <a:lnTo>
                      <a:pt x="90" y="235"/>
                    </a:lnTo>
                    <a:lnTo>
                      <a:pt x="42" y="321"/>
                    </a:lnTo>
                    <a:lnTo>
                      <a:pt x="0" y="418"/>
                    </a:lnTo>
                  </a:path>
                </a:pathLst>
              </a:custGeom>
              <a:noFill/>
              <a:ln w="31750" cap="flat" cmpd="sng">
                <a:solidFill>
                  <a:srgbClr val="008000"/>
                </a:solidFill>
                <a:prstDash val="solid"/>
                <a:round/>
                <a:headEnd type="none" w="med" len="med"/>
                <a:tailEnd type="none" w="med" len="med"/>
              </a:ln>
              <a:effectLst/>
            </p:spPr>
            <p:txBody>
              <a:bodyPr/>
              <a:lstStyle/>
              <a:p>
                <a:endParaRPr lang="en-US"/>
              </a:p>
            </p:txBody>
          </p:sp>
          <p:sp>
            <p:nvSpPr>
              <p:cNvPr id="917576" name="Freeform 72"/>
              <p:cNvSpPr>
                <a:spLocks/>
              </p:cNvSpPr>
              <p:nvPr/>
            </p:nvSpPr>
            <p:spPr bwMode="auto">
              <a:xfrm>
                <a:off x="3706" y="860"/>
                <a:ext cx="896" cy="420"/>
              </a:xfrm>
              <a:custGeom>
                <a:avLst/>
                <a:gdLst/>
                <a:ahLst/>
                <a:cxnLst>
                  <a:cxn ang="0">
                    <a:pos x="895" y="0"/>
                  </a:cxn>
                  <a:cxn ang="0">
                    <a:pos x="852" y="98"/>
                  </a:cxn>
                  <a:cxn ang="0">
                    <a:pos x="804" y="183"/>
                  </a:cxn>
                  <a:cxn ang="0">
                    <a:pos x="751" y="256"/>
                  </a:cxn>
                  <a:cxn ang="0">
                    <a:pos x="695" y="314"/>
                  </a:cxn>
                  <a:cxn ang="0">
                    <a:pos x="635" y="360"/>
                  </a:cxn>
                  <a:cxn ang="0">
                    <a:pos x="574" y="393"/>
                  </a:cxn>
                  <a:cxn ang="0">
                    <a:pos x="510" y="413"/>
                  </a:cxn>
                  <a:cxn ang="0">
                    <a:pos x="447" y="419"/>
                  </a:cxn>
                  <a:cxn ang="0">
                    <a:pos x="382" y="413"/>
                  </a:cxn>
                  <a:cxn ang="0">
                    <a:pos x="319" y="393"/>
                  </a:cxn>
                  <a:cxn ang="0">
                    <a:pos x="258" y="360"/>
                  </a:cxn>
                  <a:cxn ang="0">
                    <a:pos x="199" y="314"/>
                  </a:cxn>
                  <a:cxn ang="0">
                    <a:pos x="143" y="256"/>
                  </a:cxn>
                  <a:cxn ang="0">
                    <a:pos x="90" y="183"/>
                  </a:cxn>
                  <a:cxn ang="0">
                    <a:pos x="42" y="98"/>
                  </a:cxn>
                  <a:cxn ang="0">
                    <a:pos x="0" y="0"/>
                  </a:cxn>
                </a:cxnLst>
                <a:rect l="0" t="0" r="r" b="b"/>
                <a:pathLst>
                  <a:path w="896" h="420">
                    <a:moveTo>
                      <a:pt x="895" y="0"/>
                    </a:moveTo>
                    <a:lnTo>
                      <a:pt x="852" y="98"/>
                    </a:lnTo>
                    <a:lnTo>
                      <a:pt x="804" y="183"/>
                    </a:lnTo>
                    <a:lnTo>
                      <a:pt x="751" y="256"/>
                    </a:lnTo>
                    <a:lnTo>
                      <a:pt x="695" y="314"/>
                    </a:lnTo>
                    <a:lnTo>
                      <a:pt x="635" y="360"/>
                    </a:lnTo>
                    <a:lnTo>
                      <a:pt x="574" y="393"/>
                    </a:lnTo>
                    <a:lnTo>
                      <a:pt x="510" y="413"/>
                    </a:lnTo>
                    <a:lnTo>
                      <a:pt x="447" y="419"/>
                    </a:lnTo>
                    <a:lnTo>
                      <a:pt x="382" y="413"/>
                    </a:lnTo>
                    <a:lnTo>
                      <a:pt x="319" y="393"/>
                    </a:lnTo>
                    <a:lnTo>
                      <a:pt x="258" y="360"/>
                    </a:lnTo>
                    <a:lnTo>
                      <a:pt x="199" y="314"/>
                    </a:lnTo>
                    <a:lnTo>
                      <a:pt x="143" y="256"/>
                    </a:lnTo>
                    <a:lnTo>
                      <a:pt x="90" y="183"/>
                    </a:lnTo>
                    <a:lnTo>
                      <a:pt x="42" y="98"/>
                    </a:lnTo>
                    <a:lnTo>
                      <a:pt x="0" y="0"/>
                    </a:lnTo>
                  </a:path>
                </a:pathLst>
              </a:custGeom>
              <a:noFill/>
              <a:ln w="31750" cap="flat" cmpd="sng">
                <a:solidFill>
                  <a:srgbClr val="008000"/>
                </a:solidFill>
                <a:prstDash val="solid"/>
                <a:round/>
                <a:headEnd type="triangle" w="med" len="med"/>
                <a:tailEnd type="none" w="med" len="med"/>
              </a:ln>
              <a:effectLst/>
            </p:spPr>
            <p:txBody>
              <a:bodyPr/>
              <a:lstStyle/>
              <a:p>
                <a:endParaRPr lang="en-US"/>
              </a:p>
            </p:txBody>
          </p:sp>
        </p:grpSp>
      </p:grpSp>
      <p:sp>
        <p:nvSpPr>
          <p:cNvPr id="917577" name="Rectangle 73"/>
          <p:cNvSpPr>
            <a:spLocks noGrp="1" noChangeArrowheads="1"/>
          </p:cNvSpPr>
          <p:nvPr>
            <p:ph type="body" idx="4294967295"/>
          </p:nvPr>
        </p:nvSpPr>
        <p:spPr>
          <a:xfrm>
            <a:off x="6497638" y="1808163"/>
            <a:ext cx="635000" cy="292100"/>
          </a:xfrm>
          <a:noFill/>
          <a:ln/>
        </p:spPr>
        <p:txBody>
          <a:bodyPr lIns="0" tIns="0" rIns="0" bIns="0"/>
          <a:lstStyle/>
          <a:p>
            <a:pPr marL="0" indent="0" algn="ctr" defTabSz="457200">
              <a:lnSpc>
                <a:spcPct val="90000"/>
              </a:lnSpc>
              <a:spcBef>
                <a:spcPct val="0"/>
              </a:spcBef>
              <a:buClr>
                <a:srgbClr val="008280"/>
              </a:buClr>
              <a:buSzPct val="90000"/>
              <a:buFont typeface="Monotype Sorts" pitchFamily="2" charset="2"/>
              <a:buNone/>
            </a:pPr>
            <a:r>
              <a:rPr lang="en-US" sz="2000">
                <a:solidFill>
                  <a:srgbClr val="000000"/>
                </a:solidFill>
              </a:rPr>
              <a:t>Time</a:t>
            </a:r>
            <a:endParaRPr lang="en-US" sz="2000"/>
          </a:p>
        </p:txBody>
      </p:sp>
      <p:sp>
        <p:nvSpPr>
          <p:cNvPr id="917578" name="Text Box 74"/>
          <p:cNvSpPr txBox="1">
            <a:spLocks noChangeArrowheads="1"/>
          </p:cNvSpPr>
          <p:nvPr/>
        </p:nvSpPr>
        <p:spPr bwMode="auto">
          <a:xfrm>
            <a:off x="4495800" y="1828800"/>
            <a:ext cx="184150" cy="3079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0</a:t>
            </a:r>
            <a:endParaRPr lang="en-US" sz="1600"/>
          </a:p>
        </p:txBody>
      </p:sp>
      <p:sp>
        <p:nvSpPr>
          <p:cNvPr id="917579" name="Text Box 75"/>
          <p:cNvSpPr txBox="1">
            <a:spLocks noChangeArrowheads="1"/>
          </p:cNvSpPr>
          <p:nvPr/>
        </p:nvSpPr>
        <p:spPr bwMode="auto">
          <a:xfrm>
            <a:off x="4495800" y="1371600"/>
            <a:ext cx="190500" cy="309563"/>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a:t>
            </a:r>
            <a:endParaRPr lang="en-US" sz="1600"/>
          </a:p>
        </p:txBody>
      </p:sp>
      <p:sp>
        <p:nvSpPr>
          <p:cNvPr id="917580" name="Text Box 76"/>
          <p:cNvSpPr txBox="1">
            <a:spLocks noChangeArrowheads="1"/>
          </p:cNvSpPr>
          <p:nvPr/>
        </p:nvSpPr>
        <p:spPr bwMode="auto">
          <a:xfrm>
            <a:off x="4495800" y="2362200"/>
            <a:ext cx="168275" cy="4603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a:t>
            </a:r>
            <a:endParaRPr lang="en-US" sz="1600"/>
          </a:p>
        </p:txBody>
      </p:sp>
      <p:sp>
        <p:nvSpPr>
          <p:cNvPr id="917581" name="Text Box 77"/>
          <p:cNvSpPr txBox="1">
            <a:spLocks noChangeArrowheads="1"/>
          </p:cNvSpPr>
          <p:nvPr/>
        </p:nvSpPr>
        <p:spPr bwMode="auto">
          <a:xfrm>
            <a:off x="7075488" y="3616325"/>
            <a:ext cx="711200" cy="3079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800">
                <a:solidFill>
                  <a:srgbClr val="000000"/>
                </a:solidFill>
                <a:latin typeface="Arial" pitchFamily="34" charset="0"/>
              </a:rPr>
              <a:t>Time</a:t>
            </a:r>
            <a:endParaRPr lang="en-US" sz="1800"/>
          </a:p>
        </p:txBody>
      </p:sp>
      <p:grpSp>
        <p:nvGrpSpPr>
          <p:cNvPr id="917582" name="Group 78"/>
          <p:cNvGrpSpPr>
            <a:grpSpLocks/>
          </p:cNvGrpSpPr>
          <p:nvPr/>
        </p:nvGrpSpPr>
        <p:grpSpPr bwMode="auto">
          <a:xfrm>
            <a:off x="4724400" y="3159125"/>
            <a:ext cx="2362200" cy="1143000"/>
            <a:chOff x="2553" y="1704"/>
            <a:chExt cx="1911" cy="724"/>
          </a:xfrm>
        </p:grpSpPr>
        <p:sp>
          <p:nvSpPr>
            <p:cNvPr id="917583" name="Line 79"/>
            <p:cNvSpPr>
              <a:spLocks noChangeShapeType="1"/>
            </p:cNvSpPr>
            <p:nvPr/>
          </p:nvSpPr>
          <p:spPr bwMode="auto">
            <a:xfrm>
              <a:off x="2563" y="2068"/>
              <a:ext cx="1901" cy="1"/>
            </a:xfrm>
            <a:prstGeom prst="line">
              <a:avLst/>
            </a:prstGeom>
            <a:noFill/>
            <a:ln w="19050">
              <a:solidFill>
                <a:srgbClr val="008280"/>
              </a:solidFill>
              <a:round/>
              <a:headEnd/>
              <a:tailEnd type="triangle" w="med" len="med"/>
            </a:ln>
            <a:effectLst/>
          </p:spPr>
          <p:txBody>
            <a:bodyPr wrap="none" anchor="ctr"/>
            <a:lstStyle/>
            <a:p>
              <a:endParaRPr lang="en-US"/>
            </a:p>
          </p:txBody>
        </p:sp>
        <p:sp>
          <p:nvSpPr>
            <p:cNvPr id="917584" name="Line 80"/>
            <p:cNvSpPr>
              <a:spLocks noChangeShapeType="1"/>
            </p:cNvSpPr>
            <p:nvPr/>
          </p:nvSpPr>
          <p:spPr bwMode="auto">
            <a:xfrm>
              <a:off x="2563" y="1704"/>
              <a:ext cx="1" cy="724"/>
            </a:xfrm>
            <a:prstGeom prst="line">
              <a:avLst/>
            </a:prstGeom>
            <a:noFill/>
            <a:ln w="19050">
              <a:solidFill>
                <a:srgbClr val="008280"/>
              </a:solidFill>
              <a:round/>
              <a:headEnd/>
              <a:tailEnd/>
            </a:ln>
            <a:effectLst/>
          </p:spPr>
          <p:txBody>
            <a:bodyPr wrap="none" anchor="ctr"/>
            <a:lstStyle/>
            <a:p>
              <a:endParaRPr lang="en-US"/>
            </a:p>
          </p:txBody>
        </p:sp>
        <p:grpSp>
          <p:nvGrpSpPr>
            <p:cNvPr id="917585" name="Group 81"/>
            <p:cNvGrpSpPr>
              <a:grpSpLocks/>
            </p:cNvGrpSpPr>
            <p:nvPr/>
          </p:nvGrpSpPr>
          <p:grpSpPr bwMode="auto">
            <a:xfrm>
              <a:off x="2553" y="1752"/>
              <a:ext cx="1719" cy="638"/>
              <a:chOff x="2553" y="1752"/>
              <a:chExt cx="1719" cy="638"/>
            </a:xfrm>
          </p:grpSpPr>
          <p:grpSp>
            <p:nvGrpSpPr>
              <p:cNvPr id="917586" name="Group 82"/>
              <p:cNvGrpSpPr>
                <a:grpSpLocks/>
              </p:cNvGrpSpPr>
              <p:nvPr/>
            </p:nvGrpSpPr>
            <p:grpSpPr bwMode="auto">
              <a:xfrm>
                <a:off x="2553" y="1752"/>
                <a:ext cx="416" cy="629"/>
                <a:chOff x="2793" y="1986"/>
                <a:chExt cx="457" cy="713"/>
              </a:xfrm>
            </p:grpSpPr>
            <p:sp>
              <p:nvSpPr>
                <p:cNvPr id="917587" name="Freeform 83"/>
                <p:cNvSpPr>
                  <a:spLocks/>
                </p:cNvSpPr>
                <p:nvPr/>
              </p:nvSpPr>
              <p:spPr bwMode="auto">
                <a:xfrm>
                  <a:off x="2793" y="1986"/>
                  <a:ext cx="228" cy="354"/>
                </a:xfrm>
                <a:custGeom>
                  <a:avLst/>
                  <a:gdLst/>
                  <a:ahLst/>
                  <a:cxnLst>
                    <a:cxn ang="0">
                      <a:pos x="227" y="353"/>
                    </a:cxn>
                    <a:cxn ang="0">
                      <a:pos x="215" y="271"/>
                    </a:cxn>
                    <a:cxn ang="0">
                      <a:pos x="203" y="199"/>
                    </a:cxn>
                    <a:cxn ang="0">
                      <a:pos x="189" y="139"/>
                    </a:cxn>
                    <a:cxn ang="0">
                      <a:pos x="176" y="89"/>
                    </a:cxn>
                    <a:cxn ang="0">
                      <a:pos x="159" y="50"/>
                    </a:cxn>
                    <a:cxn ang="0">
                      <a:pos x="145" y="22"/>
                    </a:cxn>
                    <a:cxn ang="0">
                      <a:pos x="128" y="5"/>
                    </a:cxn>
                    <a:cxn ang="0">
                      <a:pos x="113" y="0"/>
                    </a:cxn>
                    <a:cxn ang="0">
                      <a:pos x="96" y="5"/>
                    </a:cxn>
                    <a:cxn ang="0">
                      <a:pos x="80" y="22"/>
                    </a:cxn>
                    <a:cxn ang="0">
                      <a:pos x="64" y="50"/>
                    </a:cxn>
                    <a:cxn ang="0">
                      <a:pos x="50" y="89"/>
                    </a:cxn>
                    <a:cxn ang="0">
                      <a:pos x="35" y="139"/>
                    </a:cxn>
                    <a:cxn ang="0">
                      <a:pos x="22" y="199"/>
                    </a:cxn>
                    <a:cxn ang="0">
                      <a:pos x="10" y="271"/>
                    </a:cxn>
                    <a:cxn ang="0">
                      <a:pos x="0" y="353"/>
                    </a:cxn>
                  </a:cxnLst>
                  <a:rect l="0" t="0" r="r" b="b"/>
                  <a:pathLst>
                    <a:path w="228" h="354">
                      <a:moveTo>
                        <a:pt x="227" y="353"/>
                      </a:moveTo>
                      <a:lnTo>
                        <a:pt x="215" y="271"/>
                      </a:lnTo>
                      <a:lnTo>
                        <a:pt x="203" y="199"/>
                      </a:lnTo>
                      <a:lnTo>
                        <a:pt x="189" y="139"/>
                      </a:lnTo>
                      <a:lnTo>
                        <a:pt x="176" y="89"/>
                      </a:lnTo>
                      <a:lnTo>
                        <a:pt x="159" y="50"/>
                      </a:lnTo>
                      <a:lnTo>
                        <a:pt x="145" y="22"/>
                      </a:lnTo>
                      <a:lnTo>
                        <a:pt x="128" y="5"/>
                      </a:lnTo>
                      <a:lnTo>
                        <a:pt x="113" y="0"/>
                      </a:lnTo>
                      <a:lnTo>
                        <a:pt x="96" y="5"/>
                      </a:lnTo>
                      <a:lnTo>
                        <a:pt x="80" y="22"/>
                      </a:lnTo>
                      <a:lnTo>
                        <a:pt x="64" y="50"/>
                      </a:lnTo>
                      <a:lnTo>
                        <a:pt x="50" y="89"/>
                      </a:lnTo>
                      <a:lnTo>
                        <a:pt x="35" y="139"/>
                      </a:lnTo>
                      <a:lnTo>
                        <a:pt x="22" y="199"/>
                      </a:lnTo>
                      <a:lnTo>
                        <a:pt x="10" y="271"/>
                      </a:lnTo>
                      <a:lnTo>
                        <a:pt x="0" y="353"/>
                      </a:lnTo>
                    </a:path>
                  </a:pathLst>
                </a:custGeom>
                <a:noFill/>
                <a:ln w="31750" cap="flat" cmpd="sng">
                  <a:solidFill>
                    <a:srgbClr val="E12000"/>
                  </a:solidFill>
                  <a:prstDash val="solid"/>
                  <a:round/>
                  <a:headEnd type="none" w="med" len="med"/>
                  <a:tailEnd type="none" w="med" len="med"/>
                </a:ln>
                <a:effectLst/>
              </p:spPr>
              <p:txBody>
                <a:bodyPr/>
                <a:lstStyle/>
                <a:p>
                  <a:endParaRPr lang="en-US"/>
                </a:p>
              </p:txBody>
            </p:sp>
            <p:sp>
              <p:nvSpPr>
                <p:cNvPr id="917588" name="Freeform 84"/>
                <p:cNvSpPr>
                  <a:spLocks/>
                </p:cNvSpPr>
                <p:nvPr/>
              </p:nvSpPr>
              <p:spPr bwMode="auto">
                <a:xfrm>
                  <a:off x="3021" y="2344"/>
                  <a:ext cx="229" cy="355"/>
                </a:xfrm>
                <a:custGeom>
                  <a:avLst/>
                  <a:gdLst/>
                  <a:ahLst/>
                  <a:cxnLst>
                    <a:cxn ang="0">
                      <a:pos x="228" y="0"/>
                    </a:cxn>
                    <a:cxn ang="0">
                      <a:pos x="216" y="84"/>
                    </a:cxn>
                    <a:cxn ang="0">
                      <a:pos x="204" y="156"/>
                    </a:cxn>
                    <a:cxn ang="0">
                      <a:pos x="190" y="217"/>
                    </a:cxn>
                    <a:cxn ang="0">
                      <a:pos x="176" y="266"/>
                    </a:cxn>
                    <a:cxn ang="0">
                      <a:pos x="160" y="305"/>
                    </a:cxn>
                    <a:cxn ang="0">
                      <a:pos x="145" y="332"/>
                    </a:cxn>
                    <a:cxn ang="0">
                      <a:pos x="128" y="349"/>
                    </a:cxn>
                    <a:cxn ang="0">
                      <a:pos x="113" y="354"/>
                    </a:cxn>
                    <a:cxn ang="0">
                      <a:pos x="96" y="349"/>
                    </a:cxn>
                    <a:cxn ang="0">
                      <a:pos x="80" y="332"/>
                    </a:cxn>
                    <a:cxn ang="0">
                      <a:pos x="65" y="305"/>
                    </a:cxn>
                    <a:cxn ang="0">
                      <a:pos x="50" y="266"/>
                    </a:cxn>
                    <a:cxn ang="0">
                      <a:pos x="35" y="217"/>
                    </a:cxn>
                    <a:cxn ang="0">
                      <a:pos x="22" y="156"/>
                    </a:cxn>
                    <a:cxn ang="0">
                      <a:pos x="10" y="84"/>
                    </a:cxn>
                    <a:cxn ang="0">
                      <a:pos x="0" y="0"/>
                    </a:cxn>
                  </a:cxnLst>
                  <a:rect l="0" t="0" r="r" b="b"/>
                  <a:pathLst>
                    <a:path w="229" h="355">
                      <a:moveTo>
                        <a:pt x="228" y="0"/>
                      </a:moveTo>
                      <a:lnTo>
                        <a:pt x="216" y="84"/>
                      </a:lnTo>
                      <a:lnTo>
                        <a:pt x="204" y="156"/>
                      </a:lnTo>
                      <a:lnTo>
                        <a:pt x="190" y="217"/>
                      </a:lnTo>
                      <a:lnTo>
                        <a:pt x="176" y="266"/>
                      </a:lnTo>
                      <a:lnTo>
                        <a:pt x="160" y="305"/>
                      </a:lnTo>
                      <a:lnTo>
                        <a:pt x="145" y="332"/>
                      </a:lnTo>
                      <a:lnTo>
                        <a:pt x="128" y="349"/>
                      </a:lnTo>
                      <a:lnTo>
                        <a:pt x="113" y="354"/>
                      </a:lnTo>
                      <a:lnTo>
                        <a:pt x="96" y="349"/>
                      </a:lnTo>
                      <a:lnTo>
                        <a:pt x="80" y="332"/>
                      </a:lnTo>
                      <a:lnTo>
                        <a:pt x="65" y="305"/>
                      </a:lnTo>
                      <a:lnTo>
                        <a:pt x="50" y="266"/>
                      </a:lnTo>
                      <a:lnTo>
                        <a:pt x="35" y="217"/>
                      </a:lnTo>
                      <a:lnTo>
                        <a:pt x="22" y="156"/>
                      </a:lnTo>
                      <a:lnTo>
                        <a:pt x="10" y="84"/>
                      </a:lnTo>
                      <a:lnTo>
                        <a:pt x="0" y="0"/>
                      </a:lnTo>
                    </a:path>
                  </a:pathLst>
                </a:custGeom>
                <a:noFill/>
                <a:ln w="31750" cap="flat" cmpd="sng">
                  <a:solidFill>
                    <a:srgbClr val="E12000"/>
                  </a:solidFill>
                  <a:prstDash val="solid"/>
                  <a:round/>
                  <a:headEnd type="triangle" w="med" len="med"/>
                  <a:tailEnd type="none" w="med" len="med"/>
                </a:ln>
                <a:effectLst/>
              </p:spPr>
              <p:txBody>
                <a:bodyPr/>
                <a:lstStyle/>
                <a:p>
                  <a:endParaRPr lang="en-US"/>
                </a:p>
              </p:txBody>
            </p:sp>
          </p:grpSp>
          <p:grpSp>
            <p:nvGrpSpPr>
              <p:cNvPr id="917589" name="Group 85"/>
              <p:cNvGrpSpPr>
                <a:grpSpLocks/>
              </p:cNvGrpSpPr>
              <p:nvPr/>
            </p:nvGrpSpPr>
            <p:grpSpPr bwMode="auto">
              <a:xfrm>
                <a:off x="2997" y="1759"/>
                <a:ext cx="415" cy="630"/>
                <a:chOff x="3281" y="1994"/>
                <a:chExt cx="457" cy="713"/>
              </a:xfrm>
            </p:grpSpPr>
            <p:sp>
              <p:nvSpPr>
                <p:cNvPr id="917590" name="Freeform 86"/>
                <p:cNvSpPr>
                  <a:spLocks/>
                </p:cNvSpPr>
                <p:nvPr/>
              </p:nvSpPr>
              <p:spPr bwMode="auto">
                <a:xfrm>
                  <a:off x="3281" y="1994"/>
                  <a:ext cx="228" cy="354"/>
                </a:xfrm>
                <a:custGeom>
                  <a:avLst/>
                  <a:gdLst/>
                  <a:ahLst/>
                  <a:cxnLst>
                    <a:cxn ang="0">
                      <a:pos x="227" y="353"/>
                    </a:cxn>
                    <a:cxn ang="0">
                      <a:pos x="215" y="271"/>
                    </a:cxn>
                    <a:cxn ang="0">
                      <a:pos x="203" y="200"/>
                    </a:cxn>
                    <a:cxn ang="0">
                      <a:pos x="189" y="140"/>
                    </a:cxn>
                    <a:cxn ang="0">
                      <a:pos x="176" y="90"/>
                    </a:cxn>
                    <a:cxn ang="0">
                      <a:pos x="159" y="51"/>
                    </a:cxn>
                    <a:cxn ang="0">
                      <a:pos x="145" y="23"/>
                    </a:cxn>
                    <a:cxn ang="0">
                      <a:pos x="128" y="6"/>
                    </a:cxn>
                    <a:cxn ang="0">
                      <a:pos x="113" y="0"/>
                    </a:cxn>
                    <a:cxn ang="0">
                      <a:pos x="96" y="6"/>
                    </a:cxn>
                    <a:cxn ang="0">
                      <a:pos x="80" y="23"/>
                    </a:cxn>
                    <a:cxn ang="0">
                      <a:pos x="64" y="51"/>
                    </a:cxn>
                    <a:cxn ang="0">
                      <a:pos x="50" y="90"/>
                    </a:cxn>
                    <a:cxn ang="0">
                      <a:pos x="35" y="140"/>
                    </a:cxn>
                    <a:cxn ang="0">
                      <a:pos x="22" y="200"/>
                    </a:cxn>
                    <a:cxn ang="0">
                      <a:pos x="10" y="271"/>
                    </a:cxn>
                    <a:cxn ang="0">
                      <a:pos x="0" y="353"/>
                    </a:cxn>
                  </a:cxnLst>
                  <a:rect l="0" t="0" r="r" b="b"/>
                  <a:pathLst>
                    <a:path w="228" h="354">
                      <a:moveTo>
                        <a:pt x="227" y="353"/>
                      </a:moveTo>
                      <a:lnTo>
                        <a:pt x="215" y="271"/>
                      </a:lnTo>
                      <a:lnTo>
                        <a:pt x="203" y="200"/>
                      </a:lnTo>
                      <a:lnTo>
                        <a:pt x="189" y="140"/>
                      </a:lnTo>
                      <a:lnTo>
                        <a:pt x="176" y="90"/>
                      </a:lnTo>
                      <a:lnTo>
                        <a:pt x="159" y="51"/>
                      </a:lnTo>
                      <a:lnTo>
                        <a:pt x="145" y="23"/>
                      </a:lnTo>
                      <a:lnTo>
                        <a:pt x="128" y="6"/>
                      </a:lnTo>
                      <a:lnTo>
                        <a:pt x="113" y="0"/>
                      </a:lnTo>
                      <a:lnTo>
                        <a:pt x="96" y="6"/>
                      </a:lnTo>
                      <a:lnTo>
                        <a:pt x="80" y="23"/>
                      </a:lnTo>
                      <a:lnTo>
                        <a:pt x="64" y="51"/>
                      </a:lnTo>
                      <a:lnTo>
                        <a:pt x="50" y="90"/>
                      </a:lnTo>
                      <a:lnTo>
                        <a:pt x="35" y="140"/>
                      </a:lnTo>
                      <a:lnTo>
                        <a:pt x="22" y="200"/>
                      </a:lnTo>
                      <a:lnTo>
                        <a:pt x="10" y="271"/>
                      </a:lnTo>
                      <a:lnTo>
                        <a:pt x="0" y="353"/>
                      </a:lnTo>
                    </a:path>
                  </a:pathLst>
                </a:custGeom>
                <a:noFill/>
                <a:ln w="31750" cap="flat" cmpd="sng">
                  <a:solidFill>
                    <a:srgbClr val="E12000"/>
                  </a:solidFill>
                  <a:prstDash val="solid"/>
                  <a:round/>
                  <a:headEnd type="none" w="med" len="med"/>
                  <a:tailEnd type="none" w="med" len="med"/>
                </a:ln>
                <a:effectLst/>
              </p:spPr>
              <p:txBody>
                <a:bodyPr/>
                <a:lstStyle/>
                <a:p>
                  <a:endParaRPr lang="en-US"/>
                </a:p>
              </p:txBody>
            </p:sp>
            <p:sp>
              <p:nvSpPr>
                <p:cNvPr id="917591" name="Freeform 87"/>
                <p:cNvSpPr>
                  <a:spLocks/>
                </p:cNvSpPr>
                <p:nvPr/>
              </p:nvSpPr>
              <p:spPr bwMode="auto">
                <a:xfrm>
                  <a:off x="3509" y="2352"/>
                  <a:ext cx="229" cy="355"/>
                </a:xfrm>
                <a:custGeom>
                  <a:avLst/>
                  <a:gdLst/>
                  <a:ahLst/>
                  <a:cxnLst>
                    <a:cxn ang="0">
                      <a:pos x="228" y="0"/>
                    </a:cxn>
                    <a:cxn ang="0">
                      <a:pos x="216" y="85"/>
                    </a:cxn>
                    <a:cxn ang="0">
                      <a:pos x="204" y="156"/>
                    </a:cxn>
                    <a:cxn ang="0">
                      <a:pos x="190" y="218"/>
                    </a:cxn>
                    <a:cxn ang="0">
                      <a:pos x="176" y="266"/>
                    </a:cxn>
                    <a:cxn ang="0">
                      <a:pos x="160" y="306"/>
                    </a:cxn>
                    <a:cxn ang="0">
                      <a:pos x="145" y="333"/>
                    </a:cxn>
                    <a:cxn ang="0">
                      <a:pos x="128" y="350"/>
                    </a:cxn>
                    <a:cxn ang="0">
                      <a:pos x="113" y="354"/>
                    </a:cxn>
                    <a:cxn ang="0">
                      <a:pos x="96" y="350"/>
                    </a:cxn>
                    <a:cxn ang="0">
                      <a:pos x="80" y="333"/>
                    </a:cxn>
                    <a:cxn ang="0">
                      <a:pos x="65" y="306"/>
                    </a:cxn>
                    <a:cxn ang="0">
                      <a:pos x="50" y="266"/>
                    </a:cxn>
                    <a:cxn ang="0">
                      <a:pos x="35" y="218"/>
                    </a:cxn>
                    <a:cxn ang="0">
                      <a:pos x="22" y="156"/>
                    </a:cxn>
                    <a:cxn ang="0">
                      <a:pos x="10" y="85"/>
                    </a:cxn>
                    <a:cxn ang="0">
                      <a:pos x="0" y="0"/>
                    </a:cxn>
                  </a:cxnLst>
                  <a:rect l="0" t="0" r="r" b="b"/>
                  <a:pathLst>
                    <a:path w="229" h="355">
                      <a:moveTo>
                        <a:pt x="228" y="0"/>
                      </a:moveTo>
                      <a:lnTo>
                        <a:pt x="216" y="85"/>
                      </a:lnTo>
                      <a:lnTo>
                        <a:pt x="204" y="156"/>
                      </a:lnTo>
                      <a:lnTo>
                        <a:pt x="190" y="218"/>
                      </a:lnTo>
                      <a:lnTo>
                        <a:pt x="176" y="266"/>
                      </a:lnTo>
                      <a:lnTo>
                        <a:pt x="160" y="306"/>
                      </a:lnTo>
                      <a:lnTo>
                        <a:pt x="145" y="333"/>
                      </a:lnTo>
                      <a:lnTo>
                        <a:pt x="128" y="350"/>
                      </a:lnTo>
                      <a:lnTo>
                        <a:pt x="113" y="354"/>
                      </a:lnTo>
                      <a:lnTo>
                        <a:pt x="96" y="350"/>
                      </a:lnTo>
                      <a:lnTo>
                        <a:pt x="80" y="333"/>
                      </a:lnTo>
                      <a:lnTo>
                        <a:pt x="65" y="306"/>
                      </a:lnTo>
                      <a:lnTo>
                        <a:pt x="50" y="266"/>
                      </a:lnTo>
                      <a:lnTo>
                        <a:pt x="35" y="218"/>
                      </a:lnTo>
                      <a:lnTo>
                        <a:pt x="22" y="156"/>
                      </a:lnTo>
                      <a:lnTo>
                        <a:pt x="10" y="85"/>
                      </a:lnTo>
                      <a:lnTo>
                        <a:pt x="0" y="0"/>
                      </a:lnTo>
                    </a:path>
                  </a:pathLst>
                </a:custGeom>
                <a:noFill/>
                <a:ln w="31750" cap="flat" cmpd="sng">
                  <a:solidFill>
                    <a:srgbClr val="E12000"/>
                  </a:solidFill>
                  <a:prstDash val="solid"/>
                  <a:round/>
                  <a:headEnd type="triangle" w="med" len="med"/>
                  <a:tailEnd type="none" w="med" len="med"/>
                </a:ln>
                <a:effectLst/>
              </p:spPr>
              <p:txBody>
                <a:bodyPr/>
                <a:lstStyle/>
                <a:p>
                  <a:endParaRPr lang="en-US"/>
                </a:p>
              </p:txBody>
            </p:sp>
          </p:grpSp>
          <p:grpSp>
            <p:nvGrpSpPr>
              <p:cNvPr id="917592" name="Group 88"/>
              <p:cNvGrpSpPr>
                <a:grpSpLocks/>
              </p:cNvGrpSpPr>
              <p:nvPr/>
            </p:nvGrpSpPr>
            <p:grpSpPr bwMode="auto">
              <a:xfrm>
                <a:off x="3438" y="1761"/>
                <a:ext cx="415" cy="629"/>
                <a:chOff x="3766" y="1996"/>
                <a:chExt cx="457" cy="713"/>
              </a:xfrm>
            </p:grpSpPr>
            <p:sp>
              <p:nvSpPr>
                <p:cNvPr id="917593" name="Freeform 89"/>
                <p:cNvSpPr>
                  <a:spLocks/>
                </p:cNvSpPr>
                <p:nvPr/>
              </p:nvSpPr>
              <p:spPr bwMode="auto">
                <a:xfrm>
                  <a:off x="3766" y="1996"/>
                  <a:ext cx="229" cy="354"/>
                </a:xfrm>
                <a:custGeom>
                  <a:avLst/>
                  <a:gdLst/>
                  <a:ahLst/>
                  <a:cxnLst>
                    <a:cxn ang="0">
                      <a:pos x="228" y="353"/>
                    </a:cxn>
                    <a:cxn ang="0">
                      <a:pos x="216" y="271"/>
                    </a:cxn>
                    <a:cxn ang="0">
                      <a:pos x="204" y="199"/>
                    </a:cxn>
                    <a:cxn ang="0">
                      <a:pos x="190" y="139"/>
                    </a:cxn>
                    <a:cxn ang="0">
                      <a:pos x="176" y="89"/>
                    </a:cxn>
                    <a:cxn ang="0">
                      <a:pos x="160" y="50"/>
                    </a:cxn>
                    <a:cxn ang="0">
                      <a:pos x="145" y="22"/>
                    </a:cxn>
                    <a:cxn ang="0">
                      <a:pos x="128" y="5"/>
                    </a:cxn>
                    <a:cxn ang="0">
                      <a:pos x="113" y="0"/>
                    </a:cxn>
                    <a:cxn ang="0">
                      <a:pos x="96" y="5"/>
                    </a:cxn>
                    <a:cxn ang="0">
                      <a:pos x="80" y="22"/>
                    </a:cxn>
                    <a:cxn ang="0">
                      <a:pos x="64" y="50"/>
                    </a:cxn>
                    <a:cxn ang="0">
                      <a:pos x="50" y="89"/>
                    </a:cxn>
                    <a:cxn ang="0">
                      <a:pos x="35" y="139"/>
                    </a:cxn>
                    <a:cxn ang="0">
                      <a:pos x="22" y="199"/>
                    </a:cxn>
                    <a:cxn ang="0">
                      <a:pos x="10" y="271"/>
                    </a:cxn>
                    <a:cxn ang="0">
                      <a:pos x="0" y="353"/>
                    </a:cxn>
                  </a:cxnLst>
                  <a:rect l="0" t="0" r="r" b="b"/>
                  <a:pathLst>
                    <a:path w="229" h="354">
                      <a:moveTo>
                        <a:pt x="228" y="353"/>
                      </a:moveTo>
                      <a:lnTo>
                        <a:pt x="216" y="271"/>
                      </a:lnTo>
                      <a:lnTo>
                        <a:pt x="204" y="199"/>
                      </a:lnTo>
                      <a:lnTo>
                        <a:pt x="190" y="139"/>
                      </a:lnTo>
                      <a:lnTo>
                        <a:pt x="176" y="89"/>
                      </a:lnTo>
                      <a:lnTo>
                        <a:pt x="160" y="50"/>
                      </a:lnTo>
                      <a:lnTo>
                        <a:pt x="145" y="22"/>
                      </a:lnTo>
                      <a:lnTo>
                        <a:pt x="128" y="5"/>
                      </a:lnTo>
                      <a:lnTo>
                        <a:pt x="113" y="0"/>
                      </a:lnTo>
                      <a:lnTo>
                        <a:pt x="96" y="5"/>
                      </a:lnTo>
                      <a:lnTo>
                        <a:pt x="80" y="22"/>
                      </a:lnTo>
                      <a:lnTo>
                        <a:pt x="64" y="50"/>
                      </a:lnTo>
                      <a:lnTo>
                        <a:pt x="50" y="89"/>
                      </a:lnTo>
                      <a:lnTo>
                        <a:pt x="35" y="139"/>
                      </a:lnTo>
                      <a:lnTo>
                        <a:pt x="22" y="199"/>
                      </a:lnTo>
                      <a:lnTo>
                        <a:pt x="10" y="271"/>
                      </a:lnTo>
                      <a:lnTo>
                        <a:pt x="0" y="353"/>
                      </a:lnTo>
                    </a:path>
                  </a:pathLst>
                </a:custGeom>
                <a:noFill/>
                <a:ln w="31750" cap="flat" cmpd="sng">
                  <a:solidFill>
                    <a:srgbClr val="E12000"/>
                  </a:solidFill>
                  <a:prstDash val="solid"/>
                  <a:round/>
                  <a:headEnd type="none" w="med" len="med"/>
                  <a:tailEnd type="none" w="med" len="med"/>
                </a:ln>
                <a:effectLst/>
              </p:spPr>
              <p:txBody>
                <a:bodyPr/>
                <a:lstStyle/>
                <a:p>
                  <a:endParaRPr lang="en-US"/>
                </a:p>
              </p:txBody>
            </p:sp>
            <p:sp>
              <p:nvSpPr>
                <p:cNvPr id="917594" name="Freeform 90"/>
                <p:cNvSpPr>
                  <a:spLocks/>
                </p:cNvSpPr>
                <p:nvPr/>
              </p:nvSpPr>
              <p:spPr bwMode="auto">
                <a:xfrm>
                  <a:off x="3995" y="2354"/>
                  <a:ext cx="228" cy="355"/>
                </a:xfrm>
                <a:custGeom>
                  <a:avLst/>
                  <a:gdLst/>
                  <a:ahLst/>
                  <a:cxnLst>
                    <a:cxn ang="0">
                      <a:pos x="227" y="0"/>
                    </a:cxn>
                    <a:cxn ang="0">
                      <a:pos x="215" y="84"/>
                    </a:cxn>
                    <a:cxn ang="0">
                      <a:pos x="204" y="156"/>
                    </a:cxn>
                    <a:cxn ang="0">
                      <a:pos x="189" y="217"/>
                    </a:cxn>
                    <a:cxn ang="0">
                      <a:pos x="176" y="266"/>
                    </a:cxn>
                    <a:cxn ang="0">
                      <a:pos x="159" y="305"/>
                    </a:cxn>
                    <a:cxn ang="0">
                      <a:pos x="145" y="332"/>
                    </a:cxn>
                    <a:cxn ang="0">
                      <a:pos x="127" y="349"/>
                    </a:cxn>
                    <a:cxn ang="0">
                      <a:pos x="113" y="354"/>
                    </a:cxn>
                    <a:cxn ang="0">
                      <a:pos x="96" y="349"/>
                    </a:cxn>
                    <a:cxn ang="0">
                      <a:pos x="79" y="332"/>
                    </a:cxn>
                    <a:cxn ang="0">
                      <a:pos x="64" y="305"/>
                    </a:cxn>
                    <a:cxn ang="0">
                      <a:pos x="49" y="266"/>
                    </a:cxn>
                    <a:cxn ang="0">
                      <a:pos x="35" y="217"/>
                    </a:cxn>
                    <a:cxn ang="0">
                      <a:pos x="21" y="156"/>
                    </a:cxn>
                    <a:cxn ang="0">
                      <a:pos x="10" y="84"/>
                    </a:cxn>
                    <a:cxn ang="0">
                      <a:pos x="0" y="0"/>
                    </a:cxn>
                  </a:cxnLst>
                  <a:rect l="0" t="0" r="r" b="b"/>
                  <a:pathLst>
                    <a:path w="228" h="355">
                      <a:moveTo>
                        <a:pt x="227" y="0"/>
                      </a:moveTo>
                      <a:lnTo>
                        <a:pt x="215" y="84"/>
                      </a:lnTo>
                      <a:lnTo>
                        <a:pt x="204" y="156"/>
                      </a:lnTo>
                      <a:lnTo>
                        <a:pt x="189" y="217"/>
                      </a:lnTo>
                      <a:lnTo>
                        <a:pt x="176" y="266"/>
                      </a:lnTo>
                      <a:lnTo>
                        <a:pt x="159" y="305"/>
                      </a:lnTo>
                      <a:lnTo>
                        <a:pt x="145" y="332"/>
                      </a:lnTo>
                      <a:lnTo>
                        <a:pt x="127" y="349"/>
                      </a:lnTo>
                      <a:lnTo>
                        <a:pt x="113" y="354"/>
                      </a:lnTo>
                      <a:lnTo>
                        <a:pt x="96" y="349"/>
                      </a:lnTo>
                      <a:lnTo>
                        <a:pt x="79" y="332"/>
                      </a:lnTo>
                      <a:lnTo>
                        <a:pt x="64" y="305"/>
                      </a:lnTo>
                      <a:lnTo>
                        <a:pt x="49" y="266"/>
                      </a:lnTo>
                      <a:lnTo>
                        <a:pt x="35" y="217"/>
                      </a:lnTo>
                      <a:lnTo>
                        <a:pt x="21" y="156"/>
                      </a:lnTo>
                      <a:lnTo>
                        <a:pt x="10" y="84"/>
                      </a:lnTo>
                      <a:lnTo>
                        <a:pt x="0" y="0"/>
                      </a:lnTo>
                    </a:path>
                  </a:pathLst>
                </a:custGeom>
                <a:noFill/>
                <a:ln w="31750" cap="flat" cmpd="sng">
                  <a:solidFill>
                    <a:srgbClr val="E12000"/>
                  </a:solidFill>
                  <a:prstDash val="solid"/>
                  <a:round/>
                  <a:headEnd type="triangle" w="med" len="med"/>
                  <a:tailEnd type="none" w="med" len="med"/>
                </a:ln>
                <a:effectLst/>
              </p:spPr>
              <p:txBody>
                <a:bodyPr/>
                <a:lstStyle/>
                <a:p>
                  <a:endParaRPr lang="en-US"/>
                </a:p>
              </p:txBody>
            </p:sp>
          </p:grpSp>
          <p:grpSp>
            <p:nvGrpSpPr>
              <p:cNvPr id="917595" name="Group 91"/>
              <p:cNvGrpSpPr>
                <a:grpSpLocks/>
              </p:cNvGrpSpPr>
              <p:nvPr/>
            </p:nvGrpSpPr>
            <p:grpSpPr bwMode="auto">
              <a:xfrm>
                <a:off x="3857" y="1759"/>
                <a:ext cx="415" cy="630"/>
                <a:chOff x="4227" y="1994"/>
                <a:chExt cx="457" cy="713"/>
              </a:xfrm>
            </p:grpSpPr>
            <p:sp>
              <p:nvSpPr>
                <p:cNvPr id="917596" name="Freeform 92"/>
                <p:cNvSpPr>
                  <a:spLocks/>
                </p:cNvSpPr>
                <p:nvPr/>
              </p:nvSpPr>
              <p:spPr bwMode="auto">
                <a:xfrm>
                  <a:off x="4227" y="1994"/>
                  <a:ext cx="228" cy="354"/>
                </a:xfrm>
                <a:custGeom>
                  <a:avLst/>
                  <a:gdLst/>
                  <a:ahLst/>
                  <a:cxnLst>
                    <a:cxn ang="0">
                      <a:pos x="227" y="353"/>
                    </a:cxn>
                    <a:cxn ang="0">
                      <a:pos x="215" y="271"/>
                    </a:cxn>
                    <a:cxn ang="0">
                      <a:pos x="203" y="200"/>
                    </a:cxn>
                    <a:cxn ang="0">
                      <a:pos x="189" y="140"/>
                    </a:cxn>
                    <a:cxn ang="0">
                      <a:pos x="176" y="90"/>
                    </a:cxn>
                    <a:cxn ang="0">
                      <a:pos x="159" y="51"/>
                    </a:cxn>
                    <a:cxn ang="0">
                      <a:pos x="145" y="23"/>
                    </a:cxn>
                    <a:cxn ang="0">
                      <a:pos x="128" y="6"/>
                    </a:cxn>
                    <a:cxn ang="0">
                      <a:pos x="113" y="0"/>
                    </a:cxn>
                    <a:cxn ang="0">
                      <a:pos x="96" y="6"/>
                    </a:cxn>
                    <a:cxn ang="0">
                      <a:pos x="80" y="23"/>
                    </a:cxn>
                    <a:cxn ang="0">
                      <a:pos x="64" y="51"/>
                    </a:cxn>
                    <a:cxn ang="0">
                      <a:pos x="50" y="90"/>
                    </a:cxn>
                    <a:cxn ang="0">
                      <a:pos x="35" y="140"/>
                    </a:cxn>
                    <a:cxn ang="0">
                      <a:pos x="22" y="200"/>
                    </a:cxn>
                    <a:cxn ang="0">
                      <a:pos x="10" y="271"/>
                    </a:cxn>
                    <a:cxn ang="0">
                      <a:pos x="0" y="353"/>
                    </a:cxn>
                  </a:cxnLst>
                  <a:rect l="0" t="0" r="r" b="b"/>
                  <a:pathLst>
                    <a:path w="228" h="354">
                      <a:moveTo>
                        <a:pt x="227" y="353"/>
                      </a:moveTo>
                      <a:lnTo>
                        <a:pt x="215" y="271"/>
                      </a:lnTo>
                      <a:lnTo>
                        <a:pt x="203" y="200"/>
                      </a:lnTo>
                      <a:lnTo>
                        <a:pt x="189" y="140"/>
                      </a:lnTo>
                      <a:lnTo>
                        <a:pt x="176" y="90"/>
                      </a:lnTo>
                      <a:lnTo>
                        <a:pt x="159" y="51"/>
                      </a:lnTo>
                      <a:lnTo>
                        <a:pt x="145" y="23"/>
                      </a:lnTo>
                      <a:lnTo>
                        <a:pt x="128" y="6"/>
                      </a:lnTo>
                      <a:lnTo>
                        <a:pt x="113" y="0"/>
                      </a:lnTo>
                      <a:lnTo>
                        <a:pt x="96" y="6"/>
                      </a:lnTo>
                      <a:lnTo>
                        <a:pt x="80" y="23"/>
                      </a:lnTo>
                      <a:lnTo>
                        <a:pt x="64" y="51"/>
                      </a:lnTo>
                      <a:lnTo>
                        <a:pt x="50" y="90"/>
                      </a:lnTo>
                      <a:lnTo>
                        <a:pt x="35" y="140"/>
                      </a:lnTo>
                      <a:lnTo>
                        <a:pt x="22" y="200"/>
                      </a:lnTo>
                      <a:lnTo>
                        <a:pt x="10" y="271"/>
                      </a:lnTo>
                      <a:lnTo>
                        <a:pt x="0" y="353"/>
                      </a:lnTo>
                    </a:path>
                  </a:pathLst>
                </a:custGeom>
                <a:noFill/>
                <a:ln w="31750" cap="flat" cmpd="sng">
                  <a:solidFill>
                    <a:srgbClr val="E12000"/>
                  </a:solidFill>
                  <a:prstDash val="solid"/>
                  <a:round/>
                  <a:headEnd type="none" w="med" len="med"/>
                  <a:tailEnd type="none" w="med" len="med"/>
                </a:ln>
                <a:effectLst/>
              </p:spPr>
              <p:txBody>
                <a:bodyPr/>
                <a:lstStyle/>
                <a:p>
                  <a:endParaRPr lang="en-US"/>
                </a:p>
              </p:txBody>
            </p:sp>
            <p:sp>
              <p:nvSpPr>
                <p:cNvPr id="917597" name="Freeform 93"/>
                <p:cNvSpPr>
                  <a:spLocks/>
                </p:cNvSpPr>
                <p:nvPr/>
              </p:nvSpPr>
              <p:spPr bwMode="auto">
                <a:xfrm>
                  <a:off x="4455" y="2352"/>
                  <a:ext cx="229" cy="355"/>
                </a:xfrm>
                <a:custGeom>
                  <a:avLst/>
                  <a:gdLst/>
                  <a:ahLst/>
                  <a:cxnLst>
                    <a:cxn ang="0">
                      <a:pos x="228" y="0"/>
                    </a:cxn>
                    <a:cxn ang="0">
                      <a:pos x="216" y="85"/>
                    </a:cxn>
                    <a:cxn ang="0">
                      <a:pos x="204" y="156"/>
                    </a:cxn>
                    <a:cxn ang="0">
                      <a:pos x="190" y="218"/>
                    </a:cxn>
                    <a:cxn ang="0">
                      <a:pos x="176" y="266"/>
                    </a:cxn>
                    <a:cxn ang="0">
                      <a:pos x="160" y="306"/>
                    </a:cxn>
                    <a:cxn ang="0">
                      <a:pos x="145" y="333"/>
                    </a:cxn>
                    <a:cxn ang="0">
                      <a:pos x="128" y="350"/>
                    </a:cxn>
                    <a:cxn ang="0">
                      <a:pos x="113" y="354"/>
                    </a:cxn>
                    <a:cxn ang="0">
                      <a:pos x="96" y="350"/>
                    </a:cxn>
                    <a:cxn ang="0">
                      <a:pos x="80" y="333"/>
                    </a:cxn>
                    <a:cxn ang="0">
                      <a:pos x="65" y="306"/>
                    </a:cxn>
                    <a:cxn ang="0">
                      <a:pos x="50" y="266"/>
                    </a:cxn>
                    <a:cxn ang="0">
                      <a:pos x="35" y="218"/>
                    </a:cxn>
                    <a:cxn ang="0">
                      <a:pos x="22" y="156"/>
                    </a:cxn>
                    <a:cxn ang="0">
                      <a:pos x="10" y="85"/>
                    </a:cxn>
                    <a:cxn ang="0">
                      <a:pos x="0" y="0"/>
                    </a:cxn>
                  </a:cxnLst>
                  <a:rect l="0" t="0" r="r" b="b"/>
                  <a:pathLst>
                    <a:path w="229" h="355">
                      <a:moveTo>
                        <a:pt x="228" y="0"/>
                      </a:moveTo>
                      <a:lnTo>
                        <a:pt x="216" y="85"/>
                      </a:lnTo>
                      <a:lnTo>
                        <a:pt x="204" y="156"/>
                      </a:lnTo>
                      <a:lnTo>
                        <a:pt x="190" y="218"/>
                      </a:lnTo>
                      <a:lnTo>
                        <a:pt x="176" y="266"/>
                      </a:lnTo>
                      <a:lnTo>
                        <a:pt x="160" y="306"/>
                      </a:lnTo>
                      <a:lnTo>
                        <a:pt x="145" y="333"/>
                      </a:lnTo>
                      <a:lnTo>
                        <a:pt x="128" y="350"/>
                      </a:lnTo>
                      <a:lnTo>
                        <a:pt x="113" y="354"/>
                      </a:lnTo>
                      <a:lnTo>
                        <a:pt x="96" y="350"/>
                      </a:lnTo>
                      <a:lnTo>
                        <a:pt x="80" y="333"/>
                      </a:lnTo>
                      <a:lnTo>
                        <a:pt x="65" y="306"/>
                      </a:lnTo>
                      <a:lnTo>
                        <a:pt x="50" y="266"/>
                      </a:lnTo>
                      <a:lnTo>
                        <a:pt x="35" y="218"/>
                      </a:lnTo>
                      <a:lnTo>
                        <a:pt x="22" y="156"/>
                      </a:lnTo>
                      <a:lnTo>
                        <a:pt x="10" y="85"/>
                      </a:lnTo>
                      <a:lnTo>
                        <a:pt x="0" y="0"/>
                      </a:lnTo>
                    </a:path>
                  </a:pathLst>
                </a:custGeom>
                <a:noFill/>
                <a:ln w="31750" cap="flat" cmpd="sng">
                  <a:solidFill>
                    <a:srgbClr val="E12000"/>
                  </a:solidFill>
                  <a:prstDash val="solid"/>
                  <a:round/>
                  <a:headEnd type="triangle" w="med" len="med"/>
                  <a:tailEnd type="none" w="med" len="med"/>
                </a:ln>
                <a:effectLst/>
              </p:spPr>
              <p:txBody>
                <a:bodyPr/>
                <a:lstStyle/>
                <a:p>
                  <a:endParaRPr lang="en-US"/>
                </a:p>
              </p:txBody>
            </p:sp>
          </p:grpSp>
        </p:grpSp>
      </p:grpSp>
      <p:sp>
        <p:nvSpPr>
          <p:cNvPr id="917598" name="Text Box 94"/>
          <p:cNvSpPr txBox="1">
            <a:spLocks noChangeArrowheads="1"/>
          </p:cNvSpPr>
          <p:nvPr/>
        </p:nvSpPr>
        <p:spPr bwMode="auto">
          <a:xfrm>
            <a:off x="7092950" y="5334000"/>
            <a:ext cx="688975" cy="3079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800">
                <a:solidFill>
                  <a:srgbClr val="000000"/>
                </a:solidFill>
                <a:latin typeface="Arial" pitchFamily="34" charset="0"/>
              </a:rPr>
              <a:t>Time</a:t>
            </a:r>
            <a:endParaRPr lang="en-US" sz="1800"/>
          </a:p>
        </p:txBody>
      </p:sp>
      <p:grpSp>
        <p:nvGrpSpPr>
          <p:cNvPr id="917599" name="Group 95"/>
          <p:cNvGrpSpPr>
            <a:grpSpLocks/>
          </p:cNvGrpSpPr>
          <p:nvPr/>
        </p:nvGrpSpPr>
        <p:grpSpPr bwMode="auto">
          <a:xfrm>
            <a:off x="4724400" y="4953000"/>
            <a:ext cx="2362200" cy="1066800"/>
            <a:chOff x="2563" y="3241"/>
            <a:chExt cx="1805" cy="348"/>
          </a:xfrm>
        </p:grpSpPr>
        <p:sp>
          <p:nvSpPr>
            <p:cNvPr id="917600" name="Line 96"/>
            <p:cNvSpPr>
              <a:spLocks noChangeShapeType="1"/>
            </p:cNvSpPr>
            <p:nvPr/>
          </p:nvSpPr>
          <p:spPr bwMode="auto">
            <a:xfrm flipV="1">
              <a:off x="2563" y="3408"/>
              <a:ext cx="1805" cy="8"/>
            </a:xfrm>
            <a:prstGeom prst="line">
              <a:avLst/>
            </a:prstGeom>
            <a:noFill/>
            <a:ln w="19050">
              <a:solidFill>
                <a:srgbClr val="008280"/>
              </a:solidFill>
              <a:round/>
              <a:headEnd/>
              <a:tailEnd type="triangle" w="med" len="med"/>
            </a:ln>
            <a:effectLst/>
          </p:spPr>
          <p:txBody>
            <a:bodyPr wrap="none" anchor="ctr"/>
            <a:lstStyle/>
            <a:p>
              <a:endParaRPr lang="en-US"/>
            </a:p>
          </p:txBody>
        </p:sp>
        <p:sp>
          <p:nvSpPr>
            <p:cNvPr id="917601" name="Line 97"/>
            <p:cNvSpPr>
              <a:spLocks noChangeShapeType="1"/>
            </p:cNvSpPr>
            <p:nvPr/>
          </p:nvSpPr>
          <p:spPr bwMode="auto">
            <a:xfrm>
              <a:off x="2563" y="3241"/>
              <a:ext cx="1" cy="348"/>
            </a:xfrm>
            <a:prstGeom prst="line">
              <a:avLst/>
            </a:prstGeom>
            <a:noFill/>
            <a:ln w="19050">
              <a:solidFill>
                <a:srgbClr val="008280"/>
              </a:solidFill>
              <a:round/>
              <a:headEnd/>
              <a:tailEnd/>
            </a:ln>
            <a:effectLst/>
          </p:spPr>
          <p:txBody>
            <a:bodyPr wrap="none" anchor="ctr"/>
            <a:lstStyle/>
            <a:p>
              <a:endParaRPr lang="en-US"/>
            </a:p>
          </p:txBody>
        </p:sp>
        <p:grpSp>
          <p:nvGrpSpPr>
            <p:cNvPr id="917602" name="Group 98"/>
            <p:cNvGrpSpPr>
              <a:grpSpLocks/>
            </p:cNvGrpSpPr>
            <p:nvPr/>
          </p:nvGrpSpPr>
          <p:grpSpPr bwMode="auto">
            <a:xfrm>
              <a:off x="2592" y="3265"/>
              <a:ext cx="1620" cy="308"/>
              <a:chOff x="2813" y="3700"/>
              <a:chExt cx="1782" cy="349"/>
            </a:xfrm>
          </p:grpSpPr>
          <p:grpSp>
            <p:nvGrpSpPr>
              <p:cNvPr id="917603" name="Group 99"/>
              <p:cNvGrpSpPr>
                <a:grpSpLocks/>
              </p:cNvGrpSpPr>
              <p:nvPr/>
            </p:nvGrpSpPr>
            <p:grpSpPr bwMode="auto">
              <a:xfrm>
                <a:off x="2813" y="3700"/>
                <a:ext cx="888" cy="346"/>
                <a:chOff x="2813" y="3700"/>
                <a:chExt cx="888" cy="346"/>
              </a:xfrm>
            </p:grpSpPr>
            <p:sp>
              <p:nvSpPr>
                <p:cNvPr id="917604" name="Freeform 100"/>
                <p:cNvSpPr>
                  <a:spLocks/>
                </p:cNvSpPr>
                <p:nvPr/>
              </p:nvSpPr>
              <p:spPr bwMode="auto">
                <a:xfrm>
                  <a:off x="2813" y="3700"/>
                  <a:ext cx="78" cy="170"/>
                </a:xfrm>
                <a:custGeom>
                  <a:avLst/>
                  <a:gdLst/>
                  <a:ahLst/>
                  <a:cxnLst>
                    <a:cxn ang="0">
                      <a:pos x="77" y="169"/>
                    </a:cxn>
                    <a:cxn ang="0">
                      <a:pos x="71" y="131"/>
                    </a:cxn>
                    <a:cxn ang="0">
                      <a:pos x="68" y="96"/>
                    </a:cxn>
                    <a:cxn ang="0">
                      <a:pos x="62" y="67"/>
                    </a:cxn>
                    <a:cxn ang="0">
                      <a:pos x="59" y="43"/>
                    </a:cxn>
                    <a:cxn ang="0">
                      <a:pos x="53" y="25"/>
                    </a:cxn>
                    <a:cxn ang="0">
                      <a:pos x="48" y="12"/>
                    </a:cxn>
                    <a:cxn ang="0">
                      <a:pos x="42" y="3"/>
                    </a:cxn>
                    <a:cxn ang="0">
                      <a:pos x="38" y="0"/>
                    </a:cxn>
                    <a:cxn ang="0">
                      <a:pos x="32" y="3"/>
                    </a:cxn>
                    <a:cxn ang="0">
                      <a:pos x="27" y="12"/>
                    </a:cxn>
                    <a:cxn ang="0">
                      <a:pos x="21" y="25"/>
                    </a:cxn>
                    <a:cxn ang="0">
                      <a:pos x="16" y="43"/>
                    </a:cxn>
                    <a:cxn ang="0">
                      <a:pos x="11" y="67"/>
                    </a:cxn>
                    <a:cxn ang="0">
                      <a:pos x="7" y="96"/>
                    </a:cxn>
                    <a:cxn ang="0">
                      <a:pos x="3" y="131"/>
                    </a:cxn>
                    <a:cxn ang="0">
                      <a:pos x="0" y="169"/>
                    </a:cxn>
                  </a:cxnLst>
                  <a:rect l="0" t="0" r="r" b="b"/>
                  <a:pathLst>
                    <a:path w="78" h="170">
                      <a:moveTo>
                        <a:pt x="77" y="169"/>
                      </a:moveTo>
                      <a:lnTo>
                        <a:pt x="71" y="131"/>
                      </a:lnTo>
                      <a:lnTo>
                        <a:pt x="68" y="96"/>
                      </a:lnTo>
                      <a:lnTo>
                        <a:pt x="62" y="67"/>
                      </a:lnTo>
                      <a:lnTo>
                        <a:pt x="59" y="43"/>
                      </a:lnTo>
                      <a:lnTo>
                        <a:pt x="53" y="25"/>
                      </a:lnTo>
                      <a:lnTo>
                        <a:pt x="48" y="12"/>
                      </a:lnTo>
                      <a:lnTo>
                        <a:pt x="42" y="3"/>
                      </a:lnTo>
                      <a:lnTo>
                        <a:pt x="38" y="0"/>
                      </a:lnTo>
                      <a:lnTo>
                        <a:pt x="32" y="3"/>
                      </a:lnTo>
                      <a:lnTo>
                        <a:pt x="27" y="12"/>
                      </a:lnTo>
                      <a:lnTo>
                        <a:pt x="21" y="25"/>
                      </a:lnTo>
                      <a:lnTo>
                        <a:pt x="16" y="43"/>
                      </a:lnTo>
                      <a:lnTo>
                        <a:pt x="11" y="67"/>
                      </a:lnTo>
                      <a:lnTo>
                        <a:pt x="7" y="96"/>
                      </a:lnTo>
                      <a:lnTo>
                        <a:pt x="3" y="131"/>
                      </a:lnTo>
                      <a:lnTo>
                        <a:pt x="0" y="169"/>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05" name="Freeform 101"/>
                <p:cNvSpPr>
                  <a:spLocks/>
                </p:cNvSpPr>
                <p:nvPr/>
              </p:nvSpPr>
              <p:spPr bwMode="auto">
                <a:xfrm>
                  <a:off x="2890" y="3872"/>
                  <a:ext cx="76" cy="171"/>
                </a:xfrm>
                <a:custGeom>
                  <a:avLst/>
                  <a:gdLst/>
                  <a:ahLst/>
                  <a:cxnLst>
                    <a:cxn ang="0">
                      <a:pos x="75" y="0"/>
                    </a:cxn>
                    <a:cxn ang="0">
                      <a:pos x="71" y="41"/>
                    </a:cxn>
                    <a:cxn ang="0">
                      <a:pos x="67" y="75"/>
                    </a:cxn>
                    <a:cxn ang="0">
                      <a:pos x="61" y="105"/>
                    </a:cxn>
                    <a:cxn ang="0">
                      <a:pos x="58" y="128"/>
                    </a:cxn>
                    <a:cxn ang="0">
                      <a:pos x="52" y="148"/>
                    </a:cxn>
                    <a:cxn ang="0">
                      <a:pos x="47" y="160"/>
                    </a:cxn>
                    <a:cxn ang="0">
                      <a:pos x="41" y="168"/>
                    </a:cxn>
                    <a:cxn ang="0">
                      <a:pos x="37" y="170"/>
                    </a:cxn>
                    <a:cxn ang="0">
                      <a:pos x="31" y="168"/>
                    </a:cxn>
                    <a:cxn ang="0">
                      <a:pos x="26" y="160"/>
                    </a:cxn>
                    <a:cxn ang="0">
                      <a:pos x="20" y="148"/>
                    </a:cxn>
                    <a:cxn ang="0">
                      <a:pos x="16" y="128"/>
                    </a:cxn>
                    <a:cxn ang="0">
                      <a:pos x="10" y="105"/>
                    </a:cxn>
                    <a:cxn ang="0">
                      <a:pos x="6" y="75"/>
                    </a:cxn>
                    <a:cxn ang="0">
                      <a:pos x="3" y="41"/>
                    </a:cxn>
                    <a:cxn ang="0">
                      <a:pos x="0" y="0"/>
                    </a:cxn>
                  </a:cxnLst>
                  <a:rect l="0" t="0" r="r" b="b"/>
                  <a:pathLst>
                    <a:path w="76" h="171">
                      <a:moveTo>
                        <a:pt x="75" y="0"/>
                      </a:moveTo>
                      <a:lnTo>
                        <a:pt x="71" y="41"/>
                      </a:lnTo>
                      <a:lnTo>
                        <a:pt x="67" y="75"/>
                      </a:lnTo>
                      <a:lnTo>
                        <a:pt x="61" y="105"/>
                      </a:lnTo>
                      <a:lnTo>
                        <a:pt x="58" y="128"/>
                      </a:lnTo>
                      <a:lnTo>
                        <a:pt x="52" y="148"/>
                      </a:lnTo>
                      <a:lnTo>
                        <a:pt x="47" y="160"/>
                      </a:lnTo>
                      <a:lnTo>
                        <a:pt x="41" y="168"/>
                      </a:lnTo>
                      <a:lnTo>
                        <a:pt x="37" y="170"/>
                      </a:lnTo>
                      <a:lnTo>
                        <a:pt x="31" y="168"/>
                      </a:lnTo>
                      <a:lnTo>
                        <a:pt x="26" y="160"/>
                      </a:lnTo>
                      <a:lnTo>
                        <a:pt x="20" y="148"/>
                      </a:lnTo>
                      <a:lnTo>
                        <a:pt x="16" y="128"/>
                      </a:lnTo>
                      <a:lnTo>
                        <a:pt x="10" y="105"/>
                      </a:lnTo>
                      <a:lnTo>
                        <a:pt x="6" y="75"/>
                      </a:lnTo>
                      <a:lnTo>
                        <a:pt x="3" y="41"/>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06" name="Freeform 102"/>
                <p:cNvSpPr>
                  <a:spLocks/>
                </p:cNvSpPr>
                <p:nvPr/>
              </p:nvSpPr>
              <p:spPr bwMode="auto">
                <a:xfrm>
                  <a:off x="2975" y="3701"/>
                  <a:ext cx="78" cy="170"/>
                </a:xfrm>
                <a:custGeom>
                  <a:avLst/>
                  <a:gdLst/>
                  <a:ahLst/>
                  <a:cxnLst>
                    <a:cxn ang="0">
                      <a:pos x="77" y="169"/>
                    </a:cxn>
                    <a:cxn ang="0">
                      <a:pos x="72" y="131"/>
                    </a:cxn>
                    <a:cxn ang="0">
                      <a:pos x="68" y="96"/>
                    </a:cxn>
                    <a:cxn ang="0">
                      <a:pos x="63" y="67"/>
                    </a:cxn>
                    <a:cxn ang="0">
                      <a:pos x="59" y="43"/>
                    </a:cxn>
                    <a:cxn ang="0">
                      <a:pos x="53" y="25"/>
                    </a:cxn>
                    <a:cxn ang="0">
                      <a:pos x="48" y="11"/>
                    </a:cxn>
                    <a:cxn ang="0">
                      <a:pos x="43" y="3"/>
                    </a:cxn>
                    <a:cxn ang="0">
                      <a:pos x="38" y="0"/>
                    </a:cxn>
                    <a:cxn ang="0">
                      <a:pos x="33" y="3"/>
                    </a:cxn>
                    <a:cxn ang="0">
                      <a:pos x="27" y="11"/>
                    </a:cxn>
                    <a:cxn ang="0">
                      <a:pos x="21" y="25"/>
                    </a:cxn>
                    <a:cxn ang="0">
                      <a:pos x="16" y="43"/>
                    </a:cxn>
                    <a:cxn ang="0">
                      <a:pos x="11" y="67"/>
                    </a:cxn>
                    <a:cxn ang="0">
                      <a:pos x="7" y="96"/>
                    </a:cxn>
                    <a:cxn ang="0">
                      <a:pos x="3" y="131"/>
                    </a:cxn>
                    <a:cxn ang="0">
                      <a:pos x="0" y="169"/>
                    </a:cxn>
                  </a:cxnLst>
                  <a:rect l="0" t="0" r="r" b="b"/>
                  <a:pathLst>
                    <a:path w="78" h="170">
                      <a:moveTo>
                        <a:pt x="77" y="169"/>
                      </a:moveTo>
                      <a:lnTo>
                        <a:pt x="72" y="131"/>
                      </a:lnTo>
                      <a:lnTo>
                        <a:pt x="68" y="96"/>
                      </a:lnTo>
                      <a:lnTo>
                        <a:pt x="63" y="67"/>
                      </a:lnTo>
                      <a:lnTo>
                        <a:pt x="59" y="43"/>
                      </a:lnTo>
                      <a:lnTo>
                        <a:pt x="53" y="25"/>
                      </a:lnTo>
                      <a:lnTo>
                        <a:pt x="48" y="11"/>
                      </a:lnTo>
                      <a:lnTo>
                        <a:pt x="43" y="3"/>
                      </a:lnTo>
                      <a:lnTo>
                        <a:pt x="38" y="0"/>
                      </a:lnTo>
                      <a:lnTo>
                        <a:pt x="33" y="3"/>
                      </a:lnTo>
                      <a:lnTo>
                        <a:pt x="27" y="11"/>
                      </a:lnTo>
                      <a:lnTo>
                        <a:pt x="21" y="25"/>
                      </a:lnTo>
                      <a:lnTo>
                        <a:pt x="16" y="43"/>
                      </a:lnTo>
                      <a:lnTo>
                        <a:pt x="11" y="67"/>
                      </a:lnTo>
                      <a:lnTo>
                        <a:pt x="7" y="96"/>
                      </a:lnTo>
                      <a:lnTo>
                        <a:pt x="3" y="131"/>
                      </a:lnTo>
                      <a:lnTo>
                        <a:pt x="0" y="169"/>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07" name="Freeform 103"/>
                <p:cNvSpPr>
                  <a:spLocks/>
                </p:cNvSpPr>
                <p:nvPr/>
              </p:nvSpPr>
              <p:spPr bwMode="auto">
                <a:xfrm>
                  <a:off x="3052" y="3873"/>
                  <a:ext cx="76" cy="171"/>
                </a:xfrm>
                <a:custGeom>
                  <a:avLst/>
                  <a:gdLst/>
                  <a:ahLst/>
                  <a:cxnLst>
                    <a:cxn ang="0">
                      <a:pos x="75" y="0"/>
                    </a:cxn>
                    <a:cxn ang="0">
                      <a:pos x="71" y="41"/>
                    </a:cxn>
                    <a:cxn ang="0">
                      <a:pos x="67" y="75"/>
                    </a:cxn>
                    <a:cxn ang="0">
                      <a:pos x="62" y="104"/>
                    </a:cxn>
                    <a:cxn ang="0">
                      <a:pos x="58" y="128"/>
                    </a:cxn>
                    <a:cxn ang="0">
                      <a:pos x="52" y="147"/>
                    </a:cxn>
                    <a:cxn ang="0">
                      <a:pos x="47" y="160"/>
                    </a:cxn>
                    <a:cxn ang="0">
                      <a:pos x="42" y="168"/>
                    </a:cxn>
                    <a:cxn ang="0">
                      <a:pos x="37" y="170"/>
                    </a:cxn>
                    <a:cxn ang="0">
                      <a:pos x="32" y="168"/>
                    </a:cxn>
                    <a:cxn ang="0">
                      <a:pos x="26" y="160"/>
                    </a:cxn>
                    <a:cxn ang="0">
                      <a:pos x="20" y="147"/>
                    </a:cxn>
                    <a:cxn ang="0">
                      <a:pos x="16" y="128"/>
                    </a:cxn>
                    <a:cxn ang="0">
                      <a:pos x="10" y="104"/>
                    </a:cxn>
                    <a:cxn ang="0">
                      <a:pos x="7" y="75"/>
                    </a:cxn>
                    <a:cxn ang="0">
                      <a:pos x="3" y="41"/>
                    </a:cxn>
                    <a:cxn ang="0">
                      <a:pos x="0" y="0"/>
                    </a:cxn>
                  </a:cxnLst>
                  <a:rect l="0" t="0" r="r" b="b"/>
                  <a:pathLst>
                    <a:path w="76" h="171">
                      <a:moveTo>
                        <a:pt x="75" y="0"/>
                      </a:moveTo>
                      <a:lnTo>
                        <a:pt x="71" y="41"/>
                      </a:lnTo>
                      <a:lnTo>
                        <a:pt x="67" y="75"/>
                      </a:lnTo>
                      <a:lnTo>
                        <a:pt x="62" y="104"/>
                      </a:lnTo>
                      <a:lnTo>
                        <a:pt x="58" y="128"/>
                      </a:lnTo>
                      <a:lnTo>
                        <a:pt x="52" y="147"/>
                      </a:lnTo>
                      <a:lnTo>
                        <a:pt x="47" y="160"/>
                      </a:lnTo>
                      <a:lnTo>
                        <a:pt x="42" y="168"/>
                      </a:lnTo>
                      <a:lnTo>
                        <a:pt x="37" y="170"/>
                      </a:lnTo>
                      <a:lnTo>
                        <a:pt x="32" y="168"/>
                      </a:lnTo>
                      <a:lnTo>
                        <a:pt x="26" y="160"/>
                      </a:lnTo>
                      <a:lnTo>
                        <a:pt x="20" y="147"/>
                      </a:lnTo>
                      <a:lnTo>
                        <a:pt x="16" y="128"/>
                      </a:lnTo>
                      <a:lnTo>
                        <a:pt x="10" y="104"/>
                      </a:lnTo>
                      <a:lnTo>
                        <a:pt x="7" y="75"/>
                      </a:lnTo>
                      <a:lnTo>
                        <a:pt x="3" y="41"/>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08" name="Freeform 104"/>
                <p:cNvSpPr>
                  <a:spLocks/>
                </p:cNvSpPr>
                <p:nvPr/>
              </p:nvSpPr>
              <p:spPr bwMode="auto">
                <a:xfrm>
                  <a:off x="3127" y="3703"/>
                  <a:ext cx="77" cy="170"/>
                </a:xfrm>
                <a:custGeom>
                  <a:avLst/>
                  <a:gdLst/>
                  <a:ahLst/>
                  <a:cxnLst>
                    <a:cxn ang="0">
                      <a:pos x="76" y="169"/>
                    </a:cxn>
                    <a:cxn ang="0">
                      <a:pos x="71" y="131"/>
                    </a:cxn>
                    <a:cxn ang="0">
                      <a:pos x="67" y="96"/>
                    </a:cxn>
                    <a:cxn ang="0">
                      <a:pos x="61" y="67"/>
                    </a:cxn>
                    <a:cxn ang="0">
                      <a:pos x="58" y="43"/>
                    </a:cxn>
                    <a:cxn ang="0">
                      <a:pos x="52" y="25"/>
                    </a:cxn>
                    <a:cxn ang="0">
                      <a:pos x="47" y="11"/>
                    </a:cxn>
                    <a:cxn ang="0">
                      <a:pos x="41" y="3"/>
                    </a:cxn>
                    <a:cxn ang="0">
                      <a:pos x="37" y="0"/>
                    </a:cxn>
                    <a:cxn ang="0">
                      <a:pos x="31" y="3"/>
                    </a:cxn>
                    <a:cxn ang="0">
                      <a:pos x="26" y="11"/>
                    </a:cxn>
                    <a:cxn ang="0">
                      <a:pos x="20" y="25"/>
                    </a:cxn>
                    <a:cxn ang="0">
                      <a:pos x="16" y="43"/>
                    </a:cxn>
                    <a:cxn ang="0">
                      <a:pos x="10" y="67"/>
                    </a:cxn>
                    <a:cxn ang="0">
                      <a:pos x="7" y="96"/>
                    </a:cxn>
                    <a:cxn ang="0">
                      <a:pos x="3" y="131"/>
                    </a:cxn>
                    <a:cxn ang="0">
                      <a:pos x="0" y="169"/>
                    </a:cxn>
                  </a:cxnLst>
                  <a:rect l="0" t="0" r="r" b="b"/>
                  <a:pathLst>
                    <a:path w="77" h="170">
                      <a:moveTo>
                        <a:pt x="76" y="169"/>
                      </a:moveTo>
                      <a:lnTo>
                        <a:pt x="71" y="131"/>
                      </a:lnTo>
                      <a:lnTo>
                        <a:pt x="67" y="96"/>
                      </a:lnTo>
                      <a:lnTo>
                        <a:pt x="61" y="67"/>
                      </a:lnTo>
                      <a:lnTo>
                        <a:pt x="58" y="43"/>
                      </a:lnTo>
                      <a:lnTo>
                        <a:pt x="52" y="25"/>
                      </a:lnTo>
                      <a:lnTo>
                        <a:pt x="47" y="11"/>
                      </a:lnTo>
                      <a:lnTo>
                        <a:pt x="41" y="3"/>
                      </a:lnTo>
                      <a:lnTo>
                        <a:pt x="37" y="0"/>
                      </a:lnTo>
                      <a:lnTo>
                        <a:pt x="31" y="3"/>
                      </a:lnTo>
                      <a:lnTo>
                        <a:pt x="26" y="11"/>
                      </a:lnTo>
                      <a:lnTo>
                        <a:pt x="20" y="25"/>
                      </a:lnTo>
                      <a:lnTo>
                        <a:pt x="16" y="43"/>
                      </a:lnTo>
                      <a:lnTo>
                        <a:pt x="10" y="67"/>
                      </a:lnTo>
                      <a:lnTo>
                        <a:pt x="7" y="96"/>
                      </a:lnTo>
                      <a:lnTo>
                        <a:pt x="3" y="131"/>
                      </a:lnTo>
                      <a:lnTo>
                        <a:pt x="0" y="169"/>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09" name="Freeform 105"/>
                <p:cNvSpPr>
                  <a:spLocks/>
                </p:cNvSpPr>
                <p:nvPr/>
              </p:nvSpPr>
              <p:spPr bwMode="auto">
                <a:xfrm>
                  <a:off x="3203" y="3876"/>
                  <a:ext cx="76" cy="170"/>
                </a:xfrm>
                <a:custGeom>
                  <a:avLst/>
                  <a:gdLst/>
                  <a:ahLst/>
                  <a:cxnLst>
                    <a:cxn ang="0">
                      <a:pos x="75" y="0"/>
                    </a:cxn>
                    <a:cxn ang="0">
                      <a:pos x="71" y="40"/>
                    </a:cxn>
                    <a:cxn ang="0">
                      <a:pos x="67" y="74"/>
                    </a:cxn>
                    <a:cxn ang="0">
                      <a:pos x="61" y="104"/>
                    </a:cxn>
                    <a:cxn ang="0">
                      <a:pos x="58" y="127"/>
                    </a:cxn>
                    <a:cxn ang="0">
                      <a:pos x="52" y="146"/>
                    </a:cxn>
                    <a:cxn ang="0">
                      <a:pos x="47" y="159"/>
                    </a:cxn>
                    <a:cxn ang="0">
                      <a:pos x="42" y="167"/>
                    </a:cxn>
                    <a:cxn ang="0">
                      <a:pos x="37" y="169"/>
                    </a:cxn>
                    <a:cxn ang="0">
                      <a:pos x="32" y="167"/>
                    </a:cxn>
                    <a:cxn ang="0">
                      <a:pos x="26" y="159"/>
                    </a:cxn>
                    <a:cxn ang="0">
                      <a:pos x="20" y="146"/>
                    </a:cxn>
                    <a:cxn ang="0">
                      <a:pos x="16" y="127"/>
                    </a:cxn>
                    <a:cxn ang="0">
                      <a:pos x="11" y="104"/>
                    </a:cxn>
                    <a:cxn ang="0">
                      <a:pos x="7" y="74"/>
                    </a:cxn>
                    <a:cxn ang="0">
                      <a:pos x="3" y="40"/>
                    </a:cxn>
                    <a:cxn ang="0">
                      <a:pos x="0" y="0"/>
                    </a:cxn>
                  </a:cxnLst>
                  <a:rect l="0" t="0" r="r" b="b"/>
                  <a:pathLst>
                    <a:path w="76" h="170">
                      <a:moveTo>
                        <a:pt x="75" y="0"/>
                      </a:moveTo>
                      <a:lnTo>
                        <a:pt x="71" y="40"/>
                      </a:lnTo>
                      <a:lnTo>
                        <a:pt x="67" y="74"/>
                      </a:lnTo>
                      <a:lnTo>
                        <a:pt x="61" y="104"/>
                      </a:lnTo>
                      <a:lnTo>
                        <a:pt x="58" y="127"/>
                      </a:lnTo>
                      <a:lnTo>
                        <a:pt x="52" y="146"/>
                      </a:lnTo>
                      <a:lnTo>
                        <a:pt x="47" y="159"/>
                      </a:lnTo>
                      <a:lnTo>
                        <a:pt x="42" y="167"/>
                      </a:lnTo>
                      <a:lnTo>
                        <a:pt x="37" y="169"/>
                      </a:lnTo>
                      <a:lnTo>
                        <a:pt x="32" y="167"/>
                      </a:lnTo>
                      <a:lnTo>
                        <a:pt x="26" y="159"/>
                      </a:lnTo>
                      <a:lnTo>
                        <a:pt x="20" y="146"/>
                      </a:lnTo>
                      <a:lnTo>
                        <a:pt x="16" y="127"/>
                      </a:lnTo>
                      <a:lnTo>
                        <a:pt x="11" y="104"/>
                      </a:lnTo>
                      <a:lnTo>
                        <a:pt x="7" y="74"/>
                      </a:lnTo>
                      <a:lnTo>
                        <a:pt x="3" y="40"/>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10" name="Freeform 106"/>
                <p:cNvSpPr>
                  <a:spLocks/>
                </p:cNvSpPr>
                <p:nvPr/>
              </p:nvSpPr>
              <p:spPr bwMode="auto">
                <a:xfrm>
                  <a:off x="3264" y="3703"/>
                  <a:ext cx="78" cy="170"/>
                </a:xfrm>
                <a:custGeom>
                  <a:avLst/>
                  <a:gdLst/>
                  <a:ahLst/>
                  <a:cxnLst>
                    <a:cxn ang="0">
                      <a:pos x="77" y="169"/>
                    </a:cxn>
                    <a:cxn ang="0">
                      <a:pos x="72" y="131"/>
                    </a:cxn>
                    <a:cxn ang="0">
                      <a:pos x="68" y="96"/>
                    </a:cxn>
                    <a:cxn ang="0">
                      <a:pos x="62" y="67"/>
                    </a:cxn>
                    <a:cxn ang="0">
                      <a:pos x="59" y="43"/>
                    </a:cxn>
                    <a:cxn ang="0">
                      <a:pos x="53" y="25"/>
                    </a:cxn>
                    <a:cxn ang="0">
                      <a:pos x="48" y="11"/>
                    </a:cxn>
                    <a:cxn ang="0">
                      <a:pos x="42" y="3"/>
                    </a:cxn>
                    <a:cxn ang="0">
                      <a:pos x="37" y="0"/>
                    </a:cxn>
                    <a:cxn ang="0">
                      <a:pos x="32" y="3"/>
                    </a:cxn>
                    <a:cxn ang="0">
                      <a:pos x="26" y="11"/>
                    </a:cxn>
                    <a:cxn ang="0">
                      <a:pos x="20" y="25"/>
                    </a:cxn>
                    <a:cxn ang="0">
                      <a:pos x="16" y="43"/>
                    </a:cxn>
                    <a:cxn ang="0">
                      <a:pos x="10" y="67"/>
                    </a:cxn>
                    <a:cxn ang="0">
                      <a:pos x="7" y="96"/>
                    </a:cxn>
                    <a:cxn ang="0">
                      <a:pos x="3" y="131"/>
                    </a:cxn>
                    <a:cxn ang="0">
                      <a:pos x="0" y="169"/>
                    </a:cxn>
                  </a:cxnLst>
                  <a:rect l="0" t="0" r="r" b="b"/>
                  <a:pathLst>
                    <a:path w="78" h="170">
                      <a:moveTo>
                        <a:pt x="77" y="169"/>
                      </a:moveTo>
                      <a:lnTo>
                        <a:pt x="72" y="131"/>
                      </a:lnTo>
                      <a:lnTo>
                        <a:pt x="68" y="96"/>
                      </a:lnTo>
                      <a:lnTo>
                        <a:pt x="62" y="67"/>
                      </a:lnTo>
                      <a:lnTo>
                        <a:pt x="59" y="43"/>
                      </a:lnTo>
                      <a:lnTo>
                        <a:pt x="53" y="25"/>
                      </a:lnTo>
                      <a:lnTo>
                        <a:pt x="48" y="11"/>
                      </a:lnTo>
                      <a:lnTo>
                        <a:pt x="42" y="3"/>
                      </a:lnTo>
                      <a:lnTo>
                        <a:pt x="37" y="0"/>
                      </a:lnTo>
                      <a:lnTo>
                        <a:pt x="32" y="3"/>
                      </a:lnTo>
                      <a:lnTo>
                        <a:pt x="26" y="11"/>
                      </a:lnTo>
                      <a:lnTo>
                        <a:pt x="20" y="25"/>
                      </a:lnTo>
                      <a:lnTo>
                        <a:pt x="16" y="43"/>
                      </a:lnTo>
                      <a:lnTo>
                        <a:pt x="10" y="67"/>
                      </a:lnTo>
                      <a:lnTo>
                        <a:pt x="7" y="96"/>
                      </a:lnTo>
                      <a:lnTo>
                        <a:pt x="3" y="131"/>
                      </a:lnTo>
                      <a:lnTo>
                        <a:pt x="0" y="169"/>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11" name="Freeform 107"/>
                <p:cNvSpPr>
                  <a:spLocks/>
                </p:cNvSpPr>
                <p:nvPr/>
              </p:nvSpPr>
              <p:spPr bwMode="auto">
                <a:xfrm>
                  <a:off x="3341" y="3875"/>
                  <a:ext cx="76" cy="171"/>
                </a:xfrm>
                <a:custGeom>
                  <a:avLst/>
                  <a:gdLst/>
                  <a:ahLst/>
                  <a:cxnLst>
                    <a:cxn ang="0">
                      <a:pos x="75" y="0"/>
                    </a:cxn>
                    <a:cxn ang="0">
                      <a:pos x="71" y="41"/>
                    </a:cxn>
                    <a:cxn ang="0">
                      <a:pos x="67" y="75"/>
                    </a:cxn>
                    <a:cxn ang="0">
                      <a:pos x="61" y="104"/>
                    </a:cxn>
                    <a:cxn ang="0">
                      <a:pos x="58" y="128"/>
                    </a:cxn>
                    <a:cxn ang="0">
                      <a:pos x="52" y="147"/>
                    </a:cxn>
                    <a:cxn ang="0">
                      <a:pos x="47" y="160"/>
                    </a:cxn>
                    <a:cxn ang="0">
                      <a:pos x="41" y="168"/>
                    </a:cxn>
                    <a:cxn ang="0">
                      <a:pos x="37" y="170"/>
                    </a:cxn>
                    <a:cxn ang="0">
                      <a:pos x="31" y="168"/>
                    </a:cxn>
                    <a:cxn ang="0">
                      <a:pos x="26" y="160"/>
                    </a:cxn>
                    <a:cxn ang="0">
                      <a:pos x="20" y="147"/>
                    </a:cxn>
                    <a:cxn ang="0">
                      <a:pos x="16" y="128"/>
                    </a:cxn>
                    <a:cxn ang="0">
                      <a:pos x="10" y="104"/>
                    </a:cxn>
                    <a:cxn ang="0">
                      <a:pos x="7" y="75"/>
                    </a:cxn>
                    <a:cxn ang="0">
                      <a:pos x="3" y="41"/>
                    </a:cxn>
                    <a:cxn ang="0">
                      <a:pos x="0" y="0"/>
                    </a:cxn>
                  </a:cxnLst>
                  <a:rect l="0" t="0" r="r" b="b"/>
                  <a:pathLst>
                    <a:path w="76" h="171">
                      <a:moveTo>
                        <a:pt x="75" y="0"/>
                      </a:moveTo>
                      <a:lnTo>
                        <a:pt x="71" y="41"/>
                      </a:lnTo>
                      <a:lnTo>
                        <a:pt x="67" y="75"/>
                      </a:lnTo>
                      <a:lnTo>
                        <a:pt x="61" y="104"/>
                      </a:lnTo>
                      <a:lnTo>
                        <a:pt x="58" y="128"/>
                      </a:lnTo>
                      <a:lnTo>
                        <a:pt x="52" y="147"/>
                      </a:lnTo>
                      <a:lnTo>
                        <a:pt x="47" y="160"/>
                      </a:lnTo>
                      <a:lnTo>
                        <a:pt x="41" y="168"/>
                      </a:lnTo>
                      <a:lnTo>
                        <a:pt x="37" y="170"/>
                      </a:lnTo>
                      <a:lnTo>
                        <a:pt x="31" y="168"/>
                      </a:lnTo>
                      <a:lnTo>
                        <a:pt x="26" y="160"/>
                      </a:lnTo>
                      <a:lnTo>
                        <a:pt x="20" y="147"/>
                      </a:lnTo>
                      <a:lnTo>
                        <a:pt x="16" y="128"/>
                      </a:lnTo>
                      <a:lnTo>
                        <a:pt x="10" y="104"/>
                      </a:lnTo>
                      <a:lnTo>
                        <a:pt x="7" y="75"/>
                      </a:lnTo>
                      <a:lnTo>
                        <a:pt x="3" y="41"/>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12" name="Freeform 108"/>
                <p:cNvSpPr>
                  <a:spLocks/>
                </p:cNvSpPr>
                <p:nvPr/>
              </p:nvSpPr>
              <p:spPr bwMode="auto">
                <a:xfrm>
                  <a:off x="3402" y="3701"/>
                  <a:ext cx="77" cy="170"/>
                </a:xfrm>
                <a:custGeom>
                  <a:avLst/>
                  <a:gdLst/>
                  <a:ahLst/>
                  <a:cxnLst>
                    <a:cxn ang="0">
                      <a:pos x="76" y="169"/>
                    </a:cxn>
                    <a:cxn ang="0">
                      <a:pos x="71" y="130"/>
                    </a:cxn>
                    <a:cxn ang="0">
                      <a:pos x="67" y="95"/>
                    </a:cxn>
                    <a:cxn ang="0">
                      <a:pos x="62" y="67"/>
                    </a:cxn>
                    <a:cxn ang="0">
                      <a:pos x="58" y="42"/>
                    </a:cxn>
                    <a:cxn ang="0">
                      <a:pos x="52" y="25"/>
                    </a:cxn>
                    <a:cxn ang="0">
                      <a:pos x="47" y="11"/>
                    </a:cxn>
                    <a:cxn ang="0">
                      <a:pos x="42" y="3"/>
                    </a:cxn>
                    <a:cxn ang="0">
                      <a:pos x="37" y="0"/>
                    </a:cxn>
                    <a:cxn ang="0">
                      <a:pos x="32" y="3"/>
                    </a:cxn>
                    <a:cxn ang="0">
                      <a:pos x="26" y="11"/>
                    </a:cxn>
                    <a:cxn ang="0">
                      <a:pos x="20" y="25"/>
                    </a:cxn>
                    <a:cxn ang="0">
                      <a:pos x="16" y="42"/>
                    </a:cxn>
                    <a:cxn ang="0">
                      <a:pos x="10" y="67"/>
                    </a:cxn>
                    <a:cxn ang="0">
                      <a:pos x="7" y="95"/>
                    </a:cxn>
                    <a:cxn ang="0">
                      <a:pos x="3" y="130"/>
                    </a:cxn>
                    <a:cxn ang="0">
                      <a:pos x="0" y="169"/>
                    </a:cxn>
                  </a:cxnLst>
                  <a:rect l="0" t="0" r="r" b="b"/>
                  <a:pathLst>
                    <a:path w="77" h="170">
                      <a:moveTo>
                        <a:pt x="76" y="169"/>
                      </a:moveTo>
                      <a:lnTo>
                        <a:pt x="71" y="130"/>
                      </a:lnTo>
                      <a:lnTo>
                        <a:pt x="67" y="95"/>
                      </a:lnTo>
                      <a:lnTo>
                        <a:pt x="62" y="67"/>
                      </a:lnTo>
                      <a:lnTo>
                        <a:pt x="58" y="42"/>
                      </a:lnTo>
                      <a:lnTo>
                        <a:pt x="52" y="25"/>
                      </a:lnTo>
                      <a:lnTo>
                        <a:pt x="47" y="11"/>
                      </a:lnTo>
                      <a:lnTo>
                        <a:pt x="42" y="3"/>
                      </a:lnTo>
                      <a:lnTo>
                        <a:pt x="37" y="0"/>
                      </a:lnTo>
                      <a:lnTo>
                        <a:pt x="32" y="3"/>
                      </a:lnTo>
                      <a:lnTo>
                        <a:pt x="26" y="11"/>
                      </a:lnTo>
                      <a:lnTo>
                        <a:pt x="20" y="25"/>
                      </a:lnTo>
                      <a:lnTo>
                        <a:pt x="16" y="42"/>
                      </a:lnTo>
                      <a:lnTo>
                        <a:pt x="10" y="67"/>
                      </a:lnTo>
                      <a:lnTo>
                        <a:pt x="7" y="95"/>
                      </a:lnTo>
                      <a:lnTo>
                        <a:pt x="3" y="130"/>
                      </a:lnTo>
                      <a:lnTo>
                        <a:pt x="0" y="169"/>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13" name="Freeform 109"/>
                <p:cNvSpPr>
                  <a:spLocks/>
                </p:cNvSpPr>
                <p:nvPr/>
              </p:nvSpPr>
              <p:spPr bwMode="auto">
                <a:xfrm>
                  <a:off x="3478" y="3872"/>
                  <a:ext cx="77" cy="171"/>
                </a:xfrm>
                <a:custGeom>
                  <a:avLst/>
                  <a:gdLst/>
                  <a:ahLst/>
                  <a:cxnLst>
                    <a:cxn ang="0">
                      <a:pos x="76" y="0"/>
                    </a:cxn>
                    <a:cxn ang="0">
                      <a:pos x="71" y="41"/>
                    </a:cxn>
                    <a:cxn ang="0">
                      <a:pos x="67" y="75"/>
                    </a:cxn>
                    <a:cxn ang="0">
                      <a:pos x="62" y="105"/>
                    </a:cxn>
                    <a:cxn ang="0">
                      <a:pos x="58" y="128"/>
                    </a:cxn>
                    <a:cxn ang="0">
                      <a:pos x="52" y="148"/>
                    </a:cxn>
                    <a:cxn ang="0">
                      <a:pos x="48" y="160"/>
                    </a:cxn>
                    <a:cxn ang="0">
                      <a:pos x="42" y="168"/>
                    </a:cxn>
                    <a:cxn ang="0">
                      <a:pos x="38" y="170"/>
                    </a:cxn>
                    <a:cxn ang="0">
                      <a:pos x="32" y="168"/>
                    </a:cxn>
                    <a:cxn ang="0">
                      <a:pos x="26" y="160"/>
                    </a:cxn>
                    <a:cxn ang="0">
                      <a:pos x="20" y="148"/>
                    </a:cxn>
                    <a:cxn ang="0">
                      <a:pos x="16" y="128"/>
                    </a:cxn>
                    <a:cxn ang="0">
                      <a:pos x="10" y="105"/>
                    </a:cxn>
                    <a:cxn ang="0">
                      <a:pos x="7" y="75"/>
                    </a:cxn>
                    <a:cxn ang="0">
                      <a:pos x="3" y="41"/>
                    </a:cxn>
                    <a:cxn ang="0">
                      <a:pos x="0" y="0"/>
                    </a:cxn>
                  </a:cxnLst>
                  <a:rect l="0" t="0" r="r" b="b"/>
                  <a:pathLst>
                    <a:path w="77" h="171">
                      <a:moveTo>
                        <a:pt x="76" y="0"/>
                      </a:moveTo>
                      <a:lnTo>
                        <a:pt x="71" y="41"/>
                      </a:lnTo>
                      <a:lnTo>
                        <a:pt x="67" y="75"/>
                      </a:lnTo>
                      <a:lnTo>
                        <a:pt x="62" y="105"/>
                      </a:lnTo>
                      <a:lnTo>
                        <a:pt x="58" y="128"/>
                      </a:lnTo>
                      <a:lnTo>
                        <a:pt x="52" y="148"/>
                      </a:lnTo>
                      <a:lnTo>
                        <a:pt x="48" y="160"/>
                      </a:lnTo>
                      <a:lnTo>
                        <a:pt x="42" y="168"/>
                      </a:lnTo>
                      <a:lnTo>
                        <a:pt x="38" y="170"/>
                      </a:lnTo>
                      <a:lnTo>
                        <a:pt x="32" y="168"/>
                      </a:lnTo>
                      <a:lnTo>
                        <a:pt x="26" y="160"/>
                      </a:lnTo>
                      <a:lnTo>
                        <a:pt x="20" y="148"/>
                      </a:lnTo>
                      <a:lnTo>
                        <a:pt x="16" y="128"/>
                      </a:lnTo>
                      <a:lnTo>
                        <a:pt x="10" y="105"/>
                      </a:lnTo>
                      <a:lnTo>
                        <a:pt x="7" y="75"/>
                      </a:lnTo>
                      <a:lnTo>
                        <a:pt x="3" y="41"/>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14" name="Freeform 110"/>
                <p:cNvSpPr>
                  <a:spLocks/>
                </p:cNvSpPr>
                <p:nvPr/>
              </p:nvSpPr>
              <p:spPr bwMode="auto">
                <a:xfrm>
                  <a:off x="3548" y="3703"/>
                  <a:ext cx="78" cy="170"/>
                </a:xfrm>
                <a:custGeom>
                  <a:avLst/>
                  <a:gdLst/>
                  <a:ahLst/>
                  <a:cxnLst>
                    <a:cxn ang="0">
                      <a:pos x="77" y="169"/>
                    </a:cxn>
                    <a:cxn ang="0">
                      <a:pos x="72" y="131"/>
                    </a:cxn>
                    <a:cxn ang="0">
                      <a:pos x="68" y="96"/>
                    </a:cxn>
                    <a:cxn ang="0">
                      <a:pos x="62" y="67"/>
                    </a:cxn>
                    <a:cxn ang="0">
                      <a:pos x="58" y="43"/>
                    </a:cxn>
                    <a:cxn ang="0">
                      <a:pos x="53" y="25"/>
                    </a:cxn>
                    <a:cxn ang="0">
                      <a:pos x="48" y="11"/>
                    </a:cxn>
                    <a:cxn ang="0">
                      <a:pos x="42" y="3"/>
                    </a:cxn>
                    <a:cxn ang="0">
                      <a:pos x="38" y="0"/>
                    </a:cxn>
                    <a:cxn ang="0">
                      <a:pos x="32" y="3"/>
                    </a:cxn>
                    <a:cxn ang="0">
                      <a:pos x="27" y="11"/>
                    </a:cxn>
                    <a:cxn ang="0">
                      <a:pos x="21" y="25"/>
                    </a:cxn>
                    <a:cxn ang="0">
                      <a:pos x="16" y="43"/>
                    </a:cxn>
                    <a:cxn ang="0">
                      <a:pos x="10" y="67"/>
                    </a:cxn>
                    <a:cxn ang="0">
                      <a:pos x="7" y="96"/>
                    </a:cxn>
                    <a:cxn ang="0">
                      <a:pos x="3" y="131"/>
                    </a:cxn>
                    <a:cxn ang="0">
                      <a:pos x="0" y="169"/>
                    </a:cxn>
                  </a:cxnLst>
                  <a:rect l="0" t="0" r="r" b="b"/>
                  <a:pathLst>
                    <a:path w="78" h="170">
                      <a:moveTo>
                        <a:pt x="77" y="169"/>
                      </a:moveTo>
                      <a:lnTo>
                        <a:pt x="72" y="131"/>
                      </a:lnTo>
                      <a:lnTo>
                        <a:pt x="68" y="96"/>
                      </a:lnTo>
                      <a:lnTo>
                        <a:pt x="62" y="67"/>
                      </a:lnTo>
                      <a:lnTo>
                        <a:pt x="58" y="43"/>
                      </a:lnTo>
                      <a:lnTo>
                        <a:pt x="53" y="25"/>
                      </a:lnTo>
                      <a:lnTo>
                        <a:pt x="48" y="11"/>
                      </a:lnTo>
                      <a:lnTo>
                        <a:pt x="42" y="3"/>
                      </a:lnTo>
                      <a:lnTo>
                        <a:pt x="38" y="0"/>
                      </a:lnTo>
                      <a:lnTo>
                        <a:pt x="32" y="3"/>
                      </a:lnTo>
                      <a:lnTo>
                        <a:pt x="27" y="11"/>
                      </a:lnTo>
                      <a:lnTo>
                        <a:pt x="21" y="25"/>
                      </a:lnTo>
                      <a:lnTo>
                        <a:pt x="16" y="43"/>
                      </a:lnTo>
                      <a:lnTo>
                        <a:pt x="10" y="67"/>
                      </a:lnTo>
                      <a:lnTo>
                        <a:pt x="7" y="96"/>
                      </a:lnTo>
                      <a:lnTo>
                        <a:pt x="3" y="131"/>
                      </a:lnTo>
                      <a:lnTo>
                        <a:pt x="0" y="169"/>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15" name="Freeform 111"/>
                <p:cNvSpPr>
                  <a:spLocks/>
                </p:cNvSpPr>
                <p:nvPr/>
              </p:nvSpPr>
              <p:spPr bwMode="auto">
                <a:xfrm>
                  <a:off x="3625" y="3876"/>
                  <a:ext cx="76" cy="170"/>
                </a:xfrm>
                <a:custGeom>
                  <a:avLst/>
                  <a:gdLst/>
                  <a:ahLst/>
                  <a:cxnLst>
                    <a:cxn ang="0">
                      <a:pos x="75" y="0"/>
                    </a:cxn>
                    <a:cxn ang="0">
                      <a:pos x="71" y="40"/>
                    </a:cxn>
                    <a:cxn ang="0">
                      <a:pos x="67" y="74"/>
                    </a:cxn>
                    <a:cxn ang="0">
                      <a:pos x="61" y="104"/>
                    </a:cxn>
                    <a:cxn ang="0">
                      <a:pos x="58" y="127"/>
                    </a:cxn>
                    <a:cxn ang="0">
                      <a:pos x="52" y="146"/>
                    </a:cxn>
                    <a:cxn ang="0">
                      <a:pos x="47" y="159"/>
                    </a:cxn>
                    <a:cxn ang="0">
                      <a:pos x="41" y="167"/>
                    </a:cxn>
                    <a:cxn ang="0">
                      <a:pos x="37" y="169"/>
                    </a:cxn>
                    <a:cxn ang="0">
                      <a:pos x="31" y="167"/>
                    </a:cxn>
                    <a:cxn ang="0">
                      <a:pos x="26" y="159"/>
                    </a:cxn>
                    <a:cxn ang="0">
                      <a:pos x="20" y="146"/>
                    </a:cxn>
                    <a:cxn ang="0">
                      <a:pos x="16" y="127"/>
                    </a:cxn>
                    <a:cxn ang="0">
                      <a:pos x="10" y="104"/>
                    </a:cxn>
                    <a:cxn ang="0">
                      <a:pos x="7" y="74"/>
                    </a:cxn>
                    <a:cxn ang="0">
                      <a:pos x="3" y="40"/>
                    </a:cxn>
                    <a:cxn ang="0">
                      <a:pos x="0" y="0"/>
                    </a:cxn>
                  </a:cxnLst>
                  <a:rect l="0" t="0" r="r" b="b"/>
                  <a:pathLst>
                    <a:path w="76" h="170">
                      <a:moveTo>
                        <a:pt x="75" y="0"/>
                      </a:moveTo>
                      <a:lnTo>
                        <a:pt x="71" y="40"/>
                      </a:lnTo>
                      <a:lnTo>
                        <a:pt x="67" y="74"/>
                      </a:lnTo>
                      <a:lnTo>
                        <a:pt x="61" y="104"/>
                      </a:lnTo>
                      <a:lnTo>
                        <a:pt x="58" y="127"/>
                      </a:lnTo>
                      <a:lnTo>
                        <a:pt x="52" y="146"/>
                      </a:lnTo>
                      <a:lnTo>
                        <a:pt x="47" y="159"/>
                      </a:lnTo>
                      <a:lnTo>
                        <a:pt x="41" y="167"/>
                      </a:lnTo>
                      <a:lnTo>
                        <a:pt x="37" y="169"/>
                      </a:lnTo>
                      <a:lnTo>
                        <a:pt x="31" y="167"/>
                      </a:lnTo>
                      <a:lnTo>
                        <a:pt x="26" y="159"/>
                      </a:lnTo>
                      <a:lnTo>
                        <a:pt x="20" y="146"/>
                      </a:lnTo>
                      <a:lnTo>
                        <a:pt x="16" y="127"/>
                      </a:lnTo>
                      <a:lnTo>
                        <a:pt x="10" y="104"/>
                      </a:lnTo>
                      <a:lnTo>
                        <a:pt x="7" y="74"/>
                      </a:lnTo>
                      <a:lnTo>
                        <a:pt x="3" y="40"/>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grpSp>
          <p:grpSp>
            <p:nvGrpSpPr>
              <p:cNvPr id="917616" name="Group 112"/>
              <p:cNvGrpSpPr>
                <a:grpSpLocks/>
              </p:cNvGrpSpPr>
              <p:nvPr/>
            </p:nvGrpSpPr>
            <p:grpSpPr bwMode="auto">
              <a:xfrm>
                <a:off x="3706" y="3703"/>
                <a:ext cx="889" cy="346"/>
                <a:chOff x="3706" y="3703"/>
                <a:chExt cx="889" cy="346"/>
              </a:xfrm>
            </p:grpSpPr>
            <p:sp>
              <p:nvSpPr>
                <p:cNvPr id="917617" name="Freeform 113"/>
                <p:cNvSpPr>
                  <a:spLocks/>
                </p:cNvSpPr>
                <p:nvPr/>
              </p:nvSpPr>
              <p:spPr bwMode="auto">
                <a:xfrm>
                  <a:off x="3706" y="3703"/>
                  <a:ext cx="77" cy="170"/>
                </a:xfrm>
                <a:custGeom>
                  <a:avLst/>
                  <a:gdLst/>
                  <a:ahLst/>
                  <a:cxnLst>
                    <a:cxn ang="0">
                      <a:pos x="76" y="169"/>
                    </a:cxn>
                    <a:cxn ang="0">
                      <a:pos x="72" y="131"/>
                    </a:cxn>
                    <a:cxn ang="0">
                      <a:pos x="68" y="96"/>
                    </a:cxn>
                    <a:cxn ang="0">
                      <a:pos x="62" y="67"/>
                    </a:cxn>
                    <a:cxn ang="0">
                      <a:pos x="58" y="43"/>
                    </a:cxn>
                    <a:cxn ang="0">
                      <a:pos x="53" y="25"/>
                    </a:cxn>
                    <a:cxn ang="0">
                      <a:pos x="48" y="11"/>
                    </a:cxn>
                    <a:cxn ang="0">
                      <a:pos x="42" y="3"/>
                    </a:cxn>
                    <a:cxn ang="0">
                      <a:pos x="38" y="0"/>
                    </a:cxn>
                    <a:cxn ang="0">
                      <a:pos x="32" y="3"/>
                    </a:cxn>
                    <a:cxn ang="0">
                      <a:pos x="26" y="11"/>
                    </a:cxn>
                    <a:cxn ang="0">
                      <a:pos x="21" y="25"/>
                    </a:cxn>
                    <a:cxn ang="0">
                      <a:pos x="16" y="43"/>
                    </a:cxn>
                    <a:cxn ang="0">
                      <a:pos x="11" y="67"/>
                    </a:cxn>
                    <a:cxn ang="0">
                      <a:pos x="7" y="96"/>
                    </a:cxn>
                    <a:cxn ang="0">
                      <a:pos x="4" y="131"/>
                    </a:cxn>
                    <a:cxn ang="0">
                      <a:pos x="0" y="169"/>
                    </a:cxn>
                  </a:cxnLst>
                  <a:rect l="0" t="0" r="r" b="b"/>
                  <a:pathLst>
                    <a:path w="77" h="170">
                      <a:moveTo>
                        <a:pt x="76" y="169"/>
                      </a:moveTo>
                      <a:lnTo>
                        <a:pt x="72" y="131"/>
                      </a:lnTo>
                      <a:lnTo>
                        <a:pt x="68" y="96"/>
                      </a:lnTo>
                      <a:lnTo>
                        <a:pt x="62" y="67"/>
                      </a:lnTo>
                      <a:lnTo>
                        <a:pt x="58" y="43"/>
                      </a:lnTo>
                      <a:lnTo>
                        <a:pt x="53" y="25"/>
                      </a:lnTo>
                      <a:lnTo>
                        <a:pt x="48" y="11"/>
                      </a:lnTo>
                      <a:lnTo>
                        <a:pt x="42" y="3"/>
                      </a:lnTo>
                      <a:lnTo>
                        <a:pt x="38" y="0"/>
                      </a:lnTo>
                      <a:lnTo>
                        <a:pt x="32" y="3"/>
                      </a:lnTo>
                      <a:lnTo>
                        <a:pt x="26" y="11"/>
                      </a:lnTo>
                      <a:lnTo>
                        <a:pt x="21" y="25"/>
                      </a:lnTo>
                      <a:lnTo>
                        <a:pt x="16" y="43"/>
                      </a:lnTo>
                      <a:lnTo>
                        <a:pt x="11" y="67"/>
                      </a:lnTo>
                      <a:lnTo>
                        <a:pt x="7" y="96"/>
                      </a:lnTo>
                      <a:lnTo>
                        <a:pt x="4" y="131"/>
                      </a:lnTo>
                      <a:lnTo>
                        <a:pt x="0" y="169"/>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18" name="Freeform 114"/>
                <p:cNvSpPr>
                  <a:spLocks/>
                </p:cNvSpPr>
                <p:nvPr/>
              </p:nvSpPr>
              <p:spPr bwMode="auto">
                <a:xfrm>
                  <a:off x="3782" y="3875"/>
                  <a:ext cx="78" cy="171"/>
                </a:xfrm>
                <a:custGeom>
                  <a:avLst/>
                  <a:gdLst/>
                  <a:ahLst/>
                  <a:cxnLst>
                    <a:cxn ang="0">
                      <a:pos x="77" y="0"/>
                    </a:cxn>
                    <a:cxn ang="0">
                      <a:pos x="72" y="41"/>
                    </a:cxn>
                    <a:cxn ang="0">
                      <a:pos x="68" y="75"/>
                    </a:cxn>
                    <a:cxn ang="0">
                      <a:pos x="63" y="104"/>
                    </a:cxn>
                    <a:cxn ang="0">
                      <a:pos x="59" y="128"/>
                    </a:cxn>
                    <a:cxn ang="0">
                      <a:pos x="54" y="147"/>
                    </a:cxn>
                    <a:cxn ang="0">
                      <a:pos x="48" y="160"/>
                    </a:cxn>
                    <a:cxn ang="0">
                      <a:pos x="43" y="168"/>
                    </a:cxn>
                    <a:cxn ang="0">
                      <a:pos x="38" y="170"/>
                    </a:cxn>
                    <a:cxn ang="0">
                      <a:pos x="33" y="168"/>
                    </a:cxn>
                    <a:cxn ang="0">
                      <a:pos x="27" y="160"/>
                    </a:cxn>
                    <a:cxn ang="0">
                      <a:pos x="22" y="147"/>
                    </a:cxn>
                    <a:cxn ang="0">
                      <a:pos x="17" y="128"/>
                    </a:cxn>
                    <a:cxn ang="0">
                      <a:pos x="11" y="104"/>
                    </a:cxn>
                    <a:cxn ang="0">
                      <a:pos x="7" y="75"/>
                    </a:cxn>
                    <a:cxn ang="0">
                      <a:pos x="4" y="41"/>
                    </a:cxn>
                    <a:cxn ang="0">
                      <a:pos x="0" y="0"/>
                    </a:cxn>
                  </a:cxnLst>
                  <a:rect l="0" t="0" r="r" b="b"/>
                  <a:pathLst>
                    <a:path w="78" h="171">
                      <a:moveTo>
                        <a:pt x="77" y="0"/>
                      </a:moveTo>
                      <a:lnTo>
                        <a:pt x="72" y="41"/>
                      </a:lnTo>
                      <a:lnTo>
                        <a:pt x="68" y="75"/>
                      </a:lnTo>
                      <a:lnTo>
                        <a:pt x="63" y="104"/>
                      </a:lnTo>
                      <a:lnTo>
                        <a:pt x="59" y="128"/>
                      </a:lnTo>
                      <a:lnTo>
                        <a:pt x="54" y="147"/>
                      </a:lnTo>
                      <a:lnTo>
                        <a:pt x="48" y="160"/>
                      </a:lnTo>
                      <a:lnTo>
                        <a:pt x="43" y="168"/>
                      </a:lnTo>
                      <a:lnTo>
                        <a:pt x="38" y="170"/>
                      </a:lnTo>
                      <a:lnTo>
                        <a:pt x="33" y="168"/>
                      </a:lnTo>
                      <a:lnTo>
                        <a:pt x="27" y="160"/>
                      </a:lnTo>
                      <a:lnTo>
                        <a:pt x="22" y="147"/>
                      </a:lnTo>
                      <a:lnTo>
                        <a:pt x="17" y="128"/>
                      </a:lnTo>
                      <a:lnTo>
                        <a:pt x="11" y="104"/>
                      </a:lnTo>
                      <a:lnTo>
                        <a:pt x="7" y="75"/>
                      </a:lnTo>
                      <a:lnTo>
                        <a:pt x="4" y="41"/>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19" name="Freeform 115"/>
                <p:cNvSpPr>
                  <a:spLocks/>
                </p:cNvSpPr>
                <p:nvPr/>
              </p:nvSpPr>
              <p:spPr bwMode="auto">
                <a:xfrm>
                  <a:off x="3869" y="3704"/>
                  <a:ext cx="77" cy="170"/>
                </a:xfrm>
                <a:custGeom>
                  <a:avLst/>
                  <a:gdLst/>
                  <a:ahLst/>
                  <a:cxnLst>
                    <a:cxn ang="0">
                      <a:pos x="76" y="169"/>
                    </a:cxn>
                    <a:cxn ang="0">
                      <a:pos x="71" y="130"/>
                    </a:cxn>
                    <a:cxn ang="0">
                      <a:pos x="68" y="96"/>
                    </a:cxn>
                    <a:cxn ang="0">
                      <a:pos x="62" y="67"/>
                    </a:cxn>
                    <a:cxn ang="0">
                      <a:pos x="58" y="42"/>
                    </a:cxn>
                    <a:cxn ang="0">
                      <a:pos x="53" y="25"/>
                    </a:cxn>
                    <a:cxn ang="0">
                      <a:pos x="48" y="11"/>
                    </a:cxn>
                    <a:cxn ang="0">
                      <a:pos x="42" y="3"/>
                    </a:cxn>
                    <a:cxn ang="0">
                      <a:pos x="38" y="0"/>
                    </a:cxn>
                    <a:cxn ang="0">
                      <a:pos x="32" y="3"/>
                    </a:cxn>
                    <a:cxn ang="0">
                      <a:pos x="27" y="11"/>
                    </a:cxn>
                    <a:cxn ang="0">
                      <a:pos x="21" y="25"/>
                    </a:cxn>
                    <a:cxn ang="0">
                      <a:pos x="16" y="42"/>
                    </a:cxn>
                    <a:cxn ang="0">
                      <a:pos x="10" y="67"/>
                    </a:cxn>
                    <a:cxn ang="0">
                      <a:pos x="7" y="96"/>
                    </a:cxn>
                    <a:cxn ang="0">
                      <a:pos x="3" y="130"/>
                    </a:cxn>
                    <a:cxn ang="0">
                      <a:pos x="0" y="169"/>
                    </a:cxn>
                  </a:cxnLst>
                  <a:rect l="0" t="0" r="r" b="b"/>
                  <a:pathLst>
                    <a:path w="77" h="170">
                      <a:moveTo>
                        <a:pt x="76" y="169"/>
                      </a:moveTo>
                      <a:lnTo>
                        <a:pt x="71" y="130"/>
                      </a:lnTo>
                      <a:lnTo>
                        <a:pt x="68" y="96"/>
                      </a:lnTo>
                      <a:lnTo>
                        <a:pt x="62" y="67"/>
                      </a:lnTo>
                      <a:lnTo>
                        <a:pt x="58" y="42"/>
                      </a:lnTo>
                      <a:lnTo>
                        <a:pt x="53" y="25"/>
                      </a:lnTo>
                      <a:lnTo>
                        <a:pt x="48" y="11"/>
                      </a:lnTo>
                      <a:lnTo>
                        <a:pt x="42" y="3"/>
                      </a:lnTo>
                      <a:lnTo>
                        <a:pt x="38" y="0"/>
                      </a:lnTo>
                      <a:lnTo>
                        <a:pt x="32" y="3"/>
                      </a:lnTo>
                      <a:lnTo>
                        <a:pt x="27" y="11"/>
                      </a:lnTo>
                      <a:lnTo>
                        <a:pt x="21" y="25"/>
                      </a:lnTo>
                      <a:lnTo>
                        <a:pt x="16" y="42"/>
                      </a:lnTo>
                      <a:lnTo>
                        <a:pt x="10" y="67"/>
                      </a:lnTo>
                      <a:lnTo>
                        <a:pt x="7" y="96"/>
                      </a:lnTo>
                      <a:lnTo>
                        <a:pt x="3" y="130"/>
                      </a:lnTo>
                      <a:lnTo>
                        <a:pt x="0" y="169"/>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20" name="Freeform 116"/>
                <p:cNvSpPr>
                  <a:spLocks/>
                </p:cNvSpPr>
                <p:nvPr/>
              </p:nvSpPr>
              <p:spPr bwMode="auto">
                <a:xfrm>
                  <a:off x="3945" y="3876"/>
                  <a:ext cx="77" cy="171"/>
                </a:xfrm>
                <a:custGeom>
                  <a:avLst/>
                  <a:gdLst/>
                  <a:ahLst/>
                  <a:cxnLst>
                    <a:cxn ang="0">
                      <a:pos x="76" y="0"/>
                    </a:cxn>
                    <a:cxn ang="0">
                      <a:pos x="71" y="41"/>
                    </a:cxn>
                    <a:cxn ang="0">
                      <a:pos x="68" y="75"/>
                    </a:cxn>
                    <a:cxn ang="0">
                      <a:pos x="62" y="104"/>
                    </a:cxn>
                    <a:cxn ang="0">
                      <a:pos x="58" y="128"/>
                    </a:cxn>
                    <a:cxn ang="0">
                      <a:pos x="53" y="148"/>
                    </a:cxn>
                    <a:cxn ang="0">
                      <a:pos x="48" y="160"/>
                    </a:cxn>
                    <a:cxn ang="0">
                      <a:pos x="42" y="168"/>
                    </a:cxn>
                    <a:cxn ang="0">
                      <a:pos x="38" y="170"/>
                    </a:cxn>
                    <a:cxn ang="0">
                      <a:pos x="32" y="168"/>
                    </a:cxn>
                    <a:cxn ang="0">
                      <a:pos x="27" y="160"/>
                    </a:cxn>
                    <a:cxn ang="0">
                      <a:pos x="21" y="148"/>
                    </a:cxn>
                    <a:cxn ang="0">
                      <a:pos x="17" y="128"/>
                    </a:cxn>
                    <a:cxn ang="0">
                      <a:pos x="11" y="104"/>
                    </a:cxn>
                    <a:cxn ang="0">
                      <a:pos x="7" y="75"/>
                    </a:cxn>
                    <a:cxn ang="0">
                      <a:pos x="3" y="41"/>
                    </a:cxn>
                    <a:cxn ang="0">
                      <a:pos x="0" y="0"/>
                    </a:cxn>
                  </a:cxnLst>
                  <a:rect l="0" t="0" r="r" b="b"/>
                  <a:pathLst>
                    <a:path w="77" h="171">
                      <a:moveTo>
                        <a:pt x="76" y="0"/>
                      </a:moveTo>
                      <a:lnTo>
                        <a:pt x="71" y="41"/>
                      </a:lnTo>
                      <a:lnTo>
                        <a:pt x="68" y="75"/>
                      </a:lnTo>
                      <a:lnTo>
                        <a:pt x="62" y="104"/>
                      </a:lnTo>
                      <a:lnTo>
                        <a:pt x="58" y="128"/>
                      </a:lnTo>
                      <a:lnTo>
                        <a:pt x="53" y="148"/>
                      </a:lnTo>
                      <a:lnTo>
                        <a:pt x="48" y="160"/>
                      </a:lnTo>
                      <a:lnTo>
                        <a:pt x="42" y="168"/>
                      </a:lnTo>
                      <a:lnTo>
                        <a:pt x="38" y="170"/>
                      </a:lnTo>
                      <a:lnTo>
                        <a:pt x="32" y="168"/>
                      </a:lnTo>
                      <a:lnTo>
                        <a:pt x="27" y="160"/>
                      </a:lnTo>
                      <a:lnTo>
                        <a:pt x="21" y="148"/>
                      </a:lnTo>
                      <a:lnTo>
                        <a:pt x="17" y="128"/>
                      </a:lnTo>
                      <a:lnTo>
                        <a:pt x="11" y="104"/>
                      </a:lnTo>
                      <a:lnTo>
                        <a:pt x="7" y="75"/>
                      </a:lnTo>
                      <a:lnTo>
                        <a:pt x="3" y="41"/>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21" name="Freeform 117"/>
                <p:cNvSpPr>
                  <a:spLocks/>
                </p:cNvSpPr>
                <p:nvPr/>
              </p:nvSpPr>
              <p:spPr bwMode="auto">
                <a:xfrm>
                  <a:off x="4020" y="3706"/>
                  <a:ext cx="77" cy="171"/>
                </a:xfrm>
                <a:custGeom>
                  <a:avLst/>
                  <a:gdLst/>
                  <a:ahLst/>
                  <a:cxnLst>
                    <a:cxn ang="0">
                      <a:pos x="76" y="170"/>
                    </a:cxn>
                    <a:cxn ang="0">
                      <a:pos x="71" y="131"/>
                    </a:cxn>
                    <a:cxn ang="0">
                      <a:pos x="68" y="96"/>
                    </a:cxn>
                    <a:cxn ang="0">
                      <a:pos x="62" y="67"/>
                    </a:cxn>
                    <a:cxn ang="0">
                      <a:pos x="58" y="43"/>
                    </a:cxn>
                    <a:cxn ang="0">
                      <a:pos x="53" y="25"/>
                    </a:cxn>
                    <a:cxn ang="0">
                      <a:pos x="48" y="11"/>
                    </a:cxn>
                    <a:cxn ang="0">
                      <a:pos x="42" y="3"/>
                    </a:cxn>
                    <a:cxn ang="0">
                      <a:pos x="38" y="0"/>
                    </a:cxn>
                    <a:cxn ang="0">
                      <a:pos x="32" y="3"/>
                    </a:cxn>
                    <a:cxn ang="0">
                      <a:pos x="26" y="11"/>
                    </a:cxn>
                    <a:cxn ang="0">
                      <a:pos x="21" y="25"/>
                    </a:cxn>
                    <a:cxn ang="0">
                      <a:pos x="16" y="43"/>
                    </a:cxn>
                    <a:cxn ang="0">
                      <a:pos x="10" y="67"/>
                    </a:cxn>
                    <a:cxn ang="0">
                      <a:pos x="6" y="96"/>
                    </a:cxn>
                    <a:cxn ang="0">
                      <a:pos x="3" y="131"/>
                    </a:cxn>
                    <a:cxn ang="0">
                      <a:pos x="0" y="170"/>
                    </a:cxn>
                  </a:cxnLst>
                  <a:rect l="0" t="0" r="r" b="b"/>
                  <a:pathLst>
                    <a:path w="77" h="171">
                      <a:moveTo>
                        <a:pt x="76" y="170"/>
                      </a:moveTo>
                      <a:lnTo>
                        <a:pt x="71" y="131"/>
                      </a:lnTo>
                      <a:lnTo>
                        <a:pt x="68" y="96"/>
                      </a:lnTo>
                      <a:lnTo>
                        <a:pt x="62" y="67"/>
                      </a:lnTo>
                      <a:lnTo>
                        <a:pt x="58" y="43"/>
                      </a:lnTo>
                      <a:lnTo>
                        <a:pt x="53" y="25"/>
                      </a:lnTo>
                      <a:lnTo>
                        <a:pt x="48" y="11"/>
                      </a:lnTo>
                      <a:lnTo>
                        <a:pt x="42" y="3"/>
                      </a:lnTo>
                      <a:lnTo>
                        <a:pt x="38" y="0"/>
                      </a:lnTo>
                      <a:lnTo>
                        <a:pt x="32" y="3"/>
                      </a:lnTo>
                      <a:lnTo>
                        <a:pt x="26" y="11"/>
                      </a:lnTo>
                      <a:lnTo>
                        <a:pt x="21" y="25"/>
                      </a:lnTo>
                      <a:lnTo>
                        <a:pt x="16" y="43"/>
                      </a:lnTo>
                      <a:lnTo>
                        <a:pt x="10" y="67"/>
                      </a:lnTo>
                      <a:lnTo>
                        <a:pt x="6" y="96"/>
                      </a:lnTo>
                      <a:lnTo>
                        <a:pt x="3" y="131"/>
                      </a:lnTo>
                      <a:lnTo>
                        <a:pt x="0" y="17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22" name="Freeform 118"/>
                <p:cNvSpPr>
                  <a:spLocks/>
                </p:cNvSpPr>
                <p:nvPr/>
              </p:nvSpPr>
              <p:spPr bwMode="auto">
                <a:xfrm>
                  <a:off x="4096" y="3878"/>
                  <a:ext cx="77" cy="171"/>
                </a:xfrm>
                <a:custGeom>
                  <a:avLst/>
                  <a:gdLst/>
                  <a:ahLst/>
                  <a:cxnLst>
                    <a:cxn ang="0">
                      <a:pos x="76" y="0"/>
                    </a:cxn>
                    <a:cxn ang="0">
                      <a:pos x="72" y="41"/>
                    </a:cxn>
                    <a:cxn ang="0">
                      <a:pos x="68" y="75"/>
                    </a:cxn>
                    <a:cxn ang="0">
                      <a:pos x="62" y="104"/>
                    </a:cxn>
                    <a:cxn ang="0">
                      <a:pos x="58" y="128"/>
                    </a:cxn>
                    <a:cxn ang="0">
                      <a:pos x="53" y="147"/>
                    </a:cxn>
                    <a:cxn ang="0">
                      <a:pos x="48" y="160"/>
                    </a:cxn>
                    <a:cxn ang="0">
                      <a:pos x="42" y="168"/>
                    </a:cxn>
                    <a:cxn ang="0">
                      <a:pos x="38" y="170"/>
                    </a:cxn>
                    <a:cxn ang="0">
                      <a:pos x="32" y="168"/>
                    </a:cxn>
                    <a:cxn ang="0">
                      <a:pos x="26" y="160"/>
                    </a:cxn>
                    <a:cxn ang="0">
                      <a:pos x="21" y="147"/>
                    </a:cxn>
                    <a:cxn ang="0">
                      <a:pos x="16" y="128"/>
                    </a:cxn>
                    <a:cxn ang="0">
                      <a:pos x="11" y="104"/>
                    </a:cxn>
                    <a:cxn ang="0">
                      <a:pos x="7" y="75"/>
                    </a:cxn>
                    <a:cxn ang="0">
                      <a:pos x="4" y="41"/>
                    </a:cxn>
                    <a:cxn ang="0">
                      <a:pos x="0" y="0"/>
                    </a:cxn>
                  </a:cxnLst>
                  <a:rect l="0" t="0" r="r" b="b"/>
                  <a:pathLst>
                    <a:path w="77" h="171">
                      <a:moveTo>
                        <a:pt x="76" y="0"/>
                      </a:moveTo>
                      <a:lnTo>
                        <a:pt x="72" y="41"/>
                      </a:lnTo>
                      <a:lnTo>
                        <a:pt x="68" y="75"/>
                      </a:lnTo>
                      <a:lnTo>
                        <a:pt x="62" y="104"/>
                      </a:lnTo>
                      <a:lnTo>
                        <a:pt x="58" y="128"/>
                      </a:lnTo>
                      <a:lnTo>
                        <a:pt x="53" y="147"/>
                      </a:lnTo>
                      <a:lnTo>
                        <a:pt x="48" y="160"/>
                      </a:lnTo>
                      <a:lnTo>
                        <a:pt x="42" y="168"/>
                      </a:lnTo>
                      <a:lnTo>
                        <a:pt x="38" y="170"/>
                      </a:lnTo>
                      <a:lnTo>
                        <a:pt x="32" y="168"/>
                      </a:lnTo>
                      <a:lnTo>
                        <a:pt x="26" y="160"/>
                      </a:lnTo>
                      <a:lnTo>
                        <a:pt x="21" y="147"/>
                      </a:lnTo>
                      <a:lnTo>
                        <a:pt x="16" y="128"/>
                      </a:lnTo>
                      <a:lnTo>
                        <a:pt x="11" y="104"/>
                      </a:lnTo>
                      <a:lnTo>
                        <a:pt x="7" y="75"/>
                      </a:lnTo>
                      <a:lnTo>
                        <a:pt x="4" y="41"/>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23" name="Freeform 119"/>
                <p:cNvSpPr>
                  <a:spLocks/>
                </p:cNvSpPr>
                <p:nvPr/>
              </p:nvSpPr>
              <p:spPr bwMode="auto">
                <a:xfrm>
                  <a:off x="4158" y="3706"/>
                  <a:ext cx="77" cy="171"/>
                </a:xfrm>
                <a:custGeom>
                  <a:avLst/>
                  <a:gdLst/>
                  <a:ahLst/>
                  <a:cxnLst>
                    <a:cxn ang="0">
                      <a:pos x="76" y="170"/>
                    </a:cxn>
                    <a:cxn ang="0">
                      <a:pos x="71" y="131"/>
                    </a:cxn>
                    <a:cxn ang="0">
                      <a:pos x="67" y="96"/>
                    </a:cxn>
                    <a:cxn ang="0">
                      <a:pos x="61" y="67"/>
                    </a:cxn>
                    <a:cxn ang="0">
                      <a:pos x="58" y="43"/>
                    </a:cxn>
                    <a:cxn ang="0">
                      <a:pos x="52" y="25"/>
                    </a:cxn>
                    <a:cxn ang="0">
                      <a:pos x="47" y="11"/>
                    </a:cxn>
                    <a:cxn ang="0">
                      <a:pos x="41" y="3"/>
                    </a:cxn>
                    <a:cxn ang="0">
                      <a:pos x="37" y="0"/>
                    </a:cxn>
                    <a:cxn ang="0">
                      <a:pos x="31" y="3"/>
                    </a:cxn>
                    <a:cxn ang="0">
                      <a:pos x="26" y="11"/>
                    </a:cxn>
                    <a:cxn ang="0">
                      <a:pos x="20" y="25"/>
                    </a:cxn>
                    <a:cxn ang="0">
                      <a:pos x="16" y="43"/>
                    </a:cxn>
                    <a:cxn ang="0">
                      <a:pos x="10" y="67"/>
                    </a:cxn>
                    <a:cxn ang="0">
                      <a:pos x="6" y="96"/>
                    </a:cxn>
                    <a:cxn ang="0">
                      <a:pos x="3" y="131"/>
                    </a:cxn>
                    <a:cxn ang="0">
                      <a:pos x="0" y="170"/>
                    </a:cxn>
                  </a:cxnLst>
                  <a:rect l="0" t="0" r="r" b="b"/>
                  <a:pathLst>
                    <a:path w="77" h="171">
                      <a:moveTo>
                        <a:pt x="76" y="170"/>
                      </a:moveTo>
                      <a:lnTo>
                        <a:pt x="71" y="131"/>
                      </a:lnTo>
                      <a:lnTo>
                        <a:pt x="67" y="96"/>
                      </a:lnTo>
                      <a:lnTo>
                        <a:pt x="61" y="67"/>
                      </a:lnTo>
                      <a:lnTo>
                        <a:pt x="58" y="43"/>
                      </a:lnTo>
                      <a:lnTo>
                        <a:pt x="52" y="25"/>
                      </a:lnTo>
                      <a:lnTo>
                        <a:pt x="47" y="11"/>
                      </a:lnTo>
                      <a:lnTo>
                        <a:pt x="41" y="3"/>
                      </a:lnTo>
                      <a:lnTo>
                        <a:pt x="37" y="0"/>
                      </a:lnTo>
                      <a:lnTo>
                        <a:pt x="31" y="3"/>
                      </a:lnTo>
                      <a:lnTo>
                        <a:pt x="26" y="11"/>
                      </a:lnTo>
                      <a:lnTo>
                        <a:pt x="20" y="25"/>
                      </a:lnTo>
                      <a:lnTo>
                        <a:pt x="16" y="43"/>
                      </a:lnTo>
                      <a:lnTo>
                        <a:pt x="10" y="67"/>
                      </a:lnTo>
                      <a:lnTo>
                        <a:pt x="6" y="96"/>
                      </a:lnTo>
                      <a:lnTo>
                        <a:pt x="3" y="131"/>
                      </a:lnTo>
                      <a:lnTo>
                        <a:pt x="0" y="17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24" name="Freeform 120"/>
                <p:cNvSpPr>
                  <a:spLocks/>
                </p:cNvSpPr>
                <p:nvPr/>
              </p:nvSpPr>
              <p:spPr bwMode="auto">
                <a:xfrm>
                  <a:off x="4234" y="3878"/>
                  <a:ext cx="77" cy="171"/>
                </a:xfrm>
                <a:custGeom>
                  <a:avLst/>
                  <a:gdLst/>
                  <a:ahLst/>
                  <a:cxnLst>
                    <a:cxn ang="0">
                      <a:pos x="76" y="0"/>
                    </a:cxn>
                    <a:cxn ang="0">
                      <a:pos x="72" y="40"/>
                    </a:cxn>
                    <a:cxn ang="0">
                      <a:pos x="68" y="75"/>
                    </a:cxn>
                    <a:cxn ang="0">
                      <a:pos x="62" y="104"/>
                    </a:cxn>
                    <a:cxn ang="0">
                      <a:pos x="58" y="128"/>
                    </a:cxn>
                    <a:cxn ang="0">
                      <a:pos x="53" y="147"/>
                    </a:cxn>
                    <a:cxn ang="0">
                      <a:pos x="48" y="160"/>
                    </a:cxn>
                    <a:cxn ang="0">
                      <a:pos x="42" y="168"/>
                    </a:cxn>
                    <a:cxn ang="0">
                      <a:pos x="38" y="170"/>
                    </a:cxn>
                    <a:cxn ang="0">
                      <a:pos x="32" y="168"/>
                    </a:cxn>
                    <a:cxn ang="0">
                      <a:pos x="26" y="160"/>
                    </a:cxn>
                    <a:cxn ang="0">
                      <a:pos x="21" y="147"/>
                    </a:cxn>
                    <a:cxn ang="0">
                      <a:pos x="16" y="128"/>
                    </a:cxn>
                    <a:cxn ang="0">
                      <a:pos x="10" y="104"/>
                    </a:cxn>
                    <a:cxn ang="0">
                      <a:pos x="6" y="75"/>
                    </a:cxn>
                    <a:cxn ang="0">
                      <a:pos x="3" y="40"/>
                    </a:cxn>
                    <a:cxn ang="0">
                      <a:pos x="0" y="0"/>
                    </a:cxn>
                  </a:cxnLst>
                  <a:rect l="0" t="0" r="r" b="b"/>
                  <a:pathLst>
                    <a:path w="77" h="171">
                      <a:moveTo>
                        <a:pt x="76" y="0"/>
                      </a:moveTo>
                      <a:lnTo>
                        <a:pt x="72" y="40"/>
                      </a:lnTo>
                      <a:lnTo>
                        <a:pt x="68" y="75"/>
                      </a:lnTo>
                      <a:lnTo>
                        <a:pt x="62" y="104"/>
                      </a:lnTo>
                      <a:lnTo>
                        <a:pt x="58" y="128"/>
                      </a:lnTo>
                      <a:lnTo>
                        <a:pt x="53" y="147"/>
                      </a:lnTo>
                      <a:lnTo>
                        <a:pt x="48" y="160"/>
                      </a:lnTo>
                      <a:lnTo>
                        <a:pt x="42" y="168"/>
                      </a:lnTo>
                      <a:lnTo>
                        <a:pt x="38" y="170"/>
                      </a:lnTo>
                      <a:lnTo>
                        <a:pt x="32" y="168"/>
                      </a:lnTo>
                      <a:lnTo>
                        <a:pt x="26" y="160"/>
                      </a:lnTo>
                      <a:lnTo>
                        <a:pt x="21" y="147"/>
                      </a:lnTo>
                      <a:lnTo>
                        <a:pt x="16" y="128"/>
                      </a:lnTo>
                      <a:lnTo>
                        <a:pt x="10" y="104"/>
                      </a:lnTo>
                      <a:lnTo>
                        <a:pt x="6" y="75"/>
                      </a:lnTo>
                      <a:lnTo>
                        <a:pt x="3" y="40"/>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25" name="Freeform 121"/>
                <p:cNvSpPr>
                  <a:spLocks/>
                </p:cNvSpPr>
                <p:nvPr/>
              </p:nvSpPr>
              <p:spPr bwMode="auto">
                <a:xfrm>
                  <a:off x="4296" y="3704"/>
                  <a:ext cx="77" cy="170"/>
                </a:xfrm>
                <a:custGeom>
                  <a:avLst/>
                  <a:gdLst/>
                  <a:ahLst/>
                  <a:cxnLst>
                    <a:cxn ang="0">
                      <a:pos x="76" y="169"/>
                    </a:cxn>
                    <a:cxn ang="0">
                      <a:pos x="70" y="130"/>
                    </a:cxn>
                    <a:cxn ang="0">
                      <a:pos x="67" y="96"/>
                    </a:cxn>
                    <a:cxn ang="0">
                      <a:pos x="61" y="67"/>
                    </a:cxn>
                    <a:cxn ang="0">
                      <a:pos x="58" y="42"/>
                    </a:cxn>
                    <a:cxn ang="0">
                      <a:pos x="52" y="25"/>
                    </a:cxn>
                    <a:cxn ang="0">
                      <a:pos x="47" y="11"/>
                    </a:cxn>
                    <a:cxn ang="0">
                      <a:pos x="41" y="3"/>
                    </a:cxn>
                    <a:cxn ang="0">
                      <a:pos x="37" y="0"/>
                    </a:cxn>
                    <a:cxn ang="0">
                      <a:pos x="31" y="3"/>
                    </a:cxn>
                    <a:cxn ang="0">
                      <a:pos x="26" y="11"/>
                    </a:cxn>
                    <a:cxn ang="0">
                      <a:pos x="20" y="25"/>
                    </a:cxn>
                    <a:cxn ang="0">
                      <a:pos x="16" y="42"/>
                    </a:cxn>
                    <a:cxn ang="0">
                      <a:pos x="10" y="67"/>
                    </a:cxn>
                    <a:cxn ang="0">
                      <a:pos x="6" y="96"/>
                    </a:cxn>
                    <a:cxn ang="0">
                      <a:pos x="2" y="130"/>
                    </a:cxn>
                    <a:cxn ang="0">
                      <a:pos x="0" y="169"/>
                    </a:cxn>
                  </a:cxnLst>
                  <a:rect l="0" t="0" r="r" b="b"/>
                  <a:pathLst>
                    <a:path w="77" h="170">
                      <a:moveTo>
                        <a:pt x="76" y="169"/>
                      </a:moveTo>
                      <a:lnTo>
                        <a:pt x="70" y="130"/>
                      </a:lnTo>
                      <a:lnTo>
                        <a:pt x="67" y="96"/>
                      </a:lnTo>
                      <a:lnTo>
                        <a:pt x="61" y="67"/>
                      </a:lnTo>
                      <a:lnTo>
                        <a:pt x="58" y="42"/>
                      </a:lnTo>
                      <a:lnTo>
                        <a:pt x="52" y="25"/>
                      </a:lnTo>
                      <a:lnTo>
                        <a:pt x="47" y="11"/>
                      </a:lnTo>
                      <a:lnTo>
                        <a:pt x="41" y="3"/>
                      </a:lnTo>
                      <a:lnTo>
                        <a:pt x="37" y="0"/>
                      </a:lnTo>
                      <a:lnTo>
                        <a:pt x="31" y="3"/>
                      </a:lnTo>
                      <a:lnTo>
                        <a:pt x="26" y="11"/>
                      </a:lnTo>
                      <a:lnTo>
                        <a:pt x="20" y="25"/>
                      </a:lnTo>
                      <a:lnTo>
                        <a:pt x="16" y="42"/>
                      </a:lnTo>
                      <a:lnTo>
                        <a:pt x="10" y="67"/>
                      </a:lnTo>
                      <a:lnTo>
                        <a:pt x="6" y="96"/>
                      </a:lnTo>
                      <a:lnTo>
                        <a:pt x="2" y="130"/>
                      </a:lnTo>
                      <a:lnTo>
                        <a:pt x="0" y="169"/>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26" name="Freeform 122"/>
                <p:cNvSpPr>
                  <a:spLocks/>
                </p:cNvSpPr>
                <p:nvPr/>
              </p:nvSpPr>
              <p:spPr bwMode="auto">
                <a:xfrm>
                  <a:off x="4372" y="3876"/>
                  <a:ext cx="76" cy="170"/>
                </a:xfrm>
                <a:custGeom>
                  <a:avLst/>
                  <a:gdLst/>
                  <a:ahLst/>
                  <a:cxnLst>
                    <a:cxn ang="0">
                      <a:pos x="75" y="0"/>
                    </a:cxn>
                    <a:cxn ang="0">
                      <a:pos x="71" y="40"/>
                    </a:cxn>
                    <a:cxn ang="0">
                      <a:pos x="67" y="74"/>
                    </a:cxn>
                    <a:cxn ang="0">
                      <a:pos x="61" y="104"/>
                    </a:cxn>
                    <a:cxn ang="0">
                      <a:pos x="58" y="128"/>
                    </a:cxn>
                    <a:cxn ang="0">
                      <a:pos x="52" y="147"/>
                    </a:cxn>
                    <a:cxn ang="0">
                      <a:pos x="47" y="159"/>
                    </a:cxn>
                    <a:cxn ang="0">
                      <a:pos x="41" y="168"/>
                    </a:cxn>
                    <a:cxn ang="0">
                      <a:pos x="37" y="169"/>
                    </a:cxn>
                    <a:cxn ang="0">
                      <a:pos x="31" y="168"/>
                    </a:cxn>
                    <a:cxn ang="0">
                      <a:pos x="26" y="159"/>
                    </a:cxn>
                    <a:cxn ang="0">
                      <a:pos x="20" y="147"/>
                    </a:cxn>
                    <a:cxn ang="0">
                      <a:pos x="16" y="128"/>
                    </a:cxn>
                    <a:cxn ang="0">
                      <a:pos x="10" y="104"/>
                    </a:cxn>
                    <a:cxn ang="0">
                      <a:pos x="6" y="74"/>
                    </a:cxn>
                    <a:cxn ang="0">
                      <a:pos x="3" y="40"/>
                    </a:cxn>
                    <a:cxn ang="0">
                      <a:pos x="0" y="0"/>
                    </a:cxn>
                  </a:cxnLst>
                  <a:rect l="0" t="0" r="r" b="b"/>
                  <a:pathLst>
                    <a:path w="76" h="170">
                      <a:moveTo>
                        <a:pt x="75" y="0"/>
                      </a:moveTo>
                      <a:lnTo>
                        <a:pt x="71" y="40"/>
                      </a:lnTo>
                      <a:lnTo>
                        <a:pt x="67" y="74"/>
                      </a:lnTo>
                      <a:lnTo>
                        <a:pt x="61" y="104"/>
                      </a:lnTo>
                      <a:lnTo>
                        <a:pt x="58" y="128"/>
                      </a:lnTo>
                      <a:lnTo>
                        <a:pt x="52" y="147"/>
                      </a:lnTo>
                      <a:lnTo>
                        <a:pt x="47" y="159"/>
                      </a:lnTo>
                      <a:lnTo>
                        <a:pt x="41" y="168"/>
                      </a:lnTo>
                      <a:lnTo>
                        <a:pt x="37" y="169"/>
                      </a:lnTo>
                      <a:lnTo>
                        <a:pt x="31" y="168"/>
                      </a:lnTo>
                      <a:lnTo>
                        <a:pt x="26" y="159"/>
                      </a:lnTo>
                      <a:lnTo>
                        <a:pt x="20" y="147"/>
                      </a:lnTo>
                      <a:lnTo>
                        <a:pt x="16" y="128"/>
                      </a:lnTo>
                      <a:lnTo>
                        <a:pt x="10" y="104"/>
                      </a:lnTo>
                      <a:lnTo>
                        <a:pt x="6" y="74"/>
                      </a:lnTo>
                      <a:lnTo>
                        <a:pt x="3" y="40"/>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27" name="Freeform 123"/>
                <p:cNvSpPr>
                  <a:spLocks/>
                </p:cNvSpPr>
                <p:nvPr/>
              </p:nvSpPr>
              <p:spPr bwMode="auto">
                <a:xfrm>
                  <a:off x="4442" y="3706"/>
                  <a:ext cx="77" cy="171"/>
                </a:xfrm>
                <a:custGeom>
                  <a:avLst/>
                  <a:gdLst/>
                  <a:ahLst/>
                  <a:cxnLst>
                    <a:cxn ang="0">
                      <a:pos x="76" y="170"/>
                    </a:cxn>
                    <a:cxn ang="0">
                      <a:pos x="71" y="131"/>
                    </a:cxn>
                    <a:cxn ang="0">
                      <a:pos x="68" y="96"/>
                    </a:cxn>
                    <a:cxn ang="0">
                      <a:pos x="62" y="67"/>
                    </a:cxn>
                    <a:cxn ang="0">
                      <a:pos x="58" y="43"/>
                    </a:cxn>
                    <a:cxn ang="0">
                      <a:pos x="52" y="25"/>
                    </a:cxn>
                    <a:cxn ang="0">
                      <a:pos x="48" y="11"/>
                    </a:cxn>
                    <a:cxn ang="0">
                      <a:pos x="42" y="3"/>
                    </a:cxn>
                    <a:cxn ang="0">
                      <a:pos x="38" y="0"/>
                    </a:cxn>
                    <a:cxn ang="0">
                      <a:pos x="32" y="3"/>
                    </a:cxn>
                    <a:cxn ang="0">
                      <a:pos x="26" y="11"/>
                    </a:cxn>
                    <a:cxn ang="0">
                      <a:pos x="21" y="25"/>
                    </a:cxn>
                    <a:cxn ang="0">
                      <a:pos x="16" y="43"/>
                    </a:cxn>
                    <a:cxn ang="0">
                      <a:pos x="10" y="67"/>
                    </a:cxn>
                    <a:cxn ang="0">
                      <a:pos x="6" y="96"/>
                    </a:cxn>
                    <a:cxn ang="0">
                      <a:pos x="2" y="131"/>
                    </a:cxn>
                    <a:cxn ang="0">
                      <a:pos x="0" y="170"/>
                    </a:cxn>
                  </a:cxnLst>
                  <a:rect l="0" t="0" r="r" b="b"/>
                  <a:pathLst>
                    <a:path w="77" h="171">
                      <a:moveTo>
                        <a:pt x="76" y="170"/>
                      </a:moveTo>
                      <a:lnTo>
                        <a:pt x="71" y="131"/>
                      </a:lnTo>
                      <a:lnTo>
                        <a:pt x="68" y="96"/>
                      </a:lnTo>
                      <a:lnTo>
                        <a:pt x="62" y="67"/>
                      </a:lnTo>
                      <a:lnTo>
                        <a:pt x="58" y="43"/>
                      </a:lnTo>
                      <a:lnTo>
                        <a:pt x="52" y="25"/>
                      </a:lnTo>
                      <a:lnTo>
                        <a:pt x="48" y="11"/>
                      </a:lnTo>
                      <a:lnTo>
                        <a:pt x="42" y="3"/>
                      </a:lnTo>
                      <a:lnTo>
                        <a:pt x="38" y="0"/>
                      </a:lnTo>
                      <a:lnTo>
                        <a:pt x="32" y="3"/>
                      </a:lnTo>
                      <a:lnTo>
                        <a:pt x="26" y="11"/>
                      </a:lnTo>
                      <a:lnTo>
                        <a:pt x="21" y="25"/>
                      </a:lnTo>
                      <a:lnTo>
                        <a:pt x="16" y="43"/>
                      </a:lnTo>
                      <a:lnTo>
                        <a:pt x="10" y="67"/>
                      </a:lnTo>
                      <a:lnTo>
                        <a:pt x="6" y="96"/>
                      </a:lnTo>
                      <a:lnTo>
                        <a:pt x="2" y="131"/>
                      </a:lnTo>
                      <a:lnTo>
                        <a:pt x="0" y="17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7628" name="Freeform 124"/>
                <p:cNvSpPr>
                  <a:spLocks/>
                </p:cNvSpPr>
                <p:nvPr/>
              </p:nvSpPr>
              <p:spPr bwMode="auto">
                <a:xfrm>
                  <a:off x="4518" y="3878"/>
                  <a:ext cx="77" cy="171"/>
                </a:xfrm>
                <a:custGeom>
                  <a:avLst/>
                  <a:gdLst/>
                  <a:ahLst/>
                  <a:cxnLst>
                    <a:cxn ang="0">
                      <a:pos x="76" y="0"/>
                    </a:cxn>
                    <a:cxn ang="0">
                      <a:pos x="71" y="41"/>
                    </a:cxn>
                    <a:cxn ang="0">
                      <a:pos x="68" y="75"/>
                    </a:cxn>
                    <a:cxn ang="0">
                      <a:pos x="62" y="104"/>
                    </a:cxn>
                    <a:cxn ang="0">
                      <a:pos x="58" y="128"/>
                    </a:cxn>
                    <a:cxn ang="0">
                      <a:pos x="53" y="147"/>
                    </a:cxn>
                    <a:cxn ang="0">
                      <a:pos x="48" y="160"/>
                    </a:cxn>
                    <a:cxn ang="0">
                      <a:pos x="42" y="168"/>
                    </a:cxn>
                    <a:cxn ang="0">
                      <a:pos x="38" y="170"/>
                    </a:cxn>
                    <a:cxn ang="0">
                      <a:pos x="32" y="168"/>
                    </a:cxn>
                    <a:cxn ang="0">
                      <a:pos x="26" y="160"/>
                    </a:cxn>
                    <a:cxn ang="0">
                      <a:pos x="21" y="147"/>
                    </a:cxn>
                    <a:cxn ang="0">
                      <a:pos x="16" y="128"/>
                    </a:cxn>
                    <a:cxn ang="0">
                      <a:pos x="11" y="104"/>
                    </a:cxn>
                    <a:cxn ang="0">
                      <a:pos x="7" y="75"/>
                    </a:cxn>
                    <a:cxn ang="0">
                      <a:pos x="3" y="41"/>
                    </a:cxn>
                    <a:cxn ang="0">
                      <a:pos x="0" y="0"/>
                    </a:cxn>
                  </a:cxnLst>
                  <a:rect l="0" t="0" r="r" b="b"/>
                  <a:pathLst>
                    <a:path w="77" h="171">
                      <a:moveTo>
                        <a:pt x="76" y="0"/>
                      </a:moveTo>
                      <a:lnTo>
                        <a:pt x="71" y="41"/>
                      </a:lnTo>
                      <a:lnTo>
                        <a:pt x="68" y="75"/>
                      </a:lnTo>
                      <a:lnTo>
                        <a:pt x="62" y="104"/>
                      </a:lnTo>
                      <a:lnTo>
                        <a:pt x="58" y="128"/>
                      </a:lnTo>
                      <a:lnTo>
                        <a:pt x="53" y="147"/>
                      </a:lnTo>
                      <a:lnTo>
                        <a:pt x="48" y="160"/>
                      </a:lnTo>
                      <a:lnTo>
                        <a:pt x="42" y="168"/>
                      </a:lnTo>
                      <a:lnTo>
                        <a:pt x="38" y="170"/>
                      </a:lnTo>
                      <a:lnTo>
                        <a:pt x="32" y="168"/>
                      </a:lnTo>
                      <a:lnTo>
                        <a:pt x="26" y="160"/>
                      </a:lnTo>
                      <a:lnTo>
                        <a:pt x="21" y="147"/>
                      </a:lnTo>
                      <a:lnTo>
                        <a:pt x="16" y="128"/>
                      </a:lnTo>
                      <a:lnTo>
                        <a:pt x="11" y="104"/>
                      </a:lnTo>
                      <a:lnTo>
                        <a:pt x="7" y="75"/>
                      </a:lnTo>
                      <a:lnTo>
                        <a:pt x="3" y="41"/>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grpSp>
        </p:grpSp>
      </p:grpSp>
      <p:sp>
        <p:nvSpPr>
          <p:cNvPr id="917629" name="Text Box 125"/>
          <p:cNvSpPr txBox="1">
            <a:spLocks noChangeArrowheads="1"/>
          </p:cNvSpPr>
          <p:nvPr/>
        </p:nvSpPr>
        <p:spPr bwMode="auto">
          <a:xfrm>
            <a:off x="4419600" y="3540125"/>
            <a:ext cx="184150" cy="3079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0</a:t>
            </a:r>
            <a:endParaRPr lang="en-US" sz="1600"/>
          </a:p>
        </p:txBody>
      </p:sp>
      <p:sp>
        <p:nvSpPr>
          <p:cNvPr id="917630" name="Text Box 126"/>
          <p:cNvSpPr txBox="1">
            <a:spLocks noChangeArrowheads="1"/>
          </p:cNvSpPr>
          <p:nvPr/>
        </p:nvSpPr>
        <p:spPr bwMode="auto">
          <a:xfrm>
            <a:off x="4419600" y="3082925"/>
            <a:ext cx="190500" cy="309563"/>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a:t>
            </a:r>
            <a:endParaRPr lang="en-US" sz="1600"/>
          </a:p>
        </p:txBody>
      </p:sp>
      <p:sp>
        <p:nvSpPr>
          <p:cNvPr id="917631" name="Text Box 127"/>
          <p:cNvSpPr txBox="1">
            <a:spLocks noChangeArrowheads="1"/>
          </p:cNvSpPr>
          <p:nvPr/>
        </p:nvSpPr>
        <p:spPr bwMode="auto">
          <a:xfrm>
            <a:off x="4419600" y="4073525"/>
            <a:ext cx="168275" cy="4603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a:t>
            </a:r>
            <a:endParaRPr lang="en-US" sz="1600"/>
          </a:p>
        </p:txBody>
      </p:sp>
      <p:sp>
        <p:nvSpPr>
          <p:cNvPr id="917632" name="Text Box 128"/>
          <p:cNvSpPr txBox="1">
            <a:spLocks noChangeArrowheads="1"/>
          </p:cNvSpPr>
          <p:nvPr/>
        </p:nvSpPr>
        <p:spPr bwMode="auto">
          <a:xfrm>
            <a:off x="4495800" y="5334000"/>
            <a:ext cx="184150" cy="3079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0</a:t>
            </a:r>
            <a:endParaRPr lang="en-US" sz="1600"/>
          </a:p>
        </p:txBody>
      </p:sp>
      <p:sp>
        <p:nvSpPr>
          <p:cNvPr id="917633" name="Text Box 129"/>
          <p:cNvSpPr txBox="1">
            <a:spLocks noChangeArrowheads="1"/>
          </p:cNvSpPr>
          <p:nvPr/>
        </p:nvSpPr>
        <p:spPr bwMode="auto">
          <a:xfrm>
            <a:off x="4495800" y="4876800"/>
            <a:ext cx="190500" cy="309563"/>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a:t>
            </a:r>
            <a:endParaRPr lang="en-US" sz="1600"/>
          </a:p>
        </p:txBody>
      </p:sp>
      <p:sp>
        <p:nvSpPr>
          <p:cNvPr id="917634" name="Text Box 130"/>
          <p:cNvSpPr txBox="1">
            <a:spLocks noChangeArrowheads="1"/>
          </p:cNvSpPr>
          <p:nvPr/>
        </p:nvSpPr>
        <p:spPr bwMode="auto">
          <a:xfrm>
            <a:off x="4495800" y="5867400"/>
            <a:ext cx="168275" cy="4603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a:t>
            </a:r>
            <a:endParaRPr lang="en-US" sz="1600"/>
          </a:p>
        </p:txBody>
      </p:sp>
      <p:sp>
        <p:nvSpPr>
          <p:cNvPr id="917635" name="Rectangle 131"/>
          <p:cNvSpPr>
            <a:spLocks noGrp="1" noChangeArrowheads="1"/>
          </p:cNvSpPr>
          <p:nvPr>
            <p:ph type="title" idx="4294967295"/>
          </p:nvPr>
        </p:nvSpPr>
        <p:spPr>
          <a:xfrm>
            <a:off x="685800" y="390525"/>
            <a:ext cx="7772400" cy="828675"/>
          </a:xfrm>
        </p:spPr>
        <p:txBody>
          <a:bodyPr/>
          <a:lstStyle/>
          <a:p>
            <a:r>
              <a:rPr lang="en-US"/>
              <a:t>Time Waveform</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8530" name="Text Box 2"/>
          <p:cNvSpPr txBox="1">
            <a:spLocks noChangeArrowheads="1"/>
          </p:cNvSpPr>
          <p:nvPr/>
        </p:nvSpPr>
        <p:spPr bwMode="auto">
          <a:xfrm>
            <a:off x="485775" y="584200"/>
            <a:ext cx="7518400" cy="766763"/>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endParaRPr lang="en-US" sz="2200"/>
          </a:p>
        </p:txBody>
      </p:sp>
      <p:sp>
        <p:nvSpPr>
          <p:cNvPr id="918531" name="Rectangle 3"/>
          <p:cNvSpPr>
            <a:spLocks noGrp="1" noChangeArrowheads="1"/>
          </p:cNvSpPr>
          <p:nvPr>
            <p:ph type="title" idx="4294967295"/>
          </p:nvPr>
        </p:nvSpPr>
        <p:spPr>
          <a:xfrm>
            <a:off x="685800" y="390525"/>
            <a:ext cx="7772400" cy="828675"/>
          </a:xfrm>
        </p:spPr>
        <p:txBody>
          <a:bodyPr/>
          <a:lstStyle/>
          <a:p>
            <a:r>
              <a:rPr lang="en-US"/>
              <a:t>Time Waveform</a:t>
            </a:r>
          </a:p>
        </p:txBody>
      </p:sp>
      <p:grpSp>
        <p:nvGrpSpPr>
          <p:cNvPr id="918532" name="Group 4"/>
          <p:cNvGrpSpPr>
            <a:grpSpLocks/>
          </p:cNvGrpSpPr>
          <p:nvPr/>
        </p:nvGrpSpPr>
        <p:grpSpPr bwMode="auto">
          <a:xfrm>
            <a:off x="1905000" y="1524000"/>
            <a:ext cx="6184900" cy="2670175"/>
            <a:chOff x="1200" y="1392"/>
            <a:chExt cx="3896" cy="1682"/>
          </a:xfrm>
        </p:grpSpPr>
        <p:grpSp>
          <p:nvGrpSpPr>
            <p:cNvPr id="918533" name="Group 5"/>
            <p:cNvGrpSpPr>
              <a:grpSpLocks/>
            </p:cNvGrpSpPr>
            <p:nvPr/>
          </p:nvGrpSpPr>
          <p:grpSpPr bwMode="auto">
            <a:xfrm>
              <a:off x="1200" y="1392"/>
              <a:ext cx="3418" cy="1682"/>
              <a:chOff x="1200" y="1392"/>
              <a:chExt cx="3418" cy="1682"/>
            </a:xfrm>
          </p:grpSpPr>
          <p:sp>
            <p:nvSpPr>
              <p:cNvPr id="918534" name="Text Box 6"/>
              <p:cNvSpPr txBox="1">
                <a:spLocks noChangeArrowheads="1"/>
              </p:cNvSpPr>
              <p:nvPr/>
            </p:nvSpPr>
            <p:spPr bwMode="auto">
              <a:xfrm>
                <a:off x="1200" y="2160"/>
                <a:ext cx="179" cy="187"/>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0</a:t>
                </a:r>
                <a:endParaRPr lang="en-US" sz="1600"/>
              </a:p>
            </p:txBody>
          </p:sp>
          <p:sp>
            <p:nvSpPr>
              <p:cNvPr id="918535" name="Text Box 7"/>
              <p:cNvSpPr txBox="1">
                <a:spLocks noChangeArrowheads="1"/>
              </p:cNvSpPr>
              <p:nvPr/>
            </p:nvSpPr>
            <p:spPr bwMode="auto">
              <a:xfrm>
                <a:off x="1200" y="2895"/>
                <a:ext cx="147" cy="179"/>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a:t>
                </a:r>
                <a:endParaRPr lang="en-US" sz="1600"/>
              </a:p>
            </p:txBody>
          </p:sp>
          <p:grpSp>
            <p:nvGrpSpPr>
              <p:cNvPr id="918536" name="Group 8"/>
              <p:cNvGrpSpPr>
                <a:grpSpLocks/>
              </p:cNvGrpSpPr>
              <p:nvPr/>
            </p:nvGrpSpPr>
            <p:grpSpPr bwMode="auto">
              <a:xfrm>
                <a:off x="1399" y="1446"/>
                <a:ext cx="3219" cy="1577"/>
                <a:chOff x="1399" y="1446"/>
                <a:chExt cx="3219" cy="1577"/>
              </a:xfrm>
            </p:grpSpPr>
            <p:sp>
              <p:nvSpPr>
                <p:cNvPr id="918537" name="Line 9"/>
                <p:cNvSpPr>
                  <a:spLocks noChangeShapeType="1"/>
                </p:cNvSpPr>
                <p:nvPr/>
              </p:nvSpPr>
              <p:spPr bwMode="auto">
                <a:xfrm>
                  <a:off x="1411" y="2237"/>
                  <a:ext cx="3207" cy="0"/>
                </a:xfrm>
                <a:prstGeom prst="line">
                  <a:avLst/>
                </a:prstGeom>
                <a:noFill/>
                <a:ln w="19050">
                  <a:solidFill>
                    <a:srgbClr val="008280"/>
                  </a:solidFill>
                  <a:round/>
                  <a:headEnd/>
                  <a:tailEnd type="triangle" w="med" len="med"/>
                </a:ln>
                <a:effectLst/>
              </p:spPr>
              <p:txBody>
                <a:bodyPr wrap="none" anchor="ctr"/>
                <a:lstStyle/>
                <a:p>
                  <a:endParaRPr lang="en-US"/>
                </a:p>
              </p:txBody>
            </p:sp>
            <p:sp>
              <p:nvSpPr>
                <p:cNvPr id="918538" name="Line 10"/>
                <p:cNvSpPr>
                  <a:spLocks noChangeShapeType="1"/>
                </p:cNvSpPr>
                <p:nvPr/>
              </p:nvSpPr>
              <p:spPr bwMode="auto">
                <a:xfrm>
                  <a:off x="1400" y="1446"/>
                  <a:ext cx="0" cy="1577"/>
                </a:xfrm>
                <a:prstGeom prst="line">
                  <a:avLst/>
                </a:prstGeom>
                <a:noFill/>
                <a:ln w="19050">
                  <a:solidFill>
                    <a:srgbClr val="008280"/>
                  </a:solidFill>
                  <a:round/>
                  <a:headEnd/>
                  <a:tailEnd/>
                </a:ln>
                <a:effectLst/>
              </p:spPr>
              <p:txBody>
                <a:bodyPr wrap="none" anchor="ctr"/>
                <a:lstStyle/>
                <a:p>
                  <a:endParaRPr lang="en-US"/>
                </a:p>
              </p:txBody>
            </p:sp>
            <p:grpSp>
              <p:nvGrpSpPr>
                <p:cNvPr id="918539" name="Group 11"/>
                <p:cNvGrpSpPr>
                  <a:grpSpLocks/>
                </p:cNvGrpSpPr>
                <p:nvPr/>
              </p:nvGrpSpPr>
              <p:grpSpPr bwMode="auto">
                <a:xfrm>
                  <a:off x="1399" y="1552"/>
                  <a:ext cx="2229" cy="1366"/>
                  <a:chOff x="1539" y="1759"/>
                  <a:chExt cx="2452" cy="1548"/>
                </a:xfrm>
              </p:grpSpPr>
              <p:sp>
                <p:nvSpPr>
                  <p:cNvPr id="918540" name="Freeform 12"/>
                  <p:cNvSpPr>
                    <a:spLocks/>
                  </p:cNvSpPr>
                  <p:nvPr/>
                </p:nvSpPr>
                <p:spPr bwMode="auto">
                  <a:xfrm>
                    <a:off x="1539" y="1759"/>
                    <a:ext cx="1223" cy="768"/>
                  </a:xfrm>
                  <a:custGeom>
                    <a:avLst/>
                    <a:gdLst/>
                    <a:ahLst/>
                    <a:cxnLst>
                      <a:cxn ang="0">
                        <a:pos x="1222" y="767"/>
                      </a:cxn>
                      <a:cxn ang="0">
                        <a:pos x="1163" y="588"/>
                      </a:cxn>
                      <a:cxn ang="0">
                        <a:pos x="1097" y="432"/>
                      </a:cxn>
                      <a:cxn ang="0">
                        <a:pos x="1025" y="301"/>
                      </a:cxn>
                      <a:cxn ang="0">
                        <a:pos x="949" y="192"/>
                      </a:cxn>
                      <a:cxn ang="0">
                        <a:pos x="867" y="109"/>
                      </a:cxn>
                      <a:cxn ang="0">
                        <a:pos x="783" y="49"/>
                      </a:cxn>
                      <a:cxn ang="0">
                        <a:pos x="697" y="13"/>
                      </a:cxn>
                      <a:cxn ang="0">
                        <a:pos x="611" y="0"/>
                      </a:cxn>
                      <a:cxn ang="0">
                        <a:pos x="523" y="13"/>
                      </a:cxn>
                      <a:cxn ang="0">
                        <a:pos x="436" y="49"/>
                      </a:cxn>
                      <a:cxn ang="0">
                        <a:pos x="352" y="109"/>
                      </a:cxn>
                      <a:cxn ang="0">
                        <a:pos x="272" y="192"/>
                      </a:cxn>
                      <a:cxn ang="0">
                        <a:pos x="195" y="301"/>
                      </a:cxn>
                      <a:cxn ang="0">
                        <a:pos x="123" y="432"/>
                      </a:cxn>
                      <a:cxn ang="0">
                        <a:pos x="58" y="588"/>
                      </a:cxn>
                      <a:cxn ang="0">
                        <a:pos x="0" y="767"/>
                      </a:cxn>
                    </a:cxnLst>
                    <a:rect l="0" t="0" r="r" b="b"/>
                    <a:pathLst>
                      <a:path w="1223" h="768">
                        <a:moveTo>
                          <a:pt x="1222" y="767"/>
                        </a:moveTo>
                        <a:lnTo>
                          <a:pt x="1163" y="588"/>
                        </a:lnTo>
                        <a:lnTo>
                          <a:pt x="1097" y="432"/>
                        </a:lnTo>
                        <a:lnTo>
                          <a:pt x="1025" y="301"/>
                        </a:lnTo>
                        <a:lnTo>
                          <a:pt x="949" y="192"/>
                        </a:lnTo>
                        <a:lnTo>
                          <a:pt x="867" y="109"/>
                        </a:lnTo>
                        <a:lnTo>
                          <a:pt x="783" y="49"/>
                        </a:lnTo>
                        <a:lnTo>
                          <a:pt x="697" y="13"/>
                        </a:lnTo>
                        <a:lnTo>
                          <a:pt x="611" y="0"/>
                        </a:lnTo>
                        <a:lnTo>
                          <a:pt x="523" y="13"/>
                        </a:lnTo>
                        <a:lnTo>
                          <a:pt x="436" y="49"/>
                        </a:lnTo>
                        <a:lnTo>
                          <a:pt x="352" y="109"/>
                        </a:lnTo>
                        <a:lnTo>
                          <a:pt x="272" y="192"/>
                        </a:lnTo>
                        <a:lnTo>
                          <a:pt x="195" y="301"/>
                        </a:lnTo>
                        <a:lnTo>
                          <a:pt x="123" y="432"/>
                        </a:lnTo>
                        <a:lnTo>
                          <a:pt x="58" y="588"/>
                        </a:lnTo>
                        <a:lnTo>
                          <a:pt x="0" y="767"/>
                        </a:lnTo>
                      </a:path>
                    </a:pathLst>
                  </a:custGeom>
                  <a:noFill/>
                  <a:ln w="31750" cap="flat" cmpd="sng">
                    <a:solidFill>
                      <a:srgbClr val="008000"/>
                    </a:solidFill>
                    <a:prstDash val="solid"/>
                    <a:round/>
                    <a:headEnd type="none" w="med" len="med"/>
                    <a:tailEnd type="none" w="med" len="med"/>
                  </a:ln>
                  <a:effectLst/>
                </p:spPr>
                <p:txBody>
                  <a:bodyPr/>
                  <a:lstStyle/>
                  <a:p>
                    <a:endParaRPr lang="en-US"/>
                  </a:p>
                </p:txBody>
              </p:sp>
              <p:sp>
                <p:nvSpPr>
                  <p:cNvPr id="918541" name="Freeform 13"/>
                  <p:cNvSpPr>
                    <a:spLocks/>
                  </p:cNvSpPr>
                  <p:nvPr/>
                </p:nvSpPr>
                <p:spPr bwMode="auto">
                  <a:xfrm>
                    <a:off x="2768" y="2538"/>
                    <a:ext cx="1223" cy="769"/>
                  </a:xfrm>
                  <a:custGeom>
                    <a:avLst/>
                    <a:gdLst/>
                    <a:ahLst/>
                    <a:cxnLst>
                      <a:cxn ang="0">
                        <a:pos x="1222" y="0"/>
                      </a:cxn>
                      <a:cxn ang="0">
                        <a:pos x="1162" y="181"/>
                      </a:cxn>
                      <a:cxn ang="0">
                        <a:pos x="1097" y="337"/>
                      </a:cxn>
                      <a:cxn ang="0">
                        <a:pos x="1024" y="469"/>
                      </a:cxn>
                      <a:cxn ang="0">
                        <a:pos x="948" y="576"/>
                      </a:cxn>
                      <a:cxn ang="0">
                        <a:pos x="867" y="661"/>
                      </a:cxn>
                      <a:cxn ang="0">
                        <a:pos x="783" y="720"/>
                      </a:cxn>
                      <a:cxn ang="0">
                        <a:pos x="696" y="757"/>
                      </a:cxn>
                      <a:cxn ang="0">
                        <a:pos x="610" y="768"/>
                      </a:cxn>
                      <a:cxn ang="0">
                        <a:pos x="522" y="757"/>
                      </a:cxn>
                      <a:cxn ang="0">
                        <a:pos x="436" y="720"/>
                      </a:cxn>
                      <a:cxn ang="0">
                        <a:pos x="352" y="661"/>
                      </a:cxn>
                      <a:cxn ang="0">
                        <a:pos x="271" y="576"/>
                      </a:cxn>
                      <a:cxn ang="0">
                        <a:pos x="194" y="469"/>
                      </a:cxn>
                      <a:cxn ang="0">
                        <a:pos x="123" y="337"/>
                      </a:cxn>
                      <a:cxn ang="0">
                        <a:pos x="57" y="181"/>
                      </a:cxn>
                      <a:cxn ang="0">
                        <a:pos x="0" y="0"/>
                      </a:cxn>
                    </a:cxnLst>
                    <a:rect l="0" t="0" r="r" b="b"/>
                    <a:pathLst>
                      <a:path w="1223" h="769">
                        <a:moveTo>
                          <a:pt x="1222" y="0"/>
                        </a:moveTo>
                        <a:lnTo>
                          <a:pt x="1162" y="181"/>
                        </a:lnTo>
                        <a:lnTo>
                          <a:pt x="1097" y="337"/>
                        </a:lnTo>
                        <a:lnTo>
                          <a:pt x="1024" y="469"/>
                        </a:lnTo>
                        <a:lnTo>
                          <a:pt x="948" y="576"/>
                        </a:lnTo>
                        <a:lnTo>
                          <a:pt x="867" y="661"/>
                        </a:lnTo>
                        <a:lnTo>
                          <a:pt x="783" y="720"/>
                        </a:lnTo>
                        <a:lnTo>
                          <a:pt x="696" y="757"/>
                        </a:lnTo>
                        <a:lnTo>
                          <a:pt x="610" y="768"/>
                        </a:lnTo>
                        <a:lnTo>
                          <a:pt x="522" y="757"/>
                        </a:lnTo>
                        <a:lnTo>
                          <a:pt x="436" y="720"/>
                        </a:lnTo>
                        <a:lnTo>
                          <a:pt x="352" y="661"/>
                        </a:lnTo>
                        <a:lnTo>
                          <a:pt x="271" y="576"/>
                        </a:lnTo>
                        <a:lnTo>
                          <a:pt x="194" y="469"/>
                        </a:lnTo>
                        <a:lnTo>
                          <a:pt x="123" y="337"/>
                        </a:lnTo>
                        <a:lnTo>
                          <a:pt x="57" y="181"/>
                        </a:lnTo>
                        <a:lnTo>
                          <a:pt x="0" y="0"/>
                        </a:lnTo>
                      </a:path>
                    </a:pathLst>
                  </a:custGeom>
                  <a:noFill/>
                  <a:ln w="31750" cap="flat" cmpd="sng">
                    <a:solidFill>
                      <a:srgbClr val="008000"/>
                    </a:solidFill>
                    <a:prstDash val="solid"/>
                    <a:round/>
                    <a:headEnd type="triangle" w="med" len="med"/>
                    <a:tailEnd type="none" w="med" len="med"/>
                  </a:ln>
                  <a:effectLst/>
                </p:spPr>
                <p:txBody>
                  <a:bodyPr/>
                  <a:lstStyle/>
                  <a:p>
                    <a:endParaRPr lang="en-US"/>
                  </a:p>
                </p:txBody>
              </p:sp>
            </p:grpSp>
            <p:grpSp>
              <p:nvGrpSpPr>
                <p:cNvPr id="918542" name="Group 14"/>
                <p:cNvGrpSpPr>
                  <a:grpSpLocks/>
                </p:cNvGrpSpPr>
                <p:nvPr/>
              </p:nvGrpSpPr>
              <p:grpSpPr bwMode="auto">
                <a:xfrm>
                  <a:off x="1424" y="1705"/>
                  <a:ext cx="2347" cy="1169"/>
                  <a:chOff x="1566" y="1932"/>
                  <a:chExt cx="2582" cy="1325"/>
                </a:xfrm>
              </p:grpSpPr>
              <p:grpSp>
                <p:nvGrpSpPr>
                  <p:cNvPr id="918543" name="Group 15"/>
                  <p:cNvGrpSpPr>
                    <a:grpSpLocks/>
                  </p:cNvGrpSpPr>
                  <p:nvPr/>
                </p:nvGrpSpPr>
                <p:grpSpPr bwMode="auto">
                  <a:xfrm>
                    <a:off x="1566" y="1932"/>
                    <a:ext cx="625" cy="1307"/>
                    <a:chOff x="1566" y="1932"/>
                    <a:chExt cx="625" cy="1307"/>
                  </a:xfrm>
                </p:grpSpPr>
                <p:sp>
                  <p:nvSpPr>
                    <p:cNvPr id="918544" name="Freeform 16"/>
                    <p:cNvSpPr>
                      <a:spLocks/>
                    </p:cNvSpPr>
                    <p:nvPr/>
                  </p:nvSpPr>
                  <p:spPr bwMode="auto">
                    <a:xfrm>
                      <a:off x="1566" y="1932"/>
                      <a:ext cx="311" cy="650"/>
                    </a:xfrm>
                    <a:custGeom>
                      <a:avLst/>
                      <a:gdLst/>
                      <a:ahLst/>
                      <a:cxnLst>
                        <a:cxn ang="0">
                          <a:pos x="310" y="649"/>
                        </a:cxn>
                        <a:cxn ang="0">
                          <a:pos x="294" y="498"/>
                        </a:cxn>
                        <a:cxn ang="0">
                          <a:pos x="278" y="366"/>
                        </a:cxn>
                        <a:cxn ang="0">
                          <a:pos x="259" y="255"/>
                        </a:cxn>
                        <a:cxn ang="0">
                          <a:pos x="240" y="163"/>
                        </a:cxn>
                        <a:cxn ang="0">
                          <a:pos x="218" y="93"/>
                        </a:cxn>
                        <a:cxn ang="0">
                          <a:pos x="198" y="42"/>
                        </a:cxn>
                        <a:cxn ang="0">
                          <a:pos x="175" y="11"/>
                        </a:cxn>
                        <a:cxn ang="0">
                          <a:pos x="155" y="0"/>
                        </a:cxn>
                        <a:cxn ang="0">
                          <a:pos x="132" y="11"/>
                        </a:cxn>
                        <a:cxn ang="0">
                          <a:pos x="110" y="42"/>
                        </a:cxn>
                        <a:cxn ang="0">
                          <a:pos x="89" y="93"/>
                        </a:cxn>
                        <a:cxn ang="0">
                          <a:pos x="69" y="163"/>
                        </a:cxn>
                        <a:cxn ang="0">
                          <a:pos x="49" y="255"/>
                        </a:cxn>
                        <a:cxn ang="0">
                          <a:pos x="31" y="366"/>
                        </a:cxn>
                        <a:cxn ang="0">
                          <a:pos x="14" y="498"/>
                        </a:cxn>
                        <a:cxn ang="0">
                          <a:pos x="0" y="649"/>
                        </a:cxn>
                      </a:cxnLst>
                      <a:rect l="0" t="0" r="r" b="b"/>
                      <a:pathLst>
                        <a:path w="311" h="650">
                          <a:moveTo>
                            <a:pt x="310" y="649"/>
                          </a:moveTo>
                          <a:lnTo>
                            <a:pt x="294" y="498"/>
                          </a:lnTo>
                          <a:lnTo>
                            <a:pt x="278" y="366"/>
                          </a:lnTo>
                          <a:lnTo>
                            <a:pt x="259" y="255"/>
                          </a:lnTo>
                          <a:lnTo>
                            <a:pt x="240" y="163"/>
                          </a:lnTo>
                          <a:lnTo>
                            <a:pt x="218" y="93"/>
                          </a:lnTo>
                          <a:lnTo>
                            <a:pt x="198" y="42"/>
                          </a:lnTo>
                          <a:lnTo>
                            <a:pt x="175" y="11"/>
                          </a:lnTo>
                          <a:lnTo>
                            <a:pt x="155" y="0"/>
                          </a:lnTo>
                          <a:lnTo>
                            <a:pt x="132" y="11"/>
                          </a:lnTo>
                          <a:lnTo>
                            <a:pt x="110" y="42"/>
                          </a:lnTo>
                          <a:lnTo>
                            <a:pt x="89" y="93"/>
                          </a:lnTo>
                          <a:lnTo>
                            <a:pt x="69" y="163"/>
                          </a:lnTo>
                          <a:lnTo>
                            <a:pt x="49" y="255"/>
                          </a:lnTo>
                          <a:lnTo>
                            <a:pt x="31" y="366"/>
                          </a:lnTo>
                          <a:lnTo>
                            <a:pt x="14" y="498"/>
                          </a:lnTo>
                          <a:lnTo>
                            <a:pt x="0" y="649"/>
                          </a:lnTo>
                        </a:path>
                      </a:pathLst>
                    </a:custGeom>
                    <a:noFill/>
                    <a:ln w="31750" cap="flat" cmpd="sng">
                      <a:solidFill>
                        <a:srgbClr val="E12000"/>
                      </a:solidFill>
                      <a:prstDash val="solid"/>
                      <a:round/>
                      <a:headEnd type="none" w="med" len="med"/>
                      <a:tailEnd type="none" w="med" len="med"/>
                    </a:ln>
                    <a:effectLst/>
                  </p:spPr>
                  <p:txBody>
                    <a:bodyPr/>
                    <a:lstStyle/>
                    <a:p>
                      <a:endParaRPr lang="en-US"/>
                    </a:p>
                  </p:txBody>
                </p:sp>
                <p:sp>
                  <p:nvSpPr>
                    <p:cNvPr id="918545" name="Freeform 17"/>
                    <p:cNvSpPr>
                      <a:spLocks/>
                    </p:cNvSpPr>
                    <p:nvPr/>
                  </p:nvSpPr>
                  <p:spPr bwMode="auto">
                    <a:xfrm>
                      <a:off x="1878" y="2590"/>
                      <a:ext cx="313" cy="649"/>
                    </a:xfrm>
                    <a:custGeom>
                      <a:avLst/>
                      <a:gdLst/>
                      <a:ahLst/>
                      <a:cxnLst>
                        <a:cxn ang="0">
                          <a:pos x="312" y="0"/>
                        </a:cxn>
                        <a:cxn ang="0">
                          <a:pos x="296" y="152"/>
                        </a:cxn>
                        <a:cxn ang="0">
                          <a:pos x="279" y="284"/>
                        </a:cxn>
                        <a:cxn ang="0">
                          <a:pos x="260" y="396"/>
                        </a:cxn>
                        <a:cxn ang="0">
                          <a:pos x="241" y="486"/>
                        </a:cxn>
                        <a:cxn ang="0">
                          <a:pos x="219" y="558"/>
                        </a:cxn>
                        <a:cxn ang="0">
                          <a:pos x="198" y="608"/>
                        </a:cxn>
                        <a:cxn ang="0">
                          <a:pos x="176" y="638"/>
                        </a:cxn>
                        <a:cxn ang="0">
                          <a:pos x="156" y="648"/>
                        </a:cxn>
                        <a:cxn ang="0">
                          <a:pos x="133" y="638"/>
                        </a:cxn>
                        <a:cxn ang="0">
                          <a:pos x="110" y="608"/>
                        </a:cxn>
                        <a:cxn ang="0">
                          <a:pos x="89" y="558"/>
                        </a:cxn>
                        <a:cxn ang="0">
                          <a:pos x="69" y="486"/>
                        </a:cxn>
                        <a:cxn ang="0">
                          <a:pos x="49" y="396"/>
                        </a:cxn>
                        <a:cxn ang="0">
                          <a:pos x="31" y="284"/>
                        </a:cxn>
                        <a:cxn ang="0">
                          <a:pos x="14" y="152"/>
                        </a:cxn>
                        <a:cxn ang="0">
                          <a:pos x="0" y="0"/>
                        </a:cxn>
                      </a:cxnLst>
                      <a:rect l="0" t="0" r="r" b="b"/>
                      <a:pathLst>
                        <a:path w="313" h="649">
                          <a:moveTo>
                            <a:pt x="312" y="0"/>
                          </a:moveTo>
                          <a:lnTo>
                            <a:pt x="296" y="152"/>
                          </a:lnTo>
                          <a:lnTo>
                            <a:pt x="279" y="284"/>
                          </a:lnTo>
                          <a:lnTo>
                            <a:pt x="260" y="396"/>
                          </a:lnTo>
                          <a:lnTo>
                            <a:pt x="241" y="486"/>
                          </a:lnTo>
                          <a:lnTo>
                            <a:pt x="219" y="558"/>
                          </a:lnTo>
                          <a:lnTo>
                            <a:pt x="198" y="608"/>
                          </a:lnTo>
                          <a:lnTo>
                            <a:pt x="176" y="638"/>
                          </a:lnTo>
                          <a:lnTo>
                            <a:pt x="156" y="648"/>
                          </a:lnTo>
                          <a:lnTo>
                            <a:pt x="133" y="638"/>
                          </a:lnTo>
                          <a:lnTo>
                            <a:pt x="110" y="608"/>
                          </a:lnTo>
                          <a:lnTo>
                            <a:pt x="89" y="558"/>
                          </a:lnTo>
                          <a:lnTo>
                            <a:pt x="69" y="486"/>
                          </a:lnTo>
                          <a:lnTo>
                            <a:pt x="49" y="396"/>
                          </a:lnTo>
                          <a:lnTo>
                            <a:pt x="31" y="284"/>
                          </a:lnTo>
                          <a:lnTo>
                            <a:pt x="14" y="152"/>
                          </a:lnTo>
                          <a:lnTo>
                            <a:pt x="0" y="0"/>
                          </a:lnTo>
                        </a:path>
                      </a:pathLst>
                    </a:custGeom>
                    <a:noFill/>
                    <a:ln w="31750" cap="flat" cmpd="sng">
                      <a:solidFill>
                        <a:srgbClr val="E12000"/>
                      </a:solidFill>
                      <a:prstDash val="solid"/>
                      <a:round/>
                      <a:headEnd type="triangle" w="med" len="med"/>
                      <a:tailEnd type="none" w="med" len="med"/>
                    </a:ln>
                    <a:effectLst/>
                  </p:spPr>
                  <p:txBody>
                    <a:bodyPr/>
                    <a:lstStyle/>
                    <a:p>
                      <a:endParaRPr lang="en-US"/>
                    </a:p>
                  </p:txBody>
                </p:sp>
              </p:grpSp>
              <p:grpSp>
                <p:nvGrpSpPr>
                  <p:cNvPr id="918546" name="Group 18"/>
                  <p:cNvGrpSpPr>
                    <a:grpSpLocks/>
                  </p:cNvGrpSpPr>
                  <p:nvPr/>
                </p:nvGrpSpPr>
                <p:grpSpPr bwMode="auto">
                  <a:xfrm>
                    <a:off x="2232" y="1948"/>
                    <a:ext cx="624" cy="1307"/>
                    <a:chOff x="2232" y="1948"/>
                    <a:chExt cx="624" cy="1307"/>
                  </a:xfrm>
                </p:grpSpPr>
                <p:sp>
                  <p:nvSpPr>
                    <p:cNvPr id="918547" name="Freeform 19"/>
                    <p:cNvSpPr>
                      <a:spLocks/>
                    </p:cNvSpPr>
                    <p:nvPr/>
                  </p:nvSpPr>
                  <p:spPr bwMode="auto">
                    <a:xfrm>
                      <a:off x="2232" y="1948"/>
                      <a:ext cx="312" cy="649"/>
                    </a:xfrm>
                    <a:custGeom>
                      <a:avLst/>
                      <a:gdLst/>
                      <a:ahLst/>
                      <a:cxnLst>
                        <a:cxn ang="0">
                          <a:pos x="311" y="648"/>
                        </a:cxn>
                        <a:cxn ang="0">
                          <a:pos x="295" y="497"/>
                        </a:cxn>
                        <a:cxn ang="0">
                          <a:pos x="278" y="365"/>
                        </a:cxn>
                        <a:cxn ang="0">
                          <a:pos x="260" y="254"/>
                        </a:cxn>
                        <a:cxn ang="0">
                          <a:pos x="241" y="162"/>
                        </a:cxn>
                        <a:cxn ang="0">
                          <a:pos x="219" y="92"/>
                        </a:cxn>
                        <a:cxn ang="0">
                          <a:pos x="198" y="41"/>
                        </a:cxn>
                        <a:cxn ang="0">
                          <a:pos x="176" y="11"/>
                        </a:cxn>
                        <a:cxn ang="0">
                          <a:pos x="155" y="0"/>
                        </a:cxn>
                        <a:cxn ang="0">
                          <a:pos x="133" y="11"/>
                        </a:cxn>
                        <a:cxn ang="0">
                          <a:pos x="111" y="41"/>
                        </a:cxn>
                        <a:cxn ang="0">
                          <a:pos x="89" y="92"/>
                        </a:cxn>
                        <a:cxn ang="0">
                          <a:pos x="69" y="162"/>
                        </a:cxn>
                        <a:cxn ang="0">
                          <a:pos x="49" y="254"/>
                        </a:cxn>
                        <a:cxn ang="0">
                          <a:pos x="31" y="365"/>
                        </a:cxn>
                        <a:cxn ang="0">
                          <a:pos x="14" y="497"/>
                        </a:cxn>
                        <a:cxn ang="0">
                          <a:pos x="0" y="648"/>
                        </a:cxn>
                      </a:cxnLst>
                      <a:rect l="0" t="0" r="r" b="b"/>
                      <a:pathLst>
                        <a:path w="312" h="649">
                          <a:moveTo>
                            <a:pt x="311" y="648"/>
                          </a:moveTo>
                          <a:lnTo>
                            <a:pt x="295" y="497"/>
                          </a:lnTo>
                          <a:lnTo>
                            <a:pt x="278" y="365"/>
                          </a:lnTo>
                          <a:lnTo>
                            <a:pt x="260" y="254"/>
                          </a:lnTo>
                          <a:lnTo>
                            <a:pt x="241" y="162"/>
                          </a:lnTo>
                          <a:lnTo>
                            <a:pt x="219" y="92"/>
                          </a:lnTo>
                          <a:lnTo>
                            <a:pt x="198" y="41"/>
                          </a:lnTo>
                          <a:lnTo>
                            <a:pt x="176" y="11"/>
                          </a:lnTo>
                          <a:lnTo>
                            <a:pt x="155" y="0"/>
                          </a:lnTo>
                          <a:lnTo>
                            <a:pt x="133" y="11"/>
                          </a:lnTo>
                          <a:lnTo>
                            <a:pt x="111" y="41"/>
                          </a:lnTo>
                          <a:lnTo>
                            <a:pt x="89" y="92"/>
                          </a:lnTo>
                          <a:lnTo>
                            <a:pt x="69" y="162"/>
                          </a:lnTo>
                          <a:lnTo>
                            <a:pt x="49" y="254"/>
                          </a:lnTo>
                          <a:lnTo>
                            <a:pt x="31" y="365"/>
                          </a:lnTo>
                          <a:lnTo>
                            <a:pt x="14" y="497"/>
                          </a:lnTo>
                          <a:lnTo>
                            <a:pt x="0" y="648"/>
                          </a:lnTo>
                        </a:path>
                      </a:pathLst>
                    </a:custGeom>
                    <a:noFill/>
                    <a:ln w="31750" cap="flat" cmpd="sng">
                      <a:solidFill>
                        <a:srgbClr val="E12000"/>
                      </a:solidFill>
                      <a:prstDash val="solid"/>
                      <a:round/>
                      <a:headEnd type="none" w="med" len="med"/>
                      <a:tailEnd type="none" w="med" len="med"/>
                    </a:ln>
                    <a:effectLst/>
                  </p:spPr>
                  <p:txBody>
                    <a:bodyPr/>
                    <a:lstStyle/>
                    <a:p>
                      <a:endParaRPr lang="en-US"/>
                    </a:p>
                  </p:txBody>
                </p:sp>
                <p:sp>
                  <p:nvSpPr>
                    <p:cNvPr id="918548" name="Freeform 20"/>
                    <p:cNvSpPr>
                      <a:spLocks/>
                    </p:cNvSpPr>
                    <p:nvPr/>
                  </p:nvSpPr>
                  <p:spPr bwMode="auto">
                    <a:xfrm>
                      <a:off x="2544" y="2605"/>
                      <a:ext cx="312" cy="650"/>
                    </a:xfrm>
                    <a:custGeom>
                      <a:avLst/>
                      <a:gdLst/>
                      <a:ahLst/>
                      <a:cxnLst>
                        <a:cxn ang="0">
                          <a:pos x="311" y="0"/>
                        </a:cxn>
                        <a:cxn ang="0">
                          <a:pos x="296" y="153"/>
                        </a:cxn>
                        <a:cxn ang="0">
                          <a:pos x="279" y="285"/>
                        </a:cxn>
                        <a:cxn ang="0">
                          <a:pos x="260" y="396"/>
                        </a:cxn>
                        <a:cxn ang="0">
                          <a:pos x="241" y="487"/>
                        </a:cxn>
                        <a:cxn ang="0">
                          <a:pos x="220" y="559"/>
                        </a:cxn>
                        <a:cxn ang="0">
                          <a:pos x="199" y="609"/>
                        </a:cxn>
                        <a:cxn ang="0">
                          <a:pos x="176" y="639"/>
                        </a:cxn>
                        <a:cxn ang="0">
                          <a:pos x="156" y="649"/>
                        </a:cxn>
                        <a:cxn ang="0">
                          <a:pos x="133" y="639"/>
                        </a:cxn>
                        <a:cxn ang="0">
                          <a:pos x="111" y="609"/>
                        </a:cxn>
                        <a:cxn ang="0">
                          <a:pos x="89" y="559"/>
                        </a:cxn>
                        <a:cxn ang="0">
                          <a:pos x="69" y="487"/>
                        </a:cxn>
                        <a:cxn ang="0">
                          <a:pos x="49" y="396"/>
                        </a:cxn>
                        <a:cxn ang="0">
                          <a:pos x="31" y="285"/>
                        </a:cxn>
                        <a:cxn ang="0">
                          <a:pos x="14" y="153"/>
                        </a:cxn>
                        <a:cxn ang="0">
                          <a:pos x="0" y="0"/>
                        </a:cxn>
                      </a:cxnLst>
                      <a:rect l="0" t="0" r="r" b="b"/>
                      <a:pathLst>
                        <a:path w="312" h="650">
                          <a:moveTo>
                            <a:pt x="311" y="0"/>
                          </a:moveTo>
                          <a:lnTo>
                            <a:pt x="296" y="153"/>
                          </a:lnTo>
                          <a:lnTo>
                            <a:pt x="279" y="285"/>
                          </a:lnTo>
                          <a:lnTo>
                            <a:pt x="260" y="396"/>
                          </a:lnTo>
                          <a:lnTo>
                            <a:pt x="241" y="487"/>
                          </a:lnTo>
                          <a:lnTo>
                            <a:pt x="220" y="559"/>
                          </a:lnTo>
                          <a:lnTo>
                            <a:pt x="199" y="609"/>
                          </a:lnTo>
                          <a:lnTo>
                            <a:pt x="176" y="639"/>
                          </a:lnTo>
                          <a:lnTo>
                            <a:pt x="156" y="649"/>
                          </a:lnTo>
                          <a:lnTo>
                            <a:pt x="133" y="639"/>
                          </a:lnTo>
                          <a:lnTo>
                            <a:pt x="111" y="609"/>
                          </a:lnTo>
                          <a:lnTo>
                            <a:pt x="89" y="559"/>
                          </a:lnTo>
                          <a:lnTo>
                            <a:pt x="69" y="487"/>
                          </a:lnTo>
                          <a:lnTo>
                            <a:pt x="49" y="396"/>
                          </a:lnTo>
                          <a:lnTo>
                            <a:pt x="31" y="285"/>
                          </a:lnTo>
                          <a:lnTo>
                            <a:pt x="14" y="153"/>
                          </a:lnTo>
                          <a:lnTo>
                            <a:pt x="0" y="0"/>
                          </a:lnTo>
                        </a:path>
                      </a:pathLst>
                    </a:custGeom>
                    <a:noFill/>
                    <a:ln w="31750" cap="flat" cmpd="sng">
                      <a:solidFill>
                        <a:srgbClr val="E12000"/>
                      </a:solidFill>
                      <a:prstDash val="solid"/>
                      <a:round/>
                      <a:headEnd type="triangle" w="med" len="med"/>
                      <a:tailEnd type="none" w="med" len="med"/>
                    </a:ln>
                    <a:effectLst/>
                  </p:spPr>
                  <p:txBody>
                    <a:bodyPr/>
                    <a:lstStyle/>
                    <a:p>
                      <a:endParaRPr lang="en-US"/>
                    </a:p>
                  </p:txBody>
                </p:sp>
              </p:grpSp>
              <p:grpSp>
                <p:nvGrpSpPr>
                  <p:cNvPr id="918549" name="Group 21"/>
                  <p:cNvGrpSpPr>
                    <a:grpSpLocks/>
                  </p:cNvGrpSpPr>
                  <p:nvPr/>
                </p:nvGrpSpPr>
                <p:grpSpPr bwMode="auto">
                  <a:xfrm>
                    <a:off x="2896" y="1951"/>
                    <a:ext cx="623" cy="1306"/>
                    <a:chOff x="2896" y="1951"/>
                    <a:chExt cx="623" cy="1306"/>
                  </a:xfrm>
                </p:grpSpPr>
                <p:sp>
                  <p:nvSpPr>
                    <p:cNvPr id="918550" name="Freeform 22"/>
                    <p:cNvSpPr>
                      <a:spLocks/>
                    </p:cNvSpPr>
                    <p:nvPr/>
                  </p:nvSpPr>
                  <p:spPr bwMode="auto">
                    <a:xfrm>
                      <a:off x="2896" y="1951"/>
                      <a:ext cx="311" cy="650"/>
                    </a:xfrm>
                    <a:custGeom>
                      <a:avLst/>
                      <a:gdLst/>
                      <a:ahLst/>
                      <a:cxnLst>
                        <a:cxn ang="0">
                          <a:pos x="310" y="649"/>
                        </a:cxn>
                        <a:cxn ang="0">
                          <a:pos x="294" y="497"/>
                        </a:cxn>
                        <a:cxn ang="0">
                          <a:pos x="278" y="365"/>
                        </a:cxn>
                        <a:cxn ang="0">
                          <a:pos x="259" y="254"/>
                        </a:cxn>
                        <a:cxn ang="0">
                          <a:pos x="240" y="162"/>
                        </a:cxn>
                        <a:cxn ang="0">
                          <a:pos x="218" y="93"/>
                        </a:cxn>
                        <a:cxn ang="0">
                          <a:pos x="198" y="41"/>
                        </a:cxn>
                        <a:cxn ang="0">
                          <a:pos x="175" y="11"/>
                        </a:cxn>
                        <a:cxn ang="0">
                          <a:pos x="154" y="0"/>
                        </a:cxn>
                        <a:cxn ang="0">
                          <a:pos x="132" y="11"/>
                        </a:cxn>
                        <a:cxn ang="0">
                          <a:pos x="110" y="41"/>
                        </a:cxn>
                        <a:cxn ang="0">
                          <a:pos x="88" y="93"/>
                        </a:cxn>
                        <a:cxn ang="0">
                          <a:pos x="68" y="162"/>
                        </a:cxn>
                        <a:cxn ang="0">
                          <a:pos x="48" y="254"/>
                        </a:cxn>
                        <a:cxn ang="0">
                          <a:pos x="30" y="365"/>
                        </a:cxn>
                        <a:cxn ang="0">
                          <a:pos x="14" y="497"/>
                        </a:cxn>
                        <a:cxn ang="0">
                          <a:pos x="0" y="649"/>
                        </a:cxn>
                      </a:cxnLst>
                      <a:rect l="0" t="0" r="r" b="b"/>
                      <a:pathLst>
                        <a:path w="311" h="650">
                          <a:moveTo>
                            <a:pt x="310" y="649"/>
                          </a:moveTo>
                          <a:lnTo>
                            <a:pt x="294" y="497"/>
                          </a:lnTo>
                          <a:lnTo>
                            <a:pt x="278" y="365"/>
                          </a:lnTo>
                          <a:lnTo>
                            <a:pt x="259" y="254"/>
                          </a:lnTo>
                          <a:lnTo>
                            <a:pt x="240" y="162"/>
                          </a:lnTo>
                          <a:lnTo>
                            <a:pt x="218" y="93"/>
                          </a:lnTo>
                          <a:lnTo>
                            <a:pt x="198" y="41"/>
                          </a:lnTo>
                          <a:lnTo>
                            <a:pt x="175" y="11"/>
                          </a:lnTo>
                          <a:lnTo>
                            <a:pt x="154" y="0"/>
                          </a:lnTo>
                          <a:lnTo>
                            <a:pt x="132" y="11"/>
                          </a:lnTo>
                          <a:lnTo>
                            <a:pt x="110" y="41"/>
                          </a:lnTo>
                          <a:lnTo>
                            <a:pt x="88" y="93"/>
                          </a:lnTo>
                          <a:lnTo>
                            <a:pt x="68" y="162"/>
                          </a:lnTo>
                          <a:lnTo>
                            <a:pt x="48" y="254"/>
                          </a:lnTo>
                          <a:lnTo>
                            <a:pt x="30" y="365"/>
                          </a:lnTo>
                          <a:lnTo>
                            <a:pt x="14" y="497"/>
                          </a:lnTo>
                          <a:lnTo>
                            <a:pt x="0" y="649"/>
                          </a:lnTo>
                        </a:path>
                      </a:pathLst>
                    </a:custGeom>
                    <a:noFill/>
                    <a:ln w="31750" cap="flat" cmpd="sng">
                      <a:solidFill>
                        <a:srgbClr val="E12000"/>
                      </a:solidFill>
                      <a:prstDash val="solid"/>
                      <a:round/>
                      <a:headEnd type="none" w="med" len="med"/>
                      <a:tailEnd type="none" w="med" len="med"/>
                    </a:ln>
                    <a:effectLst/>
                  </p:spPr>
                  <p:txBody>
                    <a:bodyPr/>
                    <a:lstStyle/>
                    <a:p>
                      <a:endParaRPr lang="en-US"/>
                    </a:p>
                  </p:txBody>
                </p:sp>
                <p:sp>
                  <p:nvSpPr>
                    <p:cNvPr id="918551" name="Freeform 23"/>
                    <p:cNvSpPr>
                      <a:spLocks/>
                    </p:cNvSpPr>
                    <p:nvPr/>
                  </p:nvSpPr>
                  <p:spPr bwMode="auto">
                    <a:xfrm>
                      <a:off x="3207" y="2609"/>
                      <a:ext cx="312" cy="648"/>
                    </a:xfrm>
                    <a:custGeom>
                      <a:avLst/>
                      <a:gdLst/>
                      <a:ahLst/>
                      <a:cxnLst>
                        <a:cxn ang="0">
                          <a:pos x="311" y="0"/>
                        </a:cxn>
                        <a:cxn ang="0">
                          <a:pos x="296" y="152"/>
                        </a:cxn>
                        <a:cxn ang="0">
                          <a:pos x="279" y="284"/>
                        </a:cxn>
                        <a:cxn ang="0">
                          <a:pos x="260" y="395"/>
                        </a:cxn>
                        <a:cxn ang="0">
                          <a:pos x="241" y="485"/>
                        </a:cxn>
                        <a:cxn ang="0">
                          <a:pos x="219" y="557"/>
                        </a:cxn>
                        <a:cxn ang="0">
                          <a:pos x="199" y="607"/>
                        </a:cxn>
                        <a:cxn ang="0">
                          <a:pos x="176" y="637"/>
                        </a:cxn>
                        <a:cxn ang="0">
                          <a:pos x="155" y="647"/>
                        </a:cxn>
                        <a:cxn ang="0">
                          <a:pos x="133" y="637"/>
                        </a:cxn>
                        <a:cxn ang="0">
                          <a:pos x="111" y="607"/>
                        </a:cxn>
                        <a:cxn ang="0">
                          <a:pos x="89" y="557"/>
                        </a:cxn>
                        <a:cxn ang="0">
                          <a:pos x="69" y="485"/>
                        </a:cxn>
                        <a:cxn ang="0">
                          <a:pos x="49" y="395"/>
                        </a:cxn>
                        <a:cxn ang="0">
                          <a:pos x="31" y="284"/>
                        </a:cxn>
                        <a:cxn ang="0">
                          <a:pos x="14" y="152"/>
                        </a:cxn>
                        <a:cxn ang="0">
                          <a:pos x="0" y="0"/>
                        </a:cxn>
                      </a:cxnLst>
                      <a:rect l="0" t="0" r="r" b="b"/>
                      <a:pathLst>
                        <a:path w="312" h="648">
                          <a:moveTo>
                            <a:pt x="311" y="0"/>
                          </a:moveTo>
                          <a:lnTo>
                            <a:pt x="296" y="152"/>
                          </a:lnTo>
                          <a:lnTo>
                            <a:pt x="279" y="284"/>
                          </a:lnTo>
                          <a:lnTo>
                            <a:pt x="260" y="395"/>
                          </a:lnTo>
                          <a:lnTo>
                            <a:pt x="241" y="485"/>
                          </a:lnTo>
                          <a:lnTo>
                            <a:pt x="219" y="557"/>
                          </a:lnTo>
                          <a:lnTo>
                            <a:pt x="199" y="607"/>
                          </a:lnTo>
                          <a:lnTo>
                            <a:pt x="176" y="637"/>
                          </a:lnTo>
                          <a:lnTo>
                            <a:pt x="155" y="647"/>
                          </a:lnTo>
                          <a:lnTo>
                            <a:pt x="133" y="637"/>
                          </a:lnTo>
                          <a:lnTo>
                            <a:pt x="111" y="607"/>
                          </a:lnTo>
                          <a:lnTo>
                            <a:pt x="89" y="557"/>
                          </a:lnTo>
                          <a:lnTo>
                            <a:pt x="69" y="485"/>
                          </a:lnTo>
                          <a:lnTo>
                            <a:pt x="49" y="395"/>
                          </a:lnTo>
                          <a:lnTo>
                            <a:pt x="31" y="284"/>
                          </a:lnTo>
                          <a:lnTo>
                            <a:pt x="14" y="152"/>
                          </a:lnTo>
                          <a:lnTo>
                            <a:pt x="0" y="0"/>
                          </a:lnTo>
                        </a:path>
                      </a:pathLst>
                    </a:custGeom>
                    <a:noFill/>
                    <a:ln w="31750" cap="flat" cmpd="sng">
                      <a:solidFill>
                        <a:srgbClr val="E12000"/>
                      </a:solidFill>
                      <a:prstDash val="solid"/>
                      <a:round/>
                      <a:headEnd type="triangle" w="med" len="med"/>
                      <a:tailEnd type="none" w="med" len="med"/>
                    </a:ln>
                    <a:effectLst/>
                  </p:spPr>
                  <p:txBody>
                    <a:bodyPr/>
                    <a:lstStyle/>
                    <a:p>
                      <a:endParaRPr lang="en-US"/>
                    </a:p>
                  </p:txBody>
                </p:sp>
              </p:grpSp>
              <p:grpSp>
                <p:nvGrpSpPr>
                  <p:cNvPr id="918552" name="Group 24"/>
                  <p:cNvGrpSpPr>
                    <a:grpSpLocks/>
                  </p:cNvGrpSpPr>
                  <p:nvPr/>
                </p:nvGrpSpPr>
                <p:grpSpPr bwMode="auto">
                  <a:xfrm>
                    <a:off x="3524" y="1948"/>
                    <a:ext cx="624" cy="1307"/>
                    <a:chOff x="3524" y="1948"/>
                    <a:chExt cx="624" cy="1307"/>
                  </a:xfrm>
                </p:grpSpPr>
                <p:sp>
                  <p:nvSpPr>
                    <p:cNvPr id="918553" name="Freeform 25"/>
                    <p:cNvSpPr>
                      <a:spLocks/>
                    </p:cNvSpPr>
                    <p:nvPr/>
                  </p:nvSpPr>
                  <p:spPr bwMode="auto">
                    <a:xfrm>
                      <a:off x="3524" y="1948"/>
                      <a:ext cx="311" cy="649"/>
                    </a:xfrm>
                    <a:custGeom>
                      <a:avLst/>
                      <a:gdLst/>
                      <a:ahLst/>
                      <a:cxnLst>
                        <a:cxn ang="0">
                          <a:pos x="310" y="648"/>
                        </a:cxn>
                        <a:cxn ang="0">
                          <a:pos x="295" y="497"/>
                        </a:cxn>
                        <a:cxn ang="0">
                          <a:pos x="278" y="365"/>
                        </a:cxn>
                        <a:cxn ang="0">
                          <a:pos x="259" y="254"/>
                        </a:cxn>
                        <a:cxn ang="0">
                          <a:pos x="240" y="162"/>
                        </a:cxn>
                        <a:cxn ang="0">
                          <a:pos x="218" y="92"/>
                        </a:cxn>
                        <a:cxn ang="0">
                          <a:pos x="198" y="41"/>
                        </a:cxn>
                        <a:cxn ang="0">
                          <a:pos x="176" y="11"/>
                        </a:cxn>
                        <a:cxn ang="0">
                          <a:pos x="155" y="0"/>
                        </a:cxn>
                        <a:cxn ang="0">
                          <a:pos x="132" y="11"/>
                        </a:cxn>
                        <a:cxn ang="0">
                          <a:pos x="111" y="41"/>
                        </a:cxn>
                        <a:cxn ang="0">
                          <a:pos x="89" y="92"/>
                        </a:cxn>
                        <a:cxn ang="0">
                          <a:pos x="69" y="162"/>
                        </a:cxn>
                        <a:cxn ang="0">
                          <a:pos x="49" y="254"/>
                        </a:cxn>
                        <a:cxn ang="0">
                          <a:pos x="31" y="365"/>
                        </a:cxn>
                        <a:cxn ang="0">
                          <a:pos x="14" y="497"/>
                        </a:cxn>
                        <a:cxn ang="0">
                          <a:pos x="0" y="648"/>
                        </a:cxn>
                      </a:cxnLst>
                      <a:rect l="0" t="0" r="r" b="b"/>
                      <a:pathLst>
                        <a:path w="311" h="649">
                          <a:moveTo>
                            <a:pt x="310" y="648"/>
                          </a:moveTo>
                          <a:lnTo>
                            <a:pt x="295" y="497"/>
                          </a:lnTo>
                          <a:lnTo>
                            <a:pt x="278" y="365"/>
                          </a:lnTo>
                          <a:lnTo>
                            <a:pt x="259" y="254"/>
                          </a:lnTo>
                          <a:lnTo>
                            <a:pt x="240" y="162"/>
                          </a:lnTo>
                          <a:lnTo>
                            <a:pt x="218" y="92"/>
                          </a:lnTo>
                          <a:lnTo>
                            <a:pt x="198" y="41"/>
                          </a:lnTo>
                          <a:lnTo>
                            <a:pt x="176" y="11"/>
                          </a:lnTo>
                          <a:lnTo>
                            <a:pt x="155" y="0"/>
                          </a:lnTo>
                          <a:lnTo>
                            <a:pt x="132" y="11"/>
                          </a:lnTo>
                          <a:lnTo>
                            <a:pt x="111" y="41"/>
                          </a:lnTo>
                          <a:lnTo>
                            <a:pt x="89" y="92"/>
                          </a:lnTo>
                          <a:lnTo>
                            <a:pt x="69" y="162"/>
                          </a:lnTo>
                          <a:lnTo>
                            <a:pt x="49" y="254"/>
                          </a:lnTo>
                          <a:lnTo>
                            <a:pt x="31" y="365"/>
                          </a:lnTo>
                          <a:lnTo>
                            <a:pt x="14" y="497"/>
                          </a:lnTo>
                          <a:lnTo>
                            <a:pt x="0" y="648"/>
                          </a:lnTo>
                        </a:path>
                      </a:pathLst>
                    </a:custGeom>
                    <a:noFill/>
                    <a:ln w="31750" cap="flat" cmpd="sng">
                      <a:solidFill>
                        <a:srgbClr val="E12000"/>
                      </a:solidFill>
                      <a:prstDash val="solid"/>
                      <a:round/>
                      <a:headEnd type="none" w="med" len="med"/>
                      <a:tailEnd type="none" w="med" len="med"/>
                    </a:ln>
                    <a:effectLst/>
                  </p:spPr>
                  <p:txBody>
                    <a:bodyPr/>
                    <a:lstStyle/>
                    <a:p>
                      <a:endParaRPr lang="en-US"/>
                    </a:p>
                  </p:txBody>
                </p:sp>
                <p:sp>
                  <p:nvSpPr>
                    <p:cNvPr id="918554" name="Freeform 26"/>
                    <p:cNvSpPr>
                      <a:spLocks/>
                    </p:cNvSpPr>
                    <p:nvPr/>
                  </p:nvSpPr>
                  <p:spPr bwMode="auto">
                    <a:xfrm>
                      <a:off x="3836" y="2605"/>
                      <a:ext cx="312" cy="650"/>
                    </a:xfrm>
                    <a:custGeom>
                      <a:avLst/>
                      <a:gdLst/>
                      <a:ahLst/>
                      <a:cxnLst>
                        <a:cxn ang="0">
                          <a:pos x="311" y="0"/>
                        </a:cxn>
                        <a:cxn ang="0">
                          <a:pos x="295" y="153"/>
                        </a:cxn>
                        <a:cxn ang="0">
                          <a:pos x="278" y="285"/>
                        </a:cxn>
                        <a:cxn ang="0">
                          <a:pos x="260" y="396"/>
                        </a:cxn>
                        <a:cxn ang="0">
                          <a:pos x="241" y="487"/>
                        </a:cxn>
                        <a:cxn ang="0">
                          <a:pos x="219" y="559"/>
                        </a:cxn>
                        <a:cxn ang="0">
                          <a:pos x="198" y="609"/>
                        </a:cxn>
                        <a:cxn ang="0">
                          <a:pos x="176" y="639"/>
                        </a:cxn>
                        <a:cxn ang="0">
                          <a:pos x="156" y="649"/>
                        </a:cxn>
                        <a:cxn ang="0">
                          <a:pos x="133" y="639"/>
                        </a:cxn>
                        <a:cxn ang="0">
                          <a:pos x="111" y="609"/>
                        </a:cxn>
                        <a:cxn ang="0">
                          <a:pos x="89" y="559"/>
                        </a:cxn>
                        <a:cxn ang="0">
                          <a:pos x="69" y="487"/>
                        </a:cxn>
                        <a:cxn ang="0">
                          <a:pos x="49" y="396"/>
                        </a:cxn>
                        <a:cxn ang="0">
                          <a:pos x="31" y="285"/>
                        </a:cxn>
                        <a:cxn ang="0">
                          <a:pos x="14" y="153"/>
                        </a:cxn>
                        <a:cxn ang="0">
                          <a:pos x="0" y="0"/>
                        </a:cxn>
                      </a:cxnLst>
                      <a:rect l="0" t="0" r="r" b="b"/>
                      <a:pathLst>
                        <a:path w="312" h="650">
                          <a:moveTo>
                            <a:pt x="311" y="0"/>
                          </a:moveTo>
                          <a:lnTo>
                            <a:pt x="295" y="153"/>
                          </a:lnTo>
                          <a:lnTo>
                            <a:pt x="278" y="285"/>
                          </a:lnTo>
                          <a:lnTo>
                            <a:pt x="260" y="396"/>
                          </a:lnTo>
                          <a:lnTo>
                            <a:pt x="241" y="487"/>
                          </a:lnTo>
                          <a:lnTo>
                            <a:pt x="219" y="559"/>
                          </a:lnTo>
                          <a:lnTo>
                            <a:pt x="198" y="609"/>
                          </a:lnTo>
                          <a:lnTo>
                            <a:pt x="176" y="639"/>
                          </a:lnTo>
                          <a:lnTo>
                            <a:pt x="156" y="649"/>
                          </a:lnTo>
                          <a:lnTo>
                            <a:pt x="133" y="639"/>
                          </a:lnTo>
                          <a:lnTo>
                            <a:pt x="111" y="609"/>
                          </a:lnTo>
                          <a:lnTo>
                            <a:pt x="89" y="559"/>
                          </a:lnTo>
                          <a:lnTo>
                            <a:pt x="69" y="487"/>
                          </a:lnTo>
                          <a:lnTo>
                            <a:pt x="49" y="396"/>
                          </a:lnTo>
                          <a:lnTo>
                            <a:pt x="31" y="285"/>
                          </a:lnTo>
                          <a:lnTo>
                            <a:pt x="14" y="153"/>
                          </a:lnTo>
                          <a:lnTo>
                            <a:pt x="0" y="0"/>
                          </a:lnTo>
                        </a:path>
                      </a:pathLst>
                    </a:custGeom>
                    <a:noFill/>
                    <a:ln w="31750" cap="flat" cmpd="sng">
                      <a:solidFill>
                        <a:srgbClr val="E12000"/>
                      </a:solidFill>
                      <a:prstDash val="solid"/>
                      <a:round/>
                      <a:headEnd type="triangle" w="med" len="med"/>
                      <a:tailEnd type="none" w="med" len="med"/>
                    </a:ln>
                    <a:effectLst/>
                  </p:spPr>
                  <p:txBody>
                    <a:bodyPr/>
                    <a:lstStyle/>
                    <a:p>
                      <a:endParaRPr lang="en-US"/>
                    </a:p>
                  </p:txBody>
                </p:sp>
              </p:grpSp>
            </p:grpSp>
            <p:grpSp>
              <p:nvGrpSpPr>
                <p:cNvPr id="918555" name="Group 27"/>
                <p:cNvGrpSpPr>
                  <a:grpSpLocks/>
                </p:cNvGrpSpPr>
                <p:nvPr/>
              </p:nvGrpSpPr>
              <p:grpSpPr bwMode="auto">
                <a:xfrm>
                  <a:off x="1415" y="1881"/>
                  <a:ext cx="2211" cy="563"/>
                  <a:chOff x="1556" y="2132"/>
                  <a:chExt cx="2433" cy="638"/>
                </a:xfrm>
              </p:grpSpPr>
              <p:grpSp>
                <p:nvGrpSpPr>
                  <p:cNvPr id="918556" name="Group 28"/>
                  <p:cNvGrpSpPr>
                    <a:grpSpLocks/>
                  </p:cNvGrpSpPr>
                  <p:nvPr/>
                </p:nvGrpSpPr>
                <p:grpSpPr bwMode="auto">
                  <a:xfrm>
                    <a:off x="1556" y="2132"/>
                    <a:ext cx="1213" cy="633"/>
                    <a:chOff x="1556" y="2132"/>
                    <a:chExt cx="1213" cy="633"/>
                  </a:xfrm>
                </p:grpSpPr>
                <p:sp>
                  <p:nvSpPr>
                    <p:cNvPr id="918557" name="Freeform 29"/>
                    <p:cNvSpPr>
                      <a:spLocks/>
                    </p:cNvSpPr>
                    <p:nvPr/>
                  </p:nvSpPr>
                  <p:spPr bwMode="auto">
                    <a:xfrm>
                      <a:off x="1556" y="2132"/>
                      <a:ext cx="106" cy="312"/>
                    </a:xfrm>
                    <a:custGeom>
                      <a:avLst/>
                      <a:gdLst/>
                      <a:ahLst/>
                      <a:cxnLst>
                        <a:cxn ang="0">
                          <a:pos x="105" y="311"/>
                        </a:cxn>
                        <a:cxn ang="0">
                          <a:pos x="99" y="238"/>
                        </a:cxn>
                        <a:cxn ang="0">
                          <a:pos x="93" y="176"/>
                        </a:cxn>
                        <a:cxn ang="0">
                          <a:pos x="86" y="122"/>
                        </a:cxn>
                        <a:cxn ang="0">
                          <a:pos x="80" y="78"/>
                        </a:cxn>
                        <a:cxn ang="0">
                          <a:pos x="73" y="45"/>
                        </a:cxn>
                        <a:cxn ang="0">
                          <a:pos x="66" y="20"/>
                        </a:cxn>
                        <a:cxn ang="0">
                          <a:pos x="59" y="6"/>
                        </a:cxn>
                        <a:cxn ang="0">
                          <a:pos x="52" y="0"/>
                        </a:cxn>
                        <a:cxn ang="0">
                          <a:pos x="44" y="6"/>
                        </a:cxn>
                        <a:cxn ang="0">
                          <a:pos x="37" y="20"/>
                        </a:cxn>
                        <a:cxn ang="0">
                          <a:pos x="29" y="45"/>
                        </a:cxn>
                        <a:cxn ang="0">
                          <a:pos x="23" y="78"/>
                        </a:cxn>
                        <a:cxn ang="0">
                          <a:pos x="16" y="122"/>
                        </a:cxn>
                        <a:cxn ang="0">
                          <a:pos x="10" y="176"/>
                        </a:cxn>
                        <a:cxn ang="0">
                          <a:pos x="4" y="238"/>
                        </a:cxn>
                        <a:cxn ang="0">
                          <a:pos x="0" y="311"/>
                        </a:cxn>
                      </a:cxnLst>
                      <a:rect l="0" t="0" r="r" b="b"/>
                      <a:pathLst>
                        <a:path w="106" h="312">
                          <a:moveTo>
                            <a:pt x="105" y="311"/>
                          </a:moveTo>
                          <a:lnTo>
                            <a:pt x="99" y="238"/>
                          </a:lnTo>
                          <a:lnTo>
                            <a:pt x="93" y="176"/>
                          </a:lnTo>
                          <a:lnTo>
                            <a:pt x="86" y="122"/>
                          </a:lnTo>
                          <a:lnTo>
                            <a:pt x="80" y="78"/>
                          </a:lnTo>
                          <a:lnTo>
                            <a:pt x="73" y="45"/>
                          </a:lnTo>
                          <a:lnTo>
                            <a:pt x="66" y="20"/>
                          </a:lnTo>
                          <a:lnTo>
                            <a:pt x="59" y="6"/>
                          </a:lnTo>
                          <a:lnTo>
                            <a:pt x="52" y="0"/>
                          </a:lnTo>
                          <a:lnTo>
                            <a:pt x="44" y="6"/>
                          </a:lnTo>
                          <a:lnTo>
                            <a:pt x="37" y="20"/>
                          </a:lnTo>
                          <a:lnTo>
                            <a:pt x="29" y="45"/>
                          </a:lnTo>
                          <a:lnTo>
                            <a:pt x="23" y="78"/>
                          </a:lnTo>
                          <a:lnTo>
                            <a:pt x="16" y="122"/>
                          </a:lnTo>
                          <a:lnTo>
                            <a:pt x="10" y="176"/>
                          </a:lnTo>
                          <a:lnTo>
                            <a:pt x="4" y="238"/>
                          </a:lnTo>
                          <a:lnTo>
                            <a:pt x="0" y="31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58" name="Freeform 30"/>
                    <p:cNvSpPr>
                      <a:spLocks/>
                    </p:cNvSpPr>
                    <p:nvPr/>
                  </p:nvSpPr>
                  <p:spPr bwMode="auto">
                    <a:xfrm>
                      <a:off x="1661" y="2448"/>
                      <a:ext cx="104" cy="312"/>
                    </a:xfrm>
                    <a:custGeom>
                      <a:avLst/>
                      <a:gdLst/>
                      <a:ahLst/>
                      <a:cxnLst>
                        <a:cxn ang="0">
                          <a:pos x="103" y="0"/>
                        </a:cxn>
                        <a:cxn ang="0">
                          <a:pos x="97" y="74"/>
                        </a:cxn>
                        <a:cxn ang="0">
                          <a:pos x="92" y="137"/>
                        </a:cxn>
                        <a:cxn ang="0">
                          <a:pos x="85" y="191"/>
                        </a:cxn>
                        <a:cxn ang="0">
                          <a:pos x="80" y="234"/>
                        </a:cxn>
                        <a:cxn ang="0">
                          <a:pos x="72" y="269"/>
                        </a:cxn>
                        <a:cxn ang="0">
                          <a:pos x="65" y="292"/>
                        </a:cxn>
                        <a:cxn ang="0">
                          <a:pos x="58" y="307"/>
                        </a:cxn>
                        <a:cxn ang="0">
                          <a:pos x="51" y="311"/>
                        </a:cxn>
                        <a:cxn ang="0">
                          <a:pos x="43" y="307"/>
                        </a:cxn>
                        <a:cxn ang="0">
                          <a:pos x="36" y="292"/>
                        </a:cxn>
                        <a:cxn ang="0">
                          <a:pos x="29" y="269"/>
                        </a:cxn>
                        <a:cxn ang="0">
                          <a:pos x="22" y="234"/>
                        </a:cxn>
                        <a:cxn ang="0">
                          <a:pos x="15" y="191"/>
                        </a:cxn>
                        <a:cxn ang="0">
                          <a:pos x="10" y="137"/>
                        </a:cxn>
                        <a:cxn ang="0">
                          <a:pos x="4" y="74"/>
                        </a:cxn>
                        <a:cxn ang="0">
                          <a:pos x="0" y="0"/>
                        </a:cxn>
                      </a:cxnLst>
                      <a:rect l="0" t="0" r="r" b="b"/>
                      <a:pathLst>
                        <a:path w="104" h="312">
                          <a:moveTo>
                            <a:pt x="103" y="0"/>
                          </a:moveTo>
                          <a:lnTo>
                            <a:pt x="97" y="74"/>
                          </a:lnTo>
                          <a:lnTo>
                            <a:pt x="92" y="137"/>
                          </a:lnTo>
                          <a:lnTo>
                            <a:pt x="85" y="191"/>
                          </a:lnTo>
                          <a:lnTo>
                            <a:pt x="80" y="234"/>
                          </a:lnTo>
                          <a:lnTo>
                            <a:pt x="72" y="269"/>
                          </a:lnTo>
                          <a:lnTo>
                            <a:pt x="65" y="292"/>
                          </a:lnTo>
                          <a:lnTo>
                            <a:pt x="58" y="307"/>
                          </a:lnTo>
                          <a:lnTo>
                            <a:pt x="51" y="311"/>
                          </a:lnTo>
                          <a:lnTo>
                            <a:pt x="43" y="307"/>
                          </a:lnTo>
                          <a:lnTo>
                            <a:pt x="36" y="292"/>
                          </a:lnTo>
                          <a:lnTo>
                            <a:pt x="29" y="269"/>
                          </a:lnTo>
                          <a:lnTo>
                            <a:pt x="22" y="234"/>
                          </a:lnTo>
                          <a:lnTo>
                            <a:pt x="15" y="191"/>
                          </a:lnTo>
                          <a:lnTo>
                            <a:pt x="10" y="137"/>
                          </a:lnTo>
                          <a:lnTo>
                            <a:pt x="4" y="74"/>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59" name="Freeform 31"/>
                    <p:cNvSpPr>
                      <a:spLocks/>
                    </p:cNvSpPr>
                    <p:nvPr/>
                  </p:nvSpPr>
                  <p:spPr bwMode="auto">
                    <a:xfrm>
                      <a:off x="1778" y="2134"/>
                      <a:ext cx="105" cy="312"/>
                    </a:xfrm>
                    <a:custGeom>
                      <a:avLst/>
                      <a:gdLst/>
                      <a:ahLst/>
                      <a:cxnLst>
                        <a:cxn ang="0">
                          <a:pos x="104" y="311"/>
                        </a:cxn>
                        <a:cxn ang="0">
                          <a:pos x="98" y="238"/>
                        </a:cxn>
                        <a:cxn ang="0">
                          <a:pos x="92" y="175"/>
                        </a:cxn>
                        <a:cxn ang="0">
                          <a:pos x="86" y="122"/>
                        </a:cxn>
                        <a:cxn ang="0">
                          <a:pos x="80" y="78"/>
                        </a:cxn>
                        <a:cxn ang="0">
                          <a:pos x="72" y="45"/>
                        </a:cxn>
                        <a:cxn ang="0">
                          <a:pos x="66" y="20"/>
                        </a:cxn>
                        <a:cxn ang="0">
                          <a:pos x="58" y="6"/>
                        </a:cxn>
                        <a:cxn ang="0">
                          <a:pos x="51" y="0"/>
                        </a:cxn>
                        <a:cxn ang="0">
                          <a:pos x="44" y="6"/>
                        </a:cxn>
                        <a:cxn ang="0">
                          <a:pos x="36" y="20"/>
                        </a:cxn>
                        <a:cxn ang="0">
                          <a:pos x="29" y="45"/>
                        </a:cxn>
                        <a:cxn ang="0">
                          <a:pos x="23" y="78"/>
                        </a:cxn>
                        <a:cxn ang="0">
                          <a:pos x="15" y="122"/>
                        </a:cxn>
                        <a:cxn ang="0">
                          <a:pos x="10" y="175"/>
                        </a:cxn>
                        <a:cxn ang="0">
                          <a:pos x="4" y="238"/>
                        </a:cxn>
                        <a:cxn ang="0">
                          <a:pos x="0" y="311"/>
                        </a:cxn>
                      </a:cxnLst>
                      <a:rect l="0" t="0" r="r" b="b"/>
                      <a:pathLst>
                        <a:path w="105" h="312">
                          <a:moveTo>
                            <a:pt x="104" y="311"/>
                          </a:moveTo>
                          <a:lnTo>
                            <a:pt x="98" y="238"/>
                          </a:lnTo>
                          <a:lnTo>
                            <a:pt x="92" y="175"/>
                          </a:lnTo>
                          <a:lnTo>
                            <a:pt x="86" y="122"/>
                          </a:lnTo>
                          <a:lnTo>
                            <a:pt x="80" y="78"/>
                          </a:lnTo>
                          <a:lnTo>
                            <a:pt x="72" y="45"/>
                          </a:lnTo>
                          <a:lnTo>
                            <a:pt x="66" y="20"/>
                          </a:lnTo>
                          <a:lnTo>
                            <a:pt x="58" y="6"/>
                          </a:lnTo>
                          <a:lnTo>
                            <a:pt x="51" y="0"/>
                          </a:lnTo>
                          <a:lnTo>
                            <a:pt x="44" y="6"/>
                          </a:lnTo>
                          <a:lnTo>
                            <a:pt x="36" y="20"/>
                          </a:lnTo>
                          <a:lnTo>
                            <a:pt x="29" y="45"/>
                          </a:lnTo>
                          <a:lnTo>
                            <a:pt x="23" y="78"/>
                          </a:lnTo>
                          <a:lnTo>
                            <a:pt x="15" y="122"/>
                          </a:lnTo>
                          <a:lnTo>
                            <a:pt x="10" y="175"/>
                          </a:lnTo>
                          <a:lnTo>
                            <a:pt x="4" y="238"/>
                          </a:lnTo>
                          <a:lnTo>
                            <a:pt x="0" y="31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60" name="Freeform 32"/>
                    <p:cNvSpPr>
                      <a:spLocks/>
                    </p:cNvSpPr>
                    <p:nvPr/>
                  </p:nvSpPr>
                  <p:spPr bwMode="auto">
                    <a:xfrm>
                      <a:off x="1882" y="2450"/>
                      <a:ext cx="104" cy="311"/>
                    </a:xfrm>
                    <a:custGeom>
                      <a:avLst/>
                      <a:gdLst/>
                      <a:ahLst/>
                      <a:cxnLst>
                        <a:cxn ang="0">
                          <a:pos x="103" y="0"/>
                        </a:cxn>
                        <a:cxn ang="0">
                          <a:pos x="98" y="73"/>
                        </a:cxn>
                        <a:cxn ang="0">
                          <a:pos x="92" y="136"/>
                        </a:cxn>
                        <a:cxn ang="0">
                          <a:pos x="86" y="190"/>
                        </a:cxn>
                        <a:cxn ang="0">
                          <a:pos x="80" y="233"/>
                        </a:cxn>
                        <a:cxn ang="0">
                          <a:pos x="73" y="268"/>
                        </a:cxn>
                        <a:cxn ang="0">
                          <a:pos x="66" y="292"/>
                        </a:cxn>
                        <a:cxn ang="0">
                          <a:pos x="58" y="306"/>
                        </a:cxn>
                        <a:cxn ang="0">
                          <a:pos x="52" y="310"/>
                        </a:cxn>
                        <a:cxn ang="0">
                          <a:pos x="44" y="306"/>
                        </a:cxn>
                        <a:cxn ang="0">
                          <a:pos x="37" y="292"/>
                        </a:cxn>
                        <a:cxn ang="0">
                          <a:pos x="29" y="268"/>
                        </a:cxn>
                        <a:cxn ang="0">
                          <a:pos x="23" y="233"/>
                        </a:cxn>
                        <a:cxn ang="0">
                          <a:pos x="16" y="190"/>
                        </a:cxn>
                        <a:cxn ang="0">
                          <a:pos x="10" y="136"/>
                        </a:cxn>
                        <a:cxn ang="0">
                          <a:pos x="5" y="73"/>
                        </a:cxn>
                        <a:cxn ang="0">
                          <a:pos x="0" y="0"/>
                        </a:cxn>
                      </a:cxnLst>
                      <a:rect l="0" t="0" r="r" b="b"/>
                      <a:pathLst>
                        <a:path w="104" h="311">
                          <a:moveTo>
                            <a:pt x="103" y="0"/>
                          </a:moveTo>
                          <a:lnTo>
                            <a:pt x="98" y="73"/>
                          </a:lnTo>
                          <a:lnTo>
                            <a:pt x="92" y="136"/>
                          </a:lnTo>
                          <a:lnTo>
                            <a:pt x="86" y="190"/>
                          </a:lnTo>
                          <a:lnTo>
                            <a:pt x="80" y="233"/>
                          </a:lnTo>
                          <a:lnTo>
                            <a:pt x="73" y="268"/>
                          </a:lnTo>
                          <a:lnTo>
                            <a:pt x="66" y="292"/>
                          </a:lnTo>
                          <a:lnTo>
                            <a:pt x="58" y="306"/>
                          </a:lnTo>
                          <a:lnTo>
                            <a:pt x="52" y="310"/>
                          </a:lnTo>
                          <a:lnTo>
                            <a:pt x="44" y="306"/>
                          </a:lnTo>
                          <a:lnTo>
                            <a:pt x="37" y="292"/>
                          </a:lnTo>
                          <a:lnTo>
                            <a:pt x="29" y="268"/>
                          </a:lnTo>
                          <a:lnTo>
                            <a:pt x="23" y="233"/>
                          </a:lnTo>
                          <a:lnTo>
                            <a:pt x="16" y="190"/>
                          </a:lnTo>
                          <a:lnTo>
                            <a:pt x="10" y="136"/>
                          </a:lnTo>
                          <a:lnTo>
                            <a:pt x="5" y="73"/>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61" name="Freeform 33"/>
                    <p:cNvSpPr>
                      <a:spLocks/>
                    </p:cNvSpPr>
                    <p:nvPr/>
                  </p:nvSpPr>
                  <p:spPr bwMode="auto">
                    <a:xfrm>
                      <a:off x="1985" y="2138"/>
                      <a:ext cx="104" cy="311"/>
                    </a:xfrm>
                    <a:custGeom>
                      <a:avLst/>
                      <a:gdLst/>
                      <a:ahLst/>
                      <a:cxnLst>
                        <a:cxn ang="0">
                          <a:pos x="103" y="310"/>
                        </a:cxn>
                        <a:cxn ang="0">
                          <a:pos x="98" y="238"/>
                        </a:cxn>
                        <a:cxn ang="0">
                          <a:pos x="92" y="175"/>
                        </a:cxn>
                        <a:cxn ang="0">
                          <a:pos x="85" y="122"/>
                        </a:cxn>
                        <a:cxn ang="0">
                          <a:pos x="80" y="78"/>
                        </a:cxn>
                        <a:cxn ang="0">
                          <a:pos x="72" y="45"/>
                        </a:cxn>
                        <a:cxn ang="0">
                          <a:pos x="65" y="20"/>
                        </a:cxn>
                        <a:cxn ang="0">
                          <a:pos x="58" y="5"/>
                        </a:cxn>
                        <a:cxn ang="0">
                          <a:pos x="51" y="0"/>
                        </a:cxn>
                        <a:cxn ang="0">
                          <a:pos x="43" y="5"/>
                        </a:cxn>
                        <a:cxn ang="0">
                          <a:pos x="36" y="20"/>
                        </a:cxn>
                        <a:cxn ang="0">
                          <a:pos x="29" y="45"/>
                        </a:cxn>
                        <a:cxn ang="0">
                          <a:pos x="22" y="78"/>
                        </a:cxn>
                        <a:cxn ang="0">
                          <a:pos x="15" y="122"/>
                        </a:cxn>
                        <a:cxn ang="0">
                          <a:pos x="9" y="175"/>
                        </a:cxn>
                        <a:cxn ang="0">
                          <a:pos x="3" y="238"/>
                        </a:cxn>
                        <a:cxn ang="0">
                          <a:pos x="0" y="310"/>
                        </a:cxn>
                      </a:cxnLst>
                      <a:rect l="0" t="0" r="r" b="b"/>
                      <a:pathLst>
                        <a:path w="104" h="311">
                          <a:moveTo>
                            <a:pt x="103" y="310"/>
                          </a:moveTo>
                          <a:lnTo>
                            <a:pt x="98" y="238"/>
                          </a:lnTo>
                          <a:lnTo>
                            <a:pt x="92" y="175"/>
                          </a:lnTo>
                          <a:lnTo>
                            <a:pt x="85" y="122"/>
                          </a:lnTo>
                          <a:lnTo>
                            <a:pt x="80" y="78"/>
                          </a:lnTo>
                          <a:lnTo>
                            <a:pt x="72" y="45"/>
                          </a:lnTo>
                          <a:lnTo>
                            <a:pt x="65" y="20"/>
                          </a:lnTo>
                          <a:lnTo>
                            <a:pt x="58" y="5"/>
                          </a:lnTo>
                          <a:lnTo>
                            <a:pt x="51" y="0"/>
                          </a:lnTo>
                          <a:lnTo>
                            <a:pt x="43" y="5"/>
                          </a:lnTo>
                          <a:lnTo>
                            <a:pt x="36" y="20"/>
                          </a:lnTo>
                          <a:lnTo>
                            <a:pt x="29" y="45"/>
                          </a:lnTo>
                          <a:lnTo>
                            <a:pt x="22" y="78"/>
                          </a:lnTo>
                          <a:lnTo>
                            <a:pt x="15" y="122"/>
                          </a:lnTo>
                          <a:lnTo>
                            <a:pt x="9" y="175"/>
                          </a:lnTo>
                          <a:lnTo>
                            <a:pt x="3" y="238"/>
                          </a:lnTo>
                          <a:lnTo>
                            <a:pt x="0" y="31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62" name="Freeform 34"/>
                    <p:cNvSpPr>
                      <a:spLocks/>
                    </p:cNvSpPr>
                    <p:nvPr/>
                  </p:nvSpPr>
                  <p:spPr bwMode="auto">
                    <a:xfrm>
                      <a:off x="2088" y="2454"/>
                      <a:ext cx="105" cy="311"/>
                    </a:xfrm>
                    <a:custGeom>
                      <a:avLst/>
                      <a:gdLst/>
                      <a:ahLst/>
                      <a:cxnLst>
                        <a:cxn ang="0">
                          <a:pos x="104" y="0"/>
                        </a:cxn>
                        <a:cxn ang="0">
                          <a:pos x="98" y="74"/>
                        </a:cxn>
                        <a:cxn ang="0">
                          <a:pos x="93" y="136"/>
                        </a:cxn>
                        <a:cxn ang="0">
                          <a:pos x="86" y="190"/>
                        </a:cxn>
                        <a:cxn ang="0">
                          <a:pos x="80" y="233"/>
                        </a:cxn>
                        <a:cxn ang="0">
                          <a:pos x="73" y="268"/>
                        </a:cxn>
                        <a:cxn ang="0">
                          <a:pos x="66" y="292"/>
                        </a:cxn>
                        <a:cxn ang="0">
                          <a:pos x="58" y="306"/>
                        </a:cxn>
                        <a:cxn ang="0">
                          <a:pos x="52" y="310"/>
                        </a:cxn>
                        <a:cxn ang="0">
                          <a:pos x="44" y="306"/>
                        </a:cxn>
                        <a:cxn ang="0">
                          <a:pos x="36" y="292"/>
                        </a:cxn>
                        <a:cxn ang="0">
                          <a:pos x="29" y="268"/>
                        </a:cxn>
                        <a:cxn ang="0">
                          <a:pos x="23" y="233"/>
                        </a:cxn>
                        <a:cxn ang="0">
                          <a:pos x="16" y="190"/>
                        </a:cxn>
                        <a:cxn ang="0">
                          <a:pos x="10" y="136"/>
                        </a:cxn>
                        <a:cxn ang="0">
                          <a:pos x="5" y="74"/>
                        </a:cxn>
                        <a:cxn ang="0">
                          <a:pos x="0" y="0"/>
                        </a:cxn>
                      </a:cxnLst>
                      <a:rect l="0" t="0" r="r" b="b"/>
                      <a:pathLst>
                        <a:path w="105" h="311">
                          <a:moveTo>
                            <a:pt x="104" y="0"/>
                          </a:moveTo>
                          <a:lnTo>
                            <a:pt x="98" y="74"/>
                          </a:lnTo>
                          <a:lnTo>
                            <a:pt x="93" y="136"/>
                          </a:lnTo>
                          <a:lnTo>
                            <a:pt x="86" y="190"/>
                          </a:lnTo>
                          <a:lnTo>
                            <a:pt x="80" y="233"/>
                          </a:lnTo>
                          <a:lnTo>
                            <a:pt x="73" y="268"/>
                          </a:lnTo>
                          <a:lnTo>
                            <a:pt x="66" y="292"/>
                          </a:lnTo>
                          <a:lnTo>
                            <a:pt x="58" y="306"/>
                          </a:lnTo>
                          <a:lnTo>
                            <a:pt x="52" y="310"/>
                          </a:lnTo>
                          <a:lnTo>
                            <a:pt x="44" y="306"/>
                          </a:lnTo>
                          <a:lnTo>
                            <a:pt x="36" y="292"/>
                          </a:lnTo>
                          <a:lnTo>
                            <a:pt x="29" y="268"/>
                          </a:lnTo>
                          <a:lnTo>
                            <a:pt x="23" y="233"/>
                          </a:lnTo>
                          <a:lnTo>
                            <a:pt x="16" y="190"/>
                          </a:lnTo>
                          <a:lnTo>
                            <a:pt x="10" y="136"/>
                          </a:lnTo>
                          <a:lnTo>
                            <a:pt x="5" y="74"/>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63" name="Freeform 35"/>
                    <p:cNvSpPr>
                      <a:spLocks/>
                    </p:cNvSpPr>
                    <p:nvPr/>
                  </p:nvSpPr>
                  <p:spPr bwMode="auto">
                    <a:xfrm>
                      <a:off x="2172" y="2137"/>
                      <a:ext cx="106" cy="312"/>
                    </a:xfrm>
                    <a:custGeom>
                      <a:avLst/>
                      <a:gdLst/>
                      <a:ahLst/>
                      <a:cxnLst>
                        <a:cxn ang="0">
                          <a:pos x="105" y="311"/>
                        </a:cxn>
                        <a:cxn ang="0">
                          <a:pos x="98" y="239"/>
                        </a:cxn>
                        <a:cxn ang="0">
                          <a:pos x="93" y="176"/>
                        </a:cxn>
                        <a:cxn ang="0">
                          <a:pos x="86" y="123"/>
                        </a:cxn>
                        <a:cxn ang="0">
                          <a:pos x="80" y="78"/>
                        </a:cxn>
                        <a:cxn ang="0">
                          <a:pos x="73" y="45"/>
                        </a:cxn>
                        <a:cxn ang="0">
                          <a:pos x="66" y="20"/>
                        </a:cxn>
                        <a:cxn ang="0">
                          <a:pos x="59" y="6"/>
                        </a:cxn>
                        <a:cxn ang="0">
                          <a:pos x="52" y="0"/>
                        </a:cxn>
                        <a:cxn ang="0">
                          <a:pos x="44" y="6"/>
                        </a:cxn>
                        <a:cxn ang="0">
                          <a:pos x="37" y="20"/>
                        </a:cxn>
                        <a:cxn ang="0">
                          <a:pos x="29" y="45"/>
                        </a:cxn>
                        <a:cxn ang="0">
                          <a:pos x="22" y="78"/>
                        </a:cxn>
                        <a:cxn ang="0">
                          <a:pos x="16" y="123"/>
                        </a:cxn>
                        <a:cxn ang="0">
                          <a:pos x="10" y="176"/>
                        </a:cxn>
                        <a:cxn ang="0">
                          <a:pos x="4" y="239"/>
                        </a:cxn>
                        <a:cxn ang="0">
                          <a:pos x="0" y="311"/>
                        </a:cxn>
                      </a:cxnLst>
                      <a:rect l="0" t="0" r="r" b="b"/>
                      <a:pathLst>
                        <a:path w="106" h="312">
                          <a:moveTo>
                            <a:pt x="105" y="311"/>
                          </a:moveTo>
                          <a:lnTo>
                            <a:pt x="98" y="239"/>
                          </a:lnTo>
                          <a:lnTo>
                            <a:pt x="93" y="176"/>
                          </a:lnTo>
                          <a:lnTo>
                            <a:pt x="86" y="123"/>
                          </a:lnTo>
                          <a:lnTo>
                            <a:pt x="80" y="78"/>
                          </a:lnTo>
                          <a:lnTo>
                            <a:pt x="73" y="45"/>
                          </a:lnTo>
                          <a:lnTo>
                            <a:pt x="66" y="20"/>
                          </a:lnTo>
                          <a:lnTo>
                            <a:pt x="59" y="6"/>
                          </a:lnTo>
                          <a:lnTo>
                            <a:pt x="52" y="0"/>
                          </a:lnTo>
                          <a:lnTo>
                            <a:pt x="44" y="6"/>
                          </a:lnTo>
                          <a:lnTo>
                            <a:pt x="37" y="20"/>
                          </a:lnTo>
                          <a:lnTo>
                            <a:pt x="29" y="45"/>
                          </a:lnTo>
                          <a:lnTo>
                            <a:pt x="22" y="78"/>
                          </a:lnTo>
                          <a:lnTo>
                            <a:pt x="16" y="123"/>
                          </a:lnTo>
                          <a:lnTo>
                            <a:pt x="10" y="176"/>
                          </a:lnTo>
                          <a:lnTo>
                            <a:pt x="4" y="239"/>
                          </a:lnTo>
                          <a:lnTo>
                            <a:pt x="0" y="31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64" name="Freeform 36"/>
                    <p:cNvSpPr>
                      <a:spLocks/>
                    </p:cNvSpPr>
                    <p:nvPr/>
                  </p:nvSpPr>
                  <p:spPr bwMode="auto">
                    <a:xfrm>
                      <a:off x="2277" y="2453"/>
                      <a:ext cx="104" cy="312"/>
                    </a:xfrm>
                    <a:custGeom>
                      <a:avLst/>
                      <a:gdLst/>
                      <a:ahLst/>
                      <a:cxnLst>
                        <a:cxn ang="0">
                          <a:pos x="103" y="0"/>
                        </a:cxn>
                        <a:cxn ang="0">
                          <a:pos x="97" y="73"/>
                        </a:cxn>
                        <a:cxn ang="0">
                          <a:pos x="91" y="137"/>
                        </a:cxn>
                        <a:cxn ang="0">
                          <a:pos x="85" y="190"/>
                        </a:cxn>
                        <a:cxn ang="0">
                          <a:pos x="80" y="233"/>
                        </a:cxn>
                        <a:cxn ang="0">
                          <a:pos x="72" y="268"/>
                        </a:cxn>
                        <a:cxn ang="0">
                          <a:pos x="65" y="292"/>
                        </a:cxn>
                        <a:cxn ang="0">
                          <a:pos x="58" y="306"/>
                        </a:cxn>
                        <a:cxn ang="0">
                          <a:pos x="51" y="311"/>
                        </a:cxn>
                        <a:cxn ang="0">
                          <a:pos x="43" y="306"/>
                        </a:cxn>
                        <a:cxn ang="0">
                          <a:pos x="36" y="292"/>
                        </a:cxn>
                        <a:cxn ang="0">
                          <a:pos x="29" y="268"/>
                        </a:cxn>
                        <a:cxn ang="0">
                          <a:pos x="22" y="233"/>
                        </a:cxn>
                        <a:cxn ang="0">
                          <a:pos x="15" y="190"/>
                        </a:cxn>
                        <a:cxn ang="0">
                          <a:pos x="10" y="137"/>
                        </a:cxn>
                        <a:cxn ang="0">
                          <a:pos x="4" y="73"/>
                        </a:cxn>
                        <a:cxn ang="0">
                          <a:pos x="0" y="0"/>
                        </a:cxn>
                      </a:cxnLst>
                      <a:rect l="0" t="0" r="r" b="b"/>
                      <a:pathLst>
                        <a:path w="104" h="312">
                          <a:moveTo>
                            <a:pt x="103" y="0"/>
                          </a:moveTo>
                          <a:lnTo>
                            <a:pt x="97" y="73"/>
                          </a:lnTo>
                          <a:lnTo>
                            <a:pt x="91" y="137"/>
                          </a:lnTo>
                          <a:lnTo>
                            <a:pt x="85" y="190"/>
                          </a:lnTo>
                          <a:lnTo>
                            <a:pt x="80" y="233"/>
                          </a:lnTo>
                          <a:lnTo>
                            <a:pt x="72" y="268"/>
                          </a:lnTo>
                          <a:lnTo>
                            <a:pt x="65" y="292"/>
                          </a:lnTo>
                          <a:lnTo>
                            <a:pt x="58" y="306"/>
                          </a:lnTo>
                          <a:lnTo>
                            <a:pt x="51" y="311"/>
                          </a:lnTo>
                          <a:lnTo>
                            <a:pt x="43" y="306"/>
                          </a:lnTo>
                          <a:lnTo>
                            <a:pt x="36" y="292"/>
                          </a:lnTo>
                          <a:lnTo>
                            <a:pt x="29" y="268"/>
                          </a:lnTo>
                          <a:lnTo>
                            <a:pt x="22" y="233"/>
                          </a:lnTo>
                          <a:lnTo>
                            <a:pt x="15" y="190"/>
                          </a:lnTo>
                          <a:lnTo>
                            <a:pt x="10" y="137"/>
                          </a:lnTo>
                          <a:lnTo>
                            <a:pt x="4" y="73"/>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65" name="Freeform 37"/>
                    <p:cNvSpPr>
                      <a:spLocks/>
                    </p:cNvSpPr>
                    <p:nvPr/>
                  </p:nvSpPr>
                  <p:spPr bwMode="auto">
                    <a:xfrm>
                      <a:off x="2360" y="2133"/>
                      <a:ext cx="106" cy="312"/>
                    </a:xfrm>
                    <a:custGeom>
                      <a:avLst/>
                      <a:gdLst/>
                      <a:ahLst/>
                      <a:cxnLst>
                        <a:cxn ang="0">
                          <a:pos x="105" y="311"/>
                        </a:cxn>
                        <a:cxn ang="0">
                          <a:pos x="99" y="239"/>
                        </a:cxn>
                        <a:cxn ang="0">
                          <a:pos x="93" y="176"/>
                        </a:cxn>
                        <a:cxn ang="0">
                          <a:pos x="86" y="123"/>
                        </a:cxn>
                        <a:cxn ang="0">
                          <a:pos x="81" y="78"/>
                        </a:cxn>
                        <a:cxn ang="0">
                          <a:pos x="74" y="45"/>
                        </a:cxn>
                        <a:cxn ang="0">
                          <a:pos x="66" y="20"/>
                        </a:cxn>
                        <a:cxn ang="0">
                          <a:pos x="59" y="6"/>
                        </a:cxn>
                        <a:cxn ang="0">
                          <a:pos x="52" y="0"/>
                        </a:cxn>
                        <a:cxn ang="0">
                          <a:pos x="45" y="6"/>
                        </a:cxn>
                        <a:cxn ang="0">
                          <a:pos x="37" y="20"/>
                        </a:cxn>
                        <a:cxn ang="0">
                          <a:pos x="30" y="45"/>
                        </a:cxn>
                        <a:cxn ang="0">
                          <a:pos x="23" y="78"/>
                        </a:cxn>
                        <a:cxn ang="0">
                          <a:pos x="16" y="123"/>
                        </a:cxn>
                        <a:cxn ang="0">
                          <a:pos x="10" y="176"/>
                        </a:cxn>
                        <a:cxn ang="0">
                          <a:pos x="5" y="239"/>
                        </a:cxn>
                        <a:cxn ang="0">
                          <a:pos x="0" y="311"/>
                        </a:cxn>
                      </a:cxnLst>
                      <a:rect l="0" t="0" r="r" b="b"/>
                      <a:pathLst>
                        <a:path w="106" h="312">
                          <a:moveTo>
                            <a:pt x="105" y="311"/>
                          </a:moveTo>
                          <a:lnTo>
                            <a:pt x="99" y="239"/>
                          </a:lnTo>
                          <a:lnTo>
                            <a:pt x="93" y="176"/>
                          </a:lnTo>
                          <a:lnTo>
                            <a:pt x="86" y="123"/>
                          </a:lnTo>
                          <a:lnTo>
                            <a:pt x="81" y="78"/>
                          </a:lnTo>
                          <a:lnTo>
                            <a:pt x="74" y="45"/>
                          </a:lnTo>
                          <a:lnTo>
                            <a:pt x="66" y="20"/>
                          </a:lnTo>
                          <a:lnTo>
                            <a:pt x="59" y="6"/>
                          </a:lnTo>
                          <a:lnTo>
                            <a:pt x="52" y="0"/>
                          </a:lnTo>
                          <a:lnTo>
                            <a:pt x="45" y="6"/>
                          </a:lnTo>
                          <a:lnTo>
                            <a:pt x="37" y="20"/>
                          </a:lnTo>
                          <a:lnTo>
                            <a:pt x="30" y="45"/>
                          </a:lnTo>
                          <a:lnTo>
                            <a:pt x="23" y="78"/>
                          </a:lnTo>
                          <a:lnTo>
                            <a:pt x="16" y="123"/>
                          </a:lnTo>
                          <a:lnTo>
                            <a:pt x="10" y="176"/>
                          </a:lnTo>
                          <a:lnTo>
                            <a:pt x="5" y="239"/>
                          </a:lnTo>
                          <a:lnTo>
                            <a:pt x="0" y="31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66" name="Freeform 38"/>
                    <p:cNvSpPr>
                      <a:spLocks/>
                    </p:cNvSpPr>
                    <p:nvPr/>
                  </p:nvSpPr>
                  <p:spPr bwMode="auto">
                    <a:xfrm>
                      <a:off x="2465" y="2448"/>
                      <a:ext cx="104" cy="312"/>
                    </a:xfrm>
                    <a:custGeom>
                      <a:avLst/>
                      <a:gdLst/>
                      <a:ahLst/>
                      <a:cxnLst>
                        <a:cxn ang="0">
                          <a:pos x="103" y="0"/>
                        </a:cxn>
                        <a:cxn ang="0">
                          <a:pos x="97" y="74"/>
                        </a:cxn>
                        <a:cxn ang="0">
                          <a:pos x="91" y="137"/>
                        </a:cxn>
                        <a:cxn ang="0">
                          <a:pos x="85" y="191"/>
                        </a:cxn>
                        <a:cxn ang="0">
                          <a:pos x="79" y="234"/>
                        </a:cxn>
                        <a:cxn ang="0">
                          <a:pos x="72" y="269"/>
                        </a:cxn>
                        <a:cxn ang="0">
                          <a:pos x="65" y="292"/>
                        </a:cxn>
                        <a:cxn ang="0">
                          <a:pos x="58" y="307"/>
                        </a:cxn>
                        <a:cxn ang="0">
                          <a:pos x="51" y="311"/>
                        </a:cxn>
                        <a:cxn ang="0">
                          <a:pos x="43" y="307"/>
                        </a:cxn>
                        <a:cxn ang="0">
                          <a:pos x="36" y="292"/>
                        </a:cxn>
                        <a:cxn ang="0">
                          <a:pos x="28" y="269"/>
                        </a:cxn>
                        <a:cxn ang="0">
                          <a:pos x="22" y="234"/>
                        </a:cxn>
                        <a:cxn ang="0">
                          <a:pos x="15" y="191"/>
                        </a:cxn>
                        <a:cxn ang="0">
                          <a:pos x="9" y="137"/>
                        </a:cxn>
                        <a:cxn ang="0">
                          <a:pos x="3" y="74"/>
                        </a:cxn>
                        <a:cxn ang="0">
                          <a:pos x="0" y="0"/>
                        </a:cxn>
                      </a:cxnLst>
                      <a:rect l="0" t="0" r="r" b="b"/>
                      <a:pathLst>
                        <a:path w="104" h="312">
                          <a:moveTo>
                            <a:pt x="103" y="0"/>
                          </a:moveTo>
                          <a:lnTo>
                            <a:pt x="97" y="74"/>
                          </a:lnTo>
                          <a:lnTo>
                            <a:pt x="91" y="137"/>
                          </a:lnTo>
                          <a:lnTo>
                            <a:pt x="85" y="191"/>
                          </a:lnTo>
                          <a:lnTo>
                            <a:pt x="79" y="234"/>
                          </a:lnTo>
                          <a:lnTo>
                            <a:pt x="72" y="269"/>
                          </a:lnTo>
                          <a:lnTo>
                            <a:pt x="65" y="292"/>
                          </a:lnTo>
                          <a:lnTo>
                            <a:pt x="58" y="307"/>
                          </a:lnTo>
                          <a:lnTo>
                            <a:pt x="51" y="311"/>
                          </a:lnTo>
                          <a:lnTo>
                            <a:pt x="43" y="307"/>
                          </a:lnTo>
                          <a:lnTo>
                            <a:pt x="36" y="292"/>
                          </a:lnTo>
                          <a:lnTo>
                            <a:pt x="28" y="269"/>
                          </a:lnTo>
                          <a:lnTo>
                            <a:pt x="22" y="234"/>
                          </a:lnTo>
                          <a:lnTo>
                            <a:pt x="15" y="191"/>
                          </a:lnTo>
                          <a:lnTo>
                            <a:pt x="9" y="137"/>
                          </a:lnTo>
                          <a:lnTo>
                            <a:pt x="3" y="74"/>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67" name="Freeform 39"/>
                    <p:cNvSpPr>
                      <a:spLocks/>
                    </p:cNvSpPr>
                    <p:nvPr/>
                  </p:nvSpPr>
                  <p:spPr bwMode="auto">
                    <a:xfrm>
                      <a:off x="2560" y="2138"/>
                      <a:ext cx="105" cy="311"/>
                    </a:xfrm>
                    <a:custGeom>
                      <a:avLst/>
                      <a:gdLst/>
                      <a:ahLst/>
                      <a:cxnLst>
                        <a:cxn ang="0">
                          <a:pos x="104" y="310"/>
                        </a:cxn>
                        <a:cxn ang="0">
                          <a:pos x="99" y="238"/>
                        </a:cxn>
                        <a:cxn ang="0">
                          <a:pos x="93" y="175"/>
                        </a:cxn>
                        <a:cxn ang="0">
                          <a:pos x="86" y="122"/>
                        </a:cxn>
                        <a:cxn ang="0">
                          <a:pos x="80" y="78"/>
                        </a:cxn>
                        <a:cxn ang="0">
                          <a:pos x="73" y="45"/>
                        </a:cxn>
                        <a:cxn ang="0">
                          <a:pos x="66" y="20"/>
                        </a:cxn>
                        <a:cxn ang="0">
                          <a:pos x="59" y="5"/>
                        </a:cxn>
                        <a:cxn ang="0">
                          <a:pos x="52" y="0"/>
                        </a:cxn>
                        <a:cxn ang="0">
                          <a:pos x="44" y="5"/>
                        </a:cxn>
                        <a:cxn ang="0">
                          <a:pos x="37" y="20"/>
                        </a:cxn>
                        <a:cxn ang="0">
                          <a:pos x="30" y="45"/>
                        </a:cxn>
                        <a:cxn ang="0">
                          <a:pos x="22" y="78"/>
                        </a:cxn>
                        <a:cxn ang="0">
                          <a:pos x="16" y="122"/>
                        </a:cxn>
                        <a:cxn ang="0">
                          <a:pos x="10" y="175"/>
                        </a:cxn>
                        <a:cxn ang="0">
                          <a:pos x="4" y="238"/>
                        </a:cxn>
                        <a:cxn ang="0">
                          <a:pos x="0" y="310"/>
                        </a:cxn>
                      </a:cxnLst>
                      <a:rect l="0" t="0" r="r" b="b"/>
                      <a:pathLst>
                        <a:path w="105" h="311">
                          <a:moveTo>
                            <a:pt x="104" y="310"/>
                          </a:moveTo>
                          <a:lnTo>
                            <a:pt x="99" y="238"/>
                          </a:lnTo>
                          <a:lnTo>
                            <a:pt x="93" y="175"/>
                          </a:lnTo>
                          <a:lnTo>
                            <a:pt x="86" y="122"/>
                          </a:lnTo>
                          <a:lnTo>
                            <a:pt x="80" y="78"/>
                          </a:lnTo>
                          <a:lnTo>
                            <a:pt x="73" y="45"/>
                          </a:lnTo>
                          <a:lnTo>
                            <a:pt x="66" y="20"/>
                          </a:lnTo>
                          <a:lnTo>
                            <a:pt x="59" y="5"/>
                          </a:lnTo>
                          <a:lnTo>
                            <a:pt x="52" y="0"/>
                          </a:lnTo>
                          <a:lnTo>
                            <a:pt x="44" y="5"/>
                          </a:lnTo>
                          <a:lnTo>
                            <a:pt x="37" y="20"/>
                          </a:lnTo>
                          <a:lnTo>
                            <a:pt x="30" y="45"/>
                          </a:lnTo>
                          <a:lnTo>
                            <a:pt x="22" y="78"/>
                          </a:lnTo>
                          <a:lnTo>
                            <a:pt x="16" y="122"/>
                          </a:lnTo>
                          <a:lnTo>
                            <a:pt x="10" y="175"/>
                          </a:lnTo>
                          <a:lnTo>
                            <a:pt x="4" y="238"/>
                          </a:lnTo>
                          <a:lnTo>
                            <a:pt x="0" y="31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68" name="Freeform 40"/>
                    <p:cNvSpPr>
                      <a:spLocks/>
                    </p:cNvSpPr>
                    <p:nvPr/>
                  </p:nvSpPr>
                  <p:spPr bwMode="auto">
                    <a:xfrm>
                      <a:off x="2664" y="2454"/>
                      <a:ext cx="105" cy="311"/>
                    </a:xfrm>
                    <a:custGeom>
                      <a:avLst/>
                      <a:gdLst/>
                      <a:ahLst/>
                      <a:cxnLst>
                        <a:cxn ang="0">
                          <a:pos x="104" y="0"/>
                        </a:cxn>
                        <a:cxn ang="0">
                          <a:pos x="98" y="74"/>
                        </a:cxn>
                        <a:cxn ang="0">
                          <a:pos x="93" y="136"/>
                        </a:cxn>
                        <a:cxn ang="0">
                          <a:pos x="86" y="190"/>
                        </a:cxn>
                        <a:cxn ang="0">
                          <a:pos x="80" y="233"/>
                        </a:cxn>
                        <a:cxn ang="0">
                          <a:pos x="73" y="268"/>
                        </a:cxn>
                        <a:cxn ang="0">
                          <a:pos x="66" y="292"/>
                        </a:cxn>
                        <a:cxn ang="0">
                          <a:pos x="58" y="306"/>
                        </a:cxn>
                        <a:cxn ang="0">
                          <a:pos x="52" y="310"/>
                        </a:cxn>
                        <a:cxn ang="0">
                          <a:pos x="44" y="306"/>
                        </a:cxn>
                        <a:cxn ang="0">
                          <a:pos x="36" y="292"/>
                        </a:cxn>
                        <a:cxn ang="0">
                          <a:pos x="29" y="268"/>
                        </a:cxn>
                        <a:cxn ang="0">
                          <a:pos x="23" y="233"/>
                        </a:cxn>
                        <a:cxn ang="0">
                          <a:pos x="16" y="190"/>
                        </a:cxn>
                        <a:cxn ang="0">
                          <a:pos x="10" y="136"/>
                        </a:cxn>
                        <a:cxn ang="0">
                          <a:pos x="5" y="74"/>
                        </a:cxn>
                        <a:cxn ang="0">
                          <a:pos x="0" y="0"/>
                        </a:cxn>
                      </a:cxnLst>
                      <a:rect l="0" t="0" r="r" b="b"/>
                      <a:pathLst>
                        <a:path w="105" h="311">
                          <a:moveTo>
                            <a:pt x="104" y="0"/>
                          </a:moveTo>
                          <a:lnTo>
                            <a:pt x="98" y="74"/>
                          </a:lnTo>
                          <a:lnTo>
                            <a:pt x="93" y="136"/>
                          </a:lnTo>
                          <a:lnTo>
                            <a:pt x="86" y="190"/>
                          </a:lnTo>
                          <a:lnTo>
                            <a:pt x="80" y="233"/>
                          </a:lnTo>
                          <a:lnTo>
                            <a:pt x="73" y="268"/>
                          </a:lnTo>
                          <a:lnTo>
                            <a:pt x="66" y="292"/>
                          </a:lnTo>
                          <a:lnTo>
                            <a:pt x="58" y="306"/>
                          </a:lnTo>
                          <a:lnTo>
                            <a:pt x="52" y="310"/>
                          </a:lnTo>
                          <a:lnTo>
                            <a:pt x="44" y="306"/>
                          </a:lnTo>
                          <a:lnTo>
                            <a:pt x="36" y="292"/>
                          </a:lnTo>
                          <a:lnTo>
                            <a:pt x="29" y="268"/>
                          </a:lnTo>
                          <a:lnTo>
                            <a:pt x="23" y="233"/>
                          </a:lnTo>
                          <a:lnTo>
                            <a:pt x="16" y="190"/>
                          </a:lnTo>
                          <a:lnTo>
                            <a:pt x="10" y="136"/>
                          </a:lnTo>
                          <a:lnTo>
                            <a:pt x="5" y="74"/>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grpSp>
              <p:grpSp>
                <p:nvGrpSpPr>
                  <p:cNvPr id="918569" name="Group 41"/>
                  <p:cNvGrpSpPr>
                    <a:grpSpLocks/>
                  </p:cNvGrpSpPr>
                  <p:nvPr/>
                </p:nvGrpSpPr>
                <p:grpSpPr bwMode="auto">
                  <a:xfrm>
                    <a:off x="2776" y="2137"/>
                    <a:ext cx="1213" cy="633"/>
                    <a:chOff x="2776" y="2137"/>
                    <a:chExt cx="1213" cy="633"/>
                  </a:xfrm>
                </p:grpSpPr>
                <p:sp>
                  <p:nvSpPr>
                    <p:cNvPr id="918570" name="Freeform 42"/>
                    <p:cNvSpPr>
                      <a:spLocks/>
                    </p:cNvSpPr>
                    <p:nvPr/>
                  </p:nvSpPr>
                  <p:spPr bwMode="auto">
                    <a:xfrm>
                      <a:off x="2776" y="2137"/>
                      <a:ext cx="105" cy="312"/>
                    </a:xfrm>
                    <a:custGeom>
                      <a:avLst/>
                      <a:gdLst/>
                      <a:ahLst/>
                      <a:cxnLst>
                        <a:cxn ang="0">
                          <a:pos x="104" y="311"/>
                        </a:cxn>
                        <a:cxn ang="0">
                          <a:pos x="98" y="239"/>
                        </a:cxn>
                        <a:cxn ang="0">
                          <a:pos x="93" y="176"/>
                        </a:cxn>
                        <a:cxn ang="0">
                          <a:pos x="86" y="123"/>
                        </a:cxn>
                        <a:cxn ang="0">
                          <a:pos x="80" y="78"/>
                        </a:cxn>
                        <a:cxn ang="0">
                          <a:pos x="73" y="45"/>
                        </a:cxn>
                        <a:cxn ang="0">
                          <a:pos x="66" y="20"/>
                        </a:cxn>
                        <a:cxn ang="0">
                          <a:pos x="59" y="6"/>
                        </a:cxn>
                        <a:cxn ang="0">
                          <a:pos x="52" y="0"/>
                        </a:cxn>
                        <a:cxn ang="0">
                          <a:pos x="44" y="6"/>
                        </a:cxn>
                        <a:cxn ang="0">
                          <a:pos x="37" y="20"/>
                        </a:cxn>
                        <a:cxn ang="0">
                          <a:pos x="29" y="45"/>
                        </a:cxn>
                        <a:cxn ang="0">
                          <a:pos x="22" y="78"/>
                        </a:cxn>
                        <a:cxn ang="0">
                          <a:pos x="16" y="123"/>
                        </a:cxn>
                        <a:cxn ang="0">
                          <a:pos x="10" y="176"/>
                        </a:cxn>
                        <a:cxn ang="0">
                          <a:pos x="4" y="239"/>
                        </a:cxn>
                        <a:cxn ang="0">
                          <a:pos x="0" y="311"/>
                        </a:cxn>
                      </a:cxnLst>
                      <a:rect l="0" t="0" r="r" b="b"/>
                      <a:pathLst>
                        <a:path w="105" h="312">
                          <a:moveTo>
                            <a:pt x="104" y="311"/>
                          </a:moveTo>
                          <a:lnTo>
                            <a:pt x="98" y="239"/>
                          </a:lnTo>
                          <a:lnTo>
                            <a:pt x="93" y="176"/>
                          </a:lnTo>
                          <a:lnTo>
                            <a:pt x="86" y="123"/>
                          </a:lnTo>
                          <a:lnTo>
                            <a:pt x="80" y="78"/>
                          </a:lnTo>
                          <a:lnTo>
                            <a:pt x="73" y="45"/>
                          </a:lnTo>
                          <a:lnTo>
                            <a:pt x="66" y="20"/>
                          </a:lnTo>
                          <a:lnTo>
                            <a:pt x="59" y="6"/>
                          </a:lnTo>
                          <a:lnTo>
                            <a:pt x="52" y="0"/>
                          </a:lnTo>
                          <a:lnTo>
                            <a:pt x="44" y="6"/>
                          </a:lnTo>
                          <a:lnTo>
                            <a:pt x="37" y="20"/>
                          </a:lnTo>
                          <a:lnTo>
                            <a:pt x="29" y="45"/>
                          </a:lnTo>
                          <a:lnTo>
                            <a:pt x="22" y="78"/>
                          </a:lnTo>
                          <a:lnTo>
                            <a:pt x="16" y="123"/>
                          </a:lnTo>
                          <a:lnTo>
                            <a:pt x="10" y="176"/>
                          </a:lnTo>
                          <a:lnTo>
                            <a:pt x="4" y="239"/>
                          </a:lnTo>
                          <a:lnTo>
                            <a:pt x="0" y="31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71" name="Freeform 43"/>
                    <p:cNvSpPr>
                      <a:spLocks/>
                    </p:cNvSpPr>
                    <p:nvPr/>
                  </p:nvSpPr>
                  <p:spPr bwMode="auto">
                    <a:xfrm>
                      <a:off x="2880" y="2453"/>
                      <a:ext cx="105" cy="312"/>
                    </a:xfrm>
                    <a:custGeom>
                      <a:avLst/>
                      <a:gdLst/>
                      <a:ahLst/>
                      <a:cxnLst>
                        <a:cxn ang="0">
                          <a:pos x="104" y="0"/>
                        </a:cxn>
                        <a:cxn ang="0">
                          <a:pos x="99" y="73"/>
                        </a:cxn>
                        <a:cxn ang="0">
                          <a:pos x="93" y="137"/>
                        </a:cxn>
                        <a:cxn ang="0">
                          <a:pos x="86" y="190"/>
                        </a:cxn>
                        <a:cxn ang="0">
                          <a:pos x="81" y="233"/>
                        </a:cxn>
                        <a:cxn ang="0">
                          <a:pos x="73" y="268"/>
                        </a:cxn>
                        <a:cxn ang="0">
                          <a:pos x="66" y="292"/>
                        </a:cxn>
                        <a:cxn ang="0">
                          <a:pos x="59" y="306"/>
                        </a:cxn>
                        <a:cxn ang="0">
                          <a:pos x="52" y="311"/>
                        </a:cxn>
                        <a:cxn ang="0">
                          <a:pos x="44" y="306"/>
                        </a:cxn>
                        <a:cxn ang="0">
                          <a:pos x="37" y="292"/>
                        </a:cxn>
                        <a:cxn ang="0">
                          <a:pos x="30" y="268"/>
                        </a:cxn>
                        <a:cxn ang="0">
                          <a:pos x="23" y="233"/>
                        </a:cxn>
                        <a:cxn ang="0">
                          <a:pos x="16" y="190"/>
                        </a:cxn>
                        <a:cxn ang="0">
                          <a:pos x="10" y="137"/>
                        </a:cxn>
                        <a:cxn ang="0">
                          <a:pos x="4" y="73"/>
                        </a:cxn>
                        <a:cxn ang="0">
                          <a:pos x="0" y="0"/>
                        </a:cxn>
                      </a:cxnLst>
                      <a:rect l="0" t="0" r="r" b="b"/>
                      <a:pathLst>
                        <a:path w="105" h="312">
                          <a:moveTo>
                            <a:pt x="104" y="0"/>
                          </a:moveTo>
                          <a:lnTo>
                            <a:pt x="99" y="73"/>
                          </a:lnTo>
                          <a:lnTo>
                            <a:pt x="93" y="137"/>
                          </a:lnTo>
                          <a:lnTo>
                            <a:pt x="86" y="190"/>
                          </a:lnTo>
                          <a:lnTo>
                            <a:pt x="81" y="233"/>
                          </a:lnTo>
                          <a:lnTo>
                            <a:pt x="73" y="268"/>
                          </a:lnTo>
                          <a:lnTo>
                            <a:pt x="66" y="292"/>
                          </a:lnTo>
                          <a:lnTo>
                            <a:pt x="59" y="306"/>
                          </a:lnTo>
                          <a:lnTo>
                            <a:pt x="52" y="311"/>
                          </a:lnTo>
                          <a:lnTo>
                            <a:pt x="44" y="306"/>
                          </a:lnTo>
                          <a:lnTo>
                            <a:pt x="37" y="292"/>
                          </a:lnTo>
                          <a:lnTo>
                            <a:pt x="30" y="268"/>
                          </a:lnTo>
                          <a:lnTo>
                            <a:pt x="23" y="233"/>
                          </a:lnTo>
                          <a:lnTo>
                            <a:pt x="16" y="190"/>
                          </a:lnTo>
                          <a:lnTo>
                            <a:pt x="10" y="137"/>
                          </a:lnTo>
                          <a:lnTo>
                            <a:pt x="4" y="73"/>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72" name="Freeform 44"/>
                    <p:cNvSpPr>
                      <a:spLocks/>
                    </p:cNvSpPr>
                    <p:nvPr/>
                  </p:nvSpPr>
                  <p:spPr bwMode="auto">
                    <a:xfrm>
                      <a:off x="2998" y="2139"/>
                      <a:ext cx="105" cy="312"/>
                    </a:xfrm>
                    <a:custGeom>
                      <a:avLst/>
                      <a:gdLst/>
                      <a:ahLst/>
                      <a:cxnLst>
                        <a:cxn ang="0">
                          <a:pos x="104" y="311"/>
                        </a:cxn>
                        <a:cxn ang="0">
                          <a:pos x="98" y="238"/>
                        </a:cxn>
                        <a:cxn ang="0">
                          <a:pos x="92" y="175"/>
                        </a:cxn>
                        <a:cxn ang="0">
                          <a:pos x="86" y="122"/>
                        </a:cxn>
                        <a:cxn ang="0">
                          <a:pos x="80" y="78"/>
                        </a:cxn>
                        <a:cxn ang="0">
                          <a:pos x="72" y="45"/>
                        </a:cxn>
                        <a:cxn ang="0">
                          <a:pos x="66" y="20"/>
                        </a:cxn>
                        <a:cxn ang="0">
                          <a:pos x="58" y="5"/>
                        </a:cxn>
                        <a:cxn ang="0">
                          <a:pos x="51" y="0"/>
                        </a:cxn>
                        <a:cxn ang="0">
                          <a:pos x="44" y="5"/>
                        </a:cxn>
                        <a:cxn ang="0">
                          <a:pos x="36" y="20"/>
                        </a:cxn>
                        <a:cxn ang="0">
                          <a:pos x="29" y="45"/>
                        </a:cxn>
                        <a:cxn ang="0">
                          <a:pos x="22" y="78"/>
                        </a:cxn>
                        <a:cxn ang="0">
                          <a:pos x="15" y="122"/>
                        </a:cxn>
                        <a:cxn ang="0">
                          <a:pos x="10" y="175"/>
                        </a:cxn>
                        <a:cxn ang="0">
                          <a:pos x="4" y="238"/>
                        </a:cxn>
                        <a:cxn ang="0">
                          <a:pos x="0" y="311"/>
                        </a:cxn>
                      </a:cxnLst>
                      <a:rect l="0" t="0" r="r" b="b"/>
                      <a:pathLst>
                        <a:path w="105" h="312">
                          <a:moveTo>
                            <a:pt x="104" y="311"/>
                          </a:moveTo>
                          <a:lnTo>
                            <a:pt x="98" y="238"/>
                          </a:lnTo>
                          <a:lnTo>
                            <a:pt x="92" y="175"/>
                          </a:lnTo>
                          <a:lnTo>
                            <a:pt x="86" y="122"/>
                          </a:lnTo>
                          <a:lnTo>
                            <a:pt x="80" y="78"/>
                          </a:lnTo>
                          <a:lnTo>
                            <a:pt x="72" y="45"/>
                          </a:lnTo>
                          <a:lnTo>
                            <a:pt x="66" y="20"/>
                          </a:lnTo>
                          <a:lnTo>
                            <a:pt x="58" y="5"/>
                          </a:lnTo>
                          <a:lnTo>
                            <a:pt x="51" y="0"/>
                          </a:lnTo>
                          <a:lnTo>
                            <a:pt x="44" y="5"/>
                          </a:lnTo>
                          <a:lnTo>
                            <a:pt x="36" y="20"/>
                          </a:lnTo>
                          <a:lnTo>
                            <a:pt x="29" y="45"/>
                          </a:lnTo>
                          <a:lnTo>
                            <a:pt x="22" y="78"/>
                          </a:lnTo>
                          <a:lnTo>
                            <a:pt x="15" y="122"/>
                          </a:lnTo>
                          <a:lnTo>
                            <a:pt x="10" y="175"/>
                          </a:lnTo>
                          <a:lnTo>
                            <a:pt x="4" y="238"/>
                          </a:lnTo>
                          <a:lnTo>
                            <a:pt x="0" y="31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73" name="Freeform 45"/>
                    <p:cNvSpPr>
                      <a:spLocks/>
                    </p:cNvSpPr>
                    <p:nvPr/>
                  </p:nvSpPr>
                  <p:spPr bwMode="auto">
                    <a:xfrm>
                      <a:off x="3102" y="2455"/>
                      <a:ext cx="105" cy="312"/>
                    </a:xfrm>
                    <a:custGeom>
                      <a:avLst/>
                      <a:gdLst/>
                      <a:ahLst/>
                      <a:cxnLst>
                        <a:cxn ang="0">
                          <a:pos x="104" y="0"/>
                        </a:cxn>
                        <a:cxn ang="0">
                          <a:pos x="98" y="74"/>
                        </a:cxn>
                        <a:cxn ang="0">
                          <a:pos x="93" y="137"/>
                        </a:cxn>
                        <a:cxn ang="0">
                          <a:pos x="86" y="191"/>
                        </a:cxn>
                        <a:cxn ang="0">
                          <a:pos x="80" y="234"/>
                        </a:cxn>
                        <a:cxn ang="0">
                          <a:pos x="73" y="269"/>
                        </a:cxn>
                        <a:cxn ang="0">
                          <a:pos x="66" y="292"/>
                        </a:cxn>
                        <a:cxn ang="0">
                          <a:pos x="58" y="307"/>
                        </a:cxn>
                        <a:cxn ang="0">
                          <a:pos x="52" y="311"/>
                        </a:cxn>
                        <a:cxn ang="0">
                          <a:pos x="44" y="307"/>
                        </a:cxn>
                        <a:cxn ang="0">
                          <a:pos x="36" y="292"/>
                        </a:cxn>
                        <a:cxn ang="0">
                          <a:pos x="29" y="269"/>
                        </a:cxn>
                        <a:cxn ang="0">
                          <a:pos x="23" y="234"/>
                        </a:cxn>
                        <a:cxn ang="0">
                          <a:pos x="16" y="191"/>
                        </a:cxn>
                        <a:cxn ang="0">
                          <a:pos x="10" y="137"/>
                        </a:cxn>
                        <a:cxn ang="0">
                          <a:pos x="5" y="74"/>
                        </a:cxn>
                        <a:cxn ang="0">
                          <a:pos x="0" y="0"/>
                        </a:cxn>
                      </a:cxnLst>
                      <a:rect l="0" t="0" r="r" b="b"/>
                      <a:pathLst>
                        <a:path w="105" h="312">
                          <a:moveTo>
                            <a:pt x="104" y="0"/>
                          </a:moveTo>
                          <a:lnTo>
                            <a:pt x="98" y="74"/>
                          </a:lnTo>
                          <a:lnTo>
                            <a:pt x="93" y="137"/>
                          </a:lnTo>
                          <a:lnTo>
                            <a:pt x="86" y="191"/>
                          </a:lnTo>
                          <a:lnTo>
                            <a:pt x="80" y="234"/>
                          </a:lnTo>
                          <a:lnTo>
                            <a:pt x="73" y="269"/>
                          </a:lnTo>
                          <a:lnTo>
                            <a:pt x="66" y="292"/>
                          </a:lnTo>
                          <a:lnTo>
                            <a:pt x="58" y="307"/>
                          </a:lnTo>
                          <a:lnTo>
                            <a:pt x="52" y="311"/>
                          </a:lnTo>
                          <a:lnTo>
                            <a:pt x="44" y="307"/>
                          </a:lnTo>
                          <a:lnTo>
                            <a:pt x="36" y="292"/>
                          </a:lnTo>
                          <a:lnTo>
                            <a:pt x="29" y="269"/>
                          </a:lnTo>
                          <a:lnTo>
                            <a:pt x="23" y="234"/>
                          </a:lnTo>
                          <a:lnTo>
                            <a:pt x="16" y="191"/>
                          </a:lnTo>
                          <a:lnTo>
                            <a:pt x="10" y="137"/>
                          </a:lnTo>
                          <a:lnTo>
                            <a:pt x="5" y="74"/>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74" name="Freeform 46"/>
                    <p:cNvSpPr>
                      <a:spLocks/>
                    </p:cNvSpPr>
                    <p:nvPr/>
                  </p:nvSpPr>
                  <p:spPr bwMode="auto">
                    <a:xfrm>
                      <a:off x="3204" y="2143"/>
                      <a:ext cx="106" cy="312"/>
                    </a:xfrm>
                    <a:custGeom>
                      <a:avLst/>
                      <a:gdLst/>
                      <a:ahLst/>
                      <a:cxnLst>
                        <a:cxn ang="0">
                          <a:pos x="105" y="311"/>
                        </a:cxn>
                        <a:cxn ang="0">
                          <a:pos x="99" y="239"/>
                        </a:cxn>
                        <a:cxn ang="0">
                          <a:pos x="94" y="176"/>
                        </a:cxn>
                        <a:cxn ang="0">
                          <a:pos x="87" y="122"/>
                        </a:cxn>
                        <a:cxn ang="0">
                          <a:pos x="81" y="78"/>
                        </a:cxn>
                        <a:cxn ang="0">
                          <a:pos x="74" y="45"/>
                        </a:cxn>
                        <a:cxn ang="0">
                          <a:pos x="67" y="20"/>
                        </a:cxn>
                        <a:cxn ang="0">
                          <a:pos x="59" y="5"/>
                        </a:cxn>
                        <a:cxn ang="0">
                          <a:pos x="52" y="0"/>
                        </a:cxn>
                        <a:cxn ang="0">
                          <a:pos x="45" y="5"/>
                        </a:cxn>
                        <a:cxn ang="0">
                          <a:pos x="38" y="20"/>
                        </a:cxn>
                        <a:cxn ang="0">
                          <a:pos x="30" y="45"/>
                        </a:cxn>
                        <a:cxn ang="0">
                          <a:pos x="23" y="78"/>
                        </a:cxn>
                        <a:cxn ang="0">
                          <a:pos x="16" y="122"/>
                        </a:cxn>
                        <a:cxn ang="0">
                          <a:pos x="10" y="176"/>
                        </a:cxn>
                        <a:cxn ang="0">
                          <a:pos x="4" y="239"/>
                        </a:cxn>
                        <a:cxn ang="0">
                          <a:pos x="0" y="311"/>
                        </a:cxn>
                      </a:cxnLst>
                      <a:rect l="0" t="0" r="r" b="b"/>
                      <a:pathLst>
                        <a:path w="106" h="312">
                          <a:moveTo>
                            <a:pt x="105" y="311"/>
                          </a:moveTo>
                          <a:lnTo>
                            <a:pt x="99" y="239"/>
                          </a:lnTo>
                          <a:lnTo>
                            <a:pt x="94" y="176"/>
                          </a:lnTo>
                          <a:lnTo>
                            <a:pt x="87" y="122"/>
                          </a:lnTo>
                          <a:lnTo>
                            <a:pt x="81" y="78"/>
                          </a:lnTo>
                          <a:lnTo>
                            <a:pt x="74" y="45"/>
                          </a:lnTo>
                          <a:lnTo>
                            <a:pt x="67" y="20"/>
                          </a:lnTo>
                          <a:lnTo>
                            <a:pt x="59" y="5"/>
                          </a:lnTo>
                          <a:lnTo>
                            <a:pt x="52" y="0"/>
                          </a:lnTo>
                          <a:lnTo>
                            <a:pt x="45" y="5"/>
                          </a:lnTo>
                          <a:lnTo>
                            <a:pt x="38" y="20"/>
                          </a:lnTo>
                          <a:lnTo>
                            <a:pt x="30" y="45"/>
                          </a:lnTo>
                          <a:lnTo>
                            <a:pt x="23" y="78"/>
                          </a:lnTo>
                          <a:lnTo>
                            <a:pt x="16" y="122"/>
                          </a:lnTo>
                          <a:lnTo>
                            <a:pt x="10" y="176"/>
                          </a:lnTo>
                          <a:lnTo>
                            <a:pt x="4" y="239"/>
                          </a:lnTo>
                          <a:lnTo>
                            <a:pt x="0" y="31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75" name="Freeform 47"/>
                    <p:cNvSpPr>
                      <a:spLocks/>
                    </p:cNvSpPr>
                    <p:nvPr/>
                  </p:nvSpPr>
                  <p:spPr bwMode="auto">
                    <a:xfrm>
                      <a:off x="3309" y="2458"/>
                      <a:ext cx="104" cy="312"/>
                    </a:xfrm>
                    <a:custGeom>
                      <a:avLst/>
                      <a:gdLst/>
                      <a:ahLst/>
                      <a:cxnLst>
                        <a:cxn ang="0">
                          <a:pos x="103" y="0"/>
                        </a:cxn>
                        <a:cxn ang="0">
                          <a:pos x="97" y="74"/>
                        </a:cxn>
                        <a:cxn ang="0">
                          <a:pos x="92" y="137"/>
                        </a:cxn>
                        <a:cxn ang="0">
                          <a:pos x="85" y="191"/>
                        </a:cxn>
                        <a:cxn ang="0">
                          <a:pos x="80" y="234"/>
                        </a:cxn>
                        <a:cxn ang="0">
                          <a:pos x="72" y="269"/>
                        </a:cxn>
                        <a:cxn ang="0">
                          <a:pos x="65" y="292"/>
                        </a:cxn>
                        <a:cxn ang="0">
                          <a:pos x="58" y="307"/>
                        </a:cxn>
                        <a:cxn ang="0">
                          <a:pos x="51" y="311"/>
                        </a:cxn>
                        <a:cxn ang="0">
                          <a:pos x="43" y="307"/>
                        </a:cxn>
                        <a:cxn ang="0">
                          <a:pos x="36" y="292"/>
                        </a:cxn>
                        <a:cxn ang="0">
                          <a:pos x="29" y="269"/>
                        </a:cxn>
                        <a:cxn ang="0">
                          <a:pos x="22" y="234"/>
                        </a:cxn>
                        <a:cxn ang="0">
                          <a:pos x="15" y="191"/>
                        </a:cxn>
                        <a:cxn ang="0">
                          <a:pos x="9" y="137"/>
                        </a:cxn>
                        <a:cxn ang="0">
                          <a:pos x="4" y="74"/>
                        </a:cxn>
                        <a:cxn ang="0">
                          <a:pos x="0" y="0"/>
                        </a:cxn>
                      </a:cxnLst>
                      <a:rect l="0" t="0" r="r" b="b"/>
                      <a:pathLst>
                        <a:path w="104" h="312">
                          <a:moveTo>
                            <a:pt x="103" y="0"/>
                          </a:moveTo>
                          <a:lnTo>
                            <a:pt x="97" y="74"/>
                          </a:lnTo>
                          <a:lnTo>
                            <a:pt x="92" y="137"/>
                          </a:lnTo>
                          <a:lnTo>
                            <a:pt x="85" y="191"/>
                          </a:lnTo>
                          <a:lnTo>
                            <a:pt x="80" y="234"/>
                          </a:lnTo>
                          <a:lnTo>
                            <a:pt x="72" y="269"/>
                          </a:lnTo>
                          <a:lnTo>
                            <a:pt x="65" y="292"/>
                          </a:lnTo>
                          <a:lnTo>
                            <a:pt x="58" y="307"/>
                          </a:lnTo>
                          <a:lnTo>
                            <a:pt x="51" y="311"/>
                          </a:lnTo>
                          <a:lnTo>
                            <a:pt x="43" y="307"/>
                          </a:lnTo>
                          <a:lnTo>
                            <a:pt x="36" y="292"/>
                          </a:lnTo>
                          <a:lnTo>
                            <a:pt x="29" y="269"/>
                          </a:lnTo>
                          <a:lnTo>
                            <a:pt x="22" y="234"/>
                          </a:lnTo>
                          <a:lnTo>
                            <a:pt x="15" y="191"/>
                          </a:lnTo>
                          <a:lnTo>
                            <a:pt x="9" y="137"/>
                          </a:lnTo>
                          <a:lnTo>
                            <a:pt x="4" y="74"/>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76" name="Freeform 48"/>
                    <p:cNvSpPr>
                      <a:spLocks/>
                    </p:cNvSpPr>
                    <p:nvPr/>
                  </p:nvSpPr>
                  <p:spPr bwMode="auto">
                    <a:xfrm>
                      <a:off x="3392" y="2143"/>
                      <a:ext cx="105" cy="312"/>
                    </a:xfrm>
                    <a:custGeom>
                      <a:avLst/>
                      <a:gdLst/>
                      <a:ahLst/>
                      <a:cxnLst>
                        <a:cxn ang="0">
                          <a:pos x="104" y="311"/>
                        </a:cxn>
                        <a:cxn ang="0">
                          <a:pos x="98" y="239"/>
                        </a:cxn>
                        <a:cxn ang="0">
                          <a:pos x="93" y="176"/>
                        </a:cxn>
                        <a:cxn ang="0">
                          <a:pos x="86" y="122"/>
                        </a:cxn>
                        <a:cxn ang="0">
                          <a:pos x="80" y="78"/>
                        </a:cxn>
                        <a:cxn ang="0">
                          <a:pos x="73" y="45"/>
                        </a:cxn>
                        <a:cxn ang="0">
                          <a:pos x="66" y="20"/>
                        </a:cxn>
                        <a:cxn ang="0">
                          <a:pos x="58" y="5"/>
                        </a:cxn>
                        <a:cxn ang="0">
                          <a:pos x="52" y="0"/>
                        </a:cxn>
                        <a:cxn ang="0">
                          <a:pos x="44" y="5"/>
                        </a:cxn>
                        <a:cxn ang="0">
                          <a:pos x="37" y="20"/>
                        </a:cxn>
                        <a:cxn ang="0">
                          <a:pos x="29" y="45"/>
                        </a:cxn>
                        <a:cxn ang="0">
                          <a:pos x="23" y="78"/>
                        </a:cxn>
                        <a:cxn ang="0">
                          <a:pos x="16" y="122"/>
                        </a:cxn>
                        <a:cxn ang="0">
                          <a:pos x="10" y="176"/>
                        </a:cxn>
                        <a:cxn ang="0">
                          <a:pos x="4" y="239"/>
                        </a:cxn>
                        <a:cxn ang="0">
                          <a:pos x="0" y="311"/>
                        </a:cxn>
                      </a:cxnLst>
                      <a:rect l="0" t="0" r="r" b="b"/>
                      <a:pathLst>
                        <a:path w="105" h="312">
                          <a:moveTo>
                            <a:pt x="104" y="311"/>
                          </a:moveTo>
                          <a:lnTo>
                            <a:pt x="98" y="239"/>
                          </a:lnTo>
                          <a:lnTo>
                            <a:pt x="93" y="176"/>
                          </a:lnTo>
                          <a:lnTo>
                            <a:pt x="86" y="122"/>
                          </a:lnTo>
                          <a:lnTo>
                            <a:pt x="80" y="78"/>
                          </a:lnTo>
                          <a:lnTo>
                            <a:pt x="73" y="45"/>
                          </a:lnTo>
                          <a:lnTo>
                            <a:pt x="66" y="20"/>
                          </a:lnTo>
                          <a:lnTo>
                            <a:pt x="58" y="5"/>
                          </a:lnTo>
                          <a:lnTo>
                            <a:pt x="52" y="0"/>
                          </a:lnTo>
                          <a:lnTo>
                            <a:pt x="44" y="5"/>
                          </a:lnTo>
                          <a:lnTo>
                            <a:pt x="37" y="20"/>
                          </a:lnTo>
                          <a:lnTo>
                            <a:pt x="29" y="45"/>
                          </a:lnTo>
                          <a:lnTo>
                            <a:pt x="23" y="78"/>
                          </a:lnTo>
                          <a:lnTo>
                            <a:pt x="16" y="122"/>
                          </a:lnTo>
                          <a:lnTo>
                            <a:pt x="10" y="176"/>
                          </a:lnTo>
                          <a:lnTo>
                            <a:pt x="4" y="239"/>
                          </a:lnTo>
                          <a:lnTo>
                            <a:pt x="0" y="31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77" name="Freeform 49"/>
                    <p:cNvSpPr>
                      <a:spLocks/>
                    </p:cNvSpPr>
                    <p:nvPr/>
                  </p:nvSpPr>
                  <p:spPr bwMode="auto">
                    <a:xfrm>
                      <a:off x="3496" y="2458"/>
                      <a:ext cx="105" cy="312"/>
                    </a:xfrm>
                    <a:custGeom>
                      <a:avLst/>
                      <a:gdLst/>
                      <a:ahLst/>
                      <a:cxnLst>
                        <a:cxn ang="0">
                          <a:pos x="104" y="0"/>
                        </a:cxn>
                        <a:cxn ang="0">
                          <a:pos x="99" y="74"/>
                        </a:cxn>
                        <a:cxn ang="0">
                          <a:pos x="93" y="137"/>
                        </a:cxn>
                        <a:cxn ang="0">
                          <a:pos x="87" y="191"/>
                        </a:cxn>
                        <a:cxn ang="0">
                          <a:pos x="81" y="234"/>
                        </a:cxn>
                        <a:cxn ang="0">
                          <a:pos x="74" y="269"/>
                        </a:cxn>
                        <a:cxn ang="0">
                          <a:pos x="67" y="292"/>
                        </a:cxn>
                        <a:cxn ang="0">
                          <a:pos x="59" y="307"/>
                        </a:cxn>
                        <a:cxn ang="0">
                          <a:pos x="52" y="311"/>
                        </a:cxn>
                        <a:cxn ang="0">
                          <a:pos x="45" y="307"/>
                        </a:cxn>
                        <a:cxn ang="0">
                          <a:pos x="38" y="292"/>
                        </a:cxn>
                        <a:cxn ang="0">
                          <a:pos x="30" y="269"/>
                        </a:cxn>
                        <a:cxn ang="0">
                          <a:pos x="23" y="234"/>
                        </a:cxn>
                        <a:cxn ang="0">
                          <a:pos x="16" y="191"/>
                        </a:cxn>
                        <a:cxn ang="0">
                          <a:pos x="10" y="137"/>
                        </a:cxn>
                        <a:cxn ang="0">
                          <a:pos x="4" y="74"/>
                        </a:cxn>
                        <a:cxn ang="0">
                          <a:pos x="0" y="0"/>
                        </a:cxn>
                      </a:cxnLst>
                      <a:rect l="0" t="0" r="r" b="b"/>
                      <a:pathLst>
                        <a:path w="105" h="312">
                          <a:moveTo>
                            <a:pt x="104" y="0"/>
                          </a:moveTo>
                          <a:lnTo>
                            <a:pt x="99" y="74"/>
                          </a:lnTo>
                          <a:lnTo>
                            <a:pt x="93" y="137"/>
                          </a:lnTo>
                          <a:lnTo>
                            <a:pt x="87" y="191"/>
                          </a:lnTo>
                          <a:lnTo>
                            <a:pt x="81" y="234"/>
                          </a:lnTo>
                          <a:lnTo>
                            <a:pt x="74" y="269"/>
                          </a:lnTo>
                          <a:lnTo>
                            <a:pt x="67" y="292"/>
                          </a:lnTo>
                          <a:lnTo>
                            <a:pt x="59" y="307"/>
                          </a:lnTo>
                          <a:lnTo>
                            <a:pt x="52" y="311"/>
                          </a:lnTo>
                          <a:lnTo>
                            <a:pt x="45" y="307"/>
                          </a:lnTo>
                          <a:lnTo>
                            <a:pt x="38" y="292"/>
                          </a:lnTo>
                          <a:lnTo>
                            <a:pt x="30" y="269"/>
                          </a:lnTo>
                          <a:lnTo>
                            <a:pt x="23" y="234"/>
                          </a:lnTo>
                          <a:lnTo>
                            <a:pt x="16" y="191"/>
                          </a:lnTo>
                          <a:lnTo>
                            <a:pt x="10" y="137"/>
                          </a:lnTo>
                          <a:lnTo>
                            <a:pt x="4" y="74"/>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78" name="Freeform 50"/>
                    <p:cNvSpPr>
                      <a:spLocks/>
                    </p:cNvSpPr>
                    <p:nvPr/>
                  </p:nvSpPr>
                  <p:spPr bwMode="auto">
                    <a:xfrm>
                      <a:off x="3580" y="2139"/>
                      <a:ext cx="105" cy="312"/>
                    </a:xfrm>
                    <a:custGeom>
                      <a:avLst/>
                      <a:gdLst/>
                      <a:ahLst/>
                      <a:cxnLst>
                        <a:cxn ang="0">
                          <a:pos x="104" y="311"/>
                        </a:cxn>
                        <a:cxn ang="0">
                          <a:pos x="99" y="238"/>
                        </a:cxn>
                        <a:cxn ang="0">
                          <a:pos x="93" y="175"/>
                        </a:cxn>
                        <a:cxn ang="0">
                          <a:pos x="86" y="122"/>
                        </a:cxn>
                        <a:cxn ang="0">
                          <a:pos x="81" y="78"/>
                        </a:cxn>
                        <a:cxn ang="0">
                          <a:pos x="73" y="45"/>
                        </a:cxn>
                        <a:cxn ang="0">
                          <a:pos x="66" y="20"/>
                        </a:cxn>
                        <a:cxn ang="0">
                          <a:pos x="59" y="5"/>
                        </a:cxn>
                        <a:cxn ang="0">
                          <a:pos x="52" y="0"/>
                        </a:cxn>
                        <a:cxn ang="0">
                          <a:pos x="45" y="5"/>
                        </a:cxn>
                        <a:cxn ang="0">
                          <a:pos x="37" y="20"/>
                        </a:cxn>
                        <a:cxn ang="0">
                          <a:pos x="30" y="45"/>
                        </a:cxn>
                        <a:cxn ang="0">
                          <a:pos x="23" y="78"/>
                        </a:cxn>
                        <a:cxn ang="0">
                          <a:pos x="16" y="122"/>
                        </a:cxn>
                        <a:cxn ang="0">
                          <a:pos x="10" y="175"/>
                        </a:cxn>
                        <a:cxn ang="0">
                          <a:pos x="5" y="238"/>
                        </a:cxn>
                        <a:cxn ang="0">
                          <a:pos x="0" y="311"/>
                        </a:cxn>
                      </a:cxnLst>
                      <a:rect l="0" t="0" r="r" b="b"/>
                      <a:pathLst>
                        <a:path w="105" h="312">
                          <a:moveTo>
                            <a:pt x="104" y="311"/>
                          </a:moveTo>
                          <a:lnTo>
                            <a:pt x="99" y="238"/>
                          </a:lnTo>
                          <a:lnTo>
                            <a:pt x="93" y="175"/>
                          </a:lnTo>
                          <a:lnTo>
                            <a:pt x="86" y="122"/>
                          </a:lnTo>
                          <a:lnTo>
                            <a:pt x="81" y="78"/>
                          </a:lnTo>
                          <a:lnTo>
                            <a:pt x="73" y="45"/>
                          </a:lnTo>
                          <a:lnTo>
                            <a:pt x="66" y="20"/>
                          </a:lnTo>
                          <a:lnTo>
                            <a:pt x="59" y="5"/>
                          </a:lnTo>
                          <a:lnTo>
                            <a:pt x="52" y="0"/>
                          </a:lnTo>
                          <a:lnTo>
                            <a:pt x="45" y="5"/>
                          </a:lnTo>
                          <a:lnTo>
                            <a:pt x="37" y="20"/>
                          </a:lnTo>
                          <a:lnTo>
                            <a:pt x="30" y="45"/>
                          </a:lnTo>
                          <a:lnTo>
                            <a:pt x="23" y="78"/>
                          </a:lnTo>
                          <a:lnTo>
                            <a:pt x="16" y="122"/>
                          </a:lnTo>
                          <a:lnTo>
                            <a:pt x="10" y="175"/>
                          </a:lnTo>
                          <a:lnTo>
                            <a:pt x="5" y="238"/>
                          </a:lnTo>
                          <a:lnTo>
                            <a:pt x="0" y="31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79" name="Freeform 51"/>
                    <p:cNvSpPr>
                      <a:spLocks/>
                    </p:cNvSpPr>
                    <p:nvPr/>
                  </p:nvSpPr>
                  <p:spPr bwMode="auto">
                    <a:xfrm>
                      <a:off x="3684" y="2454"/>
                      <a:ext cx="105" cy="312"/>
                    </a:xfrm>
                    <a:custGeom>
                      <a:avLst/>
                      <a:gdLst/>
                      <a:ahLst/>
                      <a:cxnLst>
                        <a:cxn ang="0">
                          <a:pos x="104" y="0"/>
                        </a:cxn>
                        <a:cxn ang="0">
                          <a:pos x="98" y="74"/>
                        </a:cxn>
                        <a:cxn ang="0">
                          <a:pos x="92" y="137"/>
                        </a:cxn>
                        <a:cxn ang="0">
                          <a:pos x="86" y="190"/>
                        </a:cxn>
                        <a:cxn ang="0">
                          <a:pos x="80" y="234"/>
                        </a:cxn>
                        <a:cxn ang="0">
                          <a:pos x="73" y="268"/>
                        </a:cxn>
                        <a:cxn ang="0">
                          <a:pos x="66" y="292"/>
                        </a:cxn>
                        <a:cxn ang="0">
                          <a:pos x="58" y="306"/>
                        </a:cxn>
                        <a:cxn ang="0">
                          <a:pos x="52" y="311"/>
                        </a:cxn>
                        <a:cxn ang="0">
                          <a:pos x="44" y="306"/>
                        </a:cxn>
                        <a:cxn ang="0">
                          <a:pos x="37" y="292"/>
                        </a:cxn>
                        <a:cxn ang="0">
                          <a:pos x="29" y="268"/>
                        </a:cxn>
                        <a:cxn ang="0">
                          <a:pos x="23" y="234"/>
                        </a:cxn>
                        <a:cxn ang="0">
                          <a:pos x="16" y="190"/>
                        </a:cxn>
                        <a:cxn ang="0">
                          <a:pos x="10" y="137"/>
                        </a:cxn>
                        <a:cxn ang="0">
                          <a:pos x="5" y="74"/>
                        </a:cxn>
                        <a:cxn ang="0">
                          <a:pos x="0" y="0"/>
                        </a:cxn>
                      </a:cxnLst>
                      <a:rect l="0" t="0" r="r" b="b"/>
                      <a:pathLst>
                        <a:path w="105" h="312">
                          <a:moveTo>
                            <a:pt x="104" y="0"/>
                          </a:moveTo>
                          <a:lnTo>
                            <a:pt x="98" y="74"/>
                          </a:lnTo>
                          <a:lnTo>
                            <a:pt x="92" y="137"/>
                          </a:lnTo>
                          <a:lnTo>
                            <a:pt x="86" y="190"/>
                          </a:lnTo>
                          <a:lnTo>
                            <a:pt x="80" y="234"/>
                          </a:lnTo>
                          <a:lnTo>
                            <a:pt x="73" y="268"/>
                          </a:lnTo>
                          <a:lnTo>
                            <a:pt x="66" y="292"/>
                          </a:lnTo>
                          <a:lnTo>
                            <a:pt x="58" y="306"/>
                          </a:lnTo>
                          <a:lnTo>
                            <a:pt x="52" y="311"/>
                          </a:lnTo>
                          <a:lnTo>
                            <a:pt x="44" y="306"/>
                          </a:lnTo>
                          <a:lnTo>
                            <a:pt x="37" y="292"/>
                          </a:lnTo>
                          <a:lnTo>
                            <a:pt x="29" y="268"/>
                          </a:lnTo>
                          <a:lnTo>
                            <a:pt x="23" y="234"/>
                          </a:lnTo>
                          <a:lnTo>
                            <a:pt x="16" y="190"/>
                          </a:lnTo>
                          <a:lnTo>
                            <a:pt x="10" y="137"/>
                          </a:lnTo>
                          <a:lnTo>
                            <a:pt x="5" y="74"/>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80" name="Freeform 52"/>
                    <p:cNvSpPr>
                      <a:spLocks/>
                    </p:cNvSpPr>
                    <p:nvPr/>
                  </p:nvSpPr>
                  <p:spPr bwMode="auto">
                    <a:xfrm>
                      <a:off x="3780" y="2143"/>
                      <a:ext cx="106" cy="312"/>
                    </a:xfrm>
                    <a:custGeom>
                      <a:avLst/>
                      <a:gdLst/>
                      <a:ahLst/>
                      <a:cxnLst>
                        <a:cxn ang="0">
                          <a:pos x="105" y="311"/>
                        </a:cxn>
                        <a:cxn ang="0">
                          <a:pos x="98" y="239"/>
                        </a:cxn>
                        <a:cxn ang="0">
                          <a:pos x="93" y="176"/>
                        </a:cxn>
                        <a:cxn ang="0">
                          <a:pos x="86" y="122"/>
                        </a:cxn>
                        <a:cxn ang="0">
                          <a:pos x="80" y="78"/>
                        </a:cxn>
                        <a:cxn ang="0">
                          <a:pos x="73" y="45"/>
                        </a:cxn>
                        <a:cxn ang="0">
                          <a:pos x="66" y="20"/>
                        </a:cxn>
                        <a:cxn ang="0">
                          <a:pos x="59" y="5"/>
                        </a:cxn>
                        <a:cxn ang="0">
                          <a:pos x="52" y="0"/>
                        </a:cxn>
                        <a:cxn ang="0">
                          <a:pos x="44" y="5"/>
                        </a:cxn>
                        <a:cxn ang="0">
                          <a:pos x="37" y="20"/>
                        </a:cxn>
                        <a:cxn ang="0">
                          <a:pos x="29" y="45"/>
                        </a:cxn>
                        <a:cxn ang="0">
                          <a:pos x="23" y="78"/>
                        </a:cxn>
                        <a:cxn ang="0">
                          <a:pos x="16" y="122"/>
                        </a:cxn>
                        <a:cxn ang="0">
                          <a:pos x="10" y="176"/>
                        </a:cxn>
                        <a:cxn ang="0">
                          <a:pos x="4" y="239"/>
                        </a:cxn>
                        <a:cxn ang="0">
                          <a:pos x="0" y="311"/>
                        </a:cxn>
                      </a:cxnLst>
                      <a:rect l="0" t="0" r="r" b="b"/>
                      <a:pathLst>
                        <a:path w="106" h="312">
                          <a:moveTo>
                            <a:pt x="105" y="311"/>
                          </a:moveTo>
                          <a:lnTo>
                            <a:pt x="98" y="239"/>
                          </a:lnTo>
                          <a:lnTo>
                            <a:pt x="93" y="176"/>
                          </a:lnTo>
                          <a:lnTo>
                            <a:pt x="86" y="122"/>
                          </a:lnTo>
                          <a:lnTo>
                            <a:pt x="80" y="78"/>
                          </a:lnTo>
                          <a:lnTo>
                            <a:pt x="73" y="45"/>
                          </a:lnTo>
                          <a:lnTo>
                            <a:pt x="66" y="20"/>
                          </a:lnTo>
                          <a:lnTo>
                            <a:pt x="59" y="5"/>
                          </a:lnTo>
                          <a:lnTo>
                            <a:pt x="52" y="0"/>
                          </a:lnTo>
                          <a:lnTo>
                            <a:pt x="44" y="5"/>
                          </a:lnTo>
                          <a:lnTo>
                            <a:pt x="37" y="20"/>
                          </a:lnTo>
                          <a:lnTo>
                            <a:pt x="29" y="45"/>
                          </a:lnTo>
                          <a:lnTo>
                            <a:pt x="23" y="78"/>
                          </a:lnTo>
                          <a:lnTo>
                            <a:pt x="16" y="122"/>
                          </a:lnTo>
                          <a:lnTo>
                            <a:pt x="10" y="176"/>
                          </a:lnTo>
                          <a:lnTo>
                            <a:pt x="4" y="239"/>
                          </a:lnTo>
                          <a:lnTo>
                            <a:pt x="0" y="311"/>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sp>
                  <p:nvSpPr>
                    <p:cNvPr id="918581" name="Freeform 53"/>
                    <p:cNvSpPr>
                      <a:spLocks/>
                    </p:cNvSpPr>
                    <p:nvPr/>
                  </p:nvSpPr>
                  <p:spPr bwMode="auto">
                    <a:xfrm>
                      <a:off x="3885" y="2458"/>
                      <a:ext cx="104" cy="312"/>
                    </a:xfrm>
                    <a:custGeom>
                      <a:avLst/>
                      <a:gdLst/>
                      <a:ahLst/>
                      <a:cxnLst>
                        <a:cxn ang="0">
                          <a:pos x="103" y="0"/>
                        </a:cxn>
                        <a:cxn ang="0">
                          <a:pos x="97" y="74"/>
                        </a:cxn>
                        <a:cxn ang="0">
                          <a:pos x="91" y="137"/>
                        </a:cxn>
                        <a:cxn ang="0">
                          <a:pos x="85" y="191"/>
                        </a:cxn>
                        <a:cxn ang="0">
                          <a:pos x="80" y="234"/>
                        </a:cxn>
                        <a:cxn ang="0">
                          <a:pos x="72" y="269"/>
                        </a:cxn>
                        <a:cxn ang="0">
                          <a:pos x="65" y="292"/>
                        </a:cxn>
                        <a:cxn ang="0">
                          <a:pos x="58" y="307"/>
                        </a:cxn>
                        <a:cxn ang="0">
                          <a:pos x="51" y="311"/>
                        </a:cxn>
                        <a:cxn ang="0">
                          <a:pos x="43" y="307"/>
                        </a:cxn>
                        <a:cxn ang="0">
                          <a:pos x="36" y="292"/>
                        </a:cxn>
                        <a:cxn ang="0">
                          <a:pos x="29" y="269"/>
                        </a:cxn>
                        <a:cxn ang="0">
                          <a:pos x="22" y="234"/>
                        </a:cxn>
                        <a:cxn ang="0">
                          <a:pos x="15" y="191"/>
                        </a:cxn>
                        <a:cxn ang="0">
                          <a:pos x="9" y="137"/>
                        </a:cxn>
                        <a:cxn ang="0">
                          <a:pos x="3" y="74"/>
                        </a:cxn>
                        <a:cxn ang="0">
                          <a:pos x="0" y="0"/>
                        </a:cxn>
                      </a:cxnLst>
                      <a:rect l="0" t="0" r="r" b="b"/>
                      <a:pathLst>
                        <a:path w="104" h="312">
                          <a:moveTo>
                            <a:pt x="103" y="0"/>
                          </a:moveTo>
                          <a:lnTo>
                            <a:pt x="97" y="74"/>
                          </a:lnTo>
                          <a:lnTo>
                            <a:pt x="91" y="137"/>
                          </a:lnTo>
                          <a:lnTo>
                            <a:pt x="85" y="191"/>
                          </a:lnTo>
                          <a:lnTo>
                            <a:pt x="80" y="234"/>
                          </a:lnTo>
                          <a:lnTo>
                            <a:pt x="72" y="269"/>
                          </a:lnTo>
                          <a:lnTo>
                            <a:pt x="65" y="292"/>
                          </a:lnTo>
                          <a:lnTo>
                            <a:pt x="58" y="307"/>
                          </a:lnTo>
                          <a:lnTo>
                            <a:pt x="51" y="311"/>
                          </a:lnTo>
                          <a:lnTo>
                            <a:pt x="43" y="307"/>
                          </a:lnTo>
                          <a:lnTo>
                            <a:pt x="36" y="292"/>
                          </a:lnTo>
                          <a:lnTo>
                            <a:pt x="29" y="269"/>
                          </a:lnTo>
                          <a:lnTo>
                            <a:pt x="22" y="234"/>
                          </a:lnTo>
                          <a:lnTo>
                            <a:pt x="15" y="191"/>
                          </a:lnTo>
                          <a:lnTo>
                            <a:pt x="9" y="137"/>
                          </a:lnTo>
                          <a:lnTo>
                            <a:pt x="3" y="74"/>
                          </a:lnTo>
                          <a:lnTo>
                            <a:pt x="0" y="0"/>
                          </a:lnTo>
                        </a:path>
                      </a:pathLst>
                    </a:custGeom>
                    <a:noFill/>
                    <a:ln w="31750" cap="flat" cmpd="sng">
                      <a:solidFill>
                        <a:srgbClr val="008280"/>
                      </a:solidFill>
                      <a:prstDash val="solid"/>
                      <a:round/>
                      <a:headEnd type="none" w="med" len="med"/>
                      <a:tailEnd type="none" w="med" len="med"/>
                    </a:ln>
                    <a:effectLst/>
                  </p:spPr>
                  <p:txBody>
                    <a:bodyPr/>
                    <a:lstStyle/>
                    <a:p>
                      <a:endParaRPr lang="en-US"/>
                    </a:p>
                  </p:txBody>
                </p:sp>
              </p:grpSp>
            </p:grpSp>
          </p:grpSp>
          <p:sp>
            <p:nvSpPr>
              <p:cNvPr id="918582" name="Text Box 54"/>
              <p:cNvSpPr txBox="1">
                <a:spLocks noChangeArrowheads="1"/>
              </p:cNvSpPr>
              <p:nvPr/>
            </p:nvSpPr>
            <p:spPr bwMode="auto">
              <a:xfrm>
                <a:off x="1200" y="1392"/>
                <a:ext cx="170" cy="141"/>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a:t>
                </a:r>
                <a:endParaRPr lang="en-US" sz="1600"/>
              </a:p>
            </p:txBody>
          </p:sp>
        </p:grpSp>
        <p:sp>
          <p:nvSpPr>
            <p:cNvPr id="918583" name="Text Box 55"/>
            <p:cNvSpPr txBox="1">
              <a:spLocks noChangeArrowheads="1"/>
            </p:cNvSpPr>
            <p:nvPr/>
          </p:nvSpPr>
          <p:spPr bwMode="auto">
            <a:xfrm>
              <a:off x="4660" y="2113"/>
              <a:ext cx="436" cy="231"/>
            </a:xfrm>
            <a:prstGeom prst="rect">
              <a:avLst/>
            </a:prstGeom>
            <a:noFill/>
            <a:ln w="9525">
              <a:noFill/>
              <a:miter lim="800000"/>
              <a:headEnd/>
              <a:tailEnd/>
            </a:ln>
            <a:effectLst/>
          </p:spPr>
          <p:txBody>
            <a:bodyPr wrap="none">
              <a:spAutoFit/>
            </a:bodyPr>
            <a:lstStyle/>
            <a:p>
              <a:r>
                <a:rPr lang="en-US" sz="1800">
                  <a:latin typeface="Arial" pitchFamily="34" charset="0"/>
                </a:rPr>
                <a:t>Time</a:t>
              </a:r>
            </a:p>
          </p:txBody>
        </p:sp>
      </p:grpSp>
      <p:sp>
        <p:nvSpPr>
          <p:cNvPr id="918584" name="Rectangle 56"/>
          <p:cNvSpPr>
            <a:spLocks noChangeArrowheads="1"/>
          </p:cNvSpPr>
          <p:nvPr/>
        </p:nvSpPr>
        <p:spPr bwMode="auto">
          <a:xfrm>
            <a:off x="2133600" y="4648200"/>
            <a:ext cx="4800600" cy="701675"/>
          </a:xfrm>
          <a:prstGeom prst="rect">
            <a:avLst/>
          </a:prstGeom>
          <a:noFill/>
          <a:ln w="9525">
            <a:noFill/>
            <a:miter lim="800000"/>
            <a:headEnd/>
            <a:tailEnd/>
          </a:ln>
          <a:effectLst/>
        </p:spPr>
        <p:txBody>
          <a:bodyPr>
            <a:spAutoFit/>
          </a:bodyPr>
          <a:lstStyle/>
          <a:p>
            <a:pPr>
              <a:buClr>
                <a:srgbClr val="008280"/>
              </a:buClr>
              <a:buSzPct val="90000"/>
              <a:buFont typeface="Monotype Sorts" pitchFamily="2" charset="2"/>
              <a:buNone/>
            </a:pPr>
            <a:r>
              <a:rPr lang="en-US" sz="2000">
                <a:solidFill>
                  <a:srgbClr val="000000"/>
                </a:solidFill>
                <a:latin typeface="Arial" pitchFamily="34" charset="0"/>
              </a:rPr>
              <a:t>Time Waveform contains all the different frequencies mixed together.</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19554" name="Picture 1026"/>
          <p:cNvPicPr>
            <a:picLocks noChangeArrowheads="1"/>
          </p:cNvPicPr>
          <p:nvPr/>
        </p:nvPicPr>
        <p:blipFill>
          <a:blip r:embed="rId3" cstate="print"/>
          <a:srcRect/>
          <a:stretch>
            <a:fillRect/>
          </a:stretch>
        </p:blipFill>
        <p:spPr bwMode="auto">
          <a:xfrm>
            <a:off x="1752600" y="1447800"/>
            <a:ext cx="6651625" cy="3232150"/>
          </a:xfrm>
          <a:prstGeom prst="rect">
            <a:avLst/>
          </a:prstGeom>
          <a:noFill/>
          <a:ln w="9525">
            <a:noFill/>
            <a:miter lim="800000"/>
            <a:headEnd/>
            <a:tailEnd/>
          </a:ln>
          <a:effectLst/>
        </p:spPr>
      </p:pic>
      <p:sp>
        <p:nvSpPr>
          <p:cNvPr id="919555" name="Rectangle 1027"/>
          <p:cNvSpPr>
            <a:spLocks noGrp="1" noChangeArrowheads="1"/>
          </p:cNvSpPr>
          <p:nvPr>
            <p:ph type="title" idx="4294967295"/>
          </p:nvPr>
        </p:nvSpPr>
        <p:spPr>
          <a:xfrm>
            <a:off x="685800" y="390525"/>
            <a:ext cx="7772400" cy="828675"/>
          </a:xfrm>
        </p:spPr>
        <p:txBody>
          <a:bodyPr/>
          <a:lstStyle/>
          <a:p>
            <a:r>
              <a:rPr lang="en-US"/>
              <a:t>Time Waveform</a:t>
            </a:r>
          </a:p>
        </p:txBody>
      </p:sp>
      <p:sp>
        <p:nvSpPr>
          <p:cNvPr id="919556" name="Text Box 1028"/>
          <p:cNvSpPr txBox="1">
            <a:spLocks noChangeArrowheads="1"/>
          </p:cNvSpPr>
          <p:nvPr/>
        </p:nvSpPr>
        <p:spPr bwMode="auto">
          <a:xfrm>
            <a:off x="3352800" y="4800600"/>
            <a:ext cx="3384550" cy="396875"/>
          </a:xfrm>
          <a:prstGeom prst="rect">
            <a:avLst/>
          </a:prstGeom>
          <a:noFill/>
          <a:ln w="9525">
            <a:noFill/>
            <a:miter lim="800000"/>
            <a:headEnd/>
            <a:tailEnd/>
          </a:ln>
          <a:effectLst/>
        </p:spPr>
        <p:txBody>
          <a:bodyPr wrap="none">
            <a:spAutoFit/>
          </a:bodyPr>
          <a:lstStyle/>
          <a:p>
            <a:r>
              <a:rPr lang="en-US" sz="2000">
                <a:latin typeface="Arial" pitchFamily="34" charset="0"/>
              </a:rPr>
              <a:t>Example of a time waveform</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02" name="Rectangle 2"/>
          <p:cNvSpPr>
            <a:spLocks noGrp="1" noChangeArrowheads="1"/>
          </p:cNvSpPr>
          <p:nvPr>
            <p:ph type="title" idx="4294967295"/>
          </p:nvPr>
        </p:nvSpPr>
        <p:spPr>
          <a:xfrm>
            <a:off x="685800" y="390525"/>
            <a:ext cx="7772400" cy="828675"/>
          </a:xfrm>
        </p:spPr>
        <p:txBody>
          <a:bodyPr/>
          <a:lstStyle/>
          <a:p>
            <a:r>
              <a:rPr lang="en-US"/>
              <a:t>Signal Acquisition</a:t>
            </a:r>
          </a:p>
        </p:txBody>
      </p:sp>
      <p:sp>
        <p:nvSpPr>
          <p:cNvPr id="921603" name="Freeform 3"/>
          <p:cNvSpPr>
            <a:spLocks/>
          </p:cNvSpPr>
          <p:nvPr/>
        </p:nvSpPr>
        <p:spPr bwMode="auto">
          <a:xfrm>
            <a:off x="3822700" y="1946275"/>
            <a:ext cx="476250" cy="430213"/>
          </a:xfrm>
          <a:custGeom>
            <a:avLst/>
            <a:gdLst/>
            <a:ahLst/>
            <a:cxnLst>
              <a:cxn ang="0">
                <a:pos x="195" y="633"/>
              </a:cxn>
              <a:cxn ang="0">
                <a:pos x="179" y="634"/>
              </a:cxn>
              <a:cxn ang="0">
                <a:pos x="159" y="627"/>
              </a:cxn>
              <a:cxn ang="0">
                <a:pos x="114" y="585"/>
              </a:cxn>
              <a:cxn ang="0">
                <a:pos x="70" y="518"/>
              </a:cxn>
              <a:cxn ang="0">
                <a:pos x="32" y="430"/>
              </a:cxn>
              <a:cxn ang="0">
                <a:pos x="0" y="257"/>
              </a:cxn>
              <a:cxn ang="0">
                <a:pos x="10" y="198"/>
              </a:cxn>
              <a:cxn ang="0">
                <a:pos x="38" y="169"/>
              </a:cxn>
              <a:cxn ang="0">
                <a:pos x="541" y="0"/>
              </a:cxn>
              <a:cxn ang="0">
                <a:pos x="703" y="466"/>
              </a:cxn>
              <a:cxn ang="0">
                <a:pos x="195" y="633"/>
              </a:cxn>
            </a:cxnLst>
            <a:rect l="0" t="0" r="r" b="b"/>
            <a:pathLst>
              <a:path w="703" h="634">
                <a:moveTo>
                  <a:pt x="195" y="633"/>
                </a:moveTo>
                <a:lnTo>
                  <a:pt x="179" y="634"/>
                </a:lnTo>
                <a:lnTo>
                  <a:pt x="159" y="627"/>
                </a:lnTo>
                <a:lnTo>
                  <a:pt x="114" y="585"/>
                </a:lnTo>
                <a:lnTo>
                  <a:pt x="70" y="518"/>
                </a:lnTo>
                <a:lnTo>
                  <a:pt x="32" y="430"/>
                </a:lnTo>
                <a:lnTo>
                  <a:pt x="0" y="257"/>
                </a:lnTo>
                <a:lnTo>
                  <a:pt x="10" y="198"/>
                </a:lnTo>
                <a:lnTo>
                  <a:pt x="38" y="169"/>
                </a:lnTo>
                <a:lnTo>
                  <a:pt x="541" y="0"/>
                </a:lnTo>
                <a:lnTo>
                  <a:pt x="703" y="466"/>
                </a:lnTo>
                <a:lnTo>
                  <a:pt x="195" y="633"/>
                </a:lnTo>
                <a:close/>
              </a:path>
            </a:pathLst>
          </a:custGeom>
          <a:solidFill>
            <a:srgbClr val="808080"/>
          </a:solidFill>
          <a:ln w="1588">
            <a:solidFill>
              <a:srgbClr val="000000"/>
            </a:solidFill>
            <a:prstDash val="solid"/>
            <a:round/>
            <a:headEnd/>
            <a:tailEnd/>
          </a:ln>
        </p:spPr>
        <p:txBody>
          <a:bodyPr/>
          <a:lstStyle/>
          <a:p>
            <a:endParaRPr lang="en-US"/>
          </a:p>
        </p:txBody>
      </p:sp>
      <p:sp>
        <p:nvSpPr>
          <p:cNvPr id="921604" name="Freeform 4"/>
          <p:cNvSpPr>
            <a:spLocks/>
          </p:cNvSpPr>
          <p:nvPr/>
        </p:nvSpPr>
        <p:spPr bwMode="auto">
          <a:xfrm>
            <a:off x="4164013" y="1946275"/>
            <a:ext cx="157162" cy="317500"/>
          </a:xfrm>
          <a:custGeom>
            <a:avLst/>
            <a:gdLst/>
            <a:ahLst/>
            <a:cxnLst>
              <a:cxn ang="0">
                <a:pos x="196" y="466"/>
              </a:cxn>
              <a:cxn ang="0">
                <a:pos x="221" y="439"/>
              </a:cxn>
              <a:cxn ang="0">
                <a:pos x="232" y="379"/>
              </a:cxn>
              <a:cxn ang="0">
                <a:pos x="232" y="344"/>
              </a:cxn>
              <a:cxn ang="0">
                <a:pos x="226" y="301"/>
              </a:cxn>
              <a:cxn ang="0">
                <a:pos x="202" y="205"/>
              </a:cxn>
              <a:cxn ang="0">
                <a:pos x="122" y="50"/>
              </a:cxn>
              <a:cxn ang="0">
                <a:pos x="77" y="9"/>
              </a:cxn>
              <a:cxn ang="0">
                <a:pos x="56" y="1"/>
              </a:cxn>
              <a:cxn ang="0">
                <a:pos x="34" y="0"/>
              </a:cxn>
              <a:cxn ang="0">
                <a:pos x="11" y="28"/>
              </a:cxn>
              <a:cxn ang="0">
                <a:pos x="0" y="87"/>
              </a:cxn>
              <a:cxn ang="0">
                <a:pos x="6" y="165"/>
              </a:cxn>
              <a:cxn ang="0">
                <a:pos x="30" y="261"/>
              </a:cxn>
              <a:cxn ang="0">
                <a:pos x="111" y="417"/>
              </a:cxn>
              <a:cxn ang="0">
                <a:pos x="156" y="458"/>
              </a:cxn>
              <a:cxn ang="0">
                <a:pos x="196" y="466"/>
              </a:cxn>
            </a:cxnLst>
            <a:rect l="0" t="0" r="r" b="b"/>
            <a:pathLst>
              <a:path w="232" h="466">
                <a:moveTo>
                  <a:pt x="196" y="466"/>
                </a:moveTo>
                <a:lnTo>
                  <a:pt x="221" y="439"/>
                </a:lnTo>
                <a:lnTo>
                  <a:pt x="232" y="379"/>
                </a:lnTo>
                <a:lnTo>
                  <a:pt x="232" y="344"/>
                </a:lnTo>
                <a:lnTo>
                  <a:pt x="226" y="301"/>
                </a:lnTo>
                <a:lnTo>
                  <a:pt x="202" y="205"/>
                </a:lnTo>
                <a:lnTo>
                  <a:pt x="122" y="50"/>
                </a:lnTo>
                <a:lnTo>
                  <a:pt x="77" y="9"/>
                </a:lnTo>
                <a:lnTo>
                  <a:pt x="56" y="1"/>
                </a:lnTo>
                <a:lnTo>
                  <a:pt x="34" y="0"/>
                </a:lnTo>
                <a:lnTo>
                  <a:pt x="11" y="28"/>
                </a:lnTo>
                <a:lnTo>
                  <a:pt x="0" y="87"/>
                </a:lnTo>
                <a:lnTo>
                  <a:pt x="6" y="165"/>
                </a:lnTo>
                <a:lnTo>
                  <a:pt x="30" y="261"/>
                </a:lnTo>
                <a:lnTo>
                  <a:pt x="111" y="417"/>
                </a:lnTo>
                <a:lnTo>
                  <a:pt x="156" y="458"/>
                </a:lnTo>
                <a:lnTo>
                  <a:pt x="196" y="466"/>
                </a:lnTo>
                <a:close/>
              </a:path>
            </a:pathLst>
          </a:custGeom>
          <a:solidFill>
            <a:srgbClr val="C0C0C0"/>
          </a:solidFill>
          <a:ln w="1588">
            <a:solidFill>
              <a:srgbClr val="000000"/>
            </a:solidFill>
            <a:prstDash val="solid"/>
            <a:round/>
            <a:headEnd/>
            <a:tailEnd/>
          </a:ln>
        </p:spPr>
        <p:txBody>
          <a:bodyPr/>
          <a:lstStyle/>
          <a:p>
            <a:endParaRPr lang="en-US"/>
          </a:p>
        </p:txBody>
      </p:sp>
      <p:sp>
        <p:nvSpPr>
          <p:cNvPr id="921605" name="Freeform 5"/>
          <p:cNvSpPr>
            <a:spLocks/>
          </p:cNvSpPr>
          <p:nvPr/>
        </p:nvSpPr>
        <p:spPr bwMode="auto">
          <a:xfrm>
            <a:off x="2112963" y="3163888"/>
            <a:ext cx="1101725" cy="196850"/>
          </a:xfrm>
          <a:custGeom>
            <a:avLst/>
            <a:gdLst/>
            <a:ahLst/>
            <a:cxnLst>
              <a:cxn ang="0">
                <a:pos x="18" y="293"/>
              </a:cxn>
              <a:cxn ang="0">
                <a:pos x="0" y="4"/>
              </a:cxn>
              <a:cxn ang="0">
                <a:pos x="1611" y="0"/>
              </a:cxn>
              <a:cxn ang="0">
                <a:pos x="1629" y="292"/>
              </a:cxn>
              <a:cxn ang="0">
                <a:pos x="18" y="293"/>
              </a:cxn>
            </a:cxnLst>
            <a:rect l="0" t="0" r="r" b="b"/>
            <a:pathLst>
              <a:path w="1629" h="293">
                <a:moveTo>
                  <a:pt x="18" y="293"/>
                </a:moveTo>
                <a:lnTo>
                  <a:pt x="0" y="4"/>
                </a:lnTo>
                <a:lnTo>
                  <a:pt x="1611" y="0"/>
                </a:lnTo>
                <a:lnTo>
                  <a:pt x="1629" y="292"/>
                </a:lnTo>
                <a:lnTo>
                  <a:pt x="18" y="293"/>
                </a:lnTo>
                <a:close/>
              </a:path>
            </a:pathLst>
          </a:custGeom>
          <a:solidFill>
            <a:srgbClr val="808080"/>
          </a:solidFill>
          <a:ln w="1588">
            <a:solidFill>
              <a:srgbClr val="000000"/>
            </a:solidFill>
            <a:prstDash val="solid"/>
            <a:round/>
            <a:headEnd/>
            <a:tailEnd/>
          </a:ln>
        </p:spPr>
        <p:txBody>
          <a:bodyPr/>
          <a:lstStyle/>
          <a:p>
            <a:endParaRPr lang="en-US"/>
          </a:p>
        </p:txBody>
      </p:sp>
      <p:sp>
        <p:nvSpPr>
          <p:cNvPr id="921606" name="Freeform 6"/>
          <p:cNvSpPr>
            <a:spLocks/>
          </p:cNvSpPr>
          <p:nvPr/>
        </p:nvSpPr>
        <p:spPr bwMode="auto">
          <a:xfrm>
            <a:off x="3195638" y="2919413"/>
            <a:ext cx="609600" cy="439737"/>
          </a:xfrm>
          <a:custGeom>
            <a:avLst/>
            <a:gdLst/>
            <a:ahLst/>
            <a:cxnLst>
              <a:cxn ang="0">
                <a:pos x="18" y="651"/>
              </a:cxn>
              <a:cxn ang="0">
                <a:pos x="0" y="359"/>
              </a:cxn>
              <a:cxn ang="0">
                <a:pos x="878" y="0"/>
              </a:cxn>
              <a:cxn ang="0">
                <a:pos x="898" y="289"/>
              </a:cxn>
              <a:cxn ang="0">
                <a:pos x="18" y="651"/>
              </a:cxn>
            </a:cxnLst>
            <a:rect l="0" t="0" r="r" b="b"/>
            <a:pathLst>
              <a:path w="898" h="651">
                <a:moveTo>
                  <a:pt x="18" y="651"/>
                </a:moveTo>
                <a:lnTo>
                  <a:pt x="0" y="359"/>
                </a:lnTo>
                <a:lnTo>
                  <a:pt x="878" y="0"/>
                </a:lnTo>
                <a:lnTo>
                  <a:pt x="898" y="289"/>
                </a:lnTo>
                <a:lnTo>
                  <a:pt x="18" y="651"/>
                </a:lnTo>
                <a:close/>
              </a:path>
            </a:pathLst>
          </a:custGeom>
          <a:solidFill>
            <a:srgbClr val="2F2F2F"/>
          </a:solidFill>
          <a:ln w="1588">
            <a:solidFill>
              <a:srgbClr val="000000"/>
            </a:solidFill>
            <a:prstDash val="solid"/>
            <a:round/>
            <a:headEnd/>
            <a:tailEnd/>
          </a:ln>
        </p:spPr>
        <p:txBody>
          <a:bodyPr/>
          <a:lstStyle/>
          <a:p>
            <a:endParaRPr lang="en-US"/>
          </a:p>
        </p:txBody>
      </p:sp>
      <p:sp>
        <p:nvSpPr>
          <p:cNvPr id="921607" name="Freeform 7"/>
          <p:cNvSpPr>
            <a:spLocks/>
          </p:cNvSpPr>
          <p:nvPr/>
        </p:nvSpPr>
        <p:spPr bwMode="auto">
          <a:xfrm>
            <a:off x="2112963" y="2854325"/>
            <a:ext cx="1685925" cy="312738"/>
          </a:xfrm>
          <a:custGeom>
            <a:avLst/>
            <a:gdLst/>
            <a:ahLst/>
            <a:cxnLst>
              <a:cxn ang="0">
                <a:pos x="1611" y="456"/>
              </a:cxn>
              <a:cxn ang="0">
                <a:pos x="0" y="460"/>
              </a:cxn>
              <a:cxn ang="0">
                <a:pos x="1118" y="0"/>
              </a:cxn>
              <a:cxn ang="0">
                <a:pos x="2489" y="97"/>
              </a:cxn>
              <a:cxn ang="0">
                <a:pos x="1611" y="456"/>
              </a:cxn>
            </a:cxnLst>
            <a:rect l="0" t="0" r="r" b="b"/>
            <a:pathLst>
              <a:path w="2489" h="460">
                <a:moveTo>
                  <a:pt x="1611" y="456"/>
                </a:moveTo>
                <a:lnTo>
                  <a:pt x="0" y="460"/>
                </a:lnTo>
                <a:lnTo>
                  <a:pt x="1118" y="0"/>
                </a:lnTo>
                <a:lnTo>
                  <a:pt x="2489" y="97"/>
                </a:lnTo>
                <a:lnTo>
                  <a:pt x="1611" y="456"/>
                </a:lnTo>
                <a:close/>
              </a:path>
            </a:pathLst>
          </a:custGeom>
          <a:solidFill>
            <a:srgbClr val="4F4F4F"/>
          </a:solidFill>
          <a:ln w="1588">
            <a:solidFill>
              <a:srgbClr val="000000"/>
            </a:solidFill>
            <a:prstDash val="solid"/>
            <a:round/>
            <a:headEnd/>
            <a:tailEnd/>
          </a:ln>
        </p:spPr>
        <p:txBody>
          <a:bodyPr/>
          <a:lstStyle/>
          <a:p>
            <a:endParaRPr lang="en-US"/>
          </a:p>
        </p:txBody>
      </p:sp>
      <p:sp>
        <p:nvSpPr>
          <p:cNvPr id="921608" name="Freeform 8"/>
          <p:cNvSpPr>
            <a:spLocks/>
          </p:cNvSpPr>
          <p:nvPr/>
        </p:nvSpPr>
        <p:spPr bwMode="auto">
          <a:xfrm>
            <a:off x="2420938" y="1968500"/>
            <a:ext cx="1312862" cy="1176338"/>
          </a:xfrm>
          <a:custGeom>
            <a:avLst/>
            <a:gdLst/>
            <a:ahLst/>
            <a:cxnLst>
              <a:cxn ang="0">
                <a:pos x="0" y="355"/>
              </a:cxn>
              <a:cxn ang="0">
                <a:pos x="733" y="54"/>
              </a:cxn>
              <a:cxn ang="0">
                <a:pos x="865" y="15"/>
              </a:cxn>
              <a:cxn ang="0">
                <a:pos x="937" y="3"/>
              </a:cxn>
              <a:cxn ang="0">
                <a:pos x="973" y="1"/>
              </a:cxn>
              <a:cxn ang="0">
                <a:pos x="992" y="1"/>
              </a:cxn>
              <a:cxn ang="0">
                <a:pos x="1011" y="0"/>
              </a:cxn>
              <a:cxn ang="0">
                <a:pos x="1052" y="0"/>
              </a:cxn>
              <a:cxn ang="0">
                <a:pos x="1095" y="3"/>
              </a:cxn>
              <a:cxn ang="0">
                <a:pos x="1180" y="17"/>
              </a:cxn>
              <a:cxn ang="0">
                <a:pos x="1342" y="73"/>
              </a:cxn>
              <a:cxn ang="0">
                <a:pos x="1492" y="156"/>
              </a:cxn>
              <a:cxn ang="0">
                <a:pos x="1627" y="269"/>
              </a:cxn>
              <a:cxn ang="0">
                <a:pos x="1742" y="404"/>
              </a:cxn>
              <a:cxn ang="0">
                <a:pos x="1834" y="561"/>
              </a:cxn>
              <a:cxn ang="0">
                <a:pos x="1899" y="732"/>
              </a:cxn>
              <a:cxn ang="0">
                <a:pos x="1934" y="919"/>
              </a:cxn>
              <a:cxn ang="0">
                <a:pos x="1937" y="990"/>
              </a:cxn>
              <a:cxn ang="0">
                <a:pos x="1937" y="1024"/>
              </a:cxn>
              <a:cxn ang="0">
                <a:pos x="1937" y="1043"/>
              </a:cxn>
              <a:cxn ang="0">
                <a:pos x="1939" y="1061"/>
              </a:cxn>
              <a:cxn ang="0">
                <a:pos x="1923" y="1198"/>
              </a:cxn>
              <a:cxn ang="0">
                <a:pos x="1889" y="1325"/>
              </a:cxn>
              <a:cxn ang="0">
                <a:pos x="1834" y="1442"/>
              </a:cxn>
              <a:cxn ang="0">
                <a:pos x="1128" y="1739"/>
              </a:cxn>
              <a:cxn ang="0">
                <a:pos x="1176" y="1623"/>
              </a:cxn>
              <a:cxn ang="0">
                <a:pos x="1203" y="1498"/>
              </a:cxn>
              <a:cxn ang="0">
                <a:pos x="1211" y="1364"/>
              </a:cxn>
              <a:cxn ang="0">
                <a:pos x="1211" y="1293"/>
              </a:cxn>
              <a:cxn ang="0">
                <a:pos x="1204" y="1220"/>
              </a:cxn>
              <a:cxn ang="0">
                <a:pos x="1169" y="1037"/>
              </a:cxn>
              <a:cxn ang="0">
                <a:pos x="1104" y="866"/>
              </a:cxn>
              <a:cxn ang="0">
                <a:pos x="1013" y="711"/>
              </a:cxn>
              <a:cxn ang="0">
                <a:pos x="897" y="573"/>
              </a:cxn>
              <a:cxn ang="0">
                <a:pos x="764" y="462"/>
              </a:cxn>
              <a:cxn ang="0">
                <a:pos x="614" y="377"/>
              </a:cxn>
              <a:cxn ang="0">
                <a:pos x="453" y="324"/>
              </a:cxn>
              <a:cxn ang="0">
                <a:pos x="282" y="302"/>
              </a:cxn>
              <a:cxn ang="0">
                <a:pos x="247" y="302"/>
              </a:cxn>
              <a:cxn ang="0">
                <a:pos x="228" y="302"/>
              </a:cxn>
              <a:cxn ang="0">
                <a:pos x="209" y="304"/>
              </a:cxn>
              <a:cxn ang="0">
                <a:pos x="135" y="315"/>
              </a:cxn>
              <a:cxn ang="0">
                <a:pos x="0" y="355"/>
              </a:cxn>
            </a:cxnLst>
            <a:rect l="0" t="0" r="r" b="b"/>
            <a:pathLst>
              <a:path w="1939" h="1739">
                <a:moveTo>
                  <a:pt x="0" y="355"/>
                </a:moveTo>
                <a:lnTo>
                  <a:pt x="733" y="54"/>
                </a:lnTo>
                <a:lnTo>
                  <a:pt x="865" y="15"/>
                </a:lnTo>
                <a:lnTo>
                  <a:pt x="937" y="3"/>
                </a:lnTo>
                <a:lnTo>
                  <a:pt x="973" y="1"/>
                </a:lnTo>
                <a:lnTo>
                  <a:pt x="992" y="1"/>
                </a:lnTo>
                <a:lnTo>
                  <a:pt x="1011" y="0"/>
                </a:lnTo>
                <a:lnTo>
                  <a:pt x="1052" y="0"/>
                </a:lnTo>
                <a:lnTo>
                  <a:pt x="1095" y="3"/>
                </a:lnTo>
                <a:lnTo>
                  <a:pt x="1180" y="17"/>
                </a:lnTo>
                <a:lnTo>
                  <a:pt x="1342" y="73"/>
                </a:lnTo>
                <a:lnTo>
                  <a:pt x="1492" y="156"/>
                </a:lnTo>
                <a:lnTo>
                  <a:pt x="1627" y="269"/>
                </a:lnTo>
                <a:lnTo>
                  <a:pt x="1742" y="404"/>
                </a:lnTo>
                <a:lnTo>
                  <a:pt x="1834" y="561"/>
                </a:lnTo>
                <a:lnTo>
                  <a:pt x="1899" y="732"/>
                </a:lnTo>
                <a:lnTo>
                  <a:pt x="1934" y="919"/>
                </a:lnTo>
                <a:lnTo>
                  <a:pt x="1937" y="990"/>
                </a:lnTo>
                <a:lnTo>
                  <a:pt x="1937" y="1024"/>
                </a:lnTo>
                <a:lnTo>
                  <a:pt x="1937" y="1043"/>
                </a:lnTo>
                <a:lnTo>
                  <a:pt x="1939" y="1061"/>
                </a:lnTo>
                <a:lnTo>
                  <a:pt x="1923" y="1198"/>
                </a:lnTo>
                <a:lnTo>
                  <a:pt x="1889" y="1325"/>
                </a:lnTo>
                <a:lnTo>
                  <a:pt x="1834" y="1442"/>
                </a:lnTo>
                <a:lnTo>
                  <a:pt x="1128" y="1739"/>
                </a:lnTo>
                <a:lnTo>
                  <a:pt x="1176" y="1623"/>
                </a:lnTo>
                <a:lnTo>
                  <a:pt x="1203" y="1498"/>
                </a:lnTo>
                <a:lnTo>
                  <a:pt x="1211" y="1364"/>
                </a:lnTo>
                <a:lnTo>
                  <a:pt x="1211" y="1293"/>
                </a:lnTo>
                <a:lnTo>
                  <a:pt x="1204" y="1220"/>
                </a:lnTo>
                <a:lnTo>
                  <a:pt x="1169" y="1037"/>
                </a:lnTo>
                <a:lnTo>
                  <a:pt x="1104" y="866"/>
                </a:lnTo>
                <a:lnTo>
                  <a:pt x="1013" y="711"/>
                </a:lnTo>
                <a:lnTo>
                  <a:pt x="897" y="573"/>
                </a:lnTo>
                <a:lnTo>
                  <a:pt x="764" y="462"/>
                </a:lnTo>
                <a:lnTo>
                  <a:pt x="614" y="377"/>
                </a:lnTo>
                <a:lnTo>
                  <a:pt x="453" y="324"/>
                </a:lnTo>
                <a:lnTo>
                  <a:pt x="282" y="302"/>
                </a:lnTo>
                <a:lnTo>
                  <a:pt x="247" y="302"/>
                </a:lnTo>
                <a:lnTo>
                  <a:pt x="228" y="302"/>
                </a:lnTo>
                <a:lnTo>
                  <a:pt x="209" y="304"/>
                </a:lnTo>
                <a:lnTo>
                  <a:pt x="135" y="315"/>
                </a:lnTo>
                <a:lnTo>
                  <a:pt x="0" y="355"/>
                </a:lnTo>
                <a:close/>
              </a:path>
            </a:pathLst>
          </a:custGeom>
          <a:solidFill>
            <a:srgbClr val="A2A2A2"/>
          </a:solidFill>
          <a:ln w="1588">
            <a:solidFill>
              <a:srgbClr val="000000"/>
            </a:solidFill>
            <a:prstDash val="solid"/>
            <a:round/>
            <a:headEnd/>
            <a:tailEnd/>
          </a:ln>
        </p:spPr>
        <p:txBody>
          <a:bodyPr/>
          <a:lstStyle/>
          <a:p>
            <a:endParaRPr lang="en-US"/>
          </a:p>
        </p:txBody>
      </p:sp>
      <p:sp>
        <p:nvSpPr>
          <p:cNvPr id="921609" name="Freeform 9"/>
          <p:cNvSpPr>
            <a:spLocks/>
          </p:cNvSpPr>
          <p:nvPr/>
        </p:nvSpPr>
        <p:spPr bwMode="auto">
          <a:xfrm>
            <a:off x="2105025" y="2173288"/>
            <a:ext cx="1138238" cy="974725"/>
          </a:xfrm>
          <a:custGeom>
            <a:avLst/>
            <a:gdLst/>
            <a:ahLst/>
            <a:cxnLst>
              <a:cxn ang="0">
                <a:pos x="1599" y="1437"/>
              </a:cxn>
              <a:cxn ang="0">
                <a:pos x="209" y="1440"/>
              </a:cxn>
              <a:cxn ang="0">
                <a:pos x="135" y="1324"/>
              </a:cxn>
              <a:cxn ang="0">
                <a:pos x="74" y="1196"/>
              </a:cxn>
              <a:cxn ang="0">
                <a:pos x="31" y="1060"/>
              </a:cxn>
              <a:cxn ang="0">
                <a:pos x="4" y="912"/>
              </a:cxn>
              <a:cxn ang="0">
                <a:pos x="0" y="820"/>
              </a:cxn>
              <a:cxn ang="0">
                <a:pos x="0" y="775"/>
              </a:cxn>
              <a:cxn ang="0">
                <a:pos x="3" y="729"/>
              </a:cxn>
              <a:cxn ang="0">
                <a:pos x="35" y="558"/>
              </a:cxn>
              <a:cxn ang="0">
                <a:pos x="97" y="403"/>
              </a:cxn>
              <a:cxn ang="0">
                <a:pos x="187" y="266"/>
              </a:cxn>
              <a:cxn ang="0">
                <a:pos x="299" y="157"/>
              </a:cxn>
              <a:cxn ang="0">
                <a:pos x="433" y="72"/>
              </a:cxn>
              <a:cxn ang="0">
                <a:pos x="584" y="19"/>
              </a:cxn>
              <a:cxn ang="0">
                <a:pos x="667" y="5"/>
              </a:cxn>
              <a:cxn ang="0">
                <a:pos x="709" y="2"/>
              </a:cxn>
              <a:cxn ang="0">
                <a:pos x="753" y="0"/>
              </a:cxn>
              <a:cxn ang="0">
                <a:pos x="794" y="0"/>
              </a:cxn>
              <a:cxn ang="0">
                <a:pos x="836" y="4"/>
              </a:cxn>
              <a:cxn ang="0">
                <a:pos x="920" y="18"/>
              </a:cxn>
              <a:cxn ang="0">
                <a:pos x="1082" y="72"/>
              </a:cxn>
              <a:cxn ang="0">
                <a:pos x="1231" y="157"/>
              </a:cxn>
              <a:cxn ang="0">
                <a:pos x="1366" y="270"/>
              </a:cxn>
              <a:cxn ang="0">
                <a:pos x="1481" y="405"/>
              </a:cxn>
              <a:cxn ang="0">
                <a:pos x="1574" y="561"/>
              </a:cxn>
              <a:cxn ang="0">
                <a:pos x="1638" y="733"/>
              </a:cxn>
              <a:cxn ang="0">
                <a:pos x="1675" y="918"/>
              </a:cxn>
              <a:cxn ang="0">
                <a:pos x="1680" y="1058"/>
              </a:cxn>
              <a:cxn ang="0">
                <a:pos x="1680" y="1126"/>
              </a:cxn>
              <a:cxn ang="0">
                <a:pos x="1674" y="1194"/>
              </a:cxn>
              <a:cxn ang="0">
                <a:pos x="1649" y="1319"/>
              </a:cxn>
              <a:cxn ang="0">
                <a:pos x="1599" y="1437"/>
              </a:cxn>
            </a:cxnLst>
            <a:rect l="0" t="0" r="r" b="b"/>
            <a:pathLst>
              <a:path w="1680" h="1440">
                <a:moveTo>
                  <a:pt x="1599" y="1437"/>
                </a:moveTo>
                <a:lnTo>
                  <a:pt x="209" y="1440"/>
                </a:lnTo>
                <a:lnTo>
                  <a:pt x="135" y="1324"/>
                </a:lnTo>
                <a:lnTo>
                  <a:pt x="74" y="1196"/>
                </a:lnTo>
                <a:lnTo>
                  <a:pt x="31" y="1060"/>
                </a:lnTo>
                <a:lnTo>
                  <a:pt x="4" y="912"/>
                </a:lnTo>
                <a:lnTo>
                  <a:pt x="0" y="820"/>
                </a:lnTo>
                <a:lnTo>
                  <a:pt x="0" y="775"/>
                </a:lnTo>
                <a:lnTo>
                  <a:pt x="3" y="729"/>
                </a:lnTo>
                <a:lnTo>
                  <a:pt x="35" y="558"/>
                </a:lnTo>
                <a:lnTo>
                  <a:pt x="97" y="403"/>
                </a:lnTo>
                <a:lnTo>
                  <a:pt x="187" y="266"/>
                </a:lnTo>
                <a:lnTo>
                  <a:pt x="299" y="157"/>
                </a:lnTo>
                <a:lnTo>
                  <a:pt x="433" y="72"/>
                </a:lnTo>
                <a:lnTo>
                  <a:pt x="584" y="19"/>
                </a:lnTo>
                <a:lnTo>
                  <a:pt x="667" y="5"/>
                </a:lnTo>
                <a:lnTo>
                  <a:pt x="709" y="2"/>
                </a:lnTo>
                <a:lnTo>
                  <a:pt x="753" y="0"/>
                </a:lnTo>
                <a:lnTo>
                  <a:pt x="794" y="0"/>
                </a:lnTo>
                <a:lnTo>
                  <a:pt x="836" y="4"/>
                </a:lnTo>
                <a:lnTo>
                  <a:pt x="920" y="18"/>
                </a:lnTo>
                <a:lnTo>
                  <a:pt x="1082" y="72"/>
                </a:lnTo>
                <a:lnTo>
                  <a:pt x="1231" y="157"/>
                </a:lnTo>
                <a:lnTo>
                  <a:pt x="1366" y="270"/>
                </a:lnTo>
                <a:lnTo>
                  <a:pt x="1481" y="405"/>
                </a:lnTo>
                <a:lnTo>
                  <a:pt x="1574" y="561"/>
                </a:lnTo>
                <a:lnTo>
                  <a:pt x="1638" y="733"/>
                </a:lnTo>
                <a:lnTo>
                  <a:pt x="1675" y="918"/>
                </a:lnTo>
                <a:lnTo>
                  <a:pt x="1680" y="1058"/>
                </a:lnTo>
                <a:lnTo>
                  <a:pt x="1680" y="1126"/>
                </a:lnTo>
                <a:lnTo>
                  <a:pt x="1674" y="1194"/>
                </a:lnTo>
                <a:lnTo>
                  <a:pt x="1649" y="1319"/>
                </a:lnTo>
                <a:lnTo>
                  <a:pt x="1599" y="1437"/>
                </a:lnTo>
                <a:close/>
              </a:path>
            </a:pathLst>
          </a:custGeom>
          <a:solidFill>
            <a:srgbClr val="C0C0C0"/>
          </a:solidFill>
          <a:ln w="1588">
            <a:solidFill>
              <a:srgbClr val="000000"/>
            </a:solidFill>
            <a:prstDash val="solid"/>
            <a:round/>
            <a:headEnd/>
            <a:tailEnd/>
          </a:ln>
        </p:spPr>
        <p:txBody>
          <a:bodyPr/>
          <a:lstStyle/>
          <a:p>
            <a:endParaRPr lang="en-US"/>
          </a:p>
        </p:txBody>
      </p:sp>
      <p:sp>
        <p:nvSpPr>
          <p:cNvPr id="921610" name="Freeform 10"/>
          <p:cNvSpPr>
            <a:spLocks/>
          </p:cNvSpPr>
          <p:nvPr/>
        </p:nvSpPr>
        <p:spPr bwMode="auto">
          <a:xfrm>
            <a:off x="2468563" y="2711450"/>
            <a:ext cx="160337" cy="200025"/>
          </a:xfrm>
          <a:custGeom>
            <a:avLst/>
            <a:gdLst/>
            <a:ahLst/>
            <a:cxnLst>
              <a:cxn ang="0">
                <a:pos x="135" y="5"/>
              </a:cxn>
              <a:cxn ang="0">
                <a:pos x="178" y="30"/>
              </a:cxn>
              <a:cxn ang="0">
                <a:pos x="213" y="72"/>
              </a:cxn>
              <a:cxn ang="0">
                <a:pos x="232" y="125"/>
              </a:cxn>
              <a:cxn ang="0">
                <a:pos x="235" y="154"/>
              </a:cxn>
              <a:cxn ang="0">
                <a:pos x="235" y="184"/>
              </a:cxn>
              <a:cxn ang="0">
                <a:pos x="221" y="236"/>
              </a:cxn>
              <a:cxn ang="0">
                <a:pos x="190" y="273"/>
              </a:cxn>
              <a:cxn ang="0">
                <a:pos x="149" y="292"/>
              </a:cxn>
              <a:cxn ang="0">
                <a:pos x="126" y="295"/>
              </a:cxn>
              <a:cxn ang="0">
                <a:pos x="100" y="289"/>
              </a:cxn>
              <a:cxn ang="0">
                <a:pos x="58" y="263"/>
              </a:cxn>
              <a:cxn ang="0">
                <a:pos x="23" y="220"/>
              </a:cxn>
              <a:cxn ang="0">
                <a:pos x="4" y="166"/>
              </a:cxn>
              <a:cxn ang="0">
                <a:pos x="0" y="137"/>
              </a:cxn>
              <a:cxn ang="0">
                <a:pos x="0" y="107"/>
              </a:cxn>
              <a:cxn ang="0">
                <a:pos x="14" y="56"/>
              </a:cxn>
              <a:cxn ang="0">
                <a:pos x="45" y="20"/>
              </a:cxn>
              <a:cxn ang="0">
                <a:pos x="86" y="2"/>
              </a:cxn>
              <a:cxn ang="0">
                <a:pos x="109" y="0"/>
              </a:cxn>
              <a:cxn ang="0">
                <a:pos x="135" y="5"/>
              </a:cxn>
            </a:cxnLst>
            <a:rect l="0" t="0" r="r" b="b"/>
            <a:pathLst>
              <a:path w="235" h="295">
                <a:moveTo>
                  <a:pt x="135" y="5"/>
                </a:moveTo>
                <a:lnTo>
                  <a:pt x="178" y="30"/>
                </a:lnTo>
                <a:lnTo>
                  <a:pt x="213" y="72"/>
                </a:lnTo>
                <a:lnTo>
                  <a:pt x="232" y="125"/>
                </a:lnTo>
                <a:lnTo>
                  <a:pt x="235" y="154"/>
                </a:lnTo>
                <a:lnTo>
                  <a:pt x="235" y="184"/>
                </a:lnTo>
                <a:lnTo>
                  <a:pt x="221" y="236"/>
                </a:lnTo>
                <a:lnTo>
                  <a:pt x="190" y="273"/>
                </a:lnTo>
                <a:lnTo>
                  <a:pt x="149" y="292"/>
                </a:lnTo>
                <a:lnTo>
                  <a:pt x="126" y="295"/>
                </a:lnTo>
                <a:lnTo>
                  <a:pt x="100" y="289"/>
                </a:lnTo>
                <a:lnTo>
                  <a:pt x="58" y="263"/>
                </a:lnTo>
                <a:lnTo>
                  <a:pt x="23" y="220"/>
                </a:lnTo>
                <a:lnTo>
                  <a:pt x="4" y="166"/>
                </a:lnTo>
                <a:lnTo>
                  <a:pt x="0" y="137"/>
                </a:lnTo>
                <a:lnTo>
                  <a:pt x="0" y="107"/>
                </a:lnTo>
                <a:lnTo>
                  <a:pt x="14" y="56"/>
                </a:lnTo>
                <a:lnTo>
                  <a:pt x="45" y="20"/>
                </a:lnTo>
                <a:lnTo>
                  <a:pt x="86" y="2"/>
                </a:lnTo>
                <a:lnTo>
                  <a:pt x="109" y="0"/>
                </a:lnTo>
                <a:lnTo>
                  <a:pt x="135" y="5"/>
                </a:lnTo>
                <a:close/>
              </a:path>
            </a:pathLst>
          </a:custGeom>
          <a:solidFill>
            <a:srgbClr val="A2A2A2"/>
          </a:solidFill>
          <a:ln w="1588">
            <a:solidFill>
              <a:srgbClr val="000000"/>
            </a:solidFill>
            <a:prstDash val="solid"/>
            <a:round/>
            <a:headEnd/>
            <a:tailEnd/>
          </a:ln>
        </p:spPr>
        <p:txBody>
          <a:bodyPr/>
          <a:lstStyle/>
          <a:p>
            <a:endParaRPr lang="en-US"/>
          </a:p>
        </p:txBody>
      </p:sp>
      <p:sp>
        <p:nvSpPr>
          <p:cNvPr id="921611" name="Freeform 11"/>
          <p:cNvSpPr>
            <a:spLocks/>
          </p:cNvSpPr>
          <p:nvPr/>
        </p:nvSpPr>
        <p:spPr bwMode="auto">
          <a:xfrm>
            <a:off x="2513013" y="2667000"/>
            <a:ext cx="228600" cy="239713"/>
          </a:xfrm>
          <a:custGeom>
            <a:avLst/>
            <a:gdLst/>
            <a:ahLst/>
            <a:cxnLst>
              <a:cxn ang="0">
                <a:pos x="70" y="72"/>
              </a:cxn>
              <a:cxn ang="0">
                <a:pos x="35" y="65"/>
              </a:cxn>
              <a:cxn ang="0">
                <a:pos x="0" y="73"/>
              </a:cxn>
              <a:cxn ang="0">
                <a:pos x="169" y="5"/>
              </a:cxn>
              <a:cxn ang="0">
                <a:pos x="202" y="0"/>
              </a:cxn>
              <a:cxn ang="0">
                <a:pos x="220" y="0"/>
              </a:cxn>
              <a:cxn ang="0">
                <a:pos x="240" y="4"/>
              </a:cxn>
              <a:cxn ang="0">
                <a:pos x="282" y="28"/>
              </a:cxn>
              <a:cxn ang="0">
                <a:pos x="317" y="69"/>
              </a:cxn>
              <a:cxn ang="0">
                <a:pos x="336" y="122"/>
              </a:cxn>
              <a:cxn ang="0">
                <a:pos x="340" y="151"/>
              </a:cxn>
              <a:cxn ang="0">
                <a:pos x="340" y="181"/>
              </a:cxn>
              <a:cxn ang="0">
                <a:pos x="318" y="245"/>
              </a:cxn>
              <a:cxn ang="0">
                <a:pos x="273" y="281"/>
              </a:cxn>
              <a:cxn ang="0">
                <a:pos x="102" y="353"/>
              </a:cxn>
              <a:cxn ang="0">
                <a:pos x="148" y="315"/>
              </a:cxn>
              <a:cxn ang="0">
                <a:pos x="170" y="251"/>
              </a:cxn>
              <a:cxn ang="0">
                <a:pos x="171" y="224"/>
              </a:cxn>
              <a:cxn ang="0">
                <a:pos x="170" y="194"/>
              </a:cxn>
              <a:cxn ang="0">
                <a:pos x="151" y="141"/>
              </a:cxn>
              <a:cxn ang="0">
                <a:pos x="117" y="100"/>
              </a:cxn>
              <a:cxn ang="0">
                <a:pos x="70" y="72"/>
              </a:cxn>
            </a:cxnLst>
            <a:rect l="0" t="0" r="r" b="b"/>
            <a:pathLst>
              <a:path w="340" h="353">
                <a:moveTo>
                  <a:pt x="70" y="72"/>
                </a:moveTo>
                <a:lnTo>
                  <a:pt x="35" y="65"/>
                </a:lnTo>
                <a:lnTo>
                  <a:pt x="0" y="73"/>
                </a:lnTo>
                <a:lnTo>
                  <a:pt x="169" y="5"/>
                </a:lnTo>
                <a:lnTo>
                  <a:pt x="202" y="0"/>
                </a:lnTo>
                <a:lnTo>
                  <a:pt x="220" y="0"/>
                </a:lnTo>
                <a:lnTo>
                  <a:pt x="240" y="4"/>
                </a:lnTo>
                <a:lnTo>
                  <a:pt x="282" y="28"/>
                </a:lnTo>
                <a:lnTo>
                  <a:pt x="317" y="69"/>
                </a:lnTo>
                <a:lnTo>
                  <a:pt x="336" y="122"/>
                </a:lnTo>
                <a:lnTo>
                  <a:pt x="340" y="151"/>
                </a:lnTo>
                <a:lnTo>
                  <a:pt x="340" y="181"/>
                </a:lnTo>
                <a:lnTo>
                  <a:pt x="318" y="245"/>
                </a:lnTo>
                <a:lnTo>
                  <a:pt x="273" y="281"/>
                </a:lnTo>
                <a:lnTo>
                  <a:pt x="102" y="353"/>
                </a:lnTo>
                <a:lnTo>
                  <a:pt x="148" y="315"/>
                </a:lnTo>
                <a:lnTo>
                  <a:pt x="170" y="251"/>
                </a:lnTo>
                <a:lnTo>
                  <a:pt x="171" y="224"/>
                </a:lnTo>
                <a:lnTo>
                  <a:pt x="170" y="194"/>
                </a:lnTo>
                <a:lnTo>
                  <a:pt x="151" y="141"/>
                </a:lnTo>
                <a:lnTo>
                  <a:pt x="117" y="100"/>
                </a:lnTo>
                <a:lnTo>
                  <a:pt x="70" y="72"/>
                </a:lnTo>
                <a:close/>
              </a:path>
            </a:pathLst>
          </a:custGeom>
          <a:solidFill>
            <a:srgbClr val="808080"/>
          </a:solidFill>
          <a:ln w="1588">
            <a:solidFill>
              <a:srgbClr val="000000"/>
            </a:solidFill>
            <a:prstDash val="solid"/>
            <a:round/>
            <a:headEnd/>
            <a:tailEnd/>
          </a:ln>
        </p:spPr>
        <p:txBody>
          <a:bodyPr/>
          <a:lstStyle/>
          <a:p>
            <a:endParaRPr lang="en-US"/>
          </a:p>
        </p:txBody>
      </p:sp>
      <p:sp>
        <p:nvSpPr>
          <p:cNvPr id="921612" name="Freeform 12"/>
          <p:cNvSpPr>
            <a:spLocks/>
          </p:cNvSpPr>
          <p:nvPr/>
        </p:nvSpPr>
        <p:spPr bwMode="auto">
          <a:xfrm>
            <a:off x="3289300" y="2170113"/>
            <a:ext cx="250825" cy="474662"/>
          </a:xfrm>
          <a:custGeom>
            <a:avLst/>
            <a:gdLst/>
            <a:ahLst/>
            <a:cxnLst>
              <a:cxn ang="0">
                <a:pos x="0" y="0"/>
              </a:cxn>
              <a:cxn ang="0">
                <a:pos x="137" y="141"/>
              </a:cxn>
              <a:cxn ang="0">
                <a:pos x="250" y="310"/>
              </a:cxn>
              <a:cxn ang="0">
                <a:pos x="328" y="498"/>
              </a:cxn>
              <a:cxn ang="0">
                <a:pos x="371" y="704"/>
              </a:cxn>
            </a:cxnLst>
            <a:rect l="0" t="0" r="r" b="b"/>
            <a:pathLst>
              <a:path w="371" h="704">
                <a:moveTo>
                  <a:pt x="0" y="0"/>
                </a:moveTo>
                <a:lnTo>
                  <a:pt x="137" y="141"/>
                </a:lnTo>
                <a:lnTo>
                  <a:pt x="250" y="310"/>
                </a:lnTo>
                <a:lnTo>
                  <a:pt x="328" y="498"/>
                </a:lnTo>
                <a:lnTo>
                  <a:pt x="371" y="704"/>
                </a:lnTo>
              </a:path>
            </a:pathLst>
          </a:custGeom>
          <a:noFill/>
          <a:ln w="1588">
            <a:solidFill>
              <a:srgbClr val="000000"/>
            </a:solidFill>
            <a:prstDash val="solid"/>
            <a:round/>
            <a:headEnd/>
            <a:tailEnd/>
          </a:ln>
        </p:spPr>
        <p:txBody>
          <a:bodyPr/>
          <a:lstStyle/>
          <a:p>
            <a:endParaRPr lang="en-US"/>
          </a:p>
        </p:txBody>
      </p:sp>
      <p:sp>
        <p:nvSpPr>
          <p:cNvPr id="921613" name="Line 13"/>
          <p:cNvSpPr>
            <a:spLocks noChangeShapeType="1"/>
          </p:cNvSpPr>
          <p:nvPr/>
        </p:nvSpPr>
        <p:spPr bwMode="auto">
          <a:xfrm>
            <a:off x="3538538" y="2644775"/>
            <a:ext cx="4762" cy="112713"/>
          </a:xfrm>
          <a:prstGeom prst="line">
            <a:avLst/>
          </a:prstGeom>
          <a:noFill/>
          <a:ln w="1588">
            <a:solidFill>
              <a:srgbClr val="000000"/>
            </a:solidFill>
            <a:round/>
            <a:headEnd/>
            <a:tailEnd/>
          </a:ln>
        </p:spPr>
        <p:txBody>
          <a:bodyPr/>
          <a:lstStyle/>
          <a:p>
            <a:endParaRPr lang="en-US"/>
          </a:p>
        </p:txBody>
      </p:sp>
      <p:sp>
        <p:nvSpPr>
          <p:cNvPr id="921614" name="Freeform 14"/>
          <p:cNvSpPr>
            <a:spLocks/>
          </p:cNvSpPr>
          <p:nvPr/>
        </p:nvSpPr>
        <p:spPr bwMode="auto">
          <a:xfrm>
            <a:off x="3336925" y="2024063"/>
            <a:ext cx="317500" cy="611187"/>
          </a:xfrm>
          <a:custGeom>
            <a:avLst/>
            <a:gdLst/>
            <a:ahLst/>
            <a:cxnLst>
              <a:cxn ang="0">
                <a:pos x="0" y="0"/>
              </a:cxn>
              <a:cxn ang="0">
                <a:pos x="174" y="181"/>
              </a:cxn>
              <a:cxn ang="0">
                <a:pos x="315" y="396"/>
              </a:cxn>
              <a:cxn ang="0">
                <a:pos x="416" y="637"/>
              </a:cxn>
              <a:cxn ang="0">
                <a:pos x="470" y="901"/>
              </a:cxn>
            </a:cxnLst>
            <a:rect l="0" t="0" r="r" b="b"/>
            <a:pathLst>
              <a:path w="470" h="901">
                <a:moveTo>
                  <a:pt x="0" y="0"/>
                </a:moveTo>
                <a:lnTo>
                  <a:pt x="174" y="181"/>
                </a:lnTo>
                <a:lnTo>
                  <a:pt x="315" y="396"/>
                </a:lnTo>
                <a:lnTo>
                  <a:pt x="416" y="637"/>
                </a:lnTo>
                <a:lnTo>
                  <a:pt x="470" y="901"/>
                </a:lnTo>
              </a:path>
            </a:pathLst>
          </a:custGeom>
          <a:noFill/>
          <a:ln w="1588">
            <a:solidFill>
              <a:srgbClr val="000000"/>
            </a:solidFill>
            <a:prstDash val="solid"/>
            <a:round/>
            <a:headEnd/>
            <a:tailEnd/>
          </a:ln>
        </p:spPr>
        <p:txBody>
          <a:bodyPr/>
          <a:lstStyle/>
          <a:p>
            <a:endParaRPr lang="en-US"/>
          </a:p>
        </p:txBody>
      </p:sp>
      <p:sp>
        <p:nvSpPr>
          <p:cNvPr id="921615" name="Freeform 15"/>
          <p:cNvSpPr>
            <a:spLocks/>
          </p:cNvSpPr>
          <p:nvPr/>
        </p:nvSpPr>
        <p:spPr bwMode="auto">
          <a:xfrm>
            <a:off x="3402013" y="1865313"/>
            <a:ext cx="409575" cy="781050"/>
          </a:xfrm>
          <a:custGeom>
            <a:avLst/>
            <a:gdLst/>
            <a:ahLst/>
            <a:cxnLst>
              <a:cxn ang="0">
                <a:pos x="0" y="0"/>
              </a:cxn>
              <a:cxn ang="0">
                <a:pos x="115" y="107"/>
              </a:cxn>
              <a:cxn ang="0">
                <a:pos x="225" y="229"/>
              </a:cxn>
              <a:cxn ang="0">
                <a:pos x="320" y="360"/>
              </a:cxn>
              <a:cxn ang="0">
                <a:pos x="406" y="504"/>
              </a:cxn>
              <a:cxn ang="0">
                <a:pos x="478" y="654"/>
              </a:cxn>
              <a:cxn ang="0">
                <a:pos x="536" y="813"/>
              </a:cxn>
              <a:cxn ang="0">
                <a:pos x="577" y="978"/>
              </a:cxn>
              <a:cxn ang="0">
                <a:pos x="604" y="1151"/>
              </a:cxn>
            </a:cxnLst>
            <a:rect l="0" t="0" r="r" b="b"/>
            <a:pathLst>
              <a:path w="604" h="1151">
                <a:moveTo>
                  <a:pt x="0" y="0"/>
                </a:moveTo>
                <a:lnTo>
                  <a:pt x="115" y="107"/>
                </a:lnTo>
                <a:lnTo>
                  <a:pt x="225" y="229"/>
                </a:lnTo>
                <a:lnTo>
                  <a:pt x="320" y="360"/>
                </a:lnTo>
                <a:lnTo>
                  <a:pt x="406" y="504"/>
                </a:lnTo>
                <a:lnTo>
                  <a:pt x="478" y="654"/>
                </a:lnTo>
                <a:lnTo>
                  <a:pt x="536" y="813"/>
                </a:lnTo>
                <a:lnTo>
                  <a:pt x="577" y="978"/>
                </a:lnTo>
                <a:lnTo>
                  <a:pt x="604" y="1151"/>
                </a:lnTo>
              </a:path>
            </a:pathLst>
          </a:custGeom>
          <a:noFill/>
          <a:ln w="1588">
            <a:solidFill>
              <a:srgbClr val="000000"/>
            </a:solidFill>
            <a:prstDash val="solid"/>
            <a:round/>
            <a:headEnd/>
            <a:tailEnd/>
          </a:ln>
        </p:spPr>
        <p:txBody>
          <a:bodyPr/>
          <a:lstStyle/>
          <a:p>
            <a:endParaRPr lang="en-US"/>
          </a:p>
        </p:txBody>
      </p:sp>
      <p:sp>
        <p:nvSpPr>
          <p:cNvPr id="921616" name="Freeform 16"/>
          <p:cNvSpPr>
            <a:spLocks/>
          </p:cNvSpPr>
          <p:nvPr/>
        </p:nvSpPr>
        <p:spPr bwMode="auto">
          <a:xfrm>
            <a:off x="3475038" y="1625600"/>
            <a:ext cx="523875" cy="998538"/>
          </a:xfrm>
          <a:custGeom>
            <a:avLst/>
            <a:gdLst/>
            <a:ahLst/>
            <a:cxnLst>
              <a:cxn ang="0">
                <a:pos x="0" y="0"/>
              </a:cxn>
              <a:cxn ang="0">
                <a:pos x="149" y="139"/>
              </a:cxn>
              <a:cxn ang="0">
                <a:pos x="288" y="294"/>
              </a:cxn>
              <a:cxn ang="0">
                <a:pos x="411" y="463"/>
              </a:cxn>
              <a:cxn ang="0">
                <a:pos x="521" y="646"/>
              </a:cxn>
              <a:cxn ang="0">
                <a:pos x="611" y="837"/>
              </a:cxn>
              <a:cxn ang="0">
                <a:pos x="685" y="1042"/>
              </a:cxn>
              <a:cxn ang="0">
                <a:pos x="738" y="1252"/>
              </a:cxn>
              <a:cxn ang="0">
                <a:pos x="773" y="1472"/>
              </a:cxn>
            </a:cxnLst>
            <a:rect l="0" t="0" r="r" b="b"/>
            <a:pathLst>
              <a:path w="773" h="1472">
                <a:moveTo>
                  <a:pt x="0" y="0"/>
                </a:moveTo>
                <a:lnTo>
                  <a:pt x="149" y="139"/>
                </a:lnTo>
                <a:lnTo>
                  <a:pt x="288" y="294"/>
                </a:lnTo>
                <a:lnTo>
                  <a:pt x="411" y="463"/>
                </a:lnTo>
                <a:lnTo>
                  <a:pt x="521" y="646"/>
                </a:lnTo>
                <a:lnTo>
                  <a:pt x="611" y="837"/>
                </a:lnTo>
                <a:lnTo>
                  <a:pt x="685" y="1042"/>
                </a:lnTo>
                <a:lnTo>
                  <a:pt x="738" y="1252"/>
                </a:lnTo>
                <a:lnTo>
                  <a:pt x="773" y="1472"/>
                </a:lnTo>
              </a:path>
            </a:pathLst>
          </a:custGeom>
          <a:noFill/>
          <a:ln w="1588">
            <a:solidFill>
              <a:srgbClr val="000000"/>
            </a:solidFill>
            <a:prstDash val="solid"/>
            <a:round/>
            <a:headEnd/>
            <a:tailEnd/>
          </a:ln>
        </p:spPr>
        <p:txBody>
          <a:bodyPr/>
          <a:lstStyle/>
          <a:p>
            <a:endParaRPr lang="en-US"/>
          </a:p>
        </p:txBody>
      </p:sp>
      <p:sp>
        <p:nvSpPr>
          <p:cNvPr id="921617" name="Rectangle 17"/>
          <p:cNvSpPr>
            <a:spLocks noChangeArrowheads="1"/>
          </p:cNvSpPr>
          <p:nvPr/>
        </p:nvSpPr>
        <p:spPr bwMode="auto">
          <a:xfrm>
            <a:off x="3835400" y="1701800"/>
            <a:ext cx="1284288" cy="304800"/>
          </a:xfrm>
          <a:prstGeom prst="rect">
            <a:avLst/>
          </a:prstGeom>
          <a:noFill/>
          <a:ln w="9525">
            <a:noFill/>
            <a:miter lim="800000"/>
            <a:headEnd/>
            <a:tailEnd/>
          </a:ln>
        </p:spPr>
        <p:txBody>
          <a:bodyPr wrap="none" lIns="0" tIns="0" rIns="0" bIns="0">
            <a:spAutoFit/>
          </a:bodyPr>
          <a:lstStyle/>
          <a:p>
            <a:r>
              <a:rPr lang="en-US" sz="2000">
                <a:solidFill>
                  <a:srgbClr val="008080"/>
                </a:solidFill>
                <a:latin typeface="Arial" pitchFamily="34" charset="0"/>
              </a:rPr>
              <a:t>Transducer</a:t>
            </a:r>
            <a:endParaRPr lang="en-US">
              <a:latin typeface="Arial" pitchFamily="34" charset="0"/>
            </a:endParaRPr>
          </a:p>
        </p:txBody>
      </p:sp>
      <p:sp>
        <p:nvSpPr>
          <p:cNvPr id="921618" name="Rectangle 18"/>
          <p:cNvSpPr>
            <a:spLocks noChangeArrowheads="1"/>
          </p:cNvSpPr>
          <p:nvPr/>
        </p:nvSpPr>
        <p:spPr bwMode="auto">
          <a:xfrm>
            <a:off x="4087813" y="3055938"/>
            <a:ext cx="874712" cy="304800"/>
          </a:xfrm>
          <a:prstGeom prst="rect">
            <a:avLst/>
          </a:prstGeom>
          <a:noFill/>
          <a:ln w="9525">
            <a:noFill/>
            <a:miter lim="800000"/>
            <a:headEnd/>
            <a:tailEnd/>
          </a:ln>
        </p:spPr>
        <p:txBody>
          <a:bodyPr wrap="none" lIns="0" tIns="0" rIns="0" bIns="0">
            <a:spAutoFit/>
          </a:bodyPr>
          <a:lstStyle/>
          <a:p>
            <a:r>
              <a:rPr lang="en-US" sz="2000">
                <a:solidFill>
                  <a:srgbClr val="008080"/>
                </a:solidFill>
                <a:latin typeface="Arial" pitchFamily="34" charset="0"/>
              </a:rPr>
              <a:t>Overall </a:t>
            </a:r>
            <a:endParaRPr lang="en-US">
              <a:latin typeface="Arial" pitchFamily="34" charset="0"/>
            </a:endParaRPr>
          </a:p>
        </p:txBody>
      </p:sp>
      <p:sp>
        <p:nvSpPr>
          <p:cNvPr id="921619" name="Rectangle 19"/>
          <p:cNvSpPr>
            <a:spLocks noChangeArrowheads="1"/>
          </p:cNvSpPr>
          <p:nvPr/>
        </p:nvSpPr>
        <p:spPr bwMode="auto">
          <a:xfrm>
            <a:off x="4087813" y="3308350"/>
            <a:ext cx="804862" cy="304800"/>
          </a:xfrm>
          <a:prstGeom prst="rect">
            <a:avLst/>
          </a:prstGeom>
          <a:noFill/>
          <a:ln w="9525">
            <a:noFill/>
            <a:miter lim="800000"/>
            <a:headEnd/>
            <a:tailEnd/>
          </a:ln>
        </p:spPr>
        <p:txBody>
          <a:bodyPr wrap="none" lIns="0" tIns="0" rIns="0" bIns="0">
            <a:spAutoFit/>
          </a:bodyPr>
          <a:lstStyle/>
          <a:p>
            <a:r>
              <a:rPr lang="en-US" sz="2000">
                <a:solidFill>
                  <a:srgbClr val="008080"/>
                </a:solidFill>
                <a:latin typeface="Arial" pitchFamily="34" charset="0"/>
              </a:rPr>
              <a:t>Energy</a:t>
            </a:r>
            <a:endParaRPr lang="en-US">
              <a:latin typeface="Arial" pitchFamily="34" charset="0"/>
            </a:endParaRPr>
          </a:p>
        </p:txBody>
      </p:sp>
      <p:sp>
        <p:nvSpPr>
          <p:cNvPr id="921620" name="Freeform 20"/>
          <p:cNvSpPr>
            <a:spLocks/>
          </p:cNvSpPr>
          <p:nvPr/>
        </p:nvSpPr>
        <p:spPr bwMode="auto">
          <a:xfrm>
            <a:off x="3406775" y="2005013"/>
            <a:ext cx="2363788" cy="2752725"/>
          </a:xfrm>
          <a:custGeom>
            <a:avLst/>
            <a:gdLst/>
            <a:ahLst/>
            <a:cxnLst>
              <a:cxn ang="0">
                <a:pos x="624" y="64"/>
              </a:cxn>
              <a:cxn ang="0">
                <a:pos x="960" y="16"/>
              </a:cxn>
              <a:cxn ang="0">
                <a:pos x="1296" y="160"/>
              </a:cxn>
              <a:cxn ang="0">
                <a:pos x="1584" y="496"/>
              </a:cxn>
              <a:cxn ang="0">
                <a:pos x="1680" y="880"/>
              </a:cxn>
              <a:cxn ang="0">
                <a:pos x="1728" y="1312"/>
              </a:cxn>
              <a:cxn ang="0">
                <a:pos x="1728" y="1648"/>
              </a:cxn>
              <a:cxn ang="0">
                <a:pos x="1632" y="1936"/>
              </a:cxn>
              <a:cxn ang="0">
                <a:pos x="1344" y="1984"/>
              </a:cxn>
              <a:cxn ang="0">
                <a:pos x="960" y="1744"/>
              </a:cxn>
              <a:cxn ang="0">
                <a:pos x="576" y="1504"/>
              </a:cxn>
              <a:cxn ang="0">
                <a:pos x="192" y="1552"/>
              </a:cxn>
              <a:cxn ang="0">
                <a:pos x="48" y="1840"/>
              </a:cxn>
              <a:cxn ang="0">
                <a:pos x="0" y="2032"/>
              </a:cxn>
            </a:cxnLst>
            <a:rect l="0" t="0" r="r" b="b"/>
            <a:pathLst>
              <a:path w="1744" h="2032">
                <a:moveTo>
                  <a:pt x="624" y="64"/>
                </a:moveTo>
                <a:cubicBezTo>
                  <a:pt x="736" y="32"/>
                  <a:pt x="848" y="0"/>
                  <a:pt x="960" y="16"/>
                </a:cubicBezTo>
                <a:cubicBezTo>
                  <a:pt x="1072" y="32"/>
                  <a:pt x="1192" y="80"/>
                  <a:pt x="1296" y="160"/>
                </a:cubicBezTo>
                <a:cubicBezTo>
                  <a:pt x="1400" y="240"/>
                  <a:pt x="1520" y="376"/>
                  <a:pt x="1584" y="496"/>
                </a:cubicBezTo>
                <a:cubicBezTo>
                  <a:pt x="1648" y="616"/>
                  <a:pt x="1656" y="744"/>
                  <a:pt x="1680" y="880"/>
                </a:cubicBezTo>
                <a:cubicBezTo>
                  <a:pt x="1704" y="1016"/>
                  <a:pt x="1720" y="1184"/>
                  <a:pt x="1728" y="1312"/>
                </a:cubicBezTo>
                <a:cubicBezTo>
                  <a:pt x="1736" y="1440"/>
                  <a:pt x="1744" y="1544"/>
                  <a:pt x="1728" y="1648"/>
                </a:cubicBezTo>
                <a:cubicBezTo>
                  <a:pt x="1712" y="1752"/>
                  <a:pt x="1696" y="1880"/>
                  <a:pt x="1632" y="1936"/>
                </a:cubicBezTo>
                <a:cubicBezTo>
                  <a:pt x="1568" y="1992"/>
                  <a:pt x="1456" y="2016"/>
                  <a:pt x="1344" y="1984"/>
                </a:cubicBezTo>
                <a:cubicBezTo>
                  <a:pt x="1232" y="1952"/>
                  <a:pt x="1088" y="1824"/>
                  <a:pt x="960" y="1744"/>
                </a:cubicBezTo>
                <a:cubicBezTo>
                  <a:pt x="832" y="1664"/>
                  <a:pt x="704" y="1536"/>
                  <a:pt x="576" y="1504"/>
                </a:cubicBezTo>
                <a:cubicBezTo>
                  <a:pt x="448" y="1472"/>
                  <a:pt x="280" y="1496"/>
                  <a:pt x="192" y="1552"/>
                </a:cubicBezTo>
                <a:cubicBezTo>
                  <a:pt x="104" y="1608"/>
                  <a:pt x="80" y="1760"/>
                  <a:pt x="48" y="1840"/>
                </a:cubicBezTo>
                <a:cubicBezTo>
                  <a:pt x="16" y="1920"/>
                  <a:pt x="8" y="1976"/>
                  <a:pt x="0" y="2032"/>
                </a:cubicBezTo>
              </a:path>
            </a:pathLst>
          </a:custGeom>
          <a:noFill/>
          <a:ln w="44450" cap="flat" cmpd="sng">
            <a:solidFill>
              <a:schemeClr val="tx1"/>
            </a:solidFill>
            <a:prstDash val="solid"/>
            <a:round/>
            <a:headEnd type="none" w="sm" len="sm"/>
            <a:tailEnd type="none" w="sm" len="sm"/>
          </a:ln>
          <a:effectLst/>
        </p:spPr>
        <p:txBody>
          <a:bodyPr wrap="none" anchor="ctr"/>
          <a:lstStyle/>
          <a:p>
            <a:endParaRPr lang="en-US"/>
          </a:p>
        </p:txBody>
      </p:sp>
      <p:sp>
        <p:nvSpPr>
          <p:cNvPr id="921621" name="Freeform 21"/>
          <p:cNvSpPr>
            <a:spLocks/>
          </p:cNvSpPr>
          <p:nvPr/>
        </p:nvSpPr>
        <p:spPr bwMode="auto">
          <a:xfrm>
            <a:off x="2414588" y="3492500"/>
            <a:ext cx="1820862" cy="530225"/>
          </a:xfrm>
          <a:custGeom>
            <a:avLst/>
            <a:gdLst/>
            <a:ahLst/>
            <a:cxnLst>
              <a:cxn ang="0">
                <a:pos x="1344" y="392"/>
              </a:cxn>
              <a:cxn ang="0">
                <a:pos x="1104" y="344"/>
              </a:cxn>
              <a:cxn ang="0">
                <a:pos x="912" y="248"/>
              </a:cxn>
              <a:cxn ang="0">
                <a:pos x="528" y="104"/>
              </a:cxn>
              <a:cxn ang="0">
                <a:pos x="240" y="8"/>
              </a:cxn>
              <a:cxn ang="0">
                <a:pos x="48" y="56"/>
              </a:cxn>
              <a:cxn ang="0">
                <a:pos x="0" y="248"/>
              </a:cxn>
            </a:cxnLst>
            <a:rect l="0" t="0" r="r" b="b"/>
            <a:pathLst>
              <a:path w="1344" h="392">
                <a:moveTo>
                  <a:pt x="1344" y="392"/>
                </a:moveTo>
                <a:cubicBezTo>
                  <a:pt x="1260" y="380"/>
                  <a:pt x="1176" y="368"/>
                  <a:pt x="1104" y="344"/>
                </a:cubicBezTo>
                <a:cubicBezTo>
                  <a:pt x="1032" y="320"/>
                  <a:pt x="1008" y="288"/>
                  <a:pt x="912" y="248"/>
                </a:cubicBezTo>
                <a:cubicBezTo>
                  <a:pt x="816" y="208"/>
                  <a:pt x="640" y="144"/>
                  <a:pt x="528" y="104"/>
                </a:cubicBezTo>
                <a:cubicBezTo>
                  <a:pt x="416" y="64"/>
                  <a:pt x="320" y="16"/>
                  <a:pt x="240" y="8"/>
                </a:cubicBezTo>
                <a:cubicBezTo>
                  <a:pt x="160" y="0"/>
                  <a:pt x="88" y="16"/>
                  <a:pt x="48" y="56"/>
                </a:cubicBezTo>
                <a:cubicBezTo>
                  <a:pt x="8" y="96"/>
                  <a:pt x="8" y="152"/>
                  <a:pt x="0" y="248"/>
                </a:cubicBezTo>
              </a:path>
            </a:pathLst>
          </a:custGeom>
          <a:noFill/>
          <a:ln w="44450" cap="flat" cmpd="sng">
            <a:solidFill>
              <a:schemeClr val="tx1"/>
            </a:solidFill>
            <a:prstDash val="solid"/>
            <a:round/>
            <a:headEnd type="none" w="sm" len="sm"/>
            <a:tailEnd type="none" w="sm" len="sm"/>
          </a:ln>
          <a:effectLst/>
        </p:spPr>
        <p:txBody>
          <a:bodyPr wrap="none" anchor="ctr"/>
          <a:lstStyle/>
          <a:p>
            <a:endParaRPr lang="en-US"/>
          </a:p>
        </p:txBody>
      </p:sp>
      <p:sp>
        <p:nvSpPr>
          <p:cNvPr id="921622" name="Rectangle 22"/>
          <p:cNvSpPr>
            <a:spLocks noChangeArrowheads="1"/>
          </p:cNvSpPr>
          <p:nvPr/>
        </p:nvSpPr>
        <p:spPr bwMode="auto">
          <a:xfrm>
            <a:off x="5321300" y="4275138"/>
            <a:ext cx="2878138" cy="1922462"/>
          </a:xfrm>
          <a:prstGeom prst="rect">
            <a:avLst/>
          </a:prstGeom>
          <a:solidFill>
            <a:srgbClr val="D2D2D2"/>
          </a:solidFill>
          <a:ln w="1588">
            <a:solidFill>
              <a:srgbClr val="000000"/>
            </a:solidFill>
            <a:miter lim="800000"/>
            <a:headEnd/>
            <a:tailEnd/>
          </a:ln>
        </p:spPr>
        <p:txBody>
          <a:bodyPr/>
          <a:lstStyle/>
          <a:p>
            <a:endParaRPr lang="en-US"/>
          </a:p>
        </p:txBody>
      </p:sp>
      <p:sp>
        <p:nvSpPr>
          <p:cNvPr id="921623" name="Freeform 23"/>
          <p:cNvSpPr>
            <a:spLocks/>
          </p:cNvSpPr>
          <p:nvPr/>
        </p:nvSpPr>
        <p:spPr bwMode="auto">
          <a:xfrm>
            <a:off x="5695950" y="3635375"/>
            <a:ext cx="2087563" cy="663575"/>
          </a:xfrm>
          <a:custGeom>
            <a:avLst/>
            <a:gdLst/>
            <a:ahLst/>
            <a:cxnLst>
              <a:cxn ang="0">
                <a:pos x="2467" y="503"/>
              </a:cxn>
              <a:cxn ang="0">
                <a:pos x="2467" y="0"/>
              </a:cxn>
              <a:cxn ang="0">
                <a:pos x="612" y="0"/>
              </a:cxn>
              <a:cxn ang="0">
                <a:pos x="612" y="503"/>
              </a:cxn>
              <a:cxn ang="0">
                <a:pos x="0" y="503"/>
              </a:cxn>
              <a:cxn ang="0">
                <a:pos x="1540" y="981"/>
              </a:cxn>
              <a:cxn ang="0">
                <a:pos x="3082" y="503"/>
              </a:cxn>
              <a:cxn ang="0">
                <a:pos x="2467" y="503"/>
              </a:cxn>
            </a:cxnLst>
            <a:rect l="0" t="0" r="r" b="b"/>
            <a:pathLst>
              <a:path w="3082" h="981">
                <a:moveTo>
                  <a:pt x="2467" y="503"/>
                </a:moveTo>
                <a:lnTo>
                  <a:pt x="2467" y="0"/>
                </a:lnTo>
                <a:lnTo>
                  <a:pt x="612" y="0"/>
                </a:lnTo>
                <a:lnTo>
                  <a:pt x="612" y="503"/>
                </a:lnTo>
                <a:lnTo>
                  <a:pt x="0" y="503"/>
                </a:lnTo>
                <a:lnTo>
                  <a:pt x="1540" y="981"/>
                </a:lnTo>
                <a:lnTo>
                  <a:pt x="3082" y="503"/>
                </a:lnTo>
                <a:lnTo>
                  <a:pt x="2467" y="503"/>
                </a:lnTo>
                <a:close/>
              </a:path>
            </a:pathLst>
          </a:custGeom>
          <a:solidFill>
            <a:srgbClr val="00E0E0"/>
          </a:solidFill>
          <a:ln w="1588">
            <a:solidFill>
              <a:srgbClr val="000000"/>
            </a:solidFill>
            <a:prstDash val="solid"/>
            <a:round/>
            <a:headEnd/>
            <a:tailEnd/>
          </a:ln>
        </p:spPr>
        <p:txBody>
          <a:bodyPr/>
          <a:lstStyle/>
          <a:p>
            <a:endParaRPr lang="en-US"/>
          </a:p>
        </p:txBody>
      </p:sp>
      <p:sp>
        <p:nvSpPr>
          <p:cNvPr id="921624" name="Rectangle 24"/>
          <p:cNvSpPr>
            <a:spLocks noChangeArrowheads="1"/>
          </p:cNvSpPr>
          <p:nvPr/>
        </p:nvSpPr>
        <p:spPr bwMode="auto">
          <a:xfrm>
            <a:off x="5302250" y="1716088"/>
            <a:ext cx="2878138" cy="1922462"/>
          </a:xfrm>
          <a:prstGeom prst="rect">
            <a:avLst/>
          </a:prstGeom>
          <a:solidFill>
            <a:srgbClr val="D2D2D2"/>
          </a:solidFill>
          <a:ln w="1588">
            <a:solidFill>
              <a:srgbClr val="000000"/>
            </a:solidFill>
            <a:miter lim="800000"/>
            <a:headEnd/>
            <a:tailEnd/>
          </a:ln>
        </p:spPr>
        <p:txBody>
          <a:bodyPr/>
          <a:lstStyle/>
          <a:p>
            <a:endParaRPr lang="en-US"/>
          </a:p>
        </p:txBody>
      </p:sp>
      <p:sp>
        <p:nvSpPr>
          <p:cNvPr id="921625" name="Freeform 25"/>
          <p:cNvSpPr>
            <a:spLocks/>
          </p:cNvSpPr>
          <p:nvPr/>
        </p:nvSpPr>
        <p:spPr bwMode="auto">
          <a:xfrm>
            <a:off x="5811838" y="2049463"/>
            <a:ext cx="2074862" cy="1176337"/>
          </a:xfrm>
          <a:custGeom>
            <a:avLst/>
            <a:gdLst/>
            <a:ahLst/>
            <a:cxnLst>
              <a:cxn ang="0">
                <a:pos x="0" y="0"/>
              </a:cxn>
              <a:cxn ang="0">
                <a:pos x="0" y="1736"/>
              </a:cxn>
              <a:cxn ang="0">
                <a:pos x="3064" y="1736"/>
              </a:cxn>
              <a:cxn ang="0">
                <a:pos x="0" y="0"/>
              </a:cxn>
            </a:cxnLst>
            <a:rect l="0" t="0" r="r" b="b"/>
            <a:pathLst>
              <a:path w="3064" h="1736">
                <a:moveTo>
                  <a:pt x="0" y="0"/>
                </a:moveTo>
                <a:lnTo>
                  <a:pt x="0" y="1736"/>
                </a:lnTo>
                <a:lnTo>
                  <a:pt x="3064" y="1736"/>
                </a:lnTo>
                <a:lnTo>
                  <a:pt x="0" y="0"/>
                </a:lnTo>
                <a:close/>
              </a:path>
            </a:pathLst>
          </a:custGeom>
          <a:noFill/>
          <a:ln w="9525">
            <a:noFill/>
            <a:round/>
            <a:headEnd/>
            <a:tailEnd/>
          </a:ln>
        </p:spPr>
        <p:txBody>
          <a:bodyPr/>
          <a:lstStyle/>
          <a:p>
            <a:endParaRPr lang="en-US"/>
          </a:p>
        </p:txBody>
      </p:sp>
      <p:sp>
        <p:nvSpPr>
          <p:cNvPr id="921626" name="Freeform 26"/>
          <p:cNvSpPr>
            <a:spLocks/>
          </p:cNvSpPr>
          <p:nvPr/>
        </p:nvSpPr>
        <p:spPr bwMode="auto">
          <a:xfrm>
            <a:off x="5811838" y="2049463"/>
            <a:ext cx="2074862" cy="1176337"/>
          </a:xfrm>
          <a:custGeom>
            <a:avLst/>
            <a:gdLst/>
            <a:ahLst/>
            <a:cxnLst>
              <a:cxn ang="0">
                <a:pos x="0" y="0"/>
              </a:cxn>
              <a:cxn ang="0">
                <a:pos x="0" y="1736"/>
              </a:cxn>
              <a:cxn ang="0">
                <a:pos x="3064" y="1736"/>
              </a:cxn>
            </a:cxnLst>
            <a:rect l="0" t="0" r="r" b="b"/>
            <a:pathLst>
              <a:path w="3064" h="1736">
                <a:moveTo>
                  <a:pt x="0" y="0"/>
                </a:moveTo>
                <a:lnTo>
                  <a:pt x="0" y="1736"/>
                </a:lnTo>
                <a:lnTo>
                  <a:pt x="3064" y="1736"/>
                </a:lnTo>
              </a:path>
            </a:pathLst>
          </a:custGeom>
          <a:noFill/>
          <a:ln w="1588">
            <a:solidFill>
              <a:srgbClr val="000000"/>
            </a:solidFill>
            <a:prstDash val="solid"/>
            <a:round/>
            <a:headEnd/>
            <a:tailEnd/>
          </a:ln>
        </p:spPr>
        <p:txBody>
          <a:bodyPr/>
          <a:lstStyle/>
          <a:p>
            <a:endParaRPr lang="en-US"/>
          </a:p>
        </p:txBody>
      </p:sp>
      <p:sp>
        <p:nvSpPr>
          <p:cNvPr id="921627" name="Freeform 27"/>
          <p:cNvSpPr>
            <a:spLocks/>
          </p:cNvSpPr>
          <p:nvPr/>
        </p:nvSpPr>
        <p:spPr bwMode="auto">
          <a:xfrm>
            <a:off x="5973763" y="2197100"/>
            <a:ext cx="1824037" cy="1041400"/>
          </a:xfrm>
          <a:custGeom>
            <a:avLst/>
            <a:gdLst/>
            <a:ahLst/>
            <a:cxnLst>
              <a:cxn ang="0">
                <a:pos x="0" y="1377"/>
              </a:cxn>
              <a:cxn ang="0">
                <a:pos x="113" y="451"/>
              </a:cxn>
              <a:cxn ang="0">
                <a:pos x="185" y="706"/>
              </a:cxn>
              <a:cxn ang="0">
                <a:pos x="314" y="325"/>
              </a:cxn>
              <a:cxn ang="0">
                <a:pos x="370" y="743"/>
              </a:cxn>
              <a:cxn ang="0">
                <a:pos x="536" y="0"/>
              </a:cxn>
              <a:cxn ang="0">
                <a:pos x="594" y="325"/>
              </a:cxn>
              <a:cxn ang="0">
                <a:pos x="702" y="91"/>
              </a:cxn>
              <a:cxn ang="0">
                <a:pos x="758" y="488"/>
              </a:cxn>
              <a:cxn ang="0">
                <a:pos x="868" y="381"/>
              </a:cxn>
              <a:cxn ang="0">
                <a:pos x="925" y="1014"/>
              </a:cxn>
              <a:cxn ang="0">
                <a:pos x="1035" y="832"/>
              </a:cxn>
              <a:cxn ang="0">
                <a:pos x="1090" y="1139"/>
              </a:cxn>
              <a:cxn ang="0">
                <a:pos x="1183" y="1014"/>
              </a:cxn>
              <a:cxn ang="0">
                <a:pos x="1276" y="1537"/>
              </a:cxn>
              <a:cxn ang="0">
                <a:pos x="1479" y="922"/>
              </a:cxn>
              <a:cxn ang="0">
                <a:pos x="1551" y="1464"/>
              </a:cxn>
              <a:cxn ang="0">
                <a:pos x="1829" y="542"/>
              </a:cxn>
              <a:cxn ang="0">
                <a:pos x="1904" y="669"/>
              </a:cxn>
              <a:cxn ang="0">
                <a:pos x="2030" y="55"/>
              </a:cxn>
              <a:cxn ang="0">
                <a:pos x="2104" y="542"/>
              </a:cxn>
              <a:cxn ang="0">
                <a:pos x="2179" y="217"/>
              </a:cxn>
              <a:cxn ang="0">
                <a:pos x="2234" y="669"/>
              </a:cxn>
              <a:cxn ang="0">
                <a:pos x="2400" y="451"/>
              </a:cxn>
              <a:cxn ang="0">
                <a:pos x="2475" y="743"/>
              </a:cxn>
              <a:cxn ang="0">
                <a:pos x="2551" y="558"/>
              </a:cxn>
              <a:cxn ang="0">
                <a:pos x="2695" y="1392"/>
              </a:cxn>
            </a:cxnLst>
            <a:rect l="0" t="0" r="r" b="b"/>
            <a:pathLst>
              <a:path w="2695" h="1537">
                <a:moveTo>
                  <a:pt x="0" y="1377"/>
                </a:moveTo>
                <a:lnTo>
                  <a:pt x="113" y="451"/>
                </a:lnTo>
                <a:lnTo>
                  <a:pt x="185" y="706"/>
                </a:lnTo>
                <a:lnTo>
                  <a:pt x="314" y="325"/>
                </a:lnTo>
                <a:lnTo>
                  <a:pt x="370" y="743"/>
                </a:lnTo>
                <a:lnTo>
                  <a:pt x="536" y="0"/>
                </a:lnTo>
                <a:lnTo>
                  <a:pt x="594" y="325"/>
                </a:lnTo>
                <a:lnTo>
                  <a:pt x="702" y="91"/>
                </a:lnTo>
                <a:lnTo>
                  <a:pt x="758" y="488"/>
                </a:lnTo>
                <a:lnTo>
                  <a:pt x="868" y="381"/>
                </a:lnTo>
                <a:lnTo>
                  <a:pt x="925" y="1014"/>
                </a:lnTo>
                <a:lnTo>
                  <a:pt x="1035" y="832"/>
                </a:lnTo>
                <a:lnTo>
                  <a:pt x="1090" y="1139"/>
                </a:lnTo>
                <a:lnTo>
                  <a:pt x="1183" y="1014"/>
                </a:lnTo>
                <a:lnTo>
                  <a:pt x="1276" y="1537"/>
                </a:lnTo>
                <a:lnTo>
                  <a:pt x="1479" y="922"/>
                </a:lnTo>
                <a:lnTo>
                  <a:pt x="1551" y="1464"/>
                </a:lnTo>
                <a:lnTo>
                  <a:pt x="1829" y="542"/>
                </a:lnTo>
                <a:lnTo>
                  <a:pt x="1904" y="669"/>
                </a:lnTo>
                <a:lnTo>
                  <a:pt x="2030" y="55"/>
                </a:lnTo>
                <a:lnTo>
                  <a:pt x="2104" y="542"/>
                </a:lnTo>
                <a:lnTo>
                  <a:pt x="2179" y="217"/>
                </a:lnTo>
                <a:lnTo>
                  <a:pt x="2234" y="669"/>
                </a:lnTo>
                <a:lnTo>
                  <a:pt x="2400" y="451"/>
                </a:lnTo>
                <a:lnTo>
                  <a:pt x="2475" y="743"/>
                </a:lnTo>
                <a:lnTo>
                  <a:pt x="2551" y="558"/>
                </a:lnTo>
                <a:lnTo>
                  <a:pt x="2695" y="1392"/>
                </a:lnTo>
              </a:path>
            </a:pathLst>
          </a:custGeom>
          <a:noFill/>
          <a:ln w="23813">
            <a:solidFill>
              <a:srgbClr val="000000"/>
            </a:solidFill>
            <a:prstDash val="solid"/>
            <a:round/>
            <a:headEnd/>
            <a:tailEnd/>
          </a:ln>
        </p:spPr>
        <p:txBody>
          <a:bodyPr/>
          <a:lstStyle/>
          <a:p>
            <a:endParaRPr lang="en-US"/>
          </a:p>
        </p:txBody>
      </p:sp>
      <p:sp>
        <p:nvSpPr>
          <p:cNvPr id="921628" name="Freeform 28"/>
          <p:cNvSpPr>
            <a:spLocks/>
          </p:cNvSpPr>
          <p:nvPr/>
        </p:nvSpPr>
        <p:spPr bwMode="auto">
          <a:xfrm>
            <a:off x="5934075" y="4605338"/>
            <a:ext cx="2074863" cy="1174750"/>
          </a:xfrm>
          <a:custGeom>
            <a:avLst/>
            <a:gdLst/>
            <a:ahLst/>
            <a:cxnLst>
              <a:cxn ang="0">
                <a:pos x="0" y="0"/>
              </a:cxn>
              <a:cxn ang="0">
                <a:pos x="0" y="1734"/>
              </a:cxn>
              <a:cxn ang="0">
                <a:pos x="3064" y="1734"/>
              </a:cxn>
              <a:cxn ang="0">
                <a:pos x="0" y="0"/>
              </a:cxn>
            </a:cxnLst>
            <a:rect l="0" t="0" r="r" b="b"/>
            <a:pathLst>
              <a:path w="3064" h="1734">
                <a:moveTo>
                  <a:pt x="0" y="0"/>
                </a:moveTo>
                <a:lnTo>
                  <a:pt x="0" y="1734"/>
                </a:lnTo>
                <a:lnTo>
                  <a:pt x="3064" y="1734"/>
                </a:lnTo>
                <a:lnTo>
                  <a:pt x="0" y="0"/>
                </a:lnTo>
                <a:close/>
              </a:path>
            </a:pathLst>
          </a:custGeom>
          <a:noFill/>
          <a:ln w="9525">
            <a:noFill/>
            <a:round/>
            <a:headEnd/>
            <a:tailEnd/>
          </a:ln>
        </p:spPr>
        <p:txBody>
          <a:bodyPr/>
          <a:lstStyle/>
          <a:p>
            <a:endParaRPr lang="en-US"/>
          </a:p>
        </p:txBody>
      </p:sp>
      <p:sp>
        <p:nvSpPr>
          <p:cNvPr id="921629" name="Freeform 29"/>
          <p:cNvSpPr>
            <a:spLocks/>
          </p:cNvSpPr>
          <p:nvPr/>
        </p:nvSpPr>
        <p:spPr bwMode="auto">
          <a:xfrm>
            <a:off x="5811838" y="4605338"/>
            <a:ext cx="2074862" cy="1174750"/>
          </a:xfrm>
          <a:custGeom>
            <a:avLst/>
            <a:gdLst/>
            <a:ahLst/>
            <a:cxnLst>
              <a:cxn ang="0">
                <a:pos x="0" y="0"/>
              </a:cxn>
              <a:cxn ang="0">
                <a:pos x="0" y="1734"/>
              </a:cxn>
              <a:cxn ang="0">
                <a:pos x="3064" y="1734"/>
              </a:cxn>
            </a:cxnLst>
            <a:rect l="0" t="0" r="r" b="b"/>
            <a:pathLst>
              <a:path w="3064" h="1734">
                <a:moveTo>
                  <a:pt x="0" y="0"/>
                </a:moveTo>
                <a:lnTo>
                  <a:pt x="0" y="1734"/>
                </a:lnTo>
                <a:lnTo>
                  <a:pt x="3064" y="1734"/>
                </a:lnTo>
              </a:path>
            </a:pathLst>
          </a:custGeom>
          <a:noFill/>
          <a:ln w="1588">
            <a:solidFill>
              <a:srgbClr val="000000"/>
            </a:solidFill>
            <a:prstDash val="solid"/>
            <a:round/>
            <a:headEnd/>
            <a:tailEnd/>
          </a:ln>
        </p:spPr>
        <p:txBody>
          <a:bodyPr/>
          <a:lstStyle/>
          <a:p>
            <a:endParaRPr lang="en-US"/>
          </a:p>
        </p:txBody>
      </p:sp>
      <p:sp>
        <p:nvSpPr>
          <p:cNvPr id="921630" name="Freeform 30"/>
          <p:cNvSpPr>
            <a:spLocks/>
          </p:cNvSpPr>
          <p:nvPr/>
        </p:nvSpPr>
        <p:spPr bwMode="auto">
          <a:xfrm>
            <a:off x="5837238" y="4730750"/>
            <a:ext cx="2076450" cy="1016000"/>
          </a:xfrm>
          <a:custGeom>
            <a:avLst/>
            <a:gdLst/>
            <a:ahLst/>
            <a:cxnLst>
              <a:cxn ang="0">
                <a:pos x="0" y="1453"/>
              </a:cxn>
              <a:cxn ang="0">
                <a:pos x="130" y="1453"/>
              </a:cxn>
              <a:cxn ang="0">
                <a:pos x="239" y="1292"/>
              </a:cxn>
              <a:cxn ang="0">
                <a:pos x="278" y="1453"/>
              </a:cxn>
              <a:cxn ang="0">
                <a:pos x="369" y="1390"/>
              </a:cxn>
              <a:cxn ang="0">
                <a:pos x="497" y="1453"/>
              </a:cxn>
              <a:cxn ang="0">
                <a:pos x="626" y="0"/>
              </a:cxn>
              <a:cxn ang="0">
                <a:pos x="758" y="1374"/>
              </a:cxn>
              <a:cxn ang="0">
                <a:pos x="848" y="1130"/>
              </a:cxn>
              <a:cxn ang="0">
                <a:pos x="925" y="1374"/>
              </a:cxn>
              <a:cxn ang="0">
                <a:pos x="1034" y="1273"/>
              </a:cxn>
              <a:cxn ang="0">
                <a:pos x="1162" y="1435"/>
              </a:cxn>
              <a:cxn ang="0">
                <a:pos x="1423" y="1357"/>
              </a:cxn>
              <a:cxn ang="0">
                <a:pos x="1607" y="1468"/>
              </a:cxn>
              <a:cxn ang="0">
                <a:pos x="1753" y="597"/>
              </a:cxn>
              <a:cxn ang="0">
                <a:pos x="1845" y="1420"/>
              </a:cxn>
              <a:cxn ang="0">
                <a:pos x="2012" y="1273"/>
              </a:cxn>
              <a:cxn ang="0">
                <a:pos x="2160" y="1420"/>
              </a:cxn>
              <a:cxn ang="0">
                <a:pos x="2399" y="1374"/>
              </a:cxn>
              <a:cxn ang="0">
                <a:pos x="2492" y="1453"/>
              </a:cxn>
              <a:cxn ang="0">
                <a:pos x="2753" y="1435"/>
              </a:cxn>
              <a:cxn ang="0">
                <a:pos x="2935" y="1501"/>
              </a:cxn>
              <a:cxn ang="0">
                <a:pos x="3065" y="1453"/>
              </a:cxn>
            </a:cxnLst>
            <a:rect l="0" t="0" r="r" b="b"/>
            <a:pathLst>
              <a:path w="3065" h="1501">
                <a:moveTo>
                  <a:pt x="0" y="1453"/>
                </a:moveTo>
                <a:lnTo>
                  <a:pt x="130" y="1453"/>
                </a:lnTo>
                <a:lnTo>
                  <a:pt x="239" y="1292"/>
                </a:lnTo>
                <a:lnTo>
                  <a:pt x="278" y="1453"/>
                </a:lnTo>
                <a:lnTo>
                  <a:pt x="369" y="1390"/>
                </a:lnTo>
                <a:lnTo>
                  <a:pt x="497" y="1453"/>
                </a:lnTo>
                <a:lnTo>
                  <a:pt x="626" y="0"/>
                </a:lnTo>
                <a:lnTo>
                  <a:pt x="758" y="1374"/>
                </a:lnTo>
                <a:lnTo>
                  <a:pt x="848" y="1130"/>
                </a:lnTo>
                <a:lnTo>
                  <a:pt x="925" y="1374"/>
                </a:lnTo>
                <a:lnTo>
                  <a:pt x="1034" y="1273"/>
                </a:lnTo>
                <a:lnTo>
                  <a:pt x="1162" y="1435"/>
                </a:lnTo>
                <a:lnTo>
                  <a:pt x="1423" y="1357"/>
                </a:lnTo>
                <a:lnTo>
                  <a:pt x="1607" y="1468"/>
                </a:lnTo>
                <a:lnTo>
                  <a:pt x="1753" y="597"/>
                </a:lnTo>
                <a:lnTo>
                  <a:pt x="1845" y="1420"/>
                </a:lnTo>
                <a:lnTo>
                  <a:pt x="2012" y="1273"/>
                </a:lnTo>
                <a:lnTo>
                  <a:pt x="2160" y="1420"/>
                </a:lnTo>
                <a:lnTo>
                  <a:pt x="2399" y="1374"/>
                </a:lnTo>
                <a:lnTo>
                  <a:pt x="2492" y="1453"/>
                </a:lnTo>
                <a:lnTo>
                  <a:pt x="2753" y="1435"/>
                </a:lnTo>
                <a:lnTo>
                  <a:pt x="2935" y="1501"/>
                </a:lnTo>
                <a:lnTo>
                  <a:pt x="3065" y="1453"/>
                </a:lnTo>
              </a:path>
            </a:pathLst>
          </a:custGeom>
          <a:noFill/>
          <a:ln w="23813">
            <a:solidFill>
              <a:srgbClr val="000000"/>
            </a:solidFill>
            <a:prstDash val="solid"/>
            <a:round/>
            <a:headEnd/>
            <a:tailEnd/>
          </a:ln>
        </p:spPr>
        <p:txBody>
          <a:bodyPr/>
          <a:lstStyle/>
          <a:p>
            <a:endParaRPr lang="en-US"/>
          </a:p>
        </p:txBody>
      </p:sp>
      <p:sp>
        <p:nvSpPr>
          <p:cNvPr id="921631" name="Rectangle 31"/>
          <p:cNvSpPr>
            <a:spLocks noChangeArrowheads="1"/>
          </p:cNvSpPr>
          <p:nvPr/>
        </p:nvSpPr>
        <p:spPr bwMode="auto">
          <a:xfrm>
            <a:off x="6419850" y="3702050"/>
            <a:ext cx="700088" cy="457200"/>
          </a:xfrm>
          <a:prstGeom prst="rect">
            <a:avLst/>
          </a:prstGeom>
          <a:noFill/>
          <a:ln w="9525">
            <a:noFill/>
            <a:miter lim="800000"/>
            <a:headEnd/>
            <a:tailEnd/>
          </a:ln>
        </p:spPr>
        <p:txBody>
          <a:bodyPr wrap="none" lIns="0" tIns="0" rIns="0" bIns="0">
            <a:spAutoFit/>
          </a:bodyPr>
          <a:lstStyle/>
          <a:p>
            <a:r>
              <a:rPr lang="en-US" sz="3000" b="1">
                <a:solidFill>
                  <a:srgbClr val="000000"/>
                </a:solidFill>
                <a:latin typeface="Arial" pitchFamily="34" charset="0"/>
              </a:rPr>
              <a:t>FFT</a:t>
            </a:r>
            <a:endParaRPr lang="en-US">
              <a:latin typeface="Arial" pitchFamily="34" charset="0"/>
            </a:endParaRPr>
          </a:p>
        </p:txBody>
      </p:sp>
      <p:sp>
        <p:nvSpPr>
          <p:cNvPr id="921632" name="Rectangle 32"/>
          <p:cNvSpPr>
            <a:spLocks noChangeArrowheads="1"/>
          </p:cNvSpPr>
          <p:nvPr/>
        </p:nvSpPr>
        <p:spPr bwMode="auto">
          <a:xfrm>
            <a:off x="6291263" y="1765300"/>
            <a:ext cx="1155700" cy="304800"/>
          </a:xfrm>
          <a:prstGeom prst="rect">
            <a:avLst/>
          </a:prstGeom>
          <a:noFill/>
          <a:ln w="9525">
            <a:noFill/>
            <a:miter lim="800000"/>
            <a:headEnd/>
            <a:tailEnd/>
          </a:ln>
        </p:spPr>
        <p:txBody>
          <a:bodyPr wrap="none" lIns="0" tIns="0" rIns="0" bIns="0">
            <a:spAutoFit/>
          </a:bodyPr>
          <a:lstStyle/>
          <a:p>
            <a:r>
              <a:rPr lang="en-US" sz="2000">
                <a:solidFill>
                  <a:srgbClr val="000000"/>
                </a:solidFill>
                <a:latin typeface="Arial" pitchFamily="34" charset="0"/>
              </a:rPr>
              <a:t>Waveform</a:t>
            </a:r>
            <a:endParaRPr lang="en-US" sz="2000">
              <a:latin typeface="Arial" pitchFamily="34" charset="0"/>
            </a:endParaRPr>
          </a:p>
        </p:txBody>
      </p:sp>
      <p:sp>
        <p:nvSpPr>
          <p:cNvPr id="921633" name="Rectangle 33"/>
          <p:cNvSpPr>
            <a:spLocks noChangeArrowheads="1"/>
          </p:cNvSpPr>
          <p:nvPr/>
        </p:nvSpPr>
        <p:spPr bwMode="auto">
          <a:xfrm>
            <a:off x="6354763" y="4349750"/>
            <a:ext cx="1085850" cy="304800"/>
          </a:xfrm>
          <a:prstGeom prst="rect">
            <a:avLst/>
          </a:prstGeom>
          <a:noFill/>
          <a:ln w="9525">
            <a:noFill/>
            <a:miter lim="800000"/>
            <a:headEnd/>
            <a:tailEnd/>
          </a:ln>
        </p:spPr>
        <p:txBody>
          <a:bodyPr wrap="none" lIns="0" tIns="0" rIns="0" bIns="0">
            <a:spAutoFit/>
          </a:bodyPr>
          <a:lstStyle/>
          <a:p>
            <a:r>
              <a:rPr lang="en-US" sz="2000">
                <a:solidFill>
                  <a:srgbClr val="000000"/>
                </a:solidFill>
                <a:latin typeface="Arial" pitchFamily="34" charset="0"/>
              </a:rPr>
              <a:t>Spectrum</a:t>
            </a:r>
            <a:endParaRPr lang="en-US">
              <a:latin typeface="Arial" pitchFamily="34" charset="0"/>
            </a:endParaRPr>
          </a:p>
        </p:txBody>
      </p:sp>
      <p:sp>
        <p:nvSpPr>
          <p:cNvPr id="921634" name="Rectangle 34"/>
          <p:cNvSpPr>
            <a:spLocks noChangeArrowheads="1"/>
          </p:cNvSpPr>
          <p:nvPr/>
        </p:nvSpPr>
        <p:spPr bwMode="auto">
          <a:xfrm rot="5400000">
            <a:off x="5049838" y="2559050"/>
            <a:ext cx="1130300" cy="304800"/>
          </a:xfrm>
          <a:prstGeom prst="rect">
            <a:avLst/>
          </a:prstGeom>
          <a:noFill/>
          <a:ln w="9525">
            <a:noFill/>
            <a:miter lim="800000"/>
            <a:headEnd/>
            <a:tailEnd/>
          </a:ln>
        </p:spPr>
        <p:txBody>
          <a:bodyPr wrap="none" lIns="0" tIns="0" rIns="0" bIns="0">
            <a:spAutoFit/>
          </a:bodyPr>
          <a:lstStyle/>
          <a:p>
            <a:r>
              <a:rPr lang="en-US" sz="2000">
                <a:solidFill>
                  <a:srgbClr val="000000"/>
                </a:solidFill>
                <a:latin typeface="Arial" pitchFamily="34" charset="0"/>
              </a:rPr>
              <a:t>Amplitude</a:t>
            </a:r>
            <a:endParaRPr lang="en-US">
              <a:latin typeface="Arial" pitchFamily="34" charset="0"/>
            </a:endParaRPr>
          </a:p>
        </p:txBody>
      </p:sp>
      <p:sp>
        <p:nvSpPr>
          <p:cNvPr id="921635" name="Rectangle 35"/>
          <p:cNvSpPr>
            <a:spLocks noChangeArrowheads="1"/>
          </p:cNvSpPr>
          <p:nvPr/>
        </p:nvSpPr>
        <p:spPr bwMode="auto">
          <a:xfrm rot="5400000">
            <a:off x="5049838" y="5080000"/>
            <a:ext cx="1130300" cy="304800"/>
          </a:xfrm>
          <a:prstGeom prst="rect">
            <a:avLst/>
          </a:prstGeom>
          <a:noFill/>
          <a:ln w="9525">
            <a:noFill/>
            <a:miter lim="800000"/>
            <a:headEnd/>
            <a:tailEnd/>
          </a:ln>
        </p:spPr>
        <p:txBody>
          <a:bodyPr wrap="none" lIns="0" tIns="0" rIns="0" bIns="0">
            <a:spAutoFit/>
          </a:bodyPr>
          <a:lstStyle/>
          <a:p>
            <a:r>
              <a:rPr lang="en-US" sz="2000">
                <a:solidFill>
                  <a:srgbClr val="000000"/>
                </a:solidFill>
                <a:latin typeface="Arial" pitchFamily="34" charset="0"/>
              </a:rPr>
              <a:t>Amplitude</a:t>
            </a:r>
            <a:endParaRPr lang="en-US">
              <a:latin typeface="Arial" pitchFamily="34" charset="0"/>
            </a:endParaRPr>
          </a:p>
        </p:txBody>
      </p:sp>
      <p:sp>
        <p:nvSpPr>
          <p:cNvPr id="921636" name="Rectangle 36"/>
          <p:cNvSpPr>
            <a:spLocks noChangeArrowheads="1"/>
          </p:cNvSpPr>
          <p:nvPr/>
        </p:nvSpPr>
        <p:spPr bwMode="auto">
          <a:xfrm>
            <a:off x="6484938" y="3251200"/>
            <a:ext cx="565150" cy="304800"/>
          </a:xfrm>
          <a:prstGeom prst="rect">
            <a:avLst/>
          </a:prstGeom>
          <a:noFill/>
          <a:ln w="9525">
            <a:noFill/>
            <a:miter lim="800000"/>
            <a:headEnd/>
            <a:tailEnd/>
          </a:ln>
        </p:spPr>
        <p:txBody>
          <a:bodyPr wrap="none" lIns="0" tIns="0" rIns="0" bIns="0">
            <a:spAutoFit/>
          </a:bodyPr>
          <a:lstStyle/>
          <a:p>
            <a:r>
              <a:rPr lang="en-US" sz="2000">
                <a:solidFill>
                  <a:srgbClr val="000000"/>
                </a:solidFill>
                <a:latin typeface="Arial" pitchFamily="34" charset="0"/>
              </a:rPr>
              <a:t>Time</a:t>
            </a:r>
            <a:endParaRPr lang="en-US">
              <a:latin typeface="Arial" pitchFamily="34" charset="0"/>
            </a:endParaRPr>
          </a:p>
        </p:txBody>
      </p:sp>
      <p:sp>
        <p:nvSpPr>
          <p:cNvPr id="921637" name="Rectangle 37"/>
          <p:cNvSpPr>
            <a:spLocks noChangeArrowheads="1"/>
          </p:cNvSpPr>
          <p:nvPr/>
        </p:nvSpPr>
        <p:spPr bwMode="auto">
          <a:xfrm>
            <a:off x="6291263" y="5835650"/>
            <a:ext cx="1200150" cy="304800"/>
          </a:xfrm>
          <a:prstGeom prst="rect">
            <a:avLst/>
          </a:prstGeom>
          <a:noFill/>
          <a:ln w="9525">
            <a:noFill/>
            <a:miter lim="800000"/>
            <a:headEnd/>
            <a:tailEnd/>
          </a:ln>
        </p:spPr>
        <p:txBody>
          <a:bodyPr wrap="none" lIns="0" tIns="0" rIns="0" bIns="0">
            <a:spAutoFit/>
          </a:bodyPr>
          <a:lstStyle/>
          <a:p>
            <a:r>
              <a:rPr lang="en-US" sz="2000">
                <a:solidFill>
                  <a:srgbClr val="000000"/>
                </a:solidFill>
                <a:latin typeface="Arial" pitchFamily="34" charset="0"/>
              </a:rPr>
              <a:t>Frequency</a:t>
            </a:r>
            <a:endParaRPr lang="en-US">
              <a:latin typeface="Arial" pitchFamily="34" charset="0"/>
            </a:endParaRPr>
          </a:p>
        </p:txBody>
      </p:sp>
      <p:pic>
        <p:nvPicPr>
          <p:cNvPr id="921638" name="Picture 38"/>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703388" y="3695700"/>
            <a:ext cx="960437" cy="1352550"/>
          </a:xfrm>
          <a:prstGeom prst="rect">
            <a:avLst/>
          </a:prstGeom>
          <a:noFill/>
          <a:ln w="9525">
            <a:noFill/>
            <a:miter lim="800000"/>
            <a:headEnd/>
            <a:tailEnd/>
          </a:ln>
        </p:spPr>
      </p:pic>
      <p:pic>
        <p:nvPicPr>
          <p:cNvPr id="921639" name="Picture 39"/>
          <p:cNvPicPr>
            <a:picLocks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867025" y="4598988"/>
            <a:ext cx="2032000" cy="1601787"/>
          </a:xfrm>
          <a:prstGeom prst="rect">
            <a:avLst/>
          </a:prstGeom>
          <a:noFill/>
          <a:ln w="9525">
            <a:noFill/>
            <a:miter lim="800000"/>
            <a:headEnd/>
            <a:tailEnd/>
          </a:ln>
          <a:effectLst/>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570" name="Rectangle 1026"/>
          <p:cNvSpPr>
            <a:spLocks noGrp="1" noChangeArrowheads="1"/>
          </p:cNvSpPr>
          <p:nvPr>
            <p:ph type="title" idx="4294967295"/>
          </p:nvPr>
        </p:nvSpPr>
        <p:spPr>
          <a:xfrm>
            <a:off x="685800" y="390525"/>
            <a:ext cx="7772400" cy="828675"/>
          </a:xfrm>
        </p:spPr>
        <p:txBody>
          <a:bodyPr/>
          <a:lstStyle/>
          <a:p>
            <a:r>
              <a:rPr lang="en-US" u="sng">
                <a:effectLst>
                  <a:outerShdw blurRad="38100" dist="38100" dir="2700000" algn="tl">
                    <a:srgbClr val="C0C0C0"/>
                  </a:outerShdw>
                </a:effectLst>
              </a:rPr>
              <a:t>FFT SPECTRUM</a:t>
            </a:r>
            <a:br>
              <a:rPr lang="en-US"/>
            </a:br>
            <a:br>
              <a:rPr lang="en-US"/>
            </a:br>
            <a:r>
              <a:rPr lang="en-US" sz="4000" b="0"/>
              <a:t>A calculation method of converting a time waveform to a frequency display that shows the relationship of discrete frequencies and their amplitudes</a:t>
            </a:r>
          </a:p>
        </p:txBody>
      </p:sp>
    </p:spTree>
  </p:cSld>
  <p:clrMapOvr>
    <a:masterClrMapping/>
  </p:clrMapOvr>
  <p:transition advClick="0" advTm="2000">
    <p:random/>
    <p:sndAc>
      <p:stSnd>
        <p:snd r:embed="rId2" name="projctor.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2626" name="Text Box 2"/>
          <p:cNvSpPr txBox="1">
            <a:spLocks noChangeArrowheads="1"/>
          </p:cNvSpPr>
          <p:nvPr/>
        </p:nvSpPr>
        <p:spPr bwMode="auto">
          <a:xfrm>
            <a:off x="722313" y="1824038"/>
            <a:ext cx="8112125" cy="2057400"/>
          </a:xfrm>
          <a:prstGeom prst="rect">
            <a:avLst/>
          </a:prstGeom>
          <a:noFill/>
          <a:ln w="9525">
            <a:noFill/>
            <a:miter lim="800000"/>
            <a:headEnd/>
            <a:tailEnd/>
          </a:ln>
          <a:effectLst/>
        </p:spPr>
        <p:txBody>
          <a:bodyPr lIns="0" tIns="0" rIns="0" bIns="0"/>
          <a:lstStyle/>
          <a:p>
            <a:pPr marL="187325" indent="-187325" defTabSz="409575">
              <a:buClr>
                <a:srgbClr val="C0C0C0"/>
              </a:buClr>
              <a:buSzPct val="46000"/>
              <a:buFont typeface="Monotype Sorts" pitchFamily="2" charset="2"/>
              <a:buChar char="n"/>
            </a:pPr>
            <a:endParaRPr lang="en-US" sz="2200"/>
          </a:p>
        </p:txBody>
      </p:sp>
      <p:sp>
        <p:nvSpPr>
          <p:cNvPr id="922627" name="Rectangle 3"/>
          <p:cNvSpPr>
            <a:spLocks noGrp="1" noChangeArrowheads="1"/>
          </p:cNvSpPr>
          <p:nvPr>
            <p:ph type="title"/>
          </p:nvPr>
        </p:nvSpPr>
        <p:spPr/>
        <p:txBody>
          <a:bodyPr/>
          <a:lstStyle/>
          <a:p>
            <a:r>
              <a:rPr lang="en-US"/>
              <a:t>Frequency Domain</a:t>
            </a:r>
          </a:p>
        </p:txBody>
      </p:sp>
      <p:sp>
        <p:nvSpPr>
          <p:cNvPr id="922628" name="Rectangle 4"/>
          <p:cNvSpPr>
            <a:spLocks noGrp="1" noChangeArrowheads="1"/>
          </p:cNvSpPr>
          <p:nvPr>
            <p:ph type="body" idx="1"/>
          </p:nvPr>
        </p:nvSpPr>
        <p:spPr/>
        <p:txBody>
          <a:bodyPr/>
          <a:lstStyle/>
          <a:p>
            <a:r>
              <a:rPr lang="en-US"/>
              <a:t>FFT - Fast Fourier Transform</a:t>
            </a:r>
          </a:p>
          <a:p>
            <a:r>
              <a:rPr lang="en-US"/>
              <a:t>Separates individual frequencies</a:t>
            </a:r>
          </a:p>
          <a:p>
            <a:r>
              <a:rPr lang="en-US"/>
              <a:t>Detects how much vibration at each frequency </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
          <p:cNvSpPr>
            <a:spLocks noGrp="1" noChangeArrowheads="1"/>
          </p:cNvSpPr>
          <p:nvPr>
            <p:ph type="title" idx="4294967295"/>
          </p:nvPr>
        </p:nvSpPr>
        <p:spPr>
          <a:xfrm>
            <a:off x="685800" y="390525"/>
            <a:ext cx="7772400" cy="828675"/>
          </a:xfrm>
        </p:spPr>
        <p:txBody>
          <a:bodyPr/>
          <a:lstStyle/>
          <a:p>
            <a:r>
              <a:rPr lang="en-US"/>
              <a:t>FFT Signal Processing</a:t>
            </a:r>
          </a:p>
        </p:txBody>
      </p:sp>
      <p:grpSp>
        <p:nvGrpSpPr>
          <p:cNvPr id="923651" name="Group 3"/>
          <p:cNvGrpSpPr>
            <a:grpSpLocks/>
          </p:cNvGrpSpPr>
          <p:nvPr/>
        </p:nvGrpSpPr>
        <p:grpSpPr bwMode="auto">
          <a:xfrm>
            <a:off x="1839913" y="1752600"/>
            <a:ext cx="6789737" cy="4521200"/>
            <a:chOff x="1159" y="1104"/>
            <a:chExt cx="4277" cy="2848"/>
          </a:xfrm>
        </p:grpSpPr>
        <p:graphicFrame>
          <p:nvGraphicFramePr>
            <p:cNvPr id="923652" name="Object 4"/>
            <p:cNvGraphicFramePr>
              <a:graphicFrameLocks noChangeAspect="1"/>
            </p:cNvGraphicFramePr>
            <p:nvPr/>
          </p:nvGraphicFramePr>
          <p:xfrm>
            <a:off x="1776" y="1248"/>
            <a:ext cx="2983" cy="2233"/>
          </p:xfrm>
          <a:graphic>
            <a:graphicData uri="http://schemas.openxmlformats.org/presentationml/2006/ole">
              <mc:AlternateContent xmlns:mc="http://schemas.openxmlformats.org/markup-compatibility/2006">
                <mc:Choice xmlns:v="urn:schemas-microsoft-com:vml" Requires="v">
                  <p:oleObj spid="_x0000_s923672" name="Drawing" r:id="rId3" imgW="1314000" imgH="982800" progId="FLW3Drawing">
                    <p:embed/>
                  </p:oleObj>
                </mc:Choice>
                <mc:Fallback>
                  <p:oleObj name="Drawing" r:id="rId3" imgW="1314000" imgH="982800" progId="FLW3Drawing">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6" y="1248"/>
                          <a:ext cx="2983" cy="2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3653" name="Object 5"/>
            <p:cNvGraphicFramePr>
              <a:graphicFrameLocks noChangeAspect="1"/>
            </p:cNvGraphicFramePr>
            <p:nvPr/>
          </p:nvGraphicFramePr>
          <p:xfrm>
            <a:off x="2766" y="1104"/>
            <a:ext cx="1612" cy="1376"/>
          </p:xfrm>
          <a:graphic>
            <a:graphicData uri="http://schemas.openxmlformats.org/presentationml/2006/ole">
              <mc:AlternateContent xmlns:mc="http://schemas.openxmlformats.org/markup-compatibility/2006">
                <mc:Choice xmlns:v="urn:schemas-microsoft-com:vml" Requires="v">
                  <p:oleObj spid="_x0000_s923673" name="Drawing" r:id="rId5" imgW="2559600" imgH="2185200" progId="FLW3Drawing">
                    <p:embed/>
                  </p:oleObj>
                </mc:Choice>
                <mc:Fallback>
                  <p:oleObj name="Drawing" r:id="rId5" imgW="2559600" imgH="2185200" progId="FLW3Drawing">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66" y="1104"/>
                          <a:ext cx="1612" cy="1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3654" name="Object 6"/>
            <p:cNvGraphicFramePr>
              <a:graphicFrameLocks noChangeAspect="1"/>
            </p:cNvGraphicFramePr>
            <p:nvPr/>
          </p:nvGraphicFramePr>
          <p:xfrm>
            <a:off x="2226" y="1218"/>
            <a:ext cx="1880" cy="1390"/>
          </p:xfrm>
          <a:graphic>
            <a:graphicData uri="http://schemas.openxmlformats.org/presentationml/2006/ole">
              <mc:AlternateContent xmlns:mc="http://schemas.openxmlformats.org/markup-compatibility/2006">
                <mc:Choice xmlns:v="urn:schemas-microsoft-com:vml" Requires="v">
                  <p:oleObj spid="_x0000_s923674" name="Drawing" r:id="rId7" imgW="2984400" imgH="2206800" progId="FLW3Drawing">
                    <p:embed/>
                  </p:oleObj>
                </mc:Choice>
                <mc:Fallback>
                  <p:oleObj name="Drawing" r:id="rId7" imgW="2984400" imgH="2206800" progId="FLW3Drawing">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26" y="1218"/>
                          <a:ext cx="1880"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3655" name="Object 7"/>
            <p:cNvGraphicFramePr>
              <a:graphicFrameLocks noChangeAspect="1"/>
            </p:cNvGraphicFramePr>
            <p:nvPr/>
          </p:nvGraphicFramePr>
          <p:xfrm>
            <a:off x="1831" y="1209"/>
            <a:ext cx="2145" cy="1649"/>
          </p:xfrm>
          <a:graphic>
            <a:graphicData uri="http://schemas.openxmlformats.org/presentationml/2006/ole">
              <mc:AlternateContent xmlns:mc="http://schemas.openxmlformats.org/markup-compatibility/2006">
                <mc:Choice xmlns:v="urn:schemas-microsoft-com:vml" Requires="v">
                  <p:oleObj spid="_x0000_s923675" name="Drawing" r:id="rId9" imgW="3405600" imgH="2617200" progId="FLW3Drawing">
                    <p:embed/>
                  </p:oleObj>
                </mc:Choice>
                <mc:Fallback>
                  <p:oleObj name="Drawing" r:id="rId9" imgW="3405600" imgH="2617200" progId="FLW3Drawing">
                    <p:embed/>
                    <p:pic>
                      <p:nvPicPr>
                        <p:cNvPr id="0"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1" y="1209"/>
                          <a:ext cx="2145" cy="1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23656" name="Group 8"/>
            <p:cNvGrpSpPr>
              <a:grpSpLocks/>
            </p:cNvGrpSpPr>
            <p:nvPr/>
          </p:nvGrpSpPr>
          <p:grpSpPr bwMode="auto">
            <a:xfrm>
              <a:off x="4381" y="2422"/>
              <a:ext cx="1055" cy="1494"/>
              <a:chOff x="4129" y="2298"/>
              <a:chExt cx="1055" cy="1494"/>
            </a:xfrm>
          </p:grpSpPr>
          <p:graphicFrame>
            <p:nvGraphicFramePr>
              <p:cNvPr id="923657" name="Object 9"/>
              <p:cNvGraphicFramePr>
                <a:graphicFrameLocks noChangeAspect="1"/>
              </p:cNvGraphicFramePr>
              <p:nvPr/>
            </p:nvGraphicFramePr>
            <p:xfrm>
              <a:off x="4245" y="2298"/>
              <a:ext cx="939" cy="1494"/>
            </p:xfrm>
            <a:graphic>
              <a:graphicData uri="http://schemas.openxmlformats.org/presentationml/2006/ole">
                <mc:AlternateContent xmlns:mc="http://schemas.openxmlformats.org/markup-compatibility/2006">
                  <mc:Choice xmlns:v="urn:schemas-microsoft-com:vml" Requires="v">
                    <p:oleObj spid="_x0000_s923676" name="Drawing" r:id="rId11" imgW="1490400" imgH="2372400" progId="FLW3Drawing">
                      <p:embed/>
                    </p:oleObj>
                  </mc:Choice>
                  <mc:Fallback>
                    <p:oleObj name="Drawing" r:id="rId11" imgW="1490400" imgH="2372400" progId="FLW3Drawing">
                      <p:embed/>
                      <p:pic>
                        <p:nvPicPr>
                          <p:cNvPr id="0" name="Picture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45" y="2298"/>
                            <a:ext cx="939" cy="1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3658" name="Freeform 10"/>
              <p:cNvSpPr>
                <a:spLocks/>
              </p:cNvSpPr>
              <p:nvPr/>
            </p:nvSpPr>
            <p:spPr bwMode="auto">
              <a:xfrm rot="811044" flipH="1" flipV="1">
                <a:off x="4129" y="2457"/>
                <a:ext cx="480" cy="170"/>
              </a:xfrm>
              <a:custGeom>
                <a:avLst/>
                <a:gdLst/>
                <a:ahLst/>
                <a:cxnLst>
                  <a:cxn ang="0">
                    <a:pos x="1222" y="199"/>
                  </a:cxn>
                  <a:cxn ang="0">
                    <a:pos x="544" y="81"/>
                  </a:cxn>
                  <a:cxn ang="0">
                    <a:pos x="666" y="0"/>
                  </a:cxn>
                  <a:cxn ang="0">
                    <a:pos x="0" y="131"/>
                  </a:cxn>
                  <a:cxn ang="0">
                    <a:pos x="63" y="392"/>
                  </a:cxn>
                  <a:cxn ang="0">
                    <a:pos x="186" y="312"/>
                  </a:cxn>
                  <a:cxn ang="0">
                    <a:pos x="863" y="433"/>
                  </a:cxn>
                  <a:cxn ang="0">
                    <a:pos x="1222" y="199"/>
                  </a:cxn>
                </a:cxnLst>
                <a:rect l="0" t="0" r="r" b="b"/>
                <a:pathLst>
                  <a:path w="1222" h="433">
                    <a:moveTo>
                      <a:pt x="1222" y="199"/>
                    </a:moveTo>
                    <a:lnTo>
                      <a:pt x="544" y="81"/>
                    </a:lnTo>
                    <a:lnTo>
                      <a:pt x="666" y="0"/>
                    </a:lnTo>
                    <a:lnTo>
                      <a:pt x="0" y="131"/>
                    </a:lnTo>
                    <a:lnTo>
                      <a:pt x="63" y="392"/>
                    </a:lnTo>
                    <a:lnTo>
                      <a:pt x="186" y="312"/>
                    </a:lnTo>
                    <a:lnTo>
                      <a:pt x="863" y="433"/>
                    </a:lnTo>
                    <a:lnTo>
                      <a:pt x="1222" y="199"/>
                    </a:lnTo>
                    <a:close/>
                  </a:path>
                </a:pathLst>
              </a:custGeom>
              <a:solidFill>
                <a:srgbClr val="00C196"/>
              </a:solidFill>
              <a:ln w="6350">
                <a:solidFill>
                  <a:schemeClr val="tx1"/>
                </a:solidFill>
                <a:round/>
                <a:headEnd/>
                <a:tailEnd/>
              </a:ln>
            </p:spPr>
            <p:txBody>
              <a:bodyPr/>
              <a:lstStyle/>
              <a:p>
                <a:endParaRPr lang="en-US"/>
              </a:p>
            </p:txBody>
          </p:sp>
        </p:grpSp>
        <p:grpSp>
          <p:nvGrpSpPr>
            <p:cNvPr id="923659" name="Group 11"/>
            <p:cNvGrpSpPr>
              <a:grpSpLocks/>
            </p:cNvGrpSpPr>
            <p:nvPr/>
          </p:nvGrpSpPr>
          <p:grpSpPr bwMode="auto">
            <a:xfrm>
              <a:off x="1159" y="1654"/>
              <a:ext cx="931" cy="2298"/>
              <a:chOff x="1488" y="1776"/>
              <a:chExt cx="931" cy="2298"/>
            </a:xfrm>
          </p:grpSpPr>
          <p:graphicFrame>
            <p:nvGraphicFramePr>
              <p:cNvPr id="923660" name="Object 12"/>
              <p:cNvGraphicFramePr>
                <a:graphicFrameLocks noChangeAspect="1"/>
              </p:cNvGraphicFramePr>
              <p:nvPr/>
            </p:nvGraphicFramePr>
            <p:xfrm>
              <a:off x="1488" y="1776"/>
              <a:ext cx="931" cy="1296"/>
            </p:xfrm>
            <a:graphic>
              <a:graphicData uri="http://schemas.openxmlformats.org/presentationml/2006/ole">
                <mc:AlternateContent xmlns:mc="http://schemas.openxmlformats.org/markup-compatibility/2006">
                  <mc:Choice xmlns:v="urn:schemas-microsoft-com:vml" Requires="v">
                    <p:oleObj spid="_x0000_s923677" name="Drawing" r:id="rId13" imgW="1486800" imgH="2073600" progId="FLW3Drawing">
                      <p:embed/>
                    </p:oleObj>
                  </mc:Choice>
                  <mc:Fallback>
                    <p:oleObj name="Drawing" r:id="rId13" imgW="1486800" imgH="2073600" progId="FLW3Drawing">
                      <p:embed/>
                      <p:pic>
                        <p:nvPicPr>
                          <p:cNvPr id="0" name="Picture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88" y="1776"/>
                            <a:ext cx="931" cy="1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23661" name="Group 13"/>
              <p:cNvGrpSpPr>
                <a:grpSpLocks/>
              </p:cNvGrpSpPr>
              <p:nvPr/>
            </p:nvGrpSpPr>
            <p:grpSpPr bwMode="auto">
              <a:xfrm>
                <a:off x="1632" y="1776"/>
                <a:ext cx="706" cy="1324"/>
                <a:chOff x="1632" y="1776"/>
                <a:chExt cx="706" cy="1324"/>
              </a:xfrm>
            </p:grpSpPr>
            <p:sp>
              <p:nvSpPr>
                <p:cNvPr id="923662" name="Freeform 14"/>
                <p:cNvSpPr>
                  <a:spLocks/>
                </p:cNvSpPr>
                <p:nvPr/>
              </p:nvSpPr>
              <p:spPr bwMode="auto">
                <a:xfrm>
                  <a:off x="1728" y="1776"/>
                  <a:ext cx="610" cy="214"/>
                </a:xfrm>
                <a:custGeom>
                  <a:avLst/>
                  <a:gdLst/>
                  <a:ahLst/>
                  <a:cxnLst>
                    <a:cxn ang="0">
                      <a:pos x="0" y="196"/>
                    </a:cxn>
                    <a:cxn ang="0">
                      <a:pos x="678" y="78"/>
                    </a:cxn>
                    <a:cxn ang="0">
                      <a:pos x="554" y="0"/>
                    </a:cxn>
                    <a:cxn ang="0">
                      <a:pos x="1220" y="129"/>
                    </a:cxn>
                    <a:cxn ang="0">
                      <a:pos x="1159" y="390"/>
                    </a:cxn>
                    <a:cxn ang="0">
                      <a:pos x="1037" y="309"/>
                    </a:cxn>
                    <a:cxn ang="0">
                      <a:pos x="360" y="429"/>
                    </a:cxn>
                    <a:cxn ang="0">
                      <a:pos x="0" y="196"/>
                    </a:cxn>
                  </a:cxnLst>
                  <a:rect l="0" t="0" r="r" b="b"/>
                  <a:pathLst>
                    <a:path w="1220" h="429">
                      <a:moveTo>
                        <a:pt x="0" y="196"/>
                      </a:moveTo>
                      <a:lnTo>
                        <a:pt x="678" y="78"/>
                      </a:lnTo>
                      <a:lnTo>
                        <a:pt x="554" y="0"/>
                      </a:lnTo>
                      <a:lnTo>
                        <a:pt x="1220" y="129"/>
                      </a:lnTo>
                      <a:lnTo>
                        <a:pt x="1159" y="390"/>
                      </a:lnTo>
                      <a:lnTo>
                        <a:pt x="1037" y="309"/>
                      </a:lnTo>
                      <a:lnTo>
                        <a:pt x="360" y="429"/>
                      </a:lnTo>
                      <a:lnTo>
                        <a:pt x="0" y="196"/>
                      </a:lnTo>
                      <a:close/>
                    </a:path>
                  </a:pathLst>
                </a:custGeom>
                <a:solidFill>
                  <a:srgbClr val="00C196"/>
                </a:solidFill>
                <a:ln w="6350">
                  <a:solidFill>
                    <a:schemeClr val="tx1"/>
                  </a:solidFill>
                  <a:round/>
                  <a:headEnd/>
                  <a:tailEnd/>
                </a:ln>
              </p:spPr>
              <p:txBody>
                <a:bodyPr/>
                <a:lstStyle/>
                <a:p>
                  <a:endParaRPr lang="en-US"/>
                </a:p>
              </p:txBody>
            </p:sp>
            <p:sp>
              <p:nvSpPr>
                <p:cNvPr id="923663" name="Freeform 15"/>
                <p:cNvSpPr>
                  <a:spLocks/>
                </p:cNvSpPr>
                <p:nvPr/>
              </p:nvSpPr>
              <p:spPr bwMode="auto">
                <a:xfrm rot="4517068" flipH="1">
                  <a:off x="1483" y="2789"/>
                  <a:ext cx="460" cy="161"/>
                </a:xfrm>
                <a:custGeom>
                  <a:avLst/>
                  <a:gdLst/>
                  <a:ahLst/>
                  <a:cxnLst>
                    <a:cxn ang="0">
                      <a:pos x="0" y="196"/>
                    </a:cxn>
                    <a:cxn ang="0">
                      <a:pos x="678" y="78"/>
                    </a:cxn>
                    <a:cxn ang="0">
                      <a:pos x="554" y="0"/>
                    </a:cxn>
                    <a:cxn ang="0">
                      <a:pos x="1220" y="129"/>
                    </a:cxn>
                    <a:cxn ang="0">
                      <a:pos x="1159" y="390"/>
                    </a:cxn>
                    <a:cxn ang="0">
                      <a:pos x="1037" y="309"/>
                    </a:cxn>
                    <a:cxn ang="0">
                      <a:pos x="360" y="429"/>
                    </a:cxn>
                    <a:cxn ang="0">
                      <a:pos x="0" y="196"/>
                    </a:cxn>
                  </a:cxnLst>
                  <a:rect l="0" t="0" r="r" b="b"/>
                  <a:pathLst>
                    <a:path w="1220" h="429">
                      <a:moveTo>
                        <a:pt x="0" y="196"/>
                      </a:moveTo>
                      <a:lnTo>
                        <a:pt x="678" y="78"/>
                      </a:lnTo>
                      <a:lnTo>
                        <a:pt x="554" y="0"/>
                      </a:lnTo>
                      <a:lnTo>
                        <a:pt x="1220" y="129"/>
                      </a:lnTo>
                      <a:lnTo>
                        <a:pt x="1159" y="390"/>
                      </a:lnTo>
                      <a:lnTo>
                        <a:pt x="1037" y="309"/>
                      </a:lnTo>
                      <a:lnTo>
                        <a:pt x="360" y="429"/>
                      </a:lnTo>
                      <a:lnTo>
                        <a:pt x="0" y="196"/>
                      </a:lnTo>
                      <a:close/>
                    </a:path>
                  </a:pathLst>
                </a:custGeom>
                <a:solidFill>
                  <a:srgbClr val="00C196"/>
                </a:solidFill>
                <a:ln w="6350">
                  <a:solidFill>
                    <a:schemeClr val="tx1"/>
                  </a:solidFill>
                  <a:round/>
                  <a:headEnd/>
                  <a:tailEnd/>
                </a:ln>
              </p:spPr>
              <p:txBody>
                <a:bodyPr/>
                <a:lstStyle/>
                <a:p>
                  <a:endParaRPr lang="en-US"/>
                </a:p>
              </p:txBody>
            </p:sp>
          </p:grpSp>
          <p:graphicFrame>
            <p:nvGraphicFramePr>
              <p:cNvPr id="923664" name="Object 16"/>
              <p:cNvGraphicFramePr>
                <a:graphicFrameLocks noChangeAspect="1"/>
              </p:cNvGraphicFramePr>
              <p:nvPr/>
            </p:nvGraphicFramePr>
            <p:xfrm>
              <a:off x="1488" y="2784"/>
              <a:ext cx="922" cy="1290"/>
            </p:xfrm>
            <a:graphic>
              <a:graphicData uri="http://schemas.openxmlformats.org/presentationml/2006/ole">
                <mc:AlternateContent xmlns:mc="http://schemas.openxmlformats.org/markup-compatibility/2006">
                  <mc:Choice xmlns:v="urn:schemas-microsoft-com:vml" Requires="v">
                    <p:oleObj spid="_x0000_s923678" name="Drawing" r:id="rId15" imgW="1472400" imgH="2062800" progId="FLW3Drawing">
                      <p:embed/>
                    </p:oleObj>
                  </mc:Choice>
                  <mc:Fallback>
                    <p:oleObj name="Drawing" r:id="rId15" imgW="1472400" imgH="2062800" progId="FLW3Drawing">
                      <p:embed/>
                      <p:pic>
                        <p:nvPicPr>
                          <p:cNvPr id="0" name="Picture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88" y="2784"/>
                            <a:ext cx="922" cy="1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4674" name="Text Box 2"/>
          <p:cNvSpPr txBox="1">
            <a:spLocks noChangeArrowheads="1"/>
          </p:cNvSpPr>
          <p:nvPr/>
        </p:nvSpPr>
        <p:spPr bwMode="auto">
          <a:xfrm>
            <a:off x="7480300" y="4165600"/>
            <a:ext cx="974725" cy="293688"/>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Frequency</a:t>
            </a:r>
            <a:endParaRPr lang="en-US" sz="1600">
              <a:latin typeface="Arial" pitchFamily="34" charset="0"/>
            </a:endParaRPr>
          </a:p>
        </p:txBody>
      </p:sp>
      <p:grpSp>
        <p:nvGrpSpPr>
          <p:cNvPr id="924675" name="Group 3"/>
          <p:cNvGrpSpPr>
            <a:grpSpLocks/>
          </p:cNvGrpSpPr>
          <p:nvPr/>
        </p:nvGrpSpPr>
        <p:grpSpPr bwMode="auto">
          <a:xfrm>
            <a:off x="5284788" y="1395413"/>
            <a:ext cx="2105025" cy="1214437"/>
            <a:chOff x="3032" y="843"/>
            <a:chExt cx="1326" cy="765"/>
          </a:xfrm>
        </p:grpSpPr>
        <p:sp>
          <p:nvSpPr>
            <p:cNvPr id="924676" name="Line 4"/>
            <p:cNvSpPr>
              <a:spLocks noChangeShapeType="1"/>
            </p:cNvSpPr>
            <p:nvPr/>
          </p:nvSpPr>
          <p:spPr bwMode="auto">
            <a:xfrm>
              <a:off x="3032" y="1608"/>
              <a:ext cx="1326" cy="0"/>
            </a:xfrm>
            <a:prstGeom prst="line">
              <a:avLst/>
            </a:prstGeom>
            <a:noFill/>
            <a:ln w="19050">
              <a:solidFill>
                <a:srgbClr val="008280"/>
              </a:solidFill>
              <a:round/>
              <a:headEnd/>
              <a:tailEnd type="triangle" w="med" len="med"/>
            </a:ln>
            <a:effectLst/>
          </p:spPr>
          <p:txBody>
            <a:bodyPr wrap="none" anchor="ctr"/>
            <a:lstStyle/>
            <a:p>
              <a:endParaRPr lang="en-US"/>
            </a:p>
          </p:txBody>
        </p:sp>
        <p:sp>
          <p:nvSpPr>
            <p:cNvPr id="924677" name="Line 5"/>
            <p:cNvSpPr>
              <a:spLocks noChangeShapeType="1"/>
            </p:cNvSpPr>
            <p:nvPr/>
          </p:nvSpPr>
          <p:spPr bwMode="auto">
            <a:xfrm>
              <a:off x="3034" y="843"/>
              <a:ext cx="0" cy="762"/>
            </a:xfrm>
            <a:prstGeom prst="line">
              <a:avLst/>
            </a:prstGeom>
            <a:noFill/>
            <a:ln w="19050">
              <a:solidFill>
                <a:srgbClr val="008280"/>
              </a:solidFill>
              <a:round/>
              <a:headEnd type="triangle" w="med" len="med"/>
              <a:tailEnd/>
            </a:ln>
            <a:effectLst/>
          </p:spPr>
          <p:txBody>
            <a:bodyPr wrap="none" anchor="ctr"/>
            <a:lstStyle/>
            <a:p>
              <a:endParaRPr lang="en-US"/>
            </a:p>
          </p:txBody>
        </p:sp>
      </p:grpSp>
      <p:sp>
        <p:nvSpPr>
          <p:cNvPr id="924678" name="Line 6"/>
          <p:cNvSpPr>
            <a:spLocks noChangeShapeType="1"/>
          </p:cNvSpPr>
          <p:nvPr/>
        </p:nvSpPr>
        <p:spPr bwMode="auto">
          <a:xfrm>
            <a:off x="5572125" y="1516063"/>
            <a:ext cx="0" cy="1090612"/>
          </a:xfrm>
          <a:prstGeom prst="line">
            <a:avLst/>
          </a:prstGeom>
          <a:noFill/>
          <a:ln w="31750">
            <a:solidFill>
              <a:srgbClr val="008000"/>
            </a:solidFill>
            <a:round/>
            <a:headEnd/>
            <a:tailEnd/>
          </a:ln>
          <a:effectLst/>
        </p:spPr>
        <p:txBody>
          <a:bodyPr wrap="none" anchor="ctr"/>
          <a:lstStyle/>
          <a:p>
            <a:endParaRPr lang="en-US"/>
          </a:p>
        </p:txBody>
      </p:sp>
      <p:sp>
        <p:nvSpPr>
          <p:cNvPr id="924679" name="Line 7"/>
          <p:cNvSpPr>
            <a:spLocks noChangeShapeType="1"/>
          </p:cNvSpPr>
          <p:nvPr/>
        </p:nvSpPr>
        <p:spPr bwMode="auto">
          <a:xfrm>
            <a:off x="5854700" y="3462338"/>
            <a:ext cx="0" cy="817562"/>
          </a:xfrm>
          <a:prstGeom prst="line">
            <a:avLst/>
          </a:prstGeom>
          <a:noFill/>
          <a:ln w="31750">
            <a:solidFill>
              <a:srgbClr val="C20000"/>
            </a:solidFill>
            <a:round/>
            <a:headEnd/>
            <a:tailEnd/>
          </a:ln>
          <a:effectLst/>
        </p:spPr>
        <p:txBody>
          <a:bodyPr wrap="none" anchor="ctr"/>
          <a:lstStyle/>
          <a:p>
            <a:endParaRPr lang="en-US"/>
          </a:p>
        </p:txBody>
      </p:sp>
      <p:sp>
        <p:nvSpPr>
          <p:cNvPr id="924680" name="Line 8"/>
          <p:cNvSpPr>
            <a:spLocks noChangeShapeType="1"/>
          </p:cNvSpPr>
          <p:nvPr/>
        </p:nvSpPr>
        <p:spPr bwMode="auto">
          <a:xfrm>
            <a:off x="7053263" y="5505450"/>
            <a:ext cx="0" cy="407988"/>
          </a:xfrm>
          <a:prstGeom prst="line">
            <a:avLst/>
          </a:prstGeom>
          <a:noFill/>
          <a:ln w="31750">
            <a:solidFill>
              <a:srgbClr val="0000FF"/>
            </a:solidFill>
            <a:round/>
            <a:headEnd/>
            <a:tailEnd/>
          </a:ln>
          <a:effectLst/>
        </p:spPr>
        <p:txBody>
          <a:bodyPr wrap="none" anchor="ctr"/>
          <a:lstStyle/>
          <a:p>
            <a:endParaRPr lang="en-US"/>
          </a:p>
        </p:txBody>
      </p:sp>
      <p:sp>
        <p:nvSpPr>
          <p:cNvPr id="924681" name="Text Box 9"/>
          <p:cNvSpPr txBox="1">
            <a:spLocks noChangeArrowheads="1"/>
          </p:cNvSpPr>
          <p:nvPr/>
        </p:nvSpPr>
        <p:spPr bwMode="auto">
          <a:xfrm>
            <a:off x="5445125" y="2640013"/>
            <a:ext cx="273050" cy="266700"/>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400">
                <a:solidFill>
                  <a:srgbClr val="000000"/>
                </a:solidFill>
                <a:latin typeface="Arial" pitchFamily="34" charset="0"/>
              </a:rPr>
              <a:t>1x</a:t>
            </a:r>
            <a:endParaRPr lang="en-US" sz="1400">
              <a:latin typeface="Arial" pitchFamily="34" charset="0"/>
            </a:endParaRPr>
          </a:p>
        </p:txBody>
      </p:sp>
      <p:sp>
        <p:nvSpPr>
          <p:cNvPr id="924682" name="Text Box 10"/>
          <p:cNvSpPr txBox="1">
            <a:spLocks noChangeArrowheads="1"/>
          </p:cNvSpPr>
          <p:nvPr/>
        </p:nvSpPr>
        <p:spPr bwMode="auto">
          <a:xfrm>
            <a:off x="5716588" y="4333875"/>
            <a:ext cx="274637" cy="266700"/>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400">
                <a:solidFill>
                  <a:srgbClr val="000000"/>
                </a:solidFill>
                <a:latin typeface="Arial" pitchFamily="34" charset="0"/>
              </a:rPr>
              <a:t>4x</a:t>
            </a:r>
            <a:endParaRPr lang="en-US" sz="1400">
              <a:latin typeface="Arial" pitchFamily="34" charset="0"/>
            </a:endParaRPr>
          </a:p>
        </p:txBody>
      </p:sp>
      <p:sp>
        <p:nvSpPr>
          <p:cNvPr id="924683" name="Text Box 11"/>
          <p:cNvSpPr txBox="1">
            <a:spLocks noChangeArrowheads="1"/>
          </p:cNvSpPr>
          <p:nvPr/>
        </p:nvSpPr>
        <p:spPr bwMode="auto">
          <a:xfrm>
            <a:off x="6829425" y="5992813"/>
            <a:ext cx="412750" cy="266700"/>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400">
                <a:solidFill>
                  <a:srgbClr val="000000"/>
                </a:solidFill>
                <a:latin typeface="Arial" pitchFamily="34" charset="0"/>
              </a:rPr>
              <a:t>12x</a:t>
            </a:r>
            <a:endParaRPr lang="en-US" sz="1400">
              <a:latin typeface="Arial" pitchFamily="34" charset="0"/>
            </a:endParaRPr>
          </a:p>
        </p:txBody>
      </p:sp>
      <p:grpSp>
        <p:nvGrpSpPr>
          <p:cNvPr id="924684" name="Group 12"/>
          <p:cNvGrpSpPr>
            <a:grpSpLocks/>
          </p:cNvGrpSpPr>
          <p:nvPr/>
        </p:nvGrpSpPr>
        <p:grpSpPr bwMode="auto">
          <a:xfrm>
            <a:off x="1668463" y="1536700"/>
            <a:ext cx="2362200" cy="1052513"/>
            <a:chOff x="2551" y="326"/>
            <a:chExt cx="1865" cy="860"/>
          </a:xfrm>
        </p:grpSpPr>
        <p:sp>
          <p:nvSpPr>
            <p:cNvPr id="924685" name="Line 13"/>
            <p:cNvSpPr>
              <a:spLocks noChangeShapeType="1"/>
            </p:cNvSpPr>
            <p:nvPr/>
          </p:nvSpPr>
          <p:spPr bwMode="auto">
            <a:xfrm>
              <a:off x="2553" y="757"/>
              <a:ext cx="1863" cy="1"/>
            </a:xfrm>
            <a:prstGeom prst="line">
              <a:avLst/>
            </a:prstGeom>
            <a:noFill/>
            <a:ln w="19050">
              <a:solidFill>
                <a:srgbClr val="008280"/>
              </a:solidFill>
              <a:round/>
              <a:headEnd/>
              <a:tailEnd type="triangle" w="med" len="med"/>
            </a:ln>
            <a:effectLst/>
          </p:spPr>
          <p:txBody>
            <a:bodyPr wrap="none" anchor="ctr"/>
            <a:lstStyle/>
            <a:p>
              <a:endParaRPr lang="en-US"/>
            </a:p>
          </p:txBody>
        </p:sp>
        <p:sp>
          <p:nvSpPr>
            <p:cNvPr id="924686" name="Line 14"/>
            <p:cNvSpPr>
              <a:spLocks noChangeShapeType="1"/>
            </p:cNvSpPr>
            <p:nvPr/>
          </p:nvSpPr>
          <p:spPr bwMode="auto">
            <a:xfrm>
              <a:off x="2553" y="326"/>
              <a:ext cx="1" cy="860"/>
            </a:xfrm>
            <a:prstGeom prst="line">
              <a:avLst/>
            </a:prstGeom>
            <a:noFill/>
            <a:ln w="19050">
              <a:solidFill>
                <a:srgbClr val="008280"/>
              </a:solidFill>
              <a:round/>
              <a:headEnd/>
              <a:tailEnd/>
            </a:ln>
            <a:effectLst/>
          </p:spPr>
          <p:txBody>
            <a:bodyPr wrap="none" anchor="ctr"/>
            <a:lstStyle/>
            <a:p>
              <a:endParaRPr lang="en-US"/>
            </a:p>
          </p:txBody>
        </p:sp>
        <p:grpSp>
          <p:nvGrpSpPr>
            <p:cNvPr id="924687" name="Group 15"/>
            <p:cNvGrpSpPr>
              <a:grpSpLocks/>
            </p:cNvGrpSpPr>
            <p:nvPr/>
          </p:nvGrpSpPr>
          <p:grpSpPr bwMode="auto">
            <a:xfrm>
              <a:off x="2551" y="385"/>
              <a:ext cx="1633" cy="744"/>
              <a:chOff x="2806" y="436"/>
              <a:chExt cx="1796" cy="844"/>
            </a:xfrm>
          </p:grpSpPr>
          <p:sp>
            <p:nvSpPr>
              <p:cNvPr id="924688" name="Freeform 16"/>
              <p:cNvSpPr>
                <a:spLocks/>
              </p:cNvSpPr>
              <p:nvPr/>
            </p:nvSpPr>
            <p:spPr bwMode="auto">
              <a:xfrm>
                <a:off x="2806" y="436"/>
                <a:ext cx="896" cy="419"/>
              </a:xfrm>
              <a:custGeom>
                <a:avLst/>
                <a:gdLst/>
                <a:ahLst/>
                <a:cxnLst>
                  <a:cxn ang="0">
                    <a:pos x="895" y="418"/>
                  </a:cxn>
                  <a:cxn ang="0">
                    <a:pos x="852" y="321"/>
                  </a:cxn>
                  <a:cxn ang="0">
                    <a:pos x="804" y="235"/>
                  </a:cxn>
                  <a:cxn ang="0">
                    <a:pos x="751" y="164"/>
                  </a:cxn>
                  <a:cxn ang="0">
                    <a:pos x="695" y="104"/>
                  </a:cxn>
                  <a:cxn ang="0">
                    <a:pos x="635" y="59"/>
                  </a:cxn>
                  <a:cxn ang="0">
                    <a:pos x="574" y="26"/>
                  </a:cxn>
                  <a:cxn ang="0">
                    <a:pos x="510" y="6"/>
                  </a:cxn>
                  <a:cxn ang="0">
                    <a:pos x="447" y="0"/>
                  </a:cxn>
                  <a:cxn ang="0">
                    <a:pos x="382" y="6"/>
                  </a:cxn>
                  <a:cxn ang="0">
                    <a:pos x="320" y="26"/>
                  </a:cxn>
                  <a:cxn ang="0">
                    <a:pos x="258" y="59"/>
                  </a:cxn>
                  <a:cxn ang="0">
                    <a:pos x="199" y="104"/>
                  </a:cxn>
                  <a:cxn ang="0">
                    <a:pos x="143" y="164"/>
                  </a:cxn>
                  <a:cxn ang="0">
                    <a:pos x="90" y="235"/>
                  </a:cxn>
                  <a:cxn ang="0">
                    <a:pos x="42" y="321"/>
                  </a:cxn>
                  <a:cxn ang="0">
                    <a:pos x="0" y="418"/>
                  </a:cxn>
                </a:cxnLst>
                <a:rect l="0" t="0" r="r" b="b"/>
                <a:pathLst>
                  <a:path w="896" h="419">
                    <a:moveTo>
                      <a:pt x="895" y="418"/>
                    </a:moveTo>
                    <a:lnTo>
                      <a:pt x="852" y="321"/>
                    </a:lnTo>
                    <a:lnTo>
                      <a:pt x="804" y="235"/>
                    </a:lnTo>
                    <a:lnTo>
                      <a:pt x="751" y="164"/>
                    </a:lnTo>
                    <a:lnTo>
                      <a:pt x="695" y="104"/>
                    </a:lnTo>
                    <a:lnTo>
                      <a:pt x="635" y="59"/>
                    </a:lnTo>
                    <a:lnTo>
                      <a:pt x="574" y="26"/>
                    </a:lnTo>
                    <a:lnTo>
                      <a:pt x="510" y="6"/>
                    </a:lnTo>
                    <a:lnTo>
                      <a:pt x="447" y="0"/>
                    </a:lnTo>
                    <a:lnTo>
                      <a:pt x="382" y="6"/>
                    </a:lnTo>
                    <a:lnTo>
                      <a:pt x="320" y="26"/>
                    </a:lnTo>
                    <a:lnTo>
                      <a:pt x="258" y="59"/>
                    </a:lnTo>
                    <a:lnTo>
                      <a:pt x="199" y="104"/>
                    </a:lnTo>
                    <a:lnTo>
                      <a:pt x="143" y="164"/>
                    </a:lnTo>
                    <a:lnTo>
                      <a:pt x="90" y="235"/>
                    </a:lnTo>
                    <a:lnTo>
                      <a:pt x="42" y="321"/>
                    </a:lnTo>
                    <a:lnTo>
                      <a:pt x="0" y="418"/>
                    </a:lnTo>
                  </a:path>
                </a:pathLst>
              </a:custGeom>
              <a:noFill/>
              <a:ln w="31750" cap="flat" cmpd="sng">
                <a:solidFill>
                  <a:srgbClr val="008000"/>
                </a:solidFill>
                <a:prstDash val="solid"/>
                <a:round/>
                <a:headEnd type="none" w="med" len="med"/>
                <a:tailEnd type="none" w="med" len="med"/>
              </a:ln>
              <a:effectLst/>
            </p:spPr>
            <p:txBody>
              <a:bodyPr/>
              <a:lstStyle/>
              <a:p>
                <a:endParaRPr lang="en-US"/>
              </a:p>
            </p:txBody>
          </p:sp>
          <p:sp>
            <p:nvSpPr>
              <p:cNvPr id="924689" name="Freeform 17"/>
              <p:cNvSpPr>
                <a:spLocks/>
              </p:cNvSpPr>
              <p:nvPr/>
            </p:nvSpPr>
            <p:spPr bwMode="auto">
              <a:xfrm>
                <a:off x="3706" y="860"/>
                <a:ext cx="896" cy="420"/>
              </a:xfrm>
              <a:custGeom>
                <a:avLst/>
                <a:gdLst/>
                <a:ahLst/>
                <a:cxnLst>
                  <a:cxn ang="0">
                    <a:pos x="895" y="0"/>
                  </a:cxn>
                  <a:cxn ang="0">
                    <a:pos x="852" y="98"/>
                  </a:cxn>
                  <a:cxn ang="0">
                    <a:pos x="804" y="183"/>
                  </a:cxn>
                  <a:cxn ang="0">
                    <a:pos x="751" y="256"/>
                  </a:cxn>
                  <a:cxn ang="0">
                    <a:pos x="695" y="314"/>
                  </a:cxn>
                  <a:cxn ang="0">
                    <a:pos x="635" y="360"/>
                  </a:cxn>
                  <a:cxn ang="0">
                    <a:pos x="574" y="393"/>
                  </a:cxn>
                  <a:cxn ang="0">
                    <a:pos x="510" y="413"/>
                  </a:cxn>
                  <a:cxn ang="0">
                    <a:pos x="447" y="419"/>
                  </a:cxn>
                  <a:cxn ang="0">
                    <a:pos x="382" y="413"/>
                  </a:cxn>
                  <a:cxn ang="0">
                    <a:pos x="319" y="393"/>
                  </a:cxn>
                  <a:cxn ang="0">
                    <a:pos x="258" y="360"/>
                  </a:cxn>
                  <a:cxn ang="0">
                    <a:pos x="199" y="314"/>
                  </a:cxn>
                  <a:cxn ang="0">
                    <a:pos x="143" y="256"/>
                  </a:cxn>
                  <a:cxn ang="0">
                    <a:pos x="90" y="183"/>
                  </a:cxn>
                  <a:cxn ang="0">
                    <a:pos x="42" y="98"/>
                  </a:cxn>
                  <a:cxn ang="0">
                    <a:pos x="0" y="0"/>
                  </a:cxn>
                </a:cxnLst>
                <a:rect l="0" t="0" r="r" b="b"/>
                <a:pathLst>
                  <a:path w="896" h="420">
                    <a:moveTo>
                      <a:pt x="895" y="0"/>
                    </a:moveTo>
                    <a:lnTo>
                      <a:pt x="852" y="98"/>
                    </a:lnTo>
                    <a:lnTo>
                      <a:pt x="804" y="183"/>
                    </a:lnTo>
                    <a:lnTo>
                      <a:pt x="751" y="256"/>
                    </a:lnTo>
                    <a:lnTo>
                      <a:pt x="695" y="314"/>
                    </a:lnTo>
                    <a:lnTo>
                      <a:pt x="635" y="360"/>
                    </a:lnTo>
                    <a:lnTo>
                      <a:pt x="574" y="393"/>
                    </a:lnTo>
                    <a:lnTo>
                      <a:pt x="510" y="413"/>
                    </a:lnTo>
                    <a:lnTo>
                      <a:pt x="447" y="419"/>
                    </a:lnTo>
                    <a:lnTo>
                      <a:pt x="382" y="413"/>
                    </a:lnTo>
                    <a:lnTo>
                      <a:pt x="319" y="393"/>
                    </a:lnTo>
                    <a:lnTo>
                      <a:pt x="258" y="360"/>
                    </a:lnTo>
                    <a:lnTo>
                      <a:pt x="199" y="314"/>
                    </a:lnTo>
                    <a:lnTo>
                      <a:pt x="143" y="256"/>
                    </a:lnTo>
                    <a:lnTo>
                      <a:pt x="90" y="183"/>
                    </a:lnTo>
                    <a:lnTo>
                      <a:pt x="42" y="98"/>
                    </a:lnTo>
                    <a:lnTo>
                      <a:pt x="0" y="0"/>
                    </a:lnTo>
                  </a:path>
                </a:pathLst>
              </a:custGeom>
              <a:noFill/>
              <a:ln w="31750" cap="flat" cmpd="sng">
                <a:solidFill>
                  <a:srgbClr val="008000"/>
                </a:solidFill>
                <a:prstDash val="solid"/>
                <a:round/>
                <a:headEnd type="triangle" w="med" len="med"/>
                <a:tailEnd type="none" w="med" len="med"/>
              </a:ln>
              <a:effectLst/>
            </p:spPr>
            <p:txBody>
              <a:bodyPr/>
              <a:lstStyle/>
              <a:p>
                <a:endParaRPr lang="en-US"/>
              </a:p>
            </p:txBody>
          </p:sp>
        </p:grpSp>
      </p:grpSp>
      <p:sp>
        <p:nvSpPr>
          <p:cNvPr id="924690" name="Rectangle 18"/>
          <p:cNvSpPr>
            <a:spLocks noChangeArrowheads="1"/>
          </p:cNvSpPr>
          <p:nvPr/>
        </p:nvSpPr>
        <p:spPr bwMode="auto">
          <a:xfrm>
            <a:off x="4016375" y="1976438"/>
            <a:ext cx="666750" cy="309562"/>
          </a:xfrm>
          <a:prstGeom prst="rect">
            <a:avLst/>
          </a:prstGeom>
          <a:noFill/>
          <a:ln w="9525">
            <a:noFill/>
            <a:miter lim="800000"/>
            <a:headEnd/>
            <a:tailEnd/>
          </a:ln>
          <a:effectLst/>
        </p:spPr>
        <p:txBody>
          <a:bodyPr lIns="0" tIns="0" rIns="0" bIns="0"/>
          <a:lstStyle/>
          <a:p>
            <a:pPr algn="ctr" defTabSz="457200">
              <a:buFont typeface="Monotype Sorts" pitchFamily="2" charset="2"/>
              <a:buNone/>
            </a:pPr>
            <a:r>
              <a:rPr lang="en-US" sz="1600">
                <a:solidFill>
                  <a:srgbClr val="000000"/>
                </a:solidFill>
              </a:rPr>
              <a:t>Time</a:t>
            </a:r>
            <a:endParaRPr lang="en-US" sz="1600"/>
          </a:p>
        </p:txBody>
      </p:sp>
      <p:sp>
        <p:nvSpPr>
          <p:cNvPr id="924691" name="Text Box 19"/>
          <p:cNvSpPr txBox="1">
            <a:spLocks noChangeArrowheads="1"/>
          </p:cNvSpPr>
          <p:nvPr/>
        </p:nvSpPr>
        <p:spPr bwMode="auto">
          <a:xfrm>
            <a:off x="1439863" y="1917700"/>
            <a:ext cx="184150" cy="3079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400">
                <a:solidFill>
                  <a:srgbClr val="000000"/>
                </a:solidFill>
                <a:latin typeface="Arial" pitchFamily="34" charset="0"/>
              </a:rPr>
              <a:t>0</a:t>
            </a:r>
            <a:endParaRPr lang="en-US" sz="1400"/>
          </a:p>
        </p:txBody>
      </p:sp>
      <p:sp>
        <p:nvSpPr>
          <p:cNvPr id="924692" name="Text Box 20"/>
          <p:cNvSpPr txBox="1">
            <a:spLocks noChangeArrowheads="1"/>
          </p:cNvSpPr>
          <p:nvPr/>
        </p:nvSpPr>
        <p:spPr bwMode="auto">
          <a:xfrm>
            <a:off x="1439863" y="1460500"/>
            <a:ext cx="190500" cy="309563"/>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400">
                <a:solidFill>
                  <a:srgbClr val="000000"/>
                </a:solidFill>
                <a:latin typeface="Arial" pitchFamily="34" charset="0"/>
              </a:rPr>
              <a:t>+</a:t>
            </a:r>
            <a:endParaRPr lang="en-US" sz="1400"/>
          </a:p>
        </p:txBody>
      </p:sp>
      <p:sp>
        <p:nvSpPr>
          <p:cNvPr id="924693" name="Text Box 21"/>
          <p:cNvSpPr txBox="1">
            <a:spLocks noChangeArrowheads="1"/>
          </p:cNvSpPr>
          <p:nvPr/>
        </p:nvSpPr>
        <p:spPr bwMode="auto">
          <a:xfrm>
            <a:off x="1439863" y="2451100"/>
            <a:ext cx="168275" cy="4603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400">
                <a:solidFill>
                  <a:srgbClr val="000000"/>
                </a:solidFill>
                <a:latin typeface="Arial" pitchFamily="34" charset="0"/>
              </a:rPr>
              <a:t>-</a:t>
            </a:r>
            <a:endParaRPr lang="en-US" sz="1400"/>
          </a:p>
        </p:txBody>
      </p:sp>
      <p:sp>
        <p:nvSpPr>
          <p:cNvPr id="924694" name="Text Box 22"/>
          <p:cNvSpPr txBox="1">
            <a:spLocks noChangeArrowheads="1"/>
          </p:cNvSpPr>
          <p:nvPr/>
        </p:nvSpPr>
        <p:spPr bwMode="auto">
          <a:xfrm>
            <a:off x="4019550" y="3705225"/>
            <a:ext cx="711200" cy="3079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Time</a:t>
            </a:r>
            <a:endParaRPr lang="en-US" sz="1600">
              <a:latin typeface="Arial" pitchFamily="34" charset="0"/>
            </a:endParaRPr>
          </a:p>
        </p:txBody>
      </p:sp>
      <p:grpSp>
        <p:nvGrpSpPr>
          <p:cNvPr id="924695" name="Group 23"/>
          <p:cNvGrpSpPr>
            <a:grpSpLocks/>
          </p:cNvGrpSpPr>
          <p:nvPr/>
        </p:nvGrpSpPr>
        <p:grpSpPr bwMode="auto">
          <a:xfrm>
            <a:off x="1668463" y="3248025"/>
            <a:ext cx="2362200" cy="1143000"/>
            <a:chOff x="2553" y="1704"/>
            <a:chExt cx="1911" cy="724"/>
          </a:xfrm>
        </p:grpSpPr>
        <p:sp>
          <p:nvSpPr>
            <p:cNvPr id="924696" name="Line 24"/>
            <p:cNvSpPr>
              <a:spLocks noChangeShapeType="1"/>
            </p:cNvSpPr>
            <p:nvPr/>
          </p:nvSpPr>
          <p:spPr bwMode="auto">
            <a:xfrm>
              <a:off x="2563" y="2068"/>
              <a:ext cx="1901" cy="1"/>
            </a:xfrm>
            <a:prstGeom prst="line">
              <a:avLst/>
            </a:prstGeom>
            <a:noFill/>
            <a:ln w="19050">
              <a:solidFill>
                <a:srgbClr val="008280"/>
              </a:solidFill>
              <a:round/>
              <a:headEnd/>
              <a:tailEnd type="triangle" w="med" len="med"/>
            </a:ln>
            <a:effectLst/>
          </p:spPr>
          <p:txBody>
            <a:bodyPr wrap="none" anchor="ctr"/>
            <a:lstStyle/>
            <a:p>
              <a:endParaRPr lang="en-US"/>
            </a:p>
          </p:txBody>
        </p:sp>
        <p:sp>
          <p:nvSpPr>
            <p:cNvPr id="924697" name="Line 25"/>
            <p:cNvSpPr>
              <a:spLocks noChangeShapeType="1"/>
            </p:cNvSpPr>
            <p:nvPr/>
          </p:nvSpPr>
          <p:spPr bwMode="auto">
            <a:xfrm>
              <a:off x="2563" y="1704"/>
              <a:ext cx="1" cy="724"/>
            </a:xfrm>
            <a:prstGeom prst="line">
              <a:avLst/>
            </a:prstGeom>
            <a:noFill/>
            <a:ln w="19050">
              <a:solidFill>
                <a:srgbClr val="008280"/>
              </a:solidFill>
              <a:round/>
              <a:headEnd/>
              <a:tailEnd/>
            </a:ln>
            <a:effectLst/>
          </p:spPr>
          <p:txBody>
            <a:bodyPr wrap="none" anchor="ctr"/>
            <a:lstStyle/>
            <a:p>
              <a:endParaRPr lang="en-US"/>
            </a:p>
          </p:txBody>
        </p:sp>
        <p:grpSp>
          <p:nvGrpSpPr>
            <p:cNvPr id="924698" name="Group 26"/>
            <p:cNvGrpSpPr>
              <a:grpSpLocks/>
            </p:cNvGrpSpPr>
            <p:nvPr/>
          </p:nvGrpSpPr>
          <p:grpSpPr bwMode="auto">
            <a:xfrm>
              <a:off x="2553" y="1752"/>
              <a:ext cx="1719" cy="638"/>
              <a:chOff x="2553" y="1752"/>
              <a:chExt cx="1719" cy="638"/>
            </a:xfrm>
          </p:grpSpPr>
          <p:grpSp>
            <p:nvGrpSpPr>
              <p:cNvPr id="924699" name="Group 27"/>
              <p:cNvGrpSpPr>
                <a:grpSpLocks/>
              </p:cNvGrpSpPr>
              <p:nvPr/>
            </p:nvGrpSpPr>
            <p:grpSpPr bwMode="auto">
              <a:xfrm>
                <a:off x="2553" y="1752"/>
                <a:ext cx="416" cy="629"/>
                <a:chOff x="2793" y="1986"/>
                <a:chExt cx="457" cy="713"/>
              </a:xfrm>
            </p:grpSpPr>
            <p:sp>
              <p:nvSpPr>
                <p:cNvPr id="924700" name="Freeform 28"/>
                <p:cNvSpPr>
                  <a:spLocks/>
                </p:cNvSpPr>
                <p:nvPr/>
              </p:nvSpPr>
              <p:spPr bwMode="auto">
                <a:xfrm>
                  <a:off x="2793" y="1986"/>
                  <a:ext cx="228" cy="354"/>
                </a:xfrm>
                <a:custGeom>
                  <a:avLst/>
                  <a:gdLst/>
                  <a:ahLst/>
                  <a:cxnLst>
                    <a:cxn ang="0">
                      <a:pos x="227" y="353"/>
                    </a:cxn>
                    <a:cxn ang="0">
                      <a:pos x="215" y="271"/>
                    </a:cxn>
                    <a:cxn ang="0">
                      <a:pos x="203" y="199"/>
                    </a:cxn>
                    <a:cxn ang="0">
                      <a:pos x="189" y="139"/>
                    </a:cxn>
                    <a:cxn ang="0">
                      <a:pos x="176" y="89"/>
                    </a:cxn>
                    <a:cxn ang="0">
                      <a:pos x="159" y="50"/>
                    </a:cxn>
                    <a:cxn ang="0">
                      <a:pos x="145" y="22"/>
                    </a:cxn>
                    <a:cxn ang="0">
                      <a:pos x="128" y="5"/>
                    </a:cxn>
                    <a:cxn ang="0">
                      <a:pos x="113" y="0"/>
                    </a:cxn>
                    <a:cxn ang="0">
                      <a:pos x="96" y="5"/>
                    </a:cxn>
                    <a:cxn ang="0">
                      <a:pos x="80" y="22"/>
                    </a:cxn>
                    <a:cxn ang="0">
                      <a:pos x="64" y="50"/>
                    </a:cxn>
                    <a:cxn ang="0">
                      <a:pos x="50" y="89"/>
                    </a:cxn>
                    <a:cxn ang="0">
                      <a:pos x="35" y="139"/>
                    </a:cxn>
                    <a:cxn ang="0">
                      <a:pos x="22" y="199"/>
                    </a:cxn>
                    <a:cxn ang="0">
                      <a:pos x="10" y="271"/>
                    </a:cxn>
                    <a:cxn ang="0">
                      <a:pos x="0" y="353"/>
                    </a:cxn>
                  </a:cxnLst>
                  <a:rect l="0" t="0" r="r" b="b"/>
                  <a:pathLst>
                    <a:path w="228" h="354">
                      <a:moveTo>
                        <a:pt x="227" y="353"/>
                      </a:moveTo>
                      <a:lnTo>
                        <a:pt x="215" y="271"/>
                      </a:lnTo>
                      <a:lnTo>
                        <a:pt x="203" y="199"/>
                      </a:lnTo>
                      <a:lnTo>
                        <a:pt x="189" y="139"/>
                      </a:lnTo>
                      <a:lnTo>
                        <a:pt x="176" y="89"/>
                      </a:lnTo>
                      <a:lnTo>
                        <a:pt x="159" y="50"/>
                      </a:lnTo>
                      <a:lnTo>
                        <a:pt x="145" y="22"/>
                      </a:lnTo>
                      <a:lnTo>
                        <a:pt x="128" y="5"/>
                      </a:lnTo>
                      <a:lnTo>
                        <a:pt x="113" y="0"/>
                      </a:lnTo>
                      <a:lnTo>
                        <a:pt x="96" y="5"/>
                      </a:lnTo>
                      <a:lnTo>
                        <a:pt x="80" y="22"/>
                      </a:lnTo>
                      <a:lnTo>
                        <a:pt x="64" y="50"/>
                      </a:lnTo>
                      <a:lnTo>
                        <a:pt x="50" y="89"/>
                      </a:lnTo>
                      <a:lnTo>
                        <a:pt x="35" y="139"/>
                      </a:lnTo>
                      <a:lnTo>
                        <a:pt x="22" y="199"/>
                      </a:lnTo>
                      <a:lnTo>
                        <a:pt x="10" y="271"/>
                      </a:lnTo>
                      <a:lnTo>
                        <a:pt x="0" y="353"/>
                      </a:lnTo>
                    </a:path>
                  </a:pathLst>
                </a:custGeom>
                <a:noFill/>
                <a:ln w="31750" cap="flat" cmpd="sng">
                  <a:solidFill>
                    <a:srgbClr val="E12000"/>
                  </a:solidFill>
                  <a:prstDash val="solid"/>
                  <a:round/>
                  <a:headEnd type="none" w="med" len="med"/>
                  <a:tailEnd type="none" w="med" len="med"/>
                </a:ln>
                <a:effectLst/>
              </p:spPr>
              <p:txBody>
                <a:bodyPr/>
                <a:lstStyle/>
                <a:p>
                  <a:endParaRPr lang="en-US"/>
                </a:p>
              </p:txBody>
            </p:sp>
            <p:sp>
              <p:nvSpPr>
                <p:cNvPr id="924701" name="Freeform 29"/>
                <p:cNvSpPr>
                  <a:spLocks/>
                </p:cNvSpPr>
                <p:nvPr/>
              </p:nvSpPr>
              <p:spPr bwMode="auto">
                <a:xfrm>
                  <a:off x="3021" y="2344"/>
                  <a:ext cx="229" cy="355"/>
                </a:xfrm>
                <a:custGeom>
                  <a:avLst/>
                  <a:gdLst/>
                  <a:ahLst/>
                  <a:cxnLst>
                    <a:cxn ang="0">
                      <a:pos x="228" y="0"/>
                    </a:cxn>
                    <a:cxn ang="0">
                      <a:pos x="216" y="84"/>
                    </a:cxn>
                    <a:cxn ang="0">
                      <a:pos x="204" y="156"/>
                    </a:cxn>
                    <a:cxn ang="0">
                      <a:pos x="190" y="217"/>
                    </a:cxn>
                    <a:cxn ang="0">
                      <a:pos x="176" y="266"/>
                    </a:cxn>
                    <a:cxn ang="0">
                      <a:pos x="160" y="305"/>
                    </a:cxn>
                    <a:cxn ang="0">
                      <a:pos x="145" y="332"/>
                    </a:cxn>
                    <a:cxn ang="0">
                      <a:pos x="128" y="349"/>
                    </a:cxn>
                    <a:cxn ang="0">
                      <a:pos x="113" y="354"/>
                    </a:cxn>
                    <a:cxn ang="0">
                      <a:pos x="96" y="349"/>
                    </a:cxn>
                    <a:cxn ang="0">
                      <a:pos x="80" y="332"/>
                    </a:cxn>
                    <a:cxn ang="0">
                      <a:pos x="65" y="305"/>
                    </a:cxn>
                    <a:cxn ang="0">
                      <a:pos x="50" y="266"/>
                    </a:cxn>
                    <a:cxn ang="0">
                      <a:pos x="35" y="217"/>
                    </a:cxn>
                    <a:cxn ang="0">
                      <a:pos x="22" y="156"/>
                    </a:cxn>
                    <a:cxn ang="0">
                      <a:pos x="10" y="84"/>
                    </a:cxn>
                    <a:cxn ang="0">
                      <a:pos x="0" y="0"/>
                    </a:cxn>
                  </a:cxnLst>
                  <a:rect l="0" t="0" r="r" b="b"/>
                  <a:pathLst>
                    <a:path w="229" h="355">
                      <a:moveTo>
                        <a:pt x="228" y="0"/>
                      </a:moveTo>
                      <a:lnTo>
                        <a:pt x="216" y="84"/>
                      </a:lnTo>
                      <a:lnTo>
                        <a:pt x="204" y="156"/>
                      </a:lnTo>
                      <a:lnTo>
                        <a:pt x="190" y="217"/>
                      </a:lnTo>
                      <a:lnTo>
                        <a:pt x="176" y="266"/>
                      </a:lnTo>
                      <a:lnTo>
                        <a:pt x="160" y="305"/>
                      </a:lnTo>
                      <a:lnTo>
                        <a:pt x="145" y="332"/>
                      </a:lnTo>
                      <a:lnTo>
                        <a:pt x="128" y="349"/>
                      </a:lnTo>
                      <a:lnTo>
                        <a:pt x="113" y="354"/>
                      </a:lnTo>
                      <a:lnTo>
                        <a:pt x="96" y="349"/>
                      </a:lnTo>
                      <a:lnTo>
                        <a:pt x="80" y="332"/>
                      </a:lnTo>
                      <a:lnTo>
                        <a:pt x="65" y="305"/>
                      </a:lnTo>
                      <a:lnTo>
                        <a:pt x="50" y="266"/>
                      </a:lnTo>
                      <a:lnTo>
                        <a:pt x="35" y="217"/>
                      </a:lnTo>
                      <a:lnTo>
                        <a:pt x="22" y="156"/>
                      </a:lnTo>
                      <a:lnTo>
                        <a:pt x="10" y="84"/>
                      </a:lnTo>
                      <a:lnTo>
                        <a:pt x="0" y="0"/>
                      </a:lnTo>
                    </a:path>
                  </a:pathLst>
                </a:custGeom>
                <a:noFill/>
                <a:ln w="31750" cap="flat" cmpd="sng">
                  <a:solidFill>
                    <a:srgbClr val="E12000"/>
                  </a:solidFill>
                  <a:prstDash val="solid"/>
                  <a:round/>
                  <a:headEnd type="triangle" w="med" len="med"/>
                  <a:tailEnd type="none" w="med" len="med"/>
                </a:ln>
                <a:effectLst/>
              </p:spPr>
              <p:txBody>
                <a:bodyPr/>
                <a:lstStyle/>
                <a:p>
                  <a:endParaRPr lang="en-US"/>
                </a:p>
              </p:txBody>
            </p:sp>
          </p:grpSp>
          <p:grpSp>
            <p:nvGrpSpPr>
              <p:cNvPr id="924702" name="Group 30"/>
              <p:cNvGrpSpPr>
                <a:grpSpLocks/>
              </p:cNvGrpSpPr>
              <p:nvPr/>
            </p:nvGrpSpPr>
            <p:grpSpPr bwMode="auto">
              <a:xfrm>
                <a:off x="2997" y="1759"/>
                <a:ext cx="415" cy="630"/>
                <a:chOff x="3281" y="1994"/>
                <a:chExt cx="457" cy="713"/>
              </a:xfrm>
            </p:grpSpPr>
            <p:sp>
              <p:nvSpPr>
                <p:cNvPr id="924703" name="Freeform 31"/>
                <p:cNvSpPr>
                  <a:spLocks/>
                </p:cNvSpPr>
                <p:nvPr/>
              </p:nvSpPr>
              <p:spPr bwMode="auto">
                <a:xfrm>
                  <a:off x="3281" y="1994"/>
                  <a:ext cx="228" cy="354"/>
                </a:xfrm>
                <a:custGeom>
                  <a:avLst/>
                  <a:gdLst/>
                  <a:ahLst/>
                  <a:cxnLst>
                    <a:cxn ang="0">
                      <a:pos x="227" y="353"/>
                    </a:cxn>
                    <a:cxn ang="0">
                      <a:pos x="215" y="271"/>
                    </a:cxn>
                    <a:cxn ang="0">
                      <a:pos x="203" y="200"/>
                    </a:cxn>
                    <a:cxn ang="0">
                      <a:pos x="189" y="140"/>
                    </a:cxn>
                    <a:cxn ang="0">
                      <a:pos x="176" y="90"/>
                    </a:cxn>
                    <a:cxn ang="0">
                      <a:pos x="159" y="51"/>
                    </a:cxn>
                    <a:cxn ang="0">
                      <a:pos x="145" y="23"/>
                    </a:cxn>
                    <a:cxn ang="0">
                      <a:pos x="128" y="6"/>
                    </a:cxn>
                    <a:cxn ang="0">
                      <a:pos x="113" y="0"/>
                    </a:cxn>
                    <a:cxn ang="0">
                      <a:pos x="96" y="6"/>
                    </a:cxn>
                    <a:cxn ang="0">
                      <a:pos x="80" y="23"/>
                    </a:cxn>
                    <a:cxn ang="0">
                      <a:pos x="64" y="51"/>
                    </a:cxn>
                    <a:cxn ang="0">
                      <a:pos x="50" y="90"/>
                    </a:cxn>
                    <a:cxn ang="0">
                      <a:pos x="35" y="140"/>
                    </a:cxn>
                    <a:cxn ang="0">
                      <a:pos x="22" y="200"/>
                    </a:cxn>
                    <a:cxn ang="0">
                      <a:pos x="10" y="271"/>
                    </a:cxn>
                    <a:cxn ang="0">
                      <a:pos x="0" y="353"/>
                    </a:cxn>
                  </a:cxnLst>
                  <a:rect l="0" t="0" r="r" b="b"/>
                  <a:pathLst>
                    <a:path w="228" h="354">
                      <a:moveTo>
                        <a:pt x="227" y="353"/>
                      </a:moveTo>
                      <a:lnTo>
                        <a:pt x="215" y="271"/>
                      </a:lnTo>
                      <a:lnTo>
                        <a:pt x="203" y="200"/>
                      </a:lnTo>
                      <a:lnTo>
                        <a:pt x="189" y="140"/>
                      </a:lnTo>
                      <a:lnTo>
                        <a:pt x="176" y="90"/>
                      </a:lnTo>
                      <a:lnTo>
                        <a:pt x="159" y="51"/>
                      </a:lnTo>
                      <a:lnTo>
                        <a:pt x="145" y="23"/>
                      </a:lnTo>
                      <a:lnTo>
                        <a:pt x="128" y="6"/>
                      </a:lnTo>
                      <a:lnTo>
                        <a:pt x="113" y="0"/>
                      </a:lnTo>
                      <a:lnTo>
                        <a:pt x="96" y="6"/>
                      </a:lnTo>
                      <a:lnTo>
                        <a:pt x="80" y="23"/>
                      </a:lnTo>
                      <a:lnTo>
                        <a:pt x="64" y="51"/>
                      </a:lnTo>
                      <a:lnTo>
                        <a:pt x="50" y="90"/>
                      </a:lnTo>
                      <a:lnTo>
                        <a:pt x="35" y="140"/>
                      </a:lnTo>
                      <a:lnTo>
                        <a:pt x="22" y="200"/>
                      </a:lnTo>
                      <a:lnTo>
                        <a:pt x="10" y="271"/>
                      </a:lnTo>
                      <a:lnTo>
                        <a:pt x="0" y="353"/>
                      </a:lnTo>
                    </a:path>
                  </a:pathLst>
                </a:custGeom>
                <a:noFill/>
                <a:ln w="31750" cap="flat" cmpd="sng">
                  <a:solidFill>
                    <a:srgbClr val="E12000"/>
                  </a:solidFill>
                  <a:prstDash val="solid"/>
                  <a:round/>
                  <a:headEnd type="none" w="med" len="med"/>
                  <a:tailEnd type="none" w="med" len="med"/>
                </a:ln>
                <a:effectLst/>
              </p:spPr>
              <p:txBody>
                <a:bodyPr/>
                <a:lstStyle/>
                <a:p>
                  <a:endParaRPr lang="en-US"/>
                </a:p>
              </p:txBody>
            </p:sp>
            <p:sp>
              <p:nvSpPr>
                <p:cNvPr id="924704" name="Freeform 32"/>
                <p:cNvSpPr>
                  <a:spLocks/>
                </p:cNvSpPr>
                <p:nvPr/>
              </p:nvSpPr>
              <p:spPr bwMode="auto">
                <a:xfrm>
                  <a:off x="3509" y="2352"/>
                  <a:ext cx="229" cy="355"/>
                </a:xfrm>
                <a:custGeom>
                  <a:avLst/>
                  <a:gdLst/>
                  <a:ahLst/>
                  <a:cxnLst>
                    <a:cxn ang="0">
                      <a:pos x="228" y="0"/>
                    </a:cxn>
                    <a:cxn ang="0">
                      <a:pos x="216" y="85"/>
                    </a:cxn>
                    <a:cxn ang="0">
                      <a:pos x="204" y="156"/>
                    </a:cxn>
                    <a:cxn ang="0">
                      <a:pos x="190" y="218"/>
                    </a:cxn>
                    <a:cxn ang="0">
                      <a:pos x="176" y="266"/>
                    </a:cxn>
                    <a:cxn ang="0">
                      <a:pos x="160" y="306"/>
                    </a:cxn>
                    <a:cxn ang="0">
                      <a:pos x="145" y="333"/>
                    </a:cxn>
                    <a:cxn ang="0">
                      <a:pos x="128" y="350"/>
                    </a:cxn>
                    <a:cxn ang="0">
                      <a:pos x="113" y="354"/>
                    </a:cxn>
                    <a:cxn ang="0">
                      <a:pos x="96" y="350"/>
                    </a:cxn>
                    <a:cxn ang="0">
                      <a:pos x="80" y="333"/>
                    </a:cxn>
                    <a:cxn ang="0">
                      <a:pos x="65" y="306"/>
                    </a:cxn>
                    <a:cxn ang="0">
                      <a:pos x="50" y="266"/>
                    </a:cxn>
                    <a:cxn ang="0">
                      <a:pos x="35" y="218"/>
                    </a:cxn>
                    <a:cxn ang="0">
                      <a:pos x="22" y="156"/>
                    </a:cxn>
                    <a:cxn ang="0">
                      <a:pos x="10" y="85"/>
                    </a:cxn>
                    <a:cxn ang="0">
                      <a:pos x="0" y="0"/>
                    </a:cxn>
                  </a:cxnLst>
                  <a:rect l="0" t="0" r="r" b="b"/>
                  <a:pathLst>
                    <a:path w="229" h="355">
                      <a:moveTo>
                        <a:pt x="228" y="0"/>
                      </a:moveTo>
                      <a:lnTo>
                        <a:pt x="216" y="85"/>
                      </a:lnTo>
                      <a:lnTo>
                        <a:pt x="204" y="156"/>
                      </a:lnTo>
                      <a:lnTo>
                        <a:pt x="190" y="218"/>
                      </a:lnTo>
                      <a:lnTo>
                        <a:pt x="176" y="266"/>
                      </a:lnTo>
                      <a:lnTo>
                        <a:pt x="160" y="306"/>
                      </a:lnTo>
                      <a:lnTo>
                        <a:pt x="145" y="333"/>
                      </a:lnTo>
                      <a:lnTo>
                        <a:pt x="128" y="350"/>
                      </a:lnTo>
                      <a:lnTo>
                        <a:pt x="113" y="354"/>
                      </a:lnTo>
                      <a:lnTo>
                        <a:pt x="96" y="350"/>
                      </a:lnTo>
                      <a:lnTo>
                        <a:pt x="80" y="333"/>
                      </a:lnTo>
                      <a:lnTo>
                        <a:pt x="65" y="306"/>
                      </a:lnTo>
                      <a:lnTo>
                        <a:pt x="50" y="266"/>
                      </a:lnTo>
                      <a:lnTo>
                        <a:pt x="35" y="218"/>
                      </a:lnTo>
                      <a:lnTo>
                        <a:pt x="22" y="156"/>
                      </a:lnTo>
                      <a:lnTo>
                        <a:pt x="10" y="85"/>
                      </a:lnTo>
                      <a:lnTo>
                        <a:pt x="0" y="0"/>
                      </a:lnTo>
                    </a:path>
                  </a:pathLst>
                </a:custGeom>
                <a:noFill/>
                <a:ln w="31750" cap="flat" cmpd="sng">
                  <a:solidFill>
                    <a:srgbClr val="E12000"/>
                  </a:solidFill>
                  <a:prstDash val="solid"/>
                  <a:round/>
                  <a:headEnd type="triangle" w="med" len="med"/>
                  <a:tailEnd type="none" w="med" len="med"/>
                </a:ln>
                <a:effectLst/>
              </p:spPr>
              <p:txBody>
                <a:bodyPr/>
                <a:lstStyle/>
                <a:p>
                  <a:endParaRPr lang="en-US"/>
                </a:p>
              </p:txBody>
            </p:sp>
          </p:grpSp>
          <p:grpSp>
            <p:nvGrpSpPr>
              <p:cNvPr id="924705" name="Group 33"/>
              <p:cNvGrpSpPr>
                <a:grpSpLocks/>
              </p:cNvGrpSpPr>
              <p:nvPr/>
            </p:nvGrpSpPr>
            <p:grpSpPr bwMode="auto">
              <a:xfrm>
                <a:off x="3438" y="1761"/>
                <a:ext cx="415" cy="629"/>
                <a:chOff x="3766" y="1996"/>
                <a:chExt cx="457" cy="713"/>
              </a:xfrm>
            </p:grpSpPr>
            <p:sp>
              <p:nvSpPr>
                <p:cNvPr id="924706" name="Freeform 34"/>
                <p:cNvSpPr>
                  <a:spLocks/>
                </p:cNvSpPr>
                <p:nvPr/>
              </p:nvSpPr>
              <p:spPr bwMode="auto">
                <a:xfrm>
                  <a:off x="3766" y="1996"/>
                  <a:ext cx="229" cy="354"/>
                </a:xfrm>
                <a:custGeom>
                  <a:avLst/>
                  <a:gdLst/>
                  <a:ahLst/>
                  <a:cxnLst>
                    <a:cxn ang="0">
                      <a:pos x="228" y="353"/>
                    </a:cxn>
                    <a:cxn ang="0">
                      <a:pos x="216" y="271"/>
                    </a:cxn>
                    <a:cxn ang="0">
                      <a:pos x="204" y="199"/>
                    </a:cxn>
                    <a:cxn ang="0">
                      <a:pos x="190" y="139"/>
                    </a:cxn>
                    <a:cxn ang="0">
                      <a:pos x="176" y="89"/>
                    </a:cxn>
                    <a:cxn ang="0">
                      <a:pos x="160" y="50"/>
                    </a:cxn>
                    <a:cxn ang="0">
                      <a:pos x="145" y="22"/>
                    </a:cxn>
                    <a:cxn ang="0">
                      <a:pos x="128" y="5"/>
                    </a:cxn>
                    <a:cxn ang="0">
                      <a:pos x="113" y="0"/>
                    </a:cxn>
                    <a:cxn ang="0">
                      <a:pos x="96" y="5"/>
                    </a:cxn>
                    <a:cxn ang="0">
                      <a:pos x="80" y="22"/>
                    </a:cxn>
                    <a:cxn ang="0">
                      <a:pos x="64" y="50"/>
                    </a:cxn>
                    <a:cxn ang="0">
                      <a:pos x="50" y="89"/>
                    </a:cxn>
                    <a:cxn ang="0">
                      <a:pos x="35" y="139"/>
                    </a:cxn>
                    <a:cxn ang="0">
                      <a:pos x="22" y="199"/>
                    </a:cxn>
                    <a:cxn ang="0">
                      <a:pos x="10" y="271"/>
                    </a:cxn>
                    <a:cxn ang="0">
                      <a:pos x="0" y="353"/>
                    </a:cxn>
                  </a:cxnLst>
                  <a:rect l="0" t="0" r="r" b="b"/>
                  <a:pathLst>
                    <a:path w="229" h="354">
                      <a:moveTo>
                        <a:pt x="228" y="353"/>
                      </a:moveTo>
                      <a:lnTo>
                        <a:pt x="216" y="271"/>
                      </a:lnTo>
                      <a:lnTo>
                        <a:pt x="204" y="199"/>
                      </a:lnTo>
                      <a:lnTo>
                        <a:pt x="190" y="139"/>
                      </a:lnTo>
                      <a:lnTo>
                        <a:pt x="176" y="89"/>
                      </a:lnTo>
                      <a:lnTo>
                        <a:pt x="160" y="50"/>
                      </a:lnTo>
                      <a:lnTo>
                        <a:pt x="145" y="22"/>
                      </a:lnTo>
                      <a:lnTo>
                        <a:pt x="128" y="5"/>
                      </a:lnTo>
                      <a:lnTo>
                        <a:pt x="113" y="0"/>
                      </a:lnTo>
                      <a:lnTo>
                        <a:pt x="96" y="5"/>
                      </a:lnTo>
                      <a:lnTo>
                        <a:pt x="80" y="22"/>
                      </a:lnTo>
                      <a:lnTo>
                        <a:pt x="64" y="50"/>
                      </a:lnTo>
                      <a:lnTo>
                        <a:pt x="50" y="89"/>
                      </a:lnTo>
                      <a:lnTo>
                        <a:pt x="35" y="139"/>
                      </a:lnTo>
                      <a:lnTo>
                        <a:pt x="22" y="199"/>
                      </a:lnTo>
                      <a:lnTo>
                        <a:pt x="10" y="271"/>
                      </a:lnTo>
                      <a:lnTo>
                        <a:pt x="0" y="353"/>
                      </a:lnTo>
                    </a:path>
                  </a:pathLst>
                </a:custGeom>
                <a:noFill/>
                <a:ln w="31750" cap="flat" cmpd="sng">
                  <a:solidFill>
                    <a:srgbClr val="E12000"/>
                  </a:solidFill>
                  <a:prstDash val="solid"/>
                  <a:round/>
                  <a:headEnd type="none" w="med" len="med"/>
                  <a:tailEnd type="none" w="med" len="med"/>
                </a:ln>
                <a:effectLst/>
              </p:spPr>
              <p:txBody>
                <a:bodyPr/>
                <a:lstStyle/>
                <a:p>
                  <a:endParaRPr lang="en-US"/>
                </a:p>
              </p:txBody>
            </p:sp>
            <p:sp>
              <p:nvSpPr>
                <p:cNvPr id="924707" name="Freeform 35"/>
                <p:cNvSpPr>
                  <a:spLocks/>
                </p:cNvSpPr>
                <p:nvPr/>
              </p:nvSpPr>
              <p:spPr bwMode="auto">
                <a:xfrm>
                  <a:off x="3995" y="2354"/>
                  <a:ext cx="228" cy="355"/>
                </a:xfrm>
                <a:custGeom>
                  <a:avLst/>
                  <a:gdLst/>
                  <a:ahLst/>
                  <a:cxnLst>
                    <a:cxn ang="0">
                      <a:pos x="227" y="0"/>
                    </a:cxn>
                    <a:cxn ang="0">
                      <a:pos x="215" y="84"/>
                    </a:cxn>
                    <a:cxn ang="0">
                      <a:pos x="204" y="156"/>
                    </a:cxn>
                    <a:cxn ang="0">
                      <a:pos x="189" y="217"/>
                    </a:cxn>
                    <a:cxn ang="0">
                      <a:pos x="176" y="266"/>
                    </a:cxn>
                    <a:cxn ang="0">
                      <a:pos x="159" y="305"/>
                    </a:cxn>
                    <a:cxn ang="0">
                      <a:pos x="145" y="332"/>
                    </a:cxn>
                    <a:cxn ang="0">
                      <a:pos x="127" y="349"/>
                    </a:cxn>
                    <a:cxn ang="0">
                      <a:pos x="113" y="354"/>
                    </a:cxn>
                    <a:cxn ang="0">
                      <a:pos x="96" y="349"/>
                    </a:cxn>
                    <a:cxn ang="0">
                      <a:pos x="79" y="332"/>
                    </a:cxn>
                    <a:cxn ang="0">
                      <a:pos x="64" y="305"/>
                    </a:cxn>
                    <a:cxn ang="0">
                      <a:pos x="49" y="266"/>
                    </a:cxn>
                    <a:cxn ang="0">
                      <a:pos x="35" y="217"/>
                    </a:cxn>
                    <a:cxn ang="0">
                      <a:pos x="21" y="156"/>
                    </a:cxn>
                    <a:cxn ang="0">
                      <a:pos x="10" y="84"/>
                    </a:cxn>
                    <a:cxn ang="0">
                      <a:pos x="0" y="0"/>
                    </a:cxn>
                  </a:cxnLst>
                  <a:rect l="0" t="0" r="r" b="b"/>
                  <a:pathLst>
                    <a:path w="228" h="355">
                      <a:moveTo>
                        <a:pt x="227" y="0"/>
                      </a:moveTo>
                      <a:lnTo>
                        <a:pt x="215" y="84"/>
                      </a:lnTo>
                      <a:lnTo>
                        <a:pt x="204" y="156"/>
                      </a:lnTo>
                      <a:lnTo>
                        <a:pt x="189" y="217"/>
                      </a:lnTo>
                      <a:lnTo>
                        <a:pt x="176" y="266"/>
                      </a:lnTo>
                      <a:lnTo>
                        <a:pt x="159" y="305"/>
                      </a:lnTo>
                      <a:lnTo>
                        <a:pt x="145" y="332"/>
                      </a:lnTo>
                      <a:lnTo>
                        <a:pt x="127" y="349"/>
                      </a:lnTo>
                      <a:lnTo>
                        <a:pt x="113" y="354"/>
                      </a:lnTo>
                      <a:lnTo>
                        <a:pt x="96" y="349"/>
                      </a:lnTo>
                      <a:lnTo>
                        <a:pt x="79" y="332"/>
                      </a:lnTo>
                      <a:lnTo>
                        <a:pt x="64" y="305"/>
                      </a:lnTo>
                      <a:lnTo>
                        <a:pt x="49" y="266"/>
                      </a:lnTo>
                      <a:lnTo>
                        <a:pt x="35" y="217"/>
                      </a:lnTo>
                      <a:lnTo>
                        <a:pt x="21" y="156"/>
                      </a:lnTo>
                      <a:lnTo>
                        <a:pt x="10" y="84"/>
                      </a:lnTo>
                      <a:lnTo>
                        <a:pt x="0" y="0"/>
                      </a:lnTo>
                    </a:path>
                  </a:pathLst>
                </a:custGeom>
                <a:noFill/>
                <a:ln w="31750" cap="flat" cmpd="sng">
                  <a:solidFill>
                    <a:srgbClr val="E12000"/>
                  </a:solidFill>
                  <a:prstDash val="solid"/>
                  <a:round/>
                  <a:headEnd type="triangle" w="med" len="med"/>
                  <a:tailEnd type="none" w="med" len="med"/>
                </a:ln>
                <a:effectLst/>
              </p:spPr>
              <p:txBody>
                <a:bodyPr/>
                <a:lstStyle/>
                <a:p>
                  <a:endParaRPr lang="en-US"/>
                </a:p>
              </p:txBody>
            </p:sp>
          </p:grpSp>
          <p:grpSp>
            <p:nvGrpSpPr>
              <p:cNvPr id="924708" name="Group 36"/>
              <p:cNvGrpSpPr>
                <a:grpSpLocks/>
              </p:cNvGrpSpPr>
              <p:nvPr/>
            </p:nvGrpSpPr>
            <p:grpSpPr bwMode="auto">
              <a:xfrm>
                <a:off x="3857" y="1759"/>
                <a:ext cx="415" cy="630"/>
                <a:chOff x="4227" y="1994"/>
                <a:chExt cx="457" cy="713"/>
              </a:xfrm>
            </p:grpSpPr>
            <p:sp>
              <p:nvSpPr>
                <p:cNvPr id="924709" name="Freeform 37"/>
                <p:cNvSpPr>
                  <a:spLocks/>
                </p:cNvSpPr>
                <p:nvPr/>
              </p:nvSpPr>
              <p:spPr bwMode="auto">
                <a:xfrm>
                  <a:off x="4227" y="1994"/>
                  <a:ext cx="228" cy="354"/>
                </a:xfrm>
                <a:custGeom>
                  <a:avLst/>
                  <a:gdLst/>
                  <a:ahLst/>
                  <a:cxnLst>
                    <a:cxn ang="0">
                      <a:pos x="227" y="353"/>
                    </a:cxn>
                    <a:cxn ang="0">
                      <a:pos x="215" y="271"/>
                    </a:cxn>
                    <a:cxn ang="0">
                      <a:pos x="203" y="200"/>
                    </a:cxn>
                    <a:cxn ang="0">
                      <a:pos x="189" y="140"/>
                    </a:cxn>
                    <a:cxn ang="0">
                      <a:pos x="176" y="90"/>
                    </a:cxn>
                    <a:cxn ang="0">
                      <a:pos x="159" y="51"/>
                    </a:cxn>
                    <a:cxn ang="0">
                      <a:pos x="145" y="23"/>
                    </a:cxn>
                    <a:cxn ang="0">
                      <a:pos x="128" y="6"/>
                    </a:cxn>
                    <a:cxn ang="0">
                      <a:pos x="113" y="0"/>
                    </a:cxn>
                    <a:cxn ang="0">
                      <a:pos x="96" y="6"/>
                    </a:cxn>
                    <a:cxn ang="0">
                      <a:pos x="80" y="23"/>
                    </a:cxn>
                    <a:cxn ang="0">
                      <a:pos x="64" y="51"/>
                    </a:cxn>
                    <a:cxn ang="0">
                      <a:pos x="50" y="90"/>
                    </a:cxn>
                    <a:cxn ang="0">
                      <a:pos x="35" y="140"/>
                    </a:cxn>
                    <a:cxn ang="0">
                      <a:pos x="22" y="200"/>
                    </a:cxn>
                    <a:cxn ang="0">
                      <a:pos x="10" y="271"/>
                    </a:cxn>
                    <a:cxn ang="0">
                      <a:pos x="0" y="353"/>
                    </a:cxn>
                  </a:cxnLst>
                  <a:rect l="0" t="0" r="r" b="b"/>
                  <a:pathLst>
                    <a:path w="228" h="354">
                      <a:moveTo>
                        <a:pt x="227" y="353"/>
                      </a:moveTo>
                      <a:lnTo>
                        <a:pt x="215" y="271"/>
                      </a:lnTo>
                      <a:lnTo>
                        <a:pt x="203" y="200"/>
                      </a:lnTo>
                      <a:lnTo>
                        <a:pt x="189" y="140"/>
                      </a:lnTo>
                      <a:lnTo>
                        <a:pt x="176" y="90"/>
                      </a:lnTo>
                      <a:lnTo>
                        <a:pt x="159" y="51"/>
                      </a:lnTo>
                      <a:lnTo>
                        <a:pt x="145" y="23"/>
                      </a:lnTo>
                      <a:lnTo>
                        <a:pt x="128" y="6"/>
                      </a:lnTo>
                      <a:lnTo>
                        <a:pt x="113" y="0"/>
                      </a:lnTo>
                      <a:lnTo>
                        <a:pt x="96" y="6"/>
                      </a:lnTo>
                      <a:lnTo>
                        <a:pt x="80" y="23"/>
                      </a:lnTo>
                      <a:lnTo>
                        <a:pt x="64" y="51"/>
                      </a:lnTo>
                      <a:lnTo>
                        <a:pt x="50" y="90"/>
                      </a:lnTo>
                      <a:lnTo>
                        <a:pt x="35" y="140"/>
                      </a:lnTo>
                      <a:lnTo>
                        <a:pt x="22" y="200"/>
                      </a:lnTo>
                      <a:lnTo>
                        <a:pt x="10" y="271"/>
                      </a:lnTo>
                      <a:lnTo>
                        <a:pt x="0" y="353"/>
                      </a:lnTo>
                    </a:path>
                  </a:pathLst>
                </a:custGeom>
                <a:noFill/>
                <a:ln w="31750" cap="flat" cmpd="sng">
                  <a:solidFill>
                    <a:srgbClr val="E12000"/>
                  </a:solidFill>
                  <a:prstDash val="solid"/>
                  <a:round/>
                  <a:headEnd type="none" w="med" len="med"/>
                  <a:tailEnd type="none" w="med" len="med"/>
                </a:ln>
                <a:effectLst/>
              </p:spPr>
              <p:txBody>
                <a:bodyPr/>
                <a:lstStyle/>
                <a:p>
                  <a:endParaRPr lang="en-US"/>
                </a:p>
              </p:txBody>
            </p:sp>
            <p:sp>
              <p:nvSpPr>
                <p:cNvPr id="924710" name="Freeform 38"/>
                <p:cNvSpPr>
                  <a:spLocks/>
                </p:cNvSpPr>
                <p:nvPr/>
              </p:nvSpPr>
              <p:spPr bwMode="auto">
                <a:xfrm>
                  <a:off x="4455" y="2352"/>
                  <a:ext cx="229" cy="355"/>
                </a:xfrm>
                <a:custGeom>
                  <a:avLst/>
                  <a:gdLst/>
                  <a:ahLst/>
                  <a:cxnLst>
                    <a:cxn ang="0">
                      <a:pos x="228" y="0"/>
                    </a:cxn>
                    <a:cxn ang="0">
                      <a:pos x="216" y="85"/>
                    </a:cxn>
                    <a:cxn ang="0">
                      <a:pos x="204" y="156"/>
                    </a:cxn>
                    <a:cxn ang="0">
                      <a:pos x="190" y="218"/>
                    </a:cxn>
                    <a:cxn ang="0">
                      <a:pos x="176" y="266"/>
                    </a:cxn>
                    <a:cxn ang="0">
                      <a:pos x="160" y="306"/>
                    </a:cxn>
                    <a:cxn ang="0">
                      <a:pos x="145" y="333"/>
                    </a:cxn>
                    <a:cxn ang="0">
                      <a:pos x="128" y="350"/>
                    </a:cxn>
                    <a:cxn ang="0">
                      <a:pos x="113" y="354"/>
                    </a:cxn>
                    <a:cxn ang="0">
                      <a:pos x="96" y="350"/>
                    </a:cxn>
                    <a:cxn ang="0">
                      <a:pos x="80" y="333"/>
                    </a:cxn>
                    <a:cxn ang="0">
                      <a:pos x="65" y="306"/>
                    </a:cxn>
                    <a:cxn ang="0">
                      <a:pos x="50" y="266"/>
                    </a:cxn>
                    <a:cxn ang="0">
                      <a:pos x="35" y="218"/>
                    </a:cxn>
                    <a:cxn ang="0">
                      <a:pos x="22" y="156"/>
                    </a:cxn>
                    <a:cxn ang="0">
                      <a:pos x="10" y="85"/>
                    </a:cxn>
                    <a:cxn ang="0">
                      <a:pos x="0" y="0"/>
                    </a:cxn>
                  </a:cxnLst>
                  <a:rect l="0" t="0" r="r" b="b"/>
                  <a:pathLst>
                    <a:path w="229" h="355">
                      <a:moveTo>
                        <a:pt x="228" y="0"/>
                      </a:moveTo>
                      <a:lnTo>
                        <a:pt x="216" y="85"/>
                      </a:lnTo>
                      <a:lnTo>
                        <a:pt x="204" y="156"/>
                      </a:lnTo>
                      <a:lnTo>
                        <a:pt x="190" y="218"/>
                      </a:lnTo>
                      <a:lnTo>
                        <a:pt x="176" y="266"/>
                      </a:lnTo>
                      <a:lnTo>
                        <a:pt x="160" y="306"/>
                      </a:lnTo>
                      <a:lnTo>
                        <a:pt x="145" y="333"/>
                      </a:lnTo>
                      <a:lnTo>
                        <a:pt x="128" y="350"/>
                      </a:lnTo>
                      <a:lnTo>
                        <a:pt x="113" y="354"/>
                      </a:lnTo>
                      <a:lnTo>
                        <a:pt x="96" y="350"/>
                      </a:lnTo>
                      <a:lnTo>
                        <a:pt x="80" y="333"/>
                      </a:lnTo>
                      <a:lnTo>
                        <a:pt x="65" y="306"/>
                      </a:lnTo>
                      <a:lnTo>
                        <a:pt x="50" y="266"/>
                      </a:lnTo>
                      <a:lnTo>
                        <a:pt x="35" y="218"/>
                      </a:lnTo>
                      <a:lnTo>
                        <a:pt x="22" y="156"/>
                      </a:lnTo>
                      <a:lnTo>
                        <a:pt x="10" y="85"/>
                      </a:lnTo>
                      <a:lnTo>
                        <a:pt x="0" y="0"/>
                      </a:lnTo>
                    </a:path>
                  </a:pathLst>
                </a:custGeom>
                <a:noFill/>
                <a:ln w="31750" cap="flat" cmpd="sng">
                  <a:solidFill>
                    <a:srgbClr val="E12000"/>
                  </a:solidFill>
                  <a:prstDash val="solid"/>
                  <a:round/>
                  <a:headEnd type="triangle" w="med" len="med"/>
                  <a:tailEnd type="none" w="med" len="med"/>
                </a:ln>
                <a:effectLst/>
              </p:spPr>
              <p:txBody>
                <a:bodyPr/>
                <a:lstStyle/>
                <a:p>
                  <a:endParaRPr lang="en-US"/>
                </a:p>
              </p:txBody>
            </p:sp>
          </p:grpSp>
        </p:grpSp>
      </p:grpSp>
      <p:sp>
        <p:nvSpPr>
          <p:cNvPr id="924711" name="Text Box 39"/>
          <p:cNvSpPr txBox="1">
            <a:spLocks noChangeArrowheads="1"/>
          </p:cNvSpPr>
          <p:nvPr/>
        </p:nvSpPr>
        <p:spPr bwMode="auto">
          <a:xfrm>
            <a:off x="4037013" y="5422900"/>
            <a:ext cx="688975" cy="3079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Time</a:t>
            </a:r>
            <a:endParaRPr lang="en-US" sz="1600">
              <a:latin typeface="Arial" pitchFamily="34" charset="0"/>
            </a:endParaRPr>
          </a:p>
        </p:txBody>
      </p:sp>
      <p:grpSp>
        <p:nvGrpSpPr>
          <p:cNvPr id="924712" name="Group 40"/>
          <p:cNvGrpSpPr>
            <a:grpSpLocks/>
          </p:cNvGrpSpPr>
          <p:nvPr/>
        </p:nvGrpSpPr>
        <p:grpSpPr bwMode="auto">
          <a:xfrm>
            <a:off x="1668463" y="5041900"/>
            <a:ext cx="2362200" cy="1066800"/>
            <a:chOff x="2563" y="3241"/>
            <a:chExt cx="1805" cy="348"/>
          </a:xfrm>
        </p:grpSpPr>
        <p:sp>
          <p:nvSpPr>
            <p:cNvPr id="924713" name="Line 41"/>
            <p:cNvSpPr>
              <a:spLocks noChangeShapeType="1"/>
            </p:cNvSpPr>
            <p:nvPr/>
          </p:nvSpPr>
          <p:spPr bwMode="auto">
            <a:xfrm flipV="1">
              <a:off x="2563" y="3408"/>
              <a:ext cx="1805" cy="8"/>
            </a:xfrm>
            <a:prstGeom prst="line">
              <a:avLst/>
            </a:prstGeom>
            <a:noFill/>
            <a:ln w="19050">
              <a:solidFill>
                <a:srgbClr val="0033CC"/>
              </a:solidFill>
              <a:round/>
              <a:headEnd/>
              <a:tailEnd type="triangle" w="med" len="med"/>
            </a:ln>
            <a:effectLst/>
          </p:spPr>
          <p:txBody>
            <a:bodyPr wrap="none" anchor="ctr"/>
            <a:lstStyle/>
            <a:p>
              <a:endParaRPr lang="en-US"/>
            </a:p>
          </p:txBody>
        </p:sp>
        <p:sp>
          <p:nvSpPr>
            <p:cNvPr id="924714" name="Line 42"/>
            <p:cNvSpPr>
              <a:spLocks noChangeShapeType="1"/>
            </p:cNvSpPr>
            <p:nvPr/>
          </p:nvSpPr>
          <p:spPr bwMode="auto">
            <a:xfrm>
              <a:off x="2563" y="3241"/>
              <a:ext cx="1" cy="348"/>
            </a:xfrm>
            <a:prstGeom prst="line">
              <a:avLst/>
            </a:prstGeom>
            <a:noFill/>
            <a:ln w="19050">
              <a:solidFill>
                <a:srgbClr val="0033CC"/>
              </a:solidFill>
              <a:round/>
              <a:headEnd/>
              <a:tailEnd/>
            </a:ln>
            <a:effectLst/>
          </p:spPr>
          <p:txBody>
            <a:bodyPr wrap="none" anchor="ctr"/>
            <a:lstStyle/>
            <a:p>
              <a:endParaRPr lang="en-US"/>
            </a:p>
          </p:txBody>
        </p:sp>
        <p:grpSp>
          <p:nvGrpSpPr>
            <p:cNvPr id="924715" name="Group 43"/>
            <p:cNvGrpSpPr>
              <a:grpSpLocks/>
            </p:cNvGrpSpPr>
            <p:nvPr/>
          </p:nvGrpSpPr>
          <p:grpSpPr bwMode="auto">
            <a:xfrm>
              <a:off x="2592" y="3265"/>
              <a:ext cx="1620" cy="308"/>
              <a:chOff x="2813" y="3700"/>
              <a:chExt cx="1782" cy="349"/>
            </a:xfrm>
          </p:grpSpPr>
          <p:grpSp>
            <p:nvGrpSpPr>
              <p:cNvPr id="924716" name="Group 44"/>
              <p:cNvGrpSpPr>
                <a:grpSpLocks/>
              </p:cNvGrpSpPr>
              <p:nvPr/>
            </p:nvGrpSpPr>
            <p:grpSpPr bwMode="auto">
              <a:xfrm>
                <a:off x="2813" y="3700"/>
                <a:ext cx="888" cy="346"/>
                <a:chOff x="2813" y="3700"/>
                <a:chExt cx="888" cy="346"/>
              </a:xfrm>
            </p:grpSpPr>
            <p:sp>
              <p:nvSpPr>
                <p:cNvPr id="924717" name="Freeform 45"/>
                <p:cNvSpPr>
                  <a:spLocks/>
                </p:cNvSpPr>
                <p:nvPr/>
              </p:nvSpPr>
              <p:spPr bwMode="auto">
                <a:xfrm>
                  <a:off x="2813" y="3700"/>
                  <a:ext cx="78" cy="170"/>
                </a:xfrm>
                <a:custGeom>
                  <a:avLst/>
                  <a:gdLst/>
                  <a:ahLst/>
                  <a:cxnLst>
                    <a:cxn ang="0">
                      <a:pos x="77" y="169"/>
                    </a:cxn>
                    <a:cxn ang="0">
                      <a:pos x="71" y="131"/>
                    </a:cxn>
                    <a:cxn ang="0">
                      <a:pos x="68" y="96"/>
                    </a:cxn>
                    <a:cxn ang="0">
                      <a:pos x="62" y="67"/>
                    </a:cxn>
                    <a:cxn ang="0">
                      <a:pos x="59" y="43"/>
                    </a:cxn>
                    <a:cxn ang="0">
                      <a:pos x="53" y="25"/>
                    </a:cxn>
                    <a:cxn ang="0">
                      <a:pos x="48" y="12"/>
                    </a:cxn>
                    <a:cxn ang="0">
                      <a:pos x="42" y="3"/>
                    </a:cxn>
                    <a:cxn ang="0">
                      <a:pos x="38" y="0"/>
                    </a:cxn>
                    <a:cxn ang="0">
                      <a:pos x="32" y="3"/>
                    </a:cxn>
                    <a:cxn ang="0">
                      <a:pos x="27" y="12"/>
                    </a:cxn>
                    <a:cxn ang="0">
                      <a:pos x="21" y="25"/>
                    </a:cxn>
                    <a:cxn ang="0">
                      <a:pos x="16" y="43"/>
                    </a:cxn>
                    <a:cxn ang="0">
                      <a:pos x="11" y="67"/>
                    </a:cxn>
                    <a:cxn ang="0">
                      <a:pos x="7" y="96"/>
                    </a:cxn>
                    <a:cxn ang="0">
                      <a:pos x="3" y="131"/>
                    </a:cxn>
                    <a:cxn ang="0">
                      <a:pos x="0" y="169"/>
                    </a:cxn>
                  </a:cxnLst>
                  <a:rect l="0" t="0" r="r" b="b"/>
                  <a:pathLst>
                    <a:path w="78" h="170">
                      <a:moveTo>
                        <a:pt x="77" y="169"/>
                      </a:moveTo>
                      <a:lnTo>
                        <a:pt x="71" y="131"/>
                      </a:lnTo>
                      <a:lnTo>
                        <a:pt x="68" y="96"/>
                      </a:lnTo>
                      <a:lnTo>
                        <a:pt x="62" y="67"/>
                      </a:lnTo>
                      <a:lnTo>
                        <a:pt x="59" y="43"/>
                      </a:lnTo>
                      <a:lnTo>
                        <a:pt x="53" y="25"/>
                      </a:lnTo>
                      <a:lnTo>
                        <a:pt x="48" y="12"/>
                      </a:lnTo>
                      <a:lnTo>
                        <a:pt x="42" y="3"/>
                      </a:lnTo>
                      <a:lnTo>
                        <a:pt x="38" y="0"/>
                      </a:lnTo>
                      <a:lnTo>
                        <a:pt x="32" y="3"/>
                      </a:lnTo>
                      <a:lnTo>
                        <a:pt x="27" y="12"/>
                      </a:lnTo>
                      <a:lnTo>
                        <a:pt x="21" y="25"/>
                      </a:lnTo>
                      <a:lnTo>
                        <a:pt x="16" y="43"/>
                      </a:lnTo>
                      <a:lnTo>
                        <a:pt x="11" y="67"/>
                      </a:lnTo>
                      <a:lnTo>
                        <a:pt x="7" y="96"/>
                      </a:lnTo>
                      <a:lnTo>
                        <a:pt x="3" y="131"/>
                      </a:lnTo>
                      <a:lnTo>
                        <a:pt x="0" y="169"/>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18" name="Freeform 46"/>
                <p:cNvSpPr>
                  <a:spLocks/>
                </p:cNvSpPr>
                <p:nvPr/>
              </p:nvSpPr>
              <p:spPr bwMode="auto">
                <a:xfrm>
                  <a:off x="2890" y="3872"/>
                  <a:ext cx="76" cy="171"/>
                </a:xfrm>
                <a:custGeom>
                  <a:avLst/>
                  <a:gdLst/>
                  <a:ahLst/>
                  <a:cxnLst>
                    <a:cxn ang="0">
                      <a:pos x="75" y="0"/>
                    </a:cxn>
                    <a:cxn ang="0">
                      <a:pos x="71" y="41"/>
                    </a:cxn>
                    <a:cxn ang="0">
                      <a:pos x="67" y="75"/>
                    </a:cxn>
                    <a:cxn ang="0">
                      <a:pos x="61" y="105"/>
                    </a:cxn>
                    <a:cxn ang="0">
                      <a:pos x="58" y="128"/>
                    </a:cxn>
                    <a:cxn ang="0">
                      <a:pos x="52" y="148"/>
                    </a:cxn>
                    <a:cxn ang="0">
                      <a:pos x="47" y="160"/>
                    </a:cxn>
                    <a:cxn ang="0">
                      <a:pos x="41" y="168"/>
                    </a:cxn>
                    <a:cxn ang="0">
                      <a:pos x="37" y="170"/>
                    </a:cxn>
                    <a:cxn ang="0">
                      <a:pos x="31" y="168"/>
                    </a:cxn>
                    <a:cxn ang="0">
                      <a:pos x="26" y="160"/>
                    </a:cxn>
                    <a:cxn ang="0">
                      <a:pos x="20" y="148"/>
                    </a:cxn>
                    <a:cxn ang="0">
                      <a:pos x="16" y="128"/>
                    </a:cxn>
                    <a:cxn ang="0">
                      <a:pos x="10" y="105"/>
                    </a:cxn>
                    <a:cxn ang="0">
                      <a:pos x="6" y="75"/>
                    </a:cxn>
                    <a:cxn ang="0">
                      <a:pos x="3" y="41"/>
                    </a:cxn>
                    <a:cxn ang="0">
                      <a:pos x="0" y="0"/>
                    </a:cxn>
                  </a:cxnLst>
                  <a:rect l="0" t="0" r="r" b="b"/>
                  <a:pathLst>
                    <a:path w="76" h="171">
                      <a:moveTo>
                        <a:pt x="75" y="0"/>
                      </a:moveTo>
                      <a:lnTo>
                        <a:pt x="71" y="41"/>
                      </a:lnTo>
                      <a:lnTo>
                        <a:pt x="67" y="75"/>
                      </a:lnTo>
                      <a:lnTo>
                        <a:pt x="61" y="105"/>
                      </a:lnTo>
                      <a:lnTo>
                        <a:pt x="58" y="128"/>
                      </a:lnTo>
                      <a:lnTo>
                        <a:pt x="52" y="148"/>
                      </a:lnTo>
                      <a:lnTo>
                        <a:pt x="47" y="160"/>
                      </a:lnTo>
                      <a:lnTo>
                        <a:pt x="41" y="168"/>
                      </a:lnTo>
                      <a:lnTo>
                        <a:pt x="37" y="170"/>
                      </a:lnTo>
                      <a:lnTo>
                        <a:pt x="31" y="168"/>
                      </a:lnTo>
                      <a:lnTo>
                        <a:pt x="26" y="160"/>
                      </a:lnTo>
                      <a:lnTo>
                        <a:pt x="20" y="148"/>
                      </a:lnTo>
                      <a:lnTo>
                        <a:pt x="16" y="128"/>
                      </a:lnTo>
                      <a:lnTo>
                        <a:pt x="10" y="105"/>
                      </a:lnTo>
                      <a:lnTo>
                        <a:pt x="6" y="75"/>
                      </a:lnTo>
                      <a:lnTo>
                        <a:pt x="3" y="41"/>
                      </a:lnTo>
                      <a:lnTo>
                        <a:pt x="0" y="0"/>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19" name="Freeform 47"/>
                <p:cNvSpPr>
                  <a:spLocks/>
                </p:cNvSpPr>
                <p:nvPr/>
              </p:nvSpPr>
              <p:spPr bwMode="auto">
                <a:xfrm>
                  <a:off x="2975" y="3701"/>
                  <a:ext cx="78" cy="170"/>
                </a:xfrm>
                <a:custGeom>
                  <a:avLst/>
                  <a:gdLst/>
                  <a:ahLst/>
                  <a:cxnLst>
                    <a:cxn ang="0">
                      <a:pos x="77" y="169"/>
                    </a:cxn>
                    <a:cxn ang="0">
                      <a:pos x="72" y="131"/>
                    </a:cxn>
                    <a:cxn ang="0">
                      <a:pos x="68" y="96"/>
                    </a:cxn>
                    <a:cxn ang="0">
                      <a:pos x="63" y="67"/>
                    </a:cxn>
                    <a:cxn ang="0">
                      <a:pos x="59" y="43"/>
                    </a:cxn>
                    <a:cxn ang="0">
                      <a:pos x="53" y="25"/>
                    </a:cxn>
                    <a:cxn ang="0">
                      <a:pos x="48" y="11"/>
                    </a:cxn>
                    <a:cxn ang="0">
                      <a:pos x="43" y="3"/>
                    </a:cxn>
                    <a:cxn ang="0">
                      <a:pos x="38" y="0"/>
                    </a:cxn>
                    <a:cxn ang="0">
                      <a:pos x="33" y="3"/>
                    </a:cxn>
                    <a:cxn ang="0">
                      <a:pos x="27" y="11"/>
                    </a:cxn>
                    <a:cxn ang="0">
                      <a:pos x="21" y="25"/>
                    </a:cxn>
                    <a:cxn ang="0">
                      <a:pos x="16" y="43"/>
                    </a:cxn>
                    <a:cxn ang="0">
                      <a:pos x="11" y="67"/>
                    </a:cxn>
                    <a:cxn ang="0">
                      <a:pos x="7" y="96"/>
                    </a:cxn>
                    <a:cxn ang="0">
                      <a:pos x="3" y="131"/>
                    </a:cxn>
                    <a:cxn ang="0">
                      <a:pos x="0" y="169"/>
                    </a:cxn>
                  </a:cxnLst>
                  <a:rect l="0" t="0" r="r" b="b"/>
                  <a:pathLst>
                    <a:path w="78" h="170">
                      <a:moveTo>
                        <a:pt x="77" y="169"/>
                      </a:moveTo>
                      <a:lnTo>
                        <a:pt x="72" y="131"/>
                      </a:lnTo>
                      <a:lnTo>
                        <a:pt x="68" y="96"/>
                      </a:lnTo>
                      <a:lnTo>
                        <a:pt x="63" y="67"/>
                      </a:lnTo>
                      <a:lnTo>
                        <a:pt x="59" y="43"/>
                      </a:lnTo>
                      <a:lnTo>
                        <a:pt x="53" y="25"/>
                      </a:lnTo>
                      <a:lnTo>
                        <a:pt x="48" y="11"/>
                      </a:lnTo>
                      <a:lnTo>
                        <a:pt x="43" y="3"/>
                      </a:lnTo>
                      <a:lnTo>
                        <a:pt x="38" y="0"/>
                      </a:lnTo>
                      <a:lnTo>
                        <a:pt x="33" y="3"/>
                      </a:lnTo>
                      <a:lnTo>
                        <a:pt x="27" y="11"/>
                      </a:lnTo>
                      <a:lnTo>
                        <a:pt x="21" y="25"/>
                      </a:lnTo>
                      <a:lnTo>
                        <a:pt x="16" y="43"/>
                      </a:lnTo>
                      <a:lnTo>
                        <a:pt x="11" y="67"/>
                      </a:lnTo>
                      <a:lnTo>
                        <a:pt x="7" y="96"/>
                      </a:lnTo>
                      <a:lnTo>
                        <a:pt x="3" y="131"/>
                      </a:lnTo>
                      <a:lnTo>
                        <a:pt x="0" y="169"/>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20" name="Freeform 48"/>
                <p:cNvSpPr>
                  <a:spLocks/>
                </p:cNvSpPr>
                <p:nvPr/>
              </p:nvSpPr>
              <p:spPr bwMode="auto">
                <a:xfrm>
                  <a:off x="3052" y="3873"/>
                  <a:ext cx="76" cy="171"/>
                </a:xfrm>
                <a:custGeom>
                  <a:avLst/>
                  <a:gdLst/>
                  <a:ahLst/>
                  <a:cxnLst>
                    <a:cxn ang="0">
                      <a:pos x="75" y="0"/>
                    </a:cxn>
                    <a:cxn ang="0">
                      <a:pos x="71" y="41"/>
                    </a:cxn>
                    <a:cxn ang="0">
                      <a:pos x="67" y="75"/>
                    </a:cxn>
                    <a:cxn ang="0">
                      <a:pos x="62" y="104"/>
                    </a:cxn>
                    <a:cxn ang="0">
                      <a:pos x="58" y="128"/>
                    </a:cxn>
                    <a:cxn ang="0">
                      <a:pos x="52" y="147"/>
                    </a:cxn>
                    <a:cxn ang="0">
                      <a:pos x="47" y="160"/>
                    </a:cxn>
                    <a:cxn ang="0">
                      <a:pos x="42" y="168"/>
                    </a:cxn>
                    <a:cxn ang="0">
                      <a:pos x="37" y="170"/>
                    </a:cxn>
                    <a:cxn ang="0">
                      <a:pos x="32" y="168"/>
                    </a:cxn>
                    <a:cxn ang="0">
                      <a:pos x="26" y="160"/>
                    </a:cxn>
                    <a:cxn ang="0">
                      <a:pos x="20" y="147"/>
                    </a:cxn>
                    <a:cxn ang="0">
                      <a:pos x="16" y="128"/>
                    </a:cxn>
                    <a:cxn ang="0">
                      <a:pos x="10" y="104"/>
                    </a:cxn>
                    <a:cxn ang="0">
                      <a:pos x="7" y="75"/>
                    </a:cxn>
                    <a:cxn ang="0">
                      <a:pos x="3" y="41"/>
                    </a:cxn>
                    <a:cxn ang="0">
                      <a:pos x="0" y="0"/>
                    </a:cxn>
                  </a:cxnLst>
                  <a:rect l="0" t="0" r="r" b="b"/>
                  <a:pathLst>
                    <a:path w="76" h="171">
                      <a:moveTo>
                        <a:pt x="75" y="0"/>
                      </a:moveTo>
                      <a:lnTo>
                        <a:pt x="71" y="41"/>
                      </a:lnTo>
                      <a:lnTo>
                        <a:pt x="67" y="75"/>
                      </a:lnTo>
                      <a:lnTo>
                        <a:pt x="62" y="104"/>
                      </a:lnTo>
                      <a:lnTo>
                        <a:pt x="58" y="128"/>
                      </a:lnTo>
                      <a:lnTo>
                        <a:pt x="52" y="147"/>
                      </a:lnTo>
                      <a:lnTo>
                        <a:pt x="47" y="160"/>
                      </a:lnTo>
                      <a:lnTo>
                        <a:pt x="42" y="168"/>
                      </a:lnTo>
                      <a:lnTo>
                        <a:pt x="37" y="170"/>
                      </a:lnTo>
                      <a:lnTo>
                        <a:pt x="32" y="168"/>
                      </a:lnTo>
                      <a:lnTo>
                        <a:pt x="26" y="160"/>
                      </a:lnTo>
                      <a:lnTo>
                        <a:pt x="20" y="147"/>
                      </a:lnTo>
                      <a:lnTo>
                        <a:pt x="16" y="128"/>
                      </a:lnTo>
                      <a:lnTo>
                        <a:pt x="10" y="104"/>
                      </a:lnTo>
                      <a:lnTo>
                        <a:pt x="7" y="75"/>
                      </a:lnTo>
                      <a:lnTo>
                        <a:pt x="3" y="41"/>
                      </a:lnTo>
                      <a:lnTo>
                        <a:pt x="0" y="0"/>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21" name="Freeform 49"/>
                <p:cNvSpPr>
                  <a:spLocks/>
                </p:cNvSpPr>
                <p:nvPr/>
              </p:nvSpPr>
              <p:spPr bwMode="auto">
                <a:xfrm>
                  <a:off x="3127" y="3703"/>
                  <a:ext cx="77" cy="170"/>
                </a:xfrm>
                <a:custGeom>
                  <a:avLst/>
                  <a:gdLst/>
                  <a:ahLst/>
                  <a:cxnLst>
                    <a:cxn ang="0">
                      <a:pos x="76" y="169"/>
                    </a:cxn>
                    <a:cxn ang="0">
                      <a:pos x="71" y="131"/>
                    </a:cxn>
                    <a:cxn ang="0">
                      <a:pos x="67" y="96"/>
                    </a:cxn>
                    <a:cxn ang="0">
                      <a:pos x="61" y="67"/>
                    </a:cxn>
                    <a:cxn ang="0">
                      <a:pos x="58" y="43"/>
                    </a:cxn>
                    <a:cxn ang="0">
                      <a:pos x="52" y="25"/>
                    </a:cxn>
                    <a:cxn ang="0">
                      <a:pos x="47" y="11"/>
                    </a:cxn>
                    <a:cxn ang="0">
                      <a:pos x="41" y="3"/>
                    </a:cxn>
                    <a:cxn ang="0">
                      <a:pos x="37" y="0"/>
                    </a:cxn>
                    <a:cxn ang="0">
                      <a:pos x="31" y="3"/>
                    </a:cxn>
                    <a:cxn ang="0">
                      <a:pos x="26" y="11"/>
                    </a:cxn>
                    <a:cxn ang="0">
                      <a:pos x="20" y="25"/>
                    </a:cxn>
                    <a:cxn ang="0">
                      <a:pos x="16" y="43"/>
                    </a:cxn>
                    <a:cxn ang="0">
                      <a:pos x="10" y="67"/>
                    </a:cxn>
                    <a:cxn ang="0">
                      <a:pos x="7" y="96"/>
                    </a:cxn>
                    <a:cxn ang="0">
                      <a:pos x="3" y="131"/>
                    </a:cxn>
                    <a:cxn ang="0">
                      <a:pos x="0" y="169"/>
                    </a:cxn>
                  </a:cxnLst>
                  <a:rect l="0" t="0" r="r" b="b"/>
                  <a:pathLst>
                    <a:path w="77" h="170">
                      <a:moveTo>
                        <a:pt x="76" y="169"/>
                      </a:moveTo>
                      <a:lnTo>
                        <a:pt x="71" y="131"/>
                      </a:lnTo>
                      <a:lnTo>
                        <a:pt x="67" y="96"/>
                      </a:lnTo>
                      <a:lnTo>
                        <a:pt x="61" y="67"/>
                      </a:lnTo>
                      <a:lnTo>
                        <a:pt x="58" y="43"/>
                      </a:lnTo>
                      <a:lnTo>
                        <a:pt x="52" y="25"/>
                      </a:lnTo>
                      <a:lnTo>
                        <a:pt x="47" y="11"/>
                      </a:lnTo>
                      <a:lnTo>
                        <a:pt x="41" y="3"/>
                      </a:lnTo>
                      <a:lnTo>
                        <a:pt x="37" y="0"/>
                      </a:lnTo>
                      <a:lnTo>
                        <a:pt x="31" y="3"/>
                      </a:lnTo>
                      <a:lnTo>
                        <a:pt x="26" y="11"/>
                      </a:lnTo>
                      <a:lnTo>
                        <a:pt x="20" y="25"/>
                      </a:lnTo>
                      <a:lnTo>
                        <a:pt x="16" y="43"/>
                      </a:lnTo>
                      <a:lnTo>
                        <a:pt x="10" y="67"/>
                      </a:lnTo>
                      <a:lnTo>
                        <a:pt x="7" y="96"/>
                      </a:lnTo>
                      <a:lnTo>
                        <a:pt x="3" y="131"/>
                      </a:lnTo>
                      <a:lnTo>
                        <a:pt x="0" y="169"/>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22" name="Freeform 50"/>
                <p:cNvSpPr>
                  <a:spLocks/>
                </p:cNvSpPr>
                <p:nvPr/>
              </p:nvSpPr>
              <p:spPr bwMode="auto">
                <a:xfrm>
                  <a:off x="3203" y="3876"/>
                  <a:ext cx="76" cy="170"/>
                </a:xfrm>
                <a:custGeom>
                  <a:avLst/>
                  <a:gdLst/>
                  <a:ahLst/>
                  <a:cxnLst>
                    <a:cxn ang="0">
                      <a:pos x="75" y="0"/>
                    </a:cxn>
                    <a:cxn ang="0">
                      <a:pos x="71" y="40"/>
                    </a:cxn>
                    <a:cxn ang="0">
                      <a:pos x="67" y="74"/>
                    </a:cxn>
                    <a:cxn ang="0">
                      <a:pos x="61" y="104"/>
                    </a:cxn>
                    <a:cxn ang="0">
                      <a:pos x="58" y="127"/>
                    </a:cxn>
                    <a:cxn ang="0">
                      <a:pos x="52" y="146"/>
                    </a:cxn>
                    <a:cxn ang="0">
                      <a:pos x="47" y="159"/>
                    </a:cxn>
                    <a:cxn ang="0">
                      <a:pos x="42" y="167"/>
                    </a:cxn>
                    <a:cxn ang="0">
                      <a:pos x="37" y="169"/>
                    </a:cxn>
                    <a:cxn ang="0">
                      <a:pos x="32" y="167"/>
                    </a:cxn>
                    <a:cxn ang="0">
                      <a:pos x="26" y="159"/>
                    </a:cxn>
                    <a:cxn ang="0">
                      <a:pos x="20" y="146"/>
                    </a:cxn>
                    <a:cxn ang="0">
                      <a:pos x="16" y="127"/>
                    </a:cxn>
                    <a:cxn ang="0">
                      <a:pos x="11" y="104"/>
                    </a:cxn>
                    <a:cxn ang="0">
                      <a:pos x="7" y="74"/>
                    </a:cxn>
                    <a:cxn ang="0">
                      <a:pos x="3" y="40"/>
                    </a:cxn>
                    <a:cxn ang="0">
                      <a:pos x="0" y="0"/>
                    </a:cxn>
                  </a:cxnLst>
                  <a:rect l="0" t="0" r="r" b="b"/>
                  <a:pathLst>
                    <a:path w="76" h="170">
                      <a:moveTo>
                        <a:pt x="75" y="0"/>
                      </a:moveTo>
                      <a:lnTo>
                        <a:pt x="71" y="40"/>
                      </a:lnTo>
                      <a:lnTo>
                        <a:pt x="67" y="74"/>
                      </a:lnTo>
                      <a:lnTo>
                        <a:pt x="61" y="104"/>
                      </a:lnTo>
                      <a:lnTo>
                        <a:pt x="58" y="127"/>
                      </a:lnTo>
                      <a:lnTo>
                        <a:pt x="52" y="146"/>
                      </a:lnTo>
                      <a:lnTo>
                        <a:pt x="47" y="159"/>
                      </a:lnTo>
                      <a:lnTo>
                        <a:pt x="42" y="167"/>
                      </a:lnTo>
                      <a:lnTo>
                        <a:pt x="37" y="169"/>
                      </a:lnTo>
                      <a:lnTo>
                        <a:pt x="32" y="167"/>
                      </a:lnTo>
                      <a:lnTo>
                        <a:pt x="26" y="159"/>
                      </a:lnTo>
                      <a:lnTo>
                        <a:pt x="20" y="146"/>
                      </a:lnTo>
                      <a:lnTo>
                        <a:pt x="16" y="127"/>
                      </a:lnTo>
                      <a:lnTo>
                        <a:pt x="11" y="104"/>
                      </a:lnTo>
                      <a:lnTo>
                        <a:pt x="7" y="74"/>
                      </a:lnTo>
                      <a:lnTo>
                        <a:pt x="3" y="40"/>
                      </a:lnTo>
                      <a:lnTo>
                        <a:pt x="0" y="0"/>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23" name="Freeform 51"/>
                <p:cNvSpPr>
                  <a:spLocks/>
                </p:cNvSpPr>
                <p:nvPr/>
              </p:nvSpPr>
              <p:spPr bwMode="auto">
                <a:xfrm>
                  <a:off x="3264" y="3703"/>
                  <a:ext cx="78" cy="170"/>
                </a:xfrm>
                <a:custGeom>
                  <a:avLst/>
                  <a:gdLst/>
                  <a:ahLst/>
                  <a:cxnLst>
                    <a:cxn ang="0">
                      <a:pos x="77" y="169"/>
                    </a:cxn>
                    <a:cxn ang="0">
                      <a:pos x="72" y="131"/>
                    </a:cxn>
                    <a:cxn ang="0">
                      <a:pos x="68" y="96"/>
                    </a:cxn>
                    <a:cxn ang="0">
                      <a:pos x="62" y="67"/>
                    </a:cxn>
                    <a:cxn ang="0">
                      <a:pos x="59" y="43"/>
                    </a:cxn>
                    <a:cxn ang="0">
                      <a:pos x="53" y="25"/>
                    </a:cxn>
                    <a:cxn ang="0">
                      <a:pos x="48" y="11"/>
                    </a:cxn>
                    <a:cxn ang="0">
                      <a:pos x="42" y="3"/>
                    </a:cxn>
                    <a:cxn ang="0">
                      <a:pos x="37" y="0"/>
                    </a:cxn>
                    <a:cxn ang="0">
                      <a:pos x="32" y="3"/>
                    </a:cxn>
                    <a:cxn ang="0">
                      <a:pos x="26" y="11"/>
                    </a:cxn>
                    <a:cxn ang="0">
                      <a:pos x="20" y="25"/>
                    </a:cxn>
                    <a:cxn ang="0">
                      <a:pos x="16" y="43"/>
                    </a:cxn>
                    <a:cxn ang="0">
                      <a:pos x="10" y="67"/>
                    </a:cxn>
                    <a:cxn ang="0">
                      <a:pos x="7" y="96"/>
                    </a:cxn>
                    <a:cxn ang="0">
                      <a:pos x="3" y="131"/>
                    </a:cxn>
                    <a:cxn ang="0">
                      <a:pos x="0" y="169"/>
                    </a:cxn>
                  </a:cxnLst>
                  <a:rect l="0" t="0" r="r" b="b"/>
                  <a:pathLst>
                    <a:path w="78" h="170">
                      <a:moveTo>
                        <a:pt x="77" y="169"/>
                      </a:moveTo>
                      <a:lnTo>
                        <a:pt x="72" y="131"/>
                      </a:lnTo>
                      <a:lnTo>
                        <a:pt x="68" y="96"/>
                      </a:lnTo>
                      <a:lnTo>
                        <a:pt x="62" y="67"/>
                      </a:lnTo>
                      <a:lnTo>
                        <a:pt x="59" y="43"/>
                      </a:lnTo>
                      <a:lnTo>
                        <a:pt x="53" y="25"/>
                      </a:lnTo>
                      <a:lnTo>
                        <a:pt x="48" y="11"/>
                      </a:lnTo>
                      <a:lnTo>
                        <a:pt x="42" y="3"/>
                      </a:lnTo>
                      <a:lnTo>
                        <a:pt x="37" y="0"/>
                      </a:lnTo>
                      <a:lnTo>
                        <a:pt x="32" y="3"/>
                      </a:lnTo>
                      <a:lnTo>
                        <a:pt x="26" y="11"/>
                      </a:lnTo>
                      <a:lnTo>
                        <a:pt x="20" y="25"/>
                      </a:lnTo>
                      <a:lnTo>
                        <a:pt x="16" y="43"/>
                      </a:lnTo>
                      <a:lnTo>
                        <a:pt x="10" y="67"/>
                      </a:lnTo>
                      <a:lnTo>
                        <a:pt x="7" y="96"/>
                      </a:lnTo>
                      <a:lnTo>
                        <a:pt x="3" y="131"/>
                      </a:lnTo>
                      <a:lnTo>
                        <a:pt x="0" y="169"/>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24" name="Freeform 52"/>
                <p:cNvSpPr>
                  <a:spLocks/>
                </p:cNvSpPr>
                <p:nvPr/>
              </p:nvSpPr>
              <p:spPr bwMode="auto">
                <a:xfrm>
                  <a:off x="3341" y="3875"/>
                  <a:ext cx="76" cy="171"/>
                </a:xfrm>
                <a:custGeom>
                  <a:avLst/>
                  <a:gdLst/>
                  <a:ahLst/>
                  <a:cxnLst>
                    <a:cxn ang="0">
                      <a:pos x="75" y="0"/>
                    </a:cxn>
                    <a:cxn ang="0">
                      <a:pos x="71" y="41"/>
                    </a:cxn>
                    <a:cxn ang="0">
                      <a:pos x="67" y="75"/>
                    </a:cxn>
                    <a:cxn ang="0">
                      <a:pos x="61" y="104"/>
                    </a:cxn>
                    <a:cxn ang="0">
                      <a:pos x="58" y="128"/>
                    </a:cxn>
                    <a:cxn ang="0">
                      <a:pos x="52" y="147"/>
                    </a:cxn>
                    <a:cxn ang="0">
                      <a:pos x="47" y="160"/>
                    </a:cxn>
                    <a:cxn ang="0">
                      <a:pos x="41" y="168"/>
                    </a:cxn>
                    <a:cxn ang="0">
                      <a:pos x="37" y="170"/>
                    </a:cxn>
                    <a:cxn ang="0">
                      <a:pos x="31" y="168"/>
                    </a:cxn>
                    <a:cxn ang="0">
                      <a:pos x="26" y="160"/>
                    </a:cxn>
                    <a:cxn ang="0">
                      <a:pos x="20" y="147"/>
                    </a:cxn>
                    <a:cxn ang="0">
                      <a:pos x="16" y="128"/>
                    </a:cxn>
                    <a:cxn ang="0">
                      <a:pos x="10" y="104"/>
                    </a:cxn>
                    <a:cxn ang="0">
                      <a:pos x="7" y="75"/>
                    </a:cxn>
                    <a:cxn ang="0">
                      <a:pos x="3" y="41"/>
                    </a:cxn>
                    <a:cxn ang="0">
                      <a:pos x="0" y="0"/>
                    </a:cxn>
                  </a:cxnLst>
                  <a:rect l="0" t="0" r="r" b="b"/>
                  <a:pathLst>
                    <a:path w="76" h="171">
                      <a:moveTo>
                        <a:pt x="75" y="0"/>
                      </a:moveTo>
                      <a:lnTo>
                        <a:pt x="71" y="41"/>
                      </a:lnTo>
                      <a:lnTo>
                        <a:pt x="67" y="75"/>
                      </a:lnTo>
                      <a:lnTo>
                        <a:pt x="61" y="104"/>
                      </a:lnTo>
                      <a:lnTo>
                        <a:pt x="58" y="128"/>
                      </a:lnTo>
                      <a:lnTo>
                        <a:pt x="52" y="147"/>
                      </a:lnTo>
                      <a:lnTo>
                        <a:pt x="47" y="160"/>
                      </a:lnTo>
                      <a:lnTo>
                        <a:pt x="41" y="168"/>
                      </a:lnTo>
                      <a:lnTo>
                        <a:pt x="37" y="170"/>
                      </a:lnTo>
                      <a:lnTo>
                        <a:pt x="31" y="168"/>
                      </a:lnTo>
                      <a:lnTo>
                        <a:pt x="26" y="160"/>
                      </a:lnTo>
                      <a:lnTo>
                        <a:pt x="20" y="147"/>
                      </a:lnTo>
                      <a:lnTo>
                        <a:pt x="16" y="128"/>
                      </a:lnTo>
                      <a:lnTo>
                        <a:pt x="10" y="104"/>
                      </a:lnTo>
                      <a:lnTo>
                        <a:pt x="7" y="75"/>
                      </a:lnTo>
                      <a:lnTo>
                        <a:pt x="3" y="41"/>
                      </a:lnTo>
                      <a:lnTo>
                        <a:pt x="0" y="0"/>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25" name="Freeform 53"/>
                <p:cNvSpPr>
                  <a:spLocks/>
                </p:cNvSpPr>
                <p:nvPr/>
              </p:nvSpPr>
              <p:spPr bwMode="auto">
                <a:xfrm>
                  <a:off x="3402" y="3701"/>
                  <a:ext cx="77" cy="170"/>
                </a:xfrm>
                <a:custGeom>
                  <a:avLst/>
                  <a:gdLst/>
                  <a:ahLst/>
                  <a:cxnLst>
                    <a:cxn ang="0">
                      <a:pos x="76" y="169"/>
                    </a:cxn>
                    <a:cxn ang="0">
                      <a:pos x="71" y="130"/>
                    </a:cxn>
                    <a:cxn ang="0">
                      <a:pos x="67" y="95"/>
                    </a:cxn>
                    <a:cxn ang="0">
                      <a:pos x="62" y="67"/>
                    </a:cxn>
                    <a:cxn ang="0">
                      <a:pos x="58" y="42"/>
                    </a:cxn>
                    <a:cxn ang="0">
                      <a:pos x="52" y="25"/>
                    </a:cxn>
                    <a:cxn ang="0">
                      <a:pos x="47" y="11"/>
                    </a:cxn>
                    <a:cxn ang="0">
                      <a:pos x="42" y="3"/>
                    </a:cxn>
                    <a:cxn ang="0">
                      <a:pos x="37" y="0"/>
                    </a:cxn>
                    <a:cxn ang="0">
                      <a:pos x="32" y="3"/>
                    </a:cxn>
                    <a:cxn ang="0">
                      <a:pos x="26" y="11"/>
                    </a:cxn>
                    <a:cxn ang="0">
                      <a:pos x="20" y="25"/>
                    </a:cxn>
                    <a:cxn ang="0">
                      <a:pos x="16" y="42"/>
                    </a:cxn>
                    <a:cxn ang="0">
                      <a:pos x="10" y="67"/>
                    </a:cxn>
                    <a:cxn ang="0">
                      <a:pos x="7" y="95"/>
                    </a:cxn>
                    <a:cxn ang="0">
                      <a:pos x="3" y="130"/>
                    </a:cxn>
                    <a:cxn ang="0">
                      <a:pos x="0" y="169"/>
                    </a:cxn>
                  </a:cxnLst>
                  <a:rect l="0" t="0" r="r" b="b"/>
                  <a:pathLst>
                    <a:path w="77" h="170">
                      <a:moveTo>
                        <a:pt x="76" y="169"/>
                      </a:moveTo>
                      <a:lnTo>
                        <a:pt x="71" y="130"/>
                      </a:lnTo>
                      <a:lnTo>
                        <a:pt x="67" y="95"/>
                      </a:lnTo>
                      <a:lnTo>
                        <a:pt x="62" y="67"/>
                      </a:lnTo>
                      <a:lnTo>
                        <a:pt x="58" y="42"/>
                      </a:lnTo>
                      <a:lnTo>
                        <a:pt x="52" y="25"/>
                      </a:lnTo>
                      <a:lnTo>
                        <a:pt x="47" y="11"/>
                      </a:lnTo>
                      <a:lnTo>
                        <a:pt x="42" y="3"/>
                      </a:lnTo>
                      <a:lnTo>
                        <a:pt x="37" y="0"/>
                      </a:lnTo>
                      <a:lnTo>
                        <a:pt x="32" y="3"/>
                      </a:lnTo>
                      <a:lnTo>
                        <a:pt x="26" y="11"/>
                      </a:lnTo>
                      <a:lnTo>
                        <a:pt x="20" y="25"/>
                      </a:lnTo>
                      <a:lnTo>
                        <a:pt x="16" y="42"/>
                      </a:lnTo>
                      <a:lnTo>
                        <a:pt x="10" y="67"/>
                      </a:lnTo>
                      <a:lnTo>
                        <a:pt x="7" y="95"/>
                      </a:lnTo>
                      <a:lnTo>
                        <a:pt x="3" y="130"/>
                      </a:lnTo>
                      <a:lnTo>
                        <a:pt x="0" y="169"/>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26" name="Freeform 54"/>
                <p:cNvSpPr>
                  <a:spLocks/>
                </p:cNvSpPr>
                <p:nvPr/>
              </p:nvSpPr>
              <p:spPr bwMode="auto">
                <a:xfrm>
                  <a:off x="3478" y="3872"/>
                  <a:ext cx="77" cy="171"/>
                </a:xfrm>
                <a:custGeom>
                  <a:avLst/>
                  <a:gdLst/>
                  <a:ahLst/>
                  <a:cxnLst>
                    <a:cxn ang="0">
                      <a:pos x="76" y="0"/>
                    </a:cxn>
                    <a:cxn ang="0">
                      <a:pos x="71" y="41"/>
                    </a:cxn>
                    <a:cxn ang="0">
                      <a:pos x="67" y="75"/>
                    </a:cxn>
                    <a:cxn ang="0">
                      <a:pos x="62" y="105"/>
                    </a:cxn>
                    <a:cxn ang="0">
                      <a:pos x="58" y="128"/>
                    </a:cxn>
                    <a:cxn ang="0">
                      <a:pos x="52" y="148"/>
                    </a:cxn>
                    <a:cxn ang="0">
                      <a:pos x="48" y="160"/>
                    </a:cxn>
                    <a:cxn ang="0">
                      <a:pos x="42" y="168"/>
                    </a:cxn>
                    <a:cxn ang="0">
                      <a:pos x="38" y="170"/>
                    </a:cxn>
                    <a:cxn ang="0">
                      <a:pos x="32" y="168"/>
                    </a:cxn>
                    <a:cxn ang="0">
                      <a:pos x="26" y="160"/>
                    </a:cxn>
                    <a:cxn ang="0">
                      <a:pos x="20" y="148"/>
                    </a:cxn>
                    <a:cxn ang="0">
                      <a:pos x="16" y="128"/>
                    </a:cxn>
                    <a:cxn ang="0">
                      <a:pos x="10" y="105"/>
                    </a:cxn>
                    <a:cxn ang="0">
                      <a:pos x="7" y="75"/>
                    </a:cxn>
                    <a:cxn ang="0">
                      <a:pos x="3" y="41"/>
                    </a:cxn>
                    <a:cxn ang="0">
                      <a:pos x="0" y="0"/>
                    </a:cxn>
                  </a:cxnLst>
                  <a:rect l="0" t="0" r="r" b="b"/>
                  <a:pathLst>
                    <a:path w="77" h="171">
                      <a:moveTo>
                        <a:pt x="76" y="0"/>
                      </a:moveTo>
                      <a:lnTo>
                        <a:pt x="71" y="41"/>
                      </a:lnTo>
                      <a:lnTo>
                        <a:pt x="67" y="75"/>
                      </a:lnTo>
                      <a:lnTo>
                        <a:pt x="62" y="105"/>
                      </a:lnTo>
                      <a:lnTo>
                        <a:pt x="58" y="128"/>
                      </a:lnTo>
                      <a:lnTo>
                        <a:pt x="52" y="148"/>
                      </a:lnTo>
                      <a:lnTo>
                        <a:pt x="48" y="160"/>
                      </a:lnTo>
                      <a:lnTo>
                        <a:pt x="42" y="168"/>
                      </a:lnTo>
                      <a:lnTo>
                        <a:pt x="38" y="170"/>
                      </a:lnTo>
                      <a:lnTo>
                        <a:pt x="32" y="168"/>
                      </a:lnTo>
                      <a:lnTo>
                        <a:pt x="26" y="160"/>
                      </a:lnTo>
                      <a:lnTo>
                        <a:pt x="20" y="148"/>
                      </a:lnTo>
                      <a:lnTo>
                        <a:pt x="16" y="128"/>
                      </a:lnTo>
                      <a:lnTo>
                        <a:pt x="10" y="105"/>
                      </a:lnTo>
                      <a:lnTo>
                        <a:pt x="7" y="75"/>
                      </a:lnTo>
                      <a:lnTo>
                        <a:pt x="3" y="41"/>
                      </a:lnTo>
                      <a:lnTo>
                        <a:pt x="0" y="0"/>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27" name="Freeform 55"/>
                <p:cNvSpPr>
                  <a:spLocks/>
                </p:cNvSpPr>
                <p:nvPr/>
              </p:nvSpPr>
              <p:spPr bwMode="auto">
                <a:xfrm>
                  <a:off x="3548" y="3703"/>
                  <a:ext cx="78" cy="170"/>
                </a:xfrm>
                <a:custGeom>
                  <a:avLst/>
                  <a:gdLst/>
                  <a:ahLst/>
                  <a:cxnLst>
                    <a:cxn ang="0">
                      <a:pos x="77" y="169"/>
                    </a:cxn>
                    <a:cxn ang="0">
                      <a:pos x="72" y="131"/>
                    </a:cxn>
                    <a:cxn ang="0">
                      <a:pos x="68" y="96"/>
                    </a:cxn>
                    <a:cxn ang="0">
                      <a:pos x="62" y="67"/>
                    </a:cxn>
                    <a:cxn ang="0">
                      <a:pos x="58" y="43"/>
                    </a:cxn>
                    <a:cxn ang="0">
                      <a:pos x="53" y="25"/>
                    </a:cxn>
                    <a:cxn ang="0">
                      <a:pos x="48" y="11"/>
                    </a:cxn>
                    <a:cxn ang="0">
                      <a:pos x="42" y="3"/>
                    </a:cxn>
                    <a:cxn ang="0">
                      <a:pos x="38" y="0"/>
                    </a:cxn>
                    <a:cxn ang="0">
                      <a:pos x="32" y="3"/>
                    </a:cxn>
                    <a:cxn ang="0">
                      <a:pos x="27" y="11"/>
                    </a:cxn>
                    <a:cxn ang="0">
                      <a:pos x="21" y="25"/>
                    </a:cxn>
                    <a:cxn ang="0">
                      <a:pos x="16" y="43"/>
                    </a:cxn>
                    <a:cxn ang="0">
                      <a:pos x="10" y="67"/>
                    </a:cxn>
                    <a:cxn ang="0">
                      <a:pos x="7" y="96"/>
                    </a:cxn>
                    <a:cxn ang="0">
                      <a:pos x="3" y="131"/>
                    </a:cxn>
                    <a:cxn ang="0">
                      <a:pos x="0" y="169"/>
                    </a:cxn>
                  </a:cxnLst>
                  <a:rect l="0" t="0" r="r" b="b"/>
                  <a:pathLst>
                    <a:path w="78" h="170">
                      <a:moveTo>
                        <a:pt x="77" y="169"/>
                      </a:moveTo>
                      <a:lnTo>
                        <a:pt x="72" y="131"/>
                      </a:lnTo>
                      <a:lnTo>
                        <a:pt x="68" y="96"/>
                      </a:lnTo>
                      <a:lnTo>
                        <a:pt x="62" y="67"/>
                      </a:lnTo>
                      <a:lnTo>
                        <a:pt x="58" y="43"/>
                      </a:lnTo>
                      <a:lnTo>
                        <a:pt x="53" y="25"/>
                      </a:lnTo>
                      <a:lnTo>
                        <a:pt x="48" y="11"/>
                      </a:lnTo>
                      <a:lnTo>
                        <a:pt x="42" y="3"/>
                      </a:lnTo>
                      <a:lnTo>
                        <a:pt x="38" y="0"/>
                      </a:lnTo>
                      <a:lnTo>
                        <a:pt x="32" y="3"/>
                      </a:lnTo>
                      <a:lnTo>
                        <a:pt x="27" y="11"/>
                      </a:lnTo>
                      <a:lnTo>
                        <a:pt x="21" y="25"/>
                      </a:lnTo>
                      <a:lnTo>
                        <a:pt x="16" y="43"/>
                      </a:lnTo>
                      <a:lnTo>
                        <a:pt x="10" y="67"/>
                      </a:lnTo>
                      <a:lnTo>
                        <a:pt x="7" y="96"/>
                      </a:lnTo>
                      <a:lnTo>
                        <a:pt x="3" y="131"/>
                      </a:lnTo>
                      <a:lnTo>
                        <a:pt x="0" y="169"/>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28" name="Freeform 56"/>
                <p:cNvSpPr>
                  <a:spLocks/>
                </p:cNvSpPr>
                <p:nvPr/>
              </p:nvSpPr>
              <p:spPr bwMode="auto">
                <a:xfrm>
                  <a:off x="3625" y="3876"/>
                  <a:ext cx="76" cy="170"/>
                </a:xfrm>
                <a:custGeom>
                  <a:avLst/>
                  <a:gdLst/>
                  <a:ahLst/>
                  <a:cxnLst>
                    <a:cxn ang="0">
                      <a:pos x="75" y="0"/>
                    </a:cxn>
                    <a:cxn ang="0">
                      <a:pos x="71" y="40"/>
                    </a:cxn>
                    <a:cxn ang="0">
                      <a:pos x="67" y="74"/>
                    </a:cxn>
                    <a:cxn ang="0">
                      <a:pos x="61" y="104"/>
                    </a:cxn>
                    <a:cxn ang="0">
                      <a:pos x="58" y="127"/>
                    </a:cxn>
                    <a:cxn ang="0">
                      <a:pos x="52" y="146"/>
                    </a:cxn>
                    <a:cxn ang="0">
                      <a:pos x="47" y="159"/>
                    </a:cxn>
                    <a:cxn ang="0">
                      <a:pos x="41" y="167"/>
                    </a:cxn>
                    <a:cxn ang="0">
                      <a:pos x="37" y="169"/>
                    </a:cxn>
                    <a:cxn ang="0">
                      <a:pos x="31" y="167"/>
                    </a:cxn>
                    <a:cxn ang="0">
                      <a:pos x="26" y="159"/>
                    </a:cxn>
                    <a:cxn ang="0">
                      <a:pos x="20" y="146"/>
                    </a:cxn>
                    <a:cxn ang="0">
                      <a:pos x="16" y="127"/>
                    </a:cxn>
                    <a:cxn ang="0">
                      <a:pos x="10" y="104"/>
                    </a:cxn>
                    <a:cxn ang="0">
                      <a:pos x="7" y="74"/>
                    </a:cxn>
                    <a:cxn ang="0">
                      <a:pos x="3" y="40"/>
                    </a:cxn>
                    <a:cxn ang="0">
                      <a:pos x="0" y="0"/>
                    </a:cxn>
                  </a:cxnLst>
                  <a:rect l="0" t="0" r="r" b="b"/>
                  <a:pathLst>
                    <a:path w="76" h="170">
                      <a:moveTo>
                        <a:pt x="75" y="0"/>
                      </a:moveTo>
                      <a:lnTo>
                        <a:pt x="71" y="40"/>
                      </a:lnTo>
                      <a:lnTo>
                        <a:pt x="67" y="74"/>
                      </a:lnTo>
                      <a:lnTo>
                        <a:pt x="61" y="104"/>
                      </a:lnTo>
                      <a:lnTo>
                        <a:pt x="58" y="127"/>
                      </a:lnTo>
                      <a:lnTo>
                        <a:pt x="52" y="146"/>
                      </a:lnTo>
                      <a:lnTo>
                        <a:pt x="47" y="159"/>
                      </a:lnTo>
                      <a:lnTo>
                        <a:pt x="41" y="167"/>
                      </a:lnTo>
                      <a:lnTo>
                        <a:pt x="37" y="169"/>
                      </a:lnTo>
                      <a:lnTo>
                        <a:pt x="31" y="167"/>
                      </a:lnTo>
                      <a:lnTo>
                        <a:pt x="26" y="159"/>
                      </a:lnTo>
                      <a:lnTo>
                        <a:pt x="20" y="146"/>
                      </a:lnTo>
                      <a:lnTo>
                        <a:pt x="16" y="127"/>
                      </a:lnTo>
                      <a:lnTo>
                        <a:pt x="10" y="104"/>
                      </a:lnTo>
                      <a:lnTo>
                        <a:pt x="7" y="74"/>
                      </a:lnTo>
                      <a:lnTo>
                        <a:pt x="3" y="40"/>
                      </a:lnTo>
                      <a:lnTo>
                        <a:pt x="0" y="0"/>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grpSp>
          <p:grpSp>
            <p:nvGrpSpPr>
              <p:cNvPr id="924729" name="Group 57"/>
              <p:cNvGrpSpPr>
                <a:grpSpLocks/>
              </p:cNvGrpSpPr>
              <p:nvPr/>
            </p:nvGrpSpPr>
            <p:grpSpPr bwMode="auto">
              <a:xfrm>
                <a:off x="3706" y="3703"/>
                <a:ext cx="889" cy="346"/>
                <a:chOff x="3706" y="3703"/>
                <a:chExt cx="889" cy="346"/>
              </a:xfrm>
            </p:grpSpPr>
            <p:sp>
              <p:nvSpPr>
                <p:cNvPr id="924730" name="Freeform 58"/>
                <p:cNvSpPr>
                  <a:spLocks/>
                </p:cNvSpPr>
                <p:nvPr/>
              </p:nvSpPr>
              <p:spPr bwMode="auto">
                <a:xfrm>
                  <a:off x="3706" y="3703"/>
                  <a:ext cx="77" cy="170"/>
                </a:xfrm>
                <a:custGeom>
                  <a:avLst/>
                  <a:gdLst/>
                  <a:ahLst/>
                  <a:cxnLst>
                    <a:cxn ang="0">
                      <a:pos x="76" y="169"/>
                    </a:cxn>
                    <a:cxn ang="0">
                      <a:pos x="72" y="131"/>
                    </a:cxn>
                    <a:cxn ang="0">
                      <a:pos x="68" y="96"/>
                    </a:cxn>
                    <a:cxn ang="0">
                      <a:pos x="62" y="67"/>
                    </a:cxn>
                    <a:cxn ang="0">
                      <a:pos x="58" y="43"/>
                    </a:cxn>
                    <a:cxn ang="0">
                      <a:pos x="53" y="25"/>
                    </a:cxn>
                    <a:cxn ang="0">
                      <a:pos x="48" y="11"/>
                    </a:cxn>
                    <a:cxn ang="0">
                      <a:pos x="42" y="3"/>
                    </a:cxn>
                    <a:cxn ang="0">
                      <a:pos x="38" y="0"/>
                    </a:cxn>
                    <a:cxn ang="0">
                      <a:pos x="32" y="3"/>
                    </a:cxn>
                    <a:cxn ang="0">
                      <a:pos x="26" y="11"/>
                    </a:cxn>
                    <a:cxn ang="0">
                      <a:pos x="21" y="25"/>
                    </a:cxn>
                    <a:cxn ang="0">
                      <a:pos x="16" y="43"/>
                    </a:cxn>
                    <a:cxn ang="0">
                      <a:pos x="11" y="67"/>
                    </a:cxn>
                    <a:cxn ang="0">
                      <a:pos x="7" y="96"/>
                    </a:cxn>
                    <a:cxn ang="0">
                      <a:pos x="4" y="131"/>
                    </a:cxn>
                    <a:cxn ang="0">
                      <a:pos x="0" y="169"/>
                    </a:cxn>
                  </a:cxnLst>
                  <a:rect l="0" t="0" r="r" b="b"/>
                  <a:pathLst>
                    <a:path w="77" h="170">
                      <a:moveTo>
                        <a:pt x="76" y="169"/>
                      </a:moveTo>
                      <a:lnTo>
                        <a:pt x="72" y="131"/>
                      </a:lnTo>
                      <a:lnTo>
                        <a:pt x="68" y="96"/>
                      </a:lnTo>
                      <a:lnTo>
                        <a:pt x="62" y="67"/>
                      </a:lnTo>
                      <a:lnTo>
                        <a:pt x="58" y="43"/>
                      </a:lnTo>
                      <a:lnTo>
                        <a:pt x="53" y="25"/>
                      </a:lnTo>
                      <a:lnTo>
                        <a:pt x="48" y="11"/>
                      </a:lnTo>
                      <a:lnTo>
                        <a:pt x="42" y="3"/>
                      </a:lnTo>
                      <a:lnTo>
                        <a:pt x="38" y="0"/>
                      </a:lnTo>
                      <a:lnTo>
                        <a:pt x="32" y="3"/>
                      </a:lnTo>
                      <a:lnTo>
                        <a:pt x="26" y="11"/>
                      </a:lnTo>
                      <a:lnTo>
                        <a:pt x="21" y="25"/>
                      </a:lnTo>
                      <a:lnTo>
                        <a:pt x="16" y="43"/>
                      </a:lnTo>
                      <a:lnTo>
                        <a:pt x="11" y="67"/>
                      </a:lnTo>
                      <a:lnTo>
                        <a:pt x="7" y="96"/>
                      </a:lnTo>
                      <a:lnTo>
                        <a:pt x="4" y="131"/>
                      </a:lnTo>
                      <a:lnTo>
                        <a:pt x="0" y="169"/>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31" name="Freeform 59"/>
                <p:cNvSpPr>
                  <a:spLocks/>
                </p:cNvSpPr>
                <p:nvPr/>
              </p:nvSpPr>
              <p:spPr bwMode="auto">
                <a:xfrm>
                  <a:off x="3782" y="3875"/>
                  <a:ext cx="78" cy="171"/>
                </a:xfrm>
                <a:custGeom>
                  <a:avLst/>
                  <a:gdLst/>
                  <a:ahLst/>
                  <a:cxnLst>
                    <a:cxn ang="0">
                      <a:pos x="77" y="0"/>
                    </a:cxn>
                    <a:cxn ang="0">
                      <a:pos x="72" y="41"/>
                    </a:cxn>
                    <a:cxn ang="0">
                      <a:pos x="68" y="75"/>
                    </a:cxn>
                    <a:cxn ang="0">
                      <a:pos x="63" y="104"/>
                    </a:cxn>
                    <a:cxn ang="0">
                      <a:pos x="59" y="128"/>
                    </a:cxn>
                    <a:cxn ang="0">
                      <a:pos x="54" y="147"/>
                    </a:cxn>
                    <a:cxn ang="0">
                      <a:pos x="48" y="160"/>
                    </a:cxn>
                    <a:cxn ang="0">
                      <a:pos x="43" y="168"/>
                    </a:cxn>
                    <a:cxn ang="0">
                      <a:pos x="38" y="170"/>
                    </a:cxn>
                    <a:cxn ang="0">
                      <a:pos x="33" y="168"/>
                    </a:cxn>
                    <a:cxn ang="0">
                      <a:pos x="27" y="160"/>
                    </a:cxn>
                    <a:cxn ang="0">
                      <a:pos x="22" y="147"/>
                    </a:cxn>
                    <a:cxn ang="0">
                      <a:pos x="17" y="128"/>
                    </a:cxn>
                    <a:cxn ang="0">
                      <a:pos x="11" y="104"/>
                    </a:cxn>
                    <a:cxn ang="0">
                      <a:pos x="7" y="75"/>
                    </a:cxn>
                    <a:cxn ang="0">
                      <a:pos x="4" y="41"/>
                    </a:cxn>
                    <a:cxn ang="0">
                      <a:pos x="0" y="0"/>
                    </a:cxn>
                  </a:cxnLst>
                  <a:rect l="0" t="0" r="r" b="b"/>
                  <a:pathLst>
                    <a:path w="78" h="171">
                      <a:moveTo>
                        <a:pt x="77" y="0"/>
                      </a:moveTo>
                      <a:lnTo>
                        <a:pt x="72" y="41"/>
                      </a:lnTo>
                      <a:lnTo>
                        <a:pt x="68" y="75"/>
                      </a:lnTo>
                      <a:lnTo>
                        <a:pt x="63" y="104"/>
                      </a:lnTo>
                      <a:lnTo>
                        <a:pt x="59" y="128"/>
                      </a:lnTo>
                      <a:lnTo>
                        <a:pt x="54" y="147"/>
                      </a:lnTo>
                      <a:lnTo>
                        <a:pt x="48" y="160"/>
                      </a:lnTo>
                      <a:lnTo>
                        <a:pt x="43" y="168"/>
                      </a:lnTo>
                      <a:lnTo>
                        <a:pt x="38" y="170"/>
                      </a:lnTo>
                      <a:lnTo>
                        <a:pt x="33" y="168"/>
                      </a:lnTo>
                      <a:lnTo>
                        <a:pt x="27" y="160"/>
                      </a:lnTo>
                      <a:lnTo>
                        <a:pt x="22" y="147"/>
                      </a:lnTo>
                      <a:lnTo>
                        <a:pt x="17" y="128"/>
                      </a:lnTo>
                      <a:lnTo>
                        <a:pt x="11" y="104"/>
                      </a:lnTo>
                      <a:lnTo>
                        <a:pt x="7" y="75"/>
                      </a:lnTo>
                      <a:lnTo>
                        <a:pt x="4" y="41"/>
                      </a:lnTo>
                      <a:lnTo>
                        <a:pt x="0" y="0"/>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32" name="Freeform 60"/>
                <p:cNvSpPr>
                  <a:spLocks/>
                </p:cNvSpPr>
                <p:nvPr/>
              </p:nvSpPr>
              <p:spPr bwMode="auto">
                <a:xfrm>
                  <a:off x="3869" y="3704"/>
                  <a:ext cx="77" cy="170"/>
                </a:xfrm>
                <a:custGeom>
                  <a:avLst/>
                  <a:gdLst/>
                  <a:ahLst/>
                  <a:cxnLst>
                    <a:cxn ang="0">
                      <a:pos x="76" y="169"/>
                    </a:cxn>
                    <a:cxn ang="0">
                      <a:pos x="71" y="130"/>
                    </a:cxn>
                    <a:cxn ang="0">
                      <a:pos x="68" y="96"/>
                    </a:cxn>
                    <a:cxn ang="0">
                      <a:pos x="62" y="67"/>
                    </a:cxn>
                    <a:cxn ang="0">
                      <a:pos x="58" y="42"/>
                    </a:cxn>
                    <a:cxn ang="0">
                      <a:pos x="53" y="25"/>
                    </a:cxn>
                    <a:cxn ang="0">
                      <a:pos x="48" y="11"/>
                    </a:cxn>
                    <a:cxn ang="0">
                      <a:pos x="42" y="3"/>
                    </a:cxn>
                    <a:cxn ang="0">
                      <a:pos x="38" y="0"/>
                    </a:cxn>
                    <a:cxn ang="0">
                      <a:pos x="32" y="3"/>
                    </a:cxn>
                    <a:cxn ang="0">
                      <a:pos x="27" y="11"/>
                    </a:cxn>
                    <a:cxn ang="0">
                      <a:pos x="21" y="25"/>
                    </a:cxn>
                    <a:cxn ang="0">
                      <a:pos x="16" y="42"/>
                    </a:cxn>
                    <a:cxn ang="0">
                      <a:pos x="10" y="67"/>
                    </a:cxn>
                    <a:cxn ang="0">
                      <a:pos x="7" y="96"/>
                    </a:cxn>
                    <a:cxn ang="0">
                      <a:pos x="3" y="130"/>
                    </a:cxn>
                    <a:cxn ang="0">
                      <a:pos x="0" y="169"/>
                    </a:cxn>
                  </a:cxnLst>
                  <a:rect l="0" t="0" r="r" b="b"/>
                  <a:pathLst>
                    <a:path w="77" h="170">
                      <a:moveTo>
                        <a:pt x="76" y="169"/>
                      </a:moveTo>
                      <a:lnTo>
                        <a:pt x="71" y="130"/>
                      </a:lnTo>
                      <a:lnTo>
                        <a:pt x="68" y="96"/>
                      </a:lnTo>
                      <a:lnTo>
                        <a:pt x="62" y="67"/>
                      </a:lnTo>
                      <a:lnTo>
                        <a:pt x="58" y="42"/>
                      </a:lnTo>
                      <a:lnTo>
                        <a:pt x="53" y="25"/>
                      </a:lnTo>
                      <a:lnTo>
                        <a:pt x="48" y="11"/>
                      </a:lnTo>
                      <a:lnTo>
                        <a:pt x="42" y="3"/>
                      </a:lnTo>
                      <a:lnTo>
                        <a:pt x="38" y="0"/>
                      </a:lnTo>
                      <a:lnTo>
                        <a:pt x="32" y="3"/>
                      </a:lnTo>
                      <a:lnTo>
                        <a:pt x="27" y="11"/>
                      </a:lnTo>
                      <a:lnTo>
                        <a:pt x="21" y="25"/>
                      </a:lnTo>
                      <a:lnTo>
                        <a:pt x="16" y="42"/>
                      </a:lnTo>
                      <a:lnTo>
                        <a:pt x="10" y="67"/>
                      </a:lnTo>
                      <a:lnTo>
                        <a:pt x="7" y="96"/>
                      </a:lnTo>
                      <a:lnTo>
                        <a:pt x="3" y="130"/>
                      </a:lnTo>
                      <a:lnTo>
                        <a:pt x="0" y="169"/>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33" name="Freeform 61"/>
                <p:cNvSpPr>
                  <a:spLocks/>
                </p:cNvSpPr>
                <p:nvPr/>
              </p:nvSpPr>
              <p:spPr bwMode="auto">
                <a:xfrm>
                  <a:off x="3945" y="3876"/>
                  <a:ext cx="77" cy="171"/>
                </a:xfrm>
                <a:custGeom>
                  <a:avLst/>
                  <a:gdLst/>
                  <a:ahLst/>
                  <a:cxnLst>
                    <a:cxn ang="0">
                      <a:pos x="76" y="0"/>
                    </a:cxn>
                    <a:cxn ang="0">
                      <a:pos x="71" y="41"/>
                    </a:cxn>
                    <a:cxn ang="0">
                      <a:pos x="68" y="75"/>
                    </a:cxn>
                    <a:cxn ang="0">
                      <a:pos x="62" y="104"/>
                    </a:cxn>
                    <a:cxn ang="0">
                      <a:pos x="58" y="128"/>
                    </a:cxn>
                    <a:cxn ang="0">
                      <a:pos x="53" y="148"/>
                    </a:cxn>
                    <a:cxn ang="0">
                      <a:pos x="48" y="160"/>
                    </a:cxn>
                    <a:cxn ang="0">
                      <a:pos x="42" y="168"/>
                    </a:cxn>
                    <a:cxn ang="0">
                      <a:pos x="38" y="170"/>
                    </a:cxn>
                    <a:cxn ang="0">
                      <a:pos x="32" y="168"/>
                    </a:cxn>
                    <a:cxn ang="0">
                      <a:pos x="27" y="160"/>
                    </a:cxn>
                    <a:cxn ang="0">
                      <a:pos x="21" y="148"/>
                    </a:cxn>
                    <a:cxn ang="0">
                      <a:pos x="17" y="128"/>
                    </a:cxn>
                    <a:cxn ang="0">
                      <a:pos x="11" y="104"/>
                    </a:cxn>
                    <a:cxn ang="0">
                      <a:pos x="7" y="75"/>
                    </a:cxn>
                    <a:cxn ang="0">
                      <a:pos x="3" y="41"/>
                    </a:cxn>
                    <a:cxn ang="0">
                      <a:pos x="0" y="0"/>
                    </a:cxn>
                  </a:cxnLst>
                  <a:rect l="0" t="0" r="r" b="b"/>
                  <a:pathLst>
                    <a:path w="77" h="171">
                      <a:moveTo>
                        <a:pt x="76" y="0"/>
                      </a:moveTo>
                      <a:lnTo>
                        <a:pt x="71" y="41"/>
                      </a:lnTo>
                      <a:lnTo>
                        <a:pt x="68" y="75"/>
                      </a:lnTo>
                      <a:lnTo>
                        <a:pt x="62" y="104"/>
                      </a:lnTo>
                      <a:lnTo>
                        <a:pt x="58" y="128"/>
                      </a:lnTo>
                      <a:lnTo>
                        <a:pt x="53" y="148"/>
                      </a:lnTo>
                      <a:lnTo>
                        <a:pt x="48" y="160"/>
                      </a:lnTo>
                      <a:lnTo>
                        <a:pt x="42" y="168"/>
                      </a:lnTo>
                      <a:lnTo>
                        <a:pt x="38" y="170"/>
                      </a:lnTo>
                      <a:lnTo>
                        <a:pt x="32" y="168"/>
                      </a:lnTo>
                      <a:lnTo>
                        <a:pt x="27" y="160"/>
                      </a:lnTo>
                      <a:lnTo>
                        <a:pt x="21" y="148"/>
                      </a:lnTo>
                      <a:lnTo>
                        <a:pt x="17" y="128"/>
                      </a:lnTo>
                      <a:lnTo>
                        <a:pt x="11" y="104"/>
                      </a:lnTo>
                      <a:lnTo>
                        <a:pt x="7" y="75"/>
                      </a:lnTo>
                      <a:lnTo>
                        <a:pt x="3" y="41"/>
                      </a:lnTo>
                      <a:lnTo>
                        <a:pt x="0" y="0"/>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34" name="Freeform 62"/>
                <p:cNvSpPr>
                  <a:spLocks/>
                </p:cNvSpPr>
                <p:nvPr/>
              </p:nvSpPr>
              <p:spPr bwMode="auto">
                <a:xfrm>
                  <a:off x="4020" y="3706"/>
                  <a:ext cx="77" cy="171"/>
                </a:xfrm>
                <a:custGeom>
                  <a:avLst/>
                  <a:gdLst/>
                  <a:ahLst/>
                  <a:cxnLst>
                    <a:cxn ang="0">
                      <a:pos x="76" y="170"/>
                    </a:cxn>
                    <a:cxn ang="0">
                      <a:pos x="71" y="131"/>
                    </a:cxn>
                    <a:cxn ang="0">
                      <a:pos x="68" y="96"/>
                    </a:cxn>
                    <a:cxn ang="0">
                      <a:pos x="62" y="67"/>
                    </a:cxn>
                    <a:cxn ang="0">
                      <a:pos x="58" y="43"/>
                    </a:cxn>
                    <a:cxn ang="0">
                      <a:pos x="53" y="25"/>
                    </a:cxn>
                    <a:cxn ang="0">
                      <a:pos x="48" y="11"/>
                    </a:cxn>
                    <a:cxn ang="0">
                      <a:pos x="42" y="3"/>
                    </a:cxn>
                    <a:cxn ang="0">
                      <a:pos x="38" y="0"/>
                    </a:cxn>
                    <a:cxn ang="0">
                      <a:pos x="32" y="3"/>
                    </a:cxn>
                    <a:cxn ang="0">
                      <a:pos x="26" y="11"/>
                    </a:cxn>
                    <a:cxn ang="0">
                      <a:pos x="21" y="25"/>
                    </a:cxn>
                    <a:cxn ang="0">
                      <a:pos x="16" y="43"/>
                    </a:cxn>
                    <a:cxn ang="0">
                      <a:pos x="10" y="67"/>
                    </a:cxn>
                    <a:cxn ang="0">
                      <a:pos x="6" y="96"/>
                    </a:cxn>
                    <a:cxn ang="0">
                      <a:pos x="3" y="131"/>
                    </a:cxn>
                    <a:cxn ang="0">
                      <a:pos x="0" y="170"/>
                    </a:cxn>
                  </a:cxnLst>
                  <a:rect l="0" t="0" r="r" b="b"/>
                  <a:pathLst>
                    <a:path w="77" h="171">
                      <a:moveTo>
                        <a:pt x="76" y="170"/>
                      </a:moveTo>
                      <a:lnTo>
                        <a:pt x="71" y="131"/>
                      </a:lnTo>
                      <a:lnTo>
                        <a:pt x="68" y="96"/>
                      </a:lnTo>
                      <a:lnTo>
                        <a:pt x="62" y="67"/>
                      </a:lnTo>
                      <a:lnTo>
                        <a:pt x="58" y="43"/>
                      </a:lnTo>
                      <a:lnTo>
                        <a:pt x="53" y="25"/>
                      </a:lnTo>
                      <a:lnTo>
                        <a:pt x="48" y="11"/>
                      </a:lnTo>
                      <a:lnTo>
                        <a:pt x="42" y="3"/>
                      </a:lnTo>
                      <a:lnTo>
                        <a:pt x="38" y="0"/>
                      </a:lnTo>
                      <a:lnTo>
                        <a:pt x="32" y="3"/>
                      </a:lnTo>
                      <a:lnTo>
                        <a:pt x="26" y="11"/>
                      </a:lnTo>
                      <a:lnTo>
                        <a:pt x="21" y="25"/>
                      </a:lnTo>
                      <a:lnTo>
                        <a:pt x="16" y="43"/>
                      </a:lnTo>
                      <a:lnTo>
                        <a:pt x="10" y="67"/>
                      </a:lnTo>
                      <a:lnTo>
                        <a:pt x="6" y="96"/>
                      </a:lnTo>
                      <a:lnTo>
                        <a:pt x="3" y="131"/>
                      </a:lnTo>
                      <a:lnTo>
                        <a:pt x="0" y="170"/>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35" name="Freeform 63"/>
                <p:cNvSpPr>
                  <a:spLocks/>
                </p:cNvSpPr>
                <p:nvPr/>
              </p:nvSpPr>
              <p:spPr bwMode="auto">
                <a:xfrm>
                  <a:off x="4096" y="3878"/>
                  <a:ext cx="77" cy="171"/>
                </a:xfrm>
                <a:custGeom>
                  <a:avLst/>
                  <a:gdLst/>
                  <a:ahLst/>
                  <a:cxnLst>
                    <a:cxn ang="0">
                      <a:pos x="76" y="0"/>
                    </a:cxn>
                    <a:cxn ang="0">
                      <a:pos x="72" y="41"/>
                    </a:cxn>
                    <a:cxn ang="0">
                      <a:pos x="68" y="75"/>
                    </a:cxn>
                    <a:cxn ang="0">
                      <a:pos x="62" y="104"/>
                    </a:cxn>
                    <a:cxn ang="0">
                      <a:pos x="58" y="128"/>
                    </a:cxn>
                    <a:cxn ang="0">
                      <a:pos x="53" y="147"/>
                    </a:cxn>
                    <a:cxn ang="0">
                      <a:pos x="48" y="160"/>
                    </a:cxn>
                    <a:cxn ang="0">
                      <a:pos x="42" y="168"/>
                    </a:cxn>
                    <a:cxn ang="0">
                      <a:pos x="38" y="170"/>
                    </a:cxn>
                    <a:cxn ang="0">
                      <a:pos x="32" y="168"/>
                    </a:cxn>
                    <a:cxn ang="0">
                      <a:pos x="26" y="160"/>
                    </a:cxn>
                    <a:cxn ang="0">
                      <a:pos x="21" y="147"/>
                    </a:cxn>
                    <a:cxn ang="0">
                      <a:pos x="16" y="128"/>
                    </a:cxn>
                    <a:cxn ang="0">
                      <a:pos x="11" y="104"/>
                    </a:cxn>
                    <a:cxn ang="0">
                      <a:pos x="7" y="75"/>
                    </a:cxn>
                    <a:cxn ang="0">
                      <a:pos x="4" y="41"/>
                    </a:cxn>
                    <a:cxn ang="0">
                      <a:pos x="0" y="0"/>
                    </a:cxn>
                  </a:cxnLst>
                  <a:rect l="0" t="0" r="r" b="b"/>
                  <a:pathLst>
                    <a:path w="77" h="171">
                      <a:moveTo>
                        <a:pt x="76" y="0"/>
                      </a:moveTo>
                      <a:lnTo>
                        <a:pt x="72" y="41"/>
                      </a:lnTo>
                      <a:lnTo>
                        <a:pt x="68" y="75"/>
                      </a:lnTo>
                      <a:lnTo>
                        <a:pt x="62" y="104"/>
                      </a:lnTo>
                      <a:lnTo>
                        <a:pt x="58" y="128"/>
                      </a:lnTo>
                      <a:lnTo>
                        <a:pt x="53" y="147"/>
                      </a:lnTo>
                      <a:lnTo>
                        <a:pt x="48" y="160"/>
                      </a:lnTo>
                      <a:lnTo>
                        <a:pt x="42" y="168"/>
                      </a:lnTo>
                      <a:lnTo>
                        <a:pt x="38" y="170"/>
                      </a:lnTo>
                      <a:lnTo>
                        <a:pt x="32" y="168"/>
                      </a:lnTo>
                      <a:lnTo>
                        <a:pt x="26" y="160"/>
                      </a:lnTo>
                      <a:lnTo>
                        <a:pt x="21" y="147"/>
                      </a:lnTo>
                      <a:lnTo>
                        <a:pt x="16" y="128"/>
                      </a:lnTo>
                      <a:lnTo>
                        <a:pt x="11" y="104"/>
                      </a:lnTo>
                      <a:lnTo>
                        <a:pt x="7" y="75"/>
                      </a:lnTo>
                      <a:lnTo>
                        <a:pt x="4" y="41"/>
                      </a:lnTo>
                      <a:lnTo>
                        <a:pt x="0" y="0"/>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36" name="Freeform 64"/>
                <p:cNvSpPr>
                  <a:spLocks/>
                </p:cNvSpPr>
                <p:nvPr/>
              </p:nvSpPr>
              <p:spPr bwMode="auto">
                <a:xfrm>
                  <a:off x="4158" y="3706"/>
                  <a:ext cx="77" cy="171"/>
                </a:xfrm>
                <a:custGeom>
                  <a:avLst/>
                  <a:gdLst/>
                  <a:ahLst/>
                  <a:cxnLst>
                    <a:cxn ang="0">
                      <a:pos x="76" y="170"/>
                    </a:cxn>
                    <a:cxn ang="0">
                      <a:pos x="71" y="131"/>
                    </a:cxn>
                    <a:cxn ang="0">
                      <a:pos x="67" y="96"/>
                    </a:cxn>
                    <a:cxn ang="0">
                      <a:pos x="61" y="67"/>
                    </a:cxn>
                    <a:cxn ang="0">
                      <a:pos x="58" y="43"/>
                    </a:cxn>
                    <a:cxn ang="0">
                      <a:pos x="52" y="25"/>
                    </a:cxn>
                    <a:cxn ang="0">
                      <a:pos x="47" y="11"/>
                    </a:cxn>
                    <a:cxn ang="0">
                      <a:pos x="41" y="3"/>
                    </a:cxn>
                    <a:cxn ang="0">
                      <a:pos x="37" y="0"/>
                    </a:cxn>
                    <a:cxn ang="0">
                      <a:pos x="31" y="3"/>
                    </a:cxn>
                    <a:cxn ang="0">
                      <a:pos x="26" y="11"/>
                    </a:cxn>
                    <a:cxn ang="0">
                      <a:pos x="20" y="25"/>
                    </a:cxn>
                    <a:cxn ang="0">
                      <a:pos x="16" y="43"/>
                    </a:cxn>
                    <a:cxn ang="0">
                      <a:pos x="10" y="67"/>
                    </a:cxn>
                    <a:cxn ang="0">
                      <a:pos x="6" y="96"/>
                    </a:cxn>
                    <a:cxn ang="0">
                      <a:pos x="3" y="131"/>
                    </a:cxn>
                    <a:cxn ang="0">
                      <a:pos x="0" y="170"/>
                    </a:cxn>
                  </a:cxnLst>
                  <a:rect l="0" t="0" r="r" b="b"/>
                  <a:pathLst>
                    <a:path w="77" h="171">
                      <a:moveTo>
                        <a:pt x="76" y="170"/>
                      </a:moveTo>
                      <a:lnTo>
                        <a:pt x="71" y="131"/>
                      </a:lnTo>
                      <a:lnTo>
                        <a:pt x="67" y="96"/>
                      </a:lnTo>
                      <a:lnTo>
                        <a:pt x="61" y="67"/>
                      </a:lnTo>
                      <a:lnTo>
                        <a:pt x="58" y="43"/>
                      </a:lnTo>
                      <a:lnTo>
                        <a:pt x="52" y="25"/>
                      </a:lnTo>
                      <a:lnTo>
                        <a:pt x="47" y="11"/>
                      </a:lnTo>
                      <a:lnTo>
                        <a:pt x="41" y="3"/>
                      </a:lnTo>
                      <a:lnTo>
                        <a:pt x="37" y="0"/>
                      </a:lnTo>
                      <a:lnTo>
                        <a:pt x="31" y="3"/>
                      </a:lnTo>
                      <a:lnTo>
                        <a:pt x="26" y="11"/>
                      </a:lnTo>
                      <a:lnTo>
                        <a:pt x="20" y="25"/>
                      </a:lnTo>
                      <a:lnTo>
                        <a:pt x="16" y="43"/>
                      </a:lnTo>
                      <a:lnTo>
                        <a:pt x="10" y="67"/>
                      </a:lnTo>
                      <a:lnTo>
                        <a:pt x="6" y="96"/>
                      </a:lnTo>
                      <a:lnTo>
                        <a:pt x="3" y="131"/>
                      </a:lnTo>
                      <a:lnTo>
                        <a:pt x="0" y="170"/>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37" name="Freeform 65"/>
                <p:cNvSpPr>
                  <a:spLocks/>
                </p:cNvSpPr>
                <p:nvPr/>
              </p:nvSpPr>
              <p:spPr bwMode="auto">
                <a:xfrm>
                  <a:off x="4234" y="3878"/>
                  <a:ext cx="77" cy="171"/>
                </a:xfrm>
                <a:custGeom>
                  <a:avLst/>
                  <a:gdLst/>
                  <a:ahLst/>
                  <a:cxnLst>
                    <a:cxn ang="0">
                      <a:pos x="76" y="0"/>
                    </a:cxn>
                    <a:cxn ang="0">
                      <a:pos x="72" y="40"/>
                    </a:cxn>
                    <a:cxn ang="0">
                      <a:pos x="68" y="75"/>
                    </a:cxn>
                    <a:cxn ang="0">
                      <a:pos x="62" y="104"/>
                    </a:cxn>
                    <a:cxn ang="0">
                      <a:pos x="58" y="128"/>
                    </a:cxn>
                    <a:cxn ang="0">
                      <a:pos x="53" y="147"/>
                    </a:cxn>
                    <a:cxn ang="0">
                      <a:pos x="48" y="160"/>
                    </a:cxn>
                    <a:cxn ang="0">
                      <a:pos x="42" y="168"/>
                    </a:cxn>
                    <a:cxn ang="0">
                      <a:pos x="38" y="170"/>
                    </a:cxn>
                    <a:cxn ang="0">
                      <a:pos x="32" y="168"/>
                    </a:cxn>
                    <a:cxn ang="0">
                      <a:pos x="26" y="160"/>
                    </a:cxn>
                    <a:cxn ang="0">
                      <a:pos x="21" y="147"/>
                    </a:cxn>
                    <a:cxn ang="0">
                      <a:pos x="16" y="128"/>
                    </a:cxn>
                    <a:cxn ang="0">
                      <a:pos x="10" y="104"/>
                    </a:cxn>
                    <a:cxn ang="0">
                      <a:pos x="6" y="75"/>
                    </a:cxn>
                    <a:cxn ang="0">
                      <a:pos x="3" y="40"/>
                    </a:cxn>
                    <a:cxn ang="0">
                      <a:pos x="0" y="0"/>
                    </a:cxn>
                  </a:cxnLst>
                  <a:rect l="0" t="0" r="r" b="b"/>
                  <a:pathLst>
                    <a:path w="77" h="171">
                      <a:moveTo>
                        <a:pt x="76" y="0"/>
                      </a:moveTo>
                      <a:lnTo>
                        <a:pt x="72" y="40"/>
                      </a:lnTo>
                      <a:lnTo>
                        <a:pt x="68" y="75"/>
                      </a:lnTo>
                      <a:lnTo>
                        <a:pt x="62" y="104"/>
                      </a:lnTo>
                      <a:lnTo>
                        <a:pt x="58" y="128"/>
                      </a:lnTo>
                      <a:lnTo>
                        <a:pt x="53" y="147"/>
                      </a:lnTo>
                      <a:lnTo>
                        <a:pt x="48" y="160"/>
                      </a:lnTo>
                      <a:lnTo>
                        <a:pt x="42" y="168"/>
                      </a:lnTo>
                      <a:lnTo>
                        <a:pt x="38" y="170"/>
                      </a:lnTo>
                      <a:lnTo>
                        <a:pt x="32" y="168"/>
                      </a:lnTo>
                      <a:lnTo>
                        <a:pt x="26" y="160"/>
                      </a:lnTo>
                      <a:lnTo>
                        <a:pt x="21" y="147"/>
                      </a:lnTo>
                      <a:lnTo>
                        <a:pt x="16" y="128"/>
                      </a:lnTo>
                      <a:lnTo>
                        <a:pt x="10" y="104"/>
                      </a:lnTo>
                      <a:lnTo>
                        <a:pt x="6" y="75"/>
                      </a:lnTo>
                      <a:lnTo>
                        <a:pt x="3" y="40"/>
                      </a:lnTo>
                      <a:lnTo>
                        <a:pt x="0" y="0"/>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38" name="Freeform 66"/>
                <p:cNvSpPr>
                  <a:spLocks/>
                </p:cNvSpPr>
                <p:nvPr/>
              </p:nvSpPr>
              <p:spPr bwMode="auto">
                <a:xfrm>
                  <a:off x="4296" y="3704"/>
                  <a:ext cx="77" cy="170"/>
                </a:xfrm>
                <a:custGeom>
                  <a:avLst/>
                  <a:gdLst/>
                  <a:ahLst/>
                  <a:cxnLst>
                    <a:cxn ang="0">
                      <a:pos x="76" y="169"/>
                    </a:cxn>
                    <a:cxn ang="0">
                      <a:pos x="70" y="130"/>
                    </a:cxn>
                    <a:cxn ang="0">
                      <a:pos x="67" y="96"/>
                    </a:cxn>
                    <a:cxn ang="0">
                      <a:pos x="61" y="67"/>
                    </a:cxn>
                    <a:cxn ang="0">
                      <a:pos x="58" y="42"/>
                    </a:cxn>
                    <a:cxn ang="0">
                      <a:pos x="52" y="25"/>
                    </a:cxn>
                    <a:cxn ang="0">
                      <a:pos x="47" y="11"/>
                    </a:cxn>
                    <a:cxn ang="0">
                      <a:pos x="41" y="3"/>
                    </a:cxn>
                    <a:cxn ang="0">
                      <a:pos x="37" y="0"/>
                    </a:cxn>
                    <a:cxn ang="0">
                      <a:pos x="31" y="3"/>
                    </a:cxn>
                    <a:cxn ang="0">
                      <a:pos x="26" y="11"/>
                    </a:cxn>
                    <a:cxn ang="0">
                      <a:pos x="20" y="25"/>
                    </a:cxn>
                    <a:cxn ang="0">
                      <a:pos x="16" y="42"/>
                    </a:cxn>
                    <a:cxn ang="0">
                      <a:pos x="10" y="67"/>
                    </a:cxn>
                    <a:cxn ang="0">
                      <a:pos x="6" y="96"/>
                    </a:cxn>
                    <a:cxn ang="0">
                      <a:pos x="2" y="130"/>
                    </a:cxn>
                    <a:cxn ang="0">
                      <a:pos x="0" y="169"/>
                    </a:cxn>
                  </a:cxnLst>
                  <a:rect l="0" t="0" r="r" b="b"/>
                  <a:pathLst>
                    <a:path w="77" h="170">
                      <a:moveTo>
                        <a:pt x="76" y="169"/>
                      </a:moveTo>
                      <a:lnTo>
                        <a:pt x="70" y="130"/>
                      </a:lnTo>
                      <a:lnTo>
                        <a:pt x="67" y="96"/>
                      </a:lnTo>
                      <a:lnTo>
                        <a:pt x="61" y="67"/>
                      </a:lnTo>
                      <a:lnTo>
                        <a:pt x="58" y="42"/>
                      </a:lnTo>
                      <a:lnTo>
                        <a:pt x="52" y="25"/>
                      </a:lnTo>
                      <a:lnTo>
                        <a:pt x="47" y="11"/>
                      </a:lnTo>
                      <a:lnTo>
                        <a:pt x="41" y="3"/>
                      </a:lnTo>
                      <a:lnTo>
                        <a:pt x="37" y="0"/>
                      </a:lnTo>
                      <a:lnTo>
                        <a:pt x="31" y="3"/>
                      </a:lnTo>
                      <a:lnTo>
                        <a:pt x="26" y="11"/>
                      </a:lnTo>
                      <a:lnTo>
                        <a:pt x="20" y="25"/>
                      </a:lnTo>
                      <a:lnTo>
                        <a:pt x="16" y="42"/>
                      </a:lnTo>
                      <a:lnTo>
                        <a:pt x="10" y="67"/>
                      </a:lnTo>
                      <a:lnTo>
                        <a:pt x="6" y="96"/>
                      </a:lnTo>
                      <a:lnTo>
                        <a:pt x="2" y="130"/>
                      </a:lnTo>
                      <a:lnTo>
                        <a:pt x="0" y="169"/>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39" name="Freeform 67"/>
                <p:cNvSpPr>
                  <a:spLocks/>
                </p:cNvSpPr>
                <p:nvPr/>
              </p:nvSpPr>
              <p:spPr bwMode="auto">
                <a:xfrm>
                  <a:off x="4372" y="3876"/>
                  <a:ext cx="76" cy="170"/>
                </a:xfrm>
                <a:custGeom>
                  <a:avLst/>
                  <a:gdLst/>
                  <a:ahLst/>
                  <a:cxnLst>
                    <a:cxn ang="0">
                      <a:pos x="75" y="0"/>
                    </a:cxn>
                    <a:cxn ang="0">
                      <a:pos x="71" y="40"/>
                    </a:cxn>
                    <a:cxn ang="0">
                      <a:pos x="67" y="74"/>
                    </a:cxn>
                    <a:cxn ang="0">
                      <a:pos x="61" y="104"/>
                    </a:cxn>
                    <a:cxn ang="0">
                      <a:pos x="58" y="128"/>
                    </a:cxn>
                    <a:cxn ang="0">
                      <a:pos x="52" y="147"/>
                    </a:cxn>
                    <a:cxn ang="0">
                      <a:pos x="47" y="159"/>
                    </a:cxn>
                    <a:cxn ang="0">
                      <a:pos x="41" y="168"/>
                    </a:cxn>
                    <a:cxn ang="0">
                      <a:pos x="37" y="169"/>
                    </a:cxn>
                    <a:cxn ang="0">
                      <a:pos x="31" y="168"/>
                    </a:cxn>
                    <a:cxn ang="0">
                      <a:pos x="26" y="159"/>
                    </a:cxn>
                    <a:cxn ang="0">
                      <a:pos x="20" y="147"/>
                    </a:cxn>
                    <a:cxn ang="0">
                      <a:pos x="16" y="128"/>
                    </a:cxn>
                    <a:cxn ang="0">
                      <a:pos x="10" y="104"/>
                    </a:cxn>
                    <a:cxn ang="0">
                      <a:pos x="6" y="74"/>
                    </a:cxn>
                    <a:cxn ang="0">
                      <a:pos x="3" y="40"/>
                    </a:cxn>
                    <a:cxn ang="0">
                      <a:pos x="0" y="0"/>
                    </a:cxn>
                  </a:cxnLst>
                  <a:rect l="0" t="0" r="r" b="b"/>
                  <a:pathLst>
                    <a:path w="76" h="170">
                      <a:moveTo>
                        <a:pt x="75" y="0"/>
                      </a:moveTo>
                      <a:lnTo>
                        <a:pt x="71" y="40"/>
                      </a:lnTo>
                      <a:lnTo>
                        <a:pt x="67" y="74"/>
                      </a:lnTo>
                      <a:lnTo>
                        <a:pt x="61" y="104"/>
                      </a:lnTo>
                      <a:lnTo>
                        <a:pt x="58" y="128"/>
                      </a:lnTo>
                      <a:lnTo>
                        <a:pt x="52" y="147"/>
                      </a:lnTo>
                      <a:lnTo>
                        <a:pt x="47" y="159"/>
                      </a:lnTo>
                      <a:lnTo>
                        <a:pt x="41" y="168"/>
                      </a:lnTo>
                      <a:lnTo>
                        <a:pt x="37" y="169"/>
                      </a:lnTo>
                      <a:lnTo>
                        <a:pt x="31" y="168"/>
                      </a:lnTo>
                      <a:lnTo>
                        <a:pt x="26" y="159"/>
                      </a:lnTo>
                      <a:lnTo>
                        <a:pt x="20" y="147"/>
                      </a:lnTo>
                      <a:lnTo>
                        <a:pt x="16" y="128"/>
                      </a:lnTo>
                      <a:lnTo>
                        <a:pt x="10" y="104"/>
                      </a:lnTo>
                      <a:lnTo>
                        <a:pt x="6" y="74"/>
                      </a:lnTo>
                      <a:lnTo>
                        <a:pt x="3" y="40"/>
                      </a:lnTo>
                      <a:lnTo>
                        <a:pt x="0" y="0"/>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40" name="Freeform 68"/>
                <p:cNvSpPr>
                  <a:spLocks/>
                </p:cNvSpPr>
                <p:nvPr/>
              </p:nvSpPr>
              <p:spPr bwMode="auto">
                <a:xfrm>
                  <a:off x="4442" y="3706"/>
                  <a:ext cx="77" cy="171"/>
                </a:xfrm>
                <a:custGeom>
                  <a:avLst/>
                  <a:gdLst/>
                  <a:ahLst/>
                  <a:cxnLst>
                    <a:cxn ang="0">
                      <a:pos x="76" y="170"/>
                    </a:cxn>
                    <a:cxn ang="0">
                      <a:pos x="71" y="131"/>
                    </a:cxn>
                    <a:cxn ang="0">
                      <a:pos x="68" y="96"/>
                    </a:cxn>
                    <a:cxn ang="0">
                      <a:pos x="62" y="67"/>
                    </a:cxn>
                    <a:cxn ang="0">
                      <a:pos x="58" y="43"/>
                    </a:cxn>
                    <a:cxn ang="0">
                      <a:pos x="52" y="25"/>
                    </a:cxn>
                    <a:cxn ang="0">
                      <a:pos x="48" y="11"/>
                    </a:cxn>
                    <a:cxn ang="0">
                      <a:pos x="42" y="3"/>
                    </a:cxn>
                    <a:cxn ang="0">
                      <a:pos x="38" y="0"/>
                    </a:cxn>
                    <a:cxn ang="0">
                      <a:pos x="32" y="3"/>
                    </a:cxn>
                    <a:cxn ang="0">
                      <a:pos x="26" y="11"/>
                    </a:cxn>
                    <a:cxn ang="0">
                      <a:pos x="21" y="25"/>
                    </a:cxn>
                    <a:cxn ang="0">
                      <a:pos x="16" y="43"/>
                    </a:cxn>
                    <a:cxn ang="0">
                      <a:pos x="10" y="67"/>
                    </a:cxn>
                    <a:cxn ang="0">
                      <a:pos x="6" y="96"/>
                    </a:cxn>
                    <a:cxn ang="0">
                      <a:pos x="2" y="131"/>
                    </a:cxn>
                    <a:cxn ang="0">
                      <a:pos x="0" y="170"/>
                    </a:cxn>
                  </a:cxnLst>
                  <a:rect l="0" t="0" r="r" b="b"/>
                  <a:pathLst>
                    <a:path w="77" h="171">
                      <a:moveTo>
                        <a:pt x="76" y="170"/>
                      </a:moveTo>
                      <a:lnTo>
                        <a:pt x="71" y="131"/>
                      </a:lnTo>
                      <a:lnTo>
                        <a:pt x="68" y="96"/>
                      </a:lnTo>
                      <a:lnTo>
                        <a:pt x="62" y="67"/>
                      </a:lnTo>
                      <a:lnTo>
                        <a:pt x="58" y="43"/>
                      </a:lnTo>
                      <a:lnTo>
                        <a:pt x="52" y="25"/>
                      </a:lnTo>
                      <a:lnTo>
                        <a:pt x="48" y="11"/>
                      </a:lnTo>
                      <a:lnTo>
                        <a:pt x="42" y="3"/>
                      </a:lnTo>
                      <a:lnTo>
                        <a:pt x="38" y="0"/>
                      </a:lnTo>
                      <a:lnTo>
                        <a:pt x="32" y="3"/>
                      </a:lnTo>
                      <a:lnTo>
                        <a:pt x="26" y="11"/>
                      </a:lnTo>
                      <a:lnTo>
                        <a:pt x="21" y="25"/>
                      </a:lnTo>
                      <a:lnTo>
                        <a:pt x="16" y="43"/>
                      </a:lnTo>
                      <a:lnTo>
                        <a:pt x="10" y="67"/>
                      </a:lnTo>
                      <a:lnTo>
                        <a:pt x="6" y="96"/>
                      </a:lnTo>
                      <a:lnTo>
                        <a:pt x="2" y="131"/>
                      </a:lnTo>
                      <a:lnTo>
                        <a:pt x="0" y="170"/>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sp>
              <p:nvSpPr>
                <p:cNvPr id="924741" name="Freeform 69"/>
                <p:cNvSpPr>
                  <a:spLocks/>
                </p:cNvSpPr>
                <p:nvPr/>
              </p:nvSpPr>
              <p:spPr bwMode="auto">
                <a:xfrm>
                  <a:off x="4518" y="3878"/>
                  <a:ext cx="77" cy="171"/>
                </a:xfrm>
                <a:custGeom>
                  <a:avLst/>
                  <a:gdLst/>
                  <a:ahLst/>
                  <a:cxnLst>
                    <a:cxn ang="0">
                      <a:pos x="76" y="0"/>
                    </a:cxn>
                    <a:cxn ang="0">
                      <a:pos x="71" y="41"/>
                    </a:cxn>
                    <a:cxn ang="0">
                      <a:pos x="68" y="75"/>
                    </a:cxn>
                    <a:cxn ang="0">
                      <a:pos x="62" y="104"/>
                    </a:cxn>
                    <a:cxn ang="0">
                      <a:pos x="58" y="128"/>
                    </a:cxn>
                    <a:cxn ang="0">
                      <a:pos x="53" y="147"/>
                    </a:cxn>
                    <a:cxn ang="0">
                      <a:pos x="48" y="160"/>
                    </a:cxn>
                    <a:cxn ang="0">
                      <a:pos x="42" y="168"/>
                    </a:cxn>
                    <a:cxn ang="0">
                      <a:pos x="38" y="170"/>
                    </a:cxn>
                    <a:cxn ang="0">
                      <a:pos x="32" y="168"/>
                    </a:cxn>
                    <a:cxn ang="0">
                      <a:pos x="26" y="160"/>
                    </a:cxn>
                    <a:cxn ang="0">
                      <a:pos x="21" y="147"/>
                    </a:cxn>
                    <a:cxn ang="0">
                      <a:pos x="16" y="128"/>
                    </a:cxn>
                    <a:cxn ang="0">
                      <a:pos x="11" y="104"/>
                    </a:cxn>
                    <a:cxn ang="0">
                      <a:pos x="7" y="75"/>
                    </a:cxn>
                    <a:cxn ang="0">
                      <a:pos x="3" y="41"/>
                    </a:cxn>
                    <a:cxn ang="0">
                      <a:pos x="0" y="0"/>
                    </a:cxn>
                  </a:cxnLst>
                  <a:rect l="0" t="0" r="r" b="b"/>
                  <a:pathLst>
                    <a:path w="77" h="171">
                      <a:moveTo>
                        <a:pt x="76" y="0"/>
                      </a:moveTo>
                      <a:lnTo>
                        <a:pt x="71" y="41"/>
                      </a:lnTo>
                      <a:lnTo>
                        <a:pt x="68" y="75"/>
                      </a:lnTo>
                      <a:lnTo>
                        <a:pt x="62" y="104"/>
                      </a:lnTo>
                      <a:lnTo>
                        <a:pt x="58" y="128"/>
                      </a:lnTo>
                      <a:lnTo>
                        <a:pt x="53" y="147"/>
                      </a:lnTo>
                      <a:lnTo>
                        <a:pt x="48" y="160"/>
                      </a:lnTo>
                      <a:lnTo>
                        <a:pt x="42" y="168"/>
                      </a:lnTo>
                      <a:lnTo>
                        <a:pt x="38" y="170"/>
                      </a:lnTo>
                      <a:lnTo>
                        <a:pt x="32" y="168"/>
                      </a:lnTo>
                      <a:lnTo>
                        <a:pt x="26" y="160"/>
                      </a:lnTo>
                      <a:lnTo>
                        <a:pt x="21" y="147"/>
                      </a:lnTo>
                      <a:lnTo>
                        <a:pt x="16" y="128"/>
                      </a:lnTo>
                      <a:lnTo>
                        <a:pt x="11" y="104"/>
                      </a:lnTo>
                      <a:lnTo>
                        <a:pt x="7" y="75"/>
                      </a:lnTo>
                      <a:lnTo>
                        <a:pt x="3" y="41"/>
                      </a:lnTo>
                      <a:lnTo>
                        <a:pt x="0" y="0"/>
                      </a:lnTo>
                    </a:path>
                  </a:pathLst>
                </a:custGeom>
                <a:noFill/>
                <a:ln w="31750" cap="flat" cmpd="sng">
                  <a:solidFill>
                    <a:srgbClr val="0033CC"/>
                  </a:solidFill>
                  <a:prstDash val="solid"/>
                  <a:round/>
                  <a:headEnd type="none" w="med" len="med"/>
                  <a:tailEnd type="none" w="med" len="med"/>
                </a:ln>
                <a:effectLst/>
              </p:spPr>
              <p:txBody>
                <a:bodyPr/>
                <a:lstStyle/>
                <a:p>
                  <a:endParaRPr lang="en-US"/>
                </a:p>
              </p:txBody>
            </p:sp>
          </p:grpSp>
        </p:grpSp>
      </p:grpSp>
      <p:sp>
        <p:nvSpPr>
          <p:cNvPr id="924742" name="Text Box 70"/>
          <p:cNvSpPr txBox="1">
            <a:spLocks noChangeArrowheads="1"/>
          </p:cNvSpPr>
          <p:nvPr/>
        </p:nvSpPr>
        <p:spPr bwMode="auto">
          <a:xfrm>
            <a:off x="1363663" y="3629025"/>
            <a:ext cx="184150" cy="3079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400">
                <a:solidFill>
                  <a:srgbClr val="000000"/>
                </a:solidFill>
                <a:latin typeface="Arial" pitchFamily="34" charset="0"/>
              </a:rPr>
              <a:t>0</a:t>
            </a:r>
            <a:endParaRPr lang="en-US" sz="1400"/>
          </a:p>
        </p:txBody>
      </p:sp>
      <p:sp>
        <p:nvSpPr>
          <p:cNvPr id="924743" name="Text Box 71"/>
          <p:cNvSpPr txBox="1">
            <a:spLocks noChangeArrowheads="1"/>
          </p:cNvSpPr>
          <p:nvPr/>
        </p:nvSpPr>
        <p:spPr bwMode="auto">
          <a:xfrm>
            <a:off x="1363663" y="3171825"/>
            <a:ext cx="190500" cy="309563"/>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400">
                <a:solidFill>
                  <a:srgbClr val="000000"/>
                </a:solidFill>
                <a:latin typeface="Arial" pitchFamily="34" charset="0"/>
              </a:rPr>
              <a:t>+</a:t>
            </a:r>
            <a:endParaRPr lang="en-US" sz="1400"/>
          </a:p>
        </p:txBody>
      </p:sp>
      <p:sp>
        <p:nvSpPr>
          <p:cNvPr id="924744" name="Text Box 72"/>
          <p:cNvSpPr txBox="1">
            <a:spLocks noChangeArrowheads="1"/>
          </p:cNvSpPr>
          <p:nvPr/>
        </p:nvSpPr>
        <p:spPr bwMode="auto">
          <a:xfrm>
            <a:off x="1363663" y="4162425"/>
            <a:ext cx="168275" cy="4603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400">
                <a:solidFill>
                  <a:srgbClr val="000000"/>
                </a:solidFill>
                <a:latin typeface="Arial" pitchFamily="34" charset="0"/>
              </a:rPr>
              <a:t>-</a:t>
            </a:r>
            <a:endParaRPr lang="en-US" sz="1400"/>
          </a:p>
        </p:txBody>
      </p:sp>
      <p:sp>
        <p:nvSpPr>
          <p:cNvPr id="924745" name="Text Box 73"/>
          <p:cNvSpPr txBox="1">
            <a:spLocks noChangeArrowheads="1"/>
          </p:cNvSpPr>
          <p:nvPr/>
        </p:nvSpPr>
        <p:spPr bwMode="auto">
          <a:xfrm>
            <a:off x="1439863" y="5422900"/>
            <a:ext cx="184150" cy="3079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400">
                <a:solidFill>
                  <a:srgbClr val="000000"/>
                </a:solidFill>
                <a:latin typeface="Arial" pitchFamily="34" charset="0"/>
              </a:rPr>
              <a:t>0</a:t>
            </a:r>
            <a:endParaRPr lang="en-US" sz="1400"/>
          </a:p>
        </p:txBody>
      </p:sp>
      <p:sp>
        <p:nvSpPr>
          <p:cNvPr id="924746" name="Text Box 74"/>
          <p:cNvSpPr txBox="1">
            <a:spLocks noChangeArrowheads="1"/>
          </p:cNvSpPr>
          <p:nvPr/>
        </p:nvSpPr>
        <p:spPr bwMode="auto">
          <a:xfrm>
            <a:off x="1439863" y="4965700"/>
            <a:ext cx="190500" cy="309563"/>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400">
                <a:solidFill>
                  <a:srgbClr val="000000"/>
                </a:solidFill>
                <a:latin typeface="Arial" pitchFamily="34" charset="0"/>
              </a:rPr>
              <a:t>+</a:t>
            </a:r>
            <a:endParaRPr lang="en-US" sz="1400"/>
          </a:p>
        </p:txBody>
      </p:sp>
      <p:sp>
        <p:nvSpPr>
          <p:cNvPr id="924747" name="Text Box 75"/>
          <p:cNvSpPr txBox="1">
            <a:spLocks noChangeArrowheads="1"/>
          </p:cNvSpPr>
          <p:nvPr/>
        </p:nvSpPr>
        <p:spPr bwMode="auto">
          <a:xfrm>
            <a:off x="1439863" y="5956300"/>
            <a:ext cx="168275" cy="460375"/>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400">
                <a:solidFill>
                  <a:srgbClr val="000000"/>
                </a:solidFill>
                <a:latin typeface="Arial" pitchFamily="34" charset="0"/>
              </a:rPr>
              <a:t>-</a:t>
            </a:r>
            <a:endParaRPr lang="en-US" sz="1400"/>
          </a:p>
        </p:txBody>
      </p:sp>
      <p:grpSp>
        <p:nvGrpSpPr>
          <p:cNvPr id="924748" name="Group 76"/>
          <p:cNvGrpSpPr>
            <a:grpSpLocks/>
          </p:cNvGrpSpPr>
          <p:nvPr/>
        </p:nvGrpSpPr>
        <p:grpSpPr bwMode="auto">
          <a:xfrm>
            <a:off x="5284788" y="3067050"/>
            <a:ext cx="2105025" cy="1214438"/>
            <a:chOff x="3032" y="843"/>
            <a:chExt cx="1326" cy="765"/>
          </a:xfrm>
        </p:grpSpPr>
        <p:sp>
          <p:nvSpPr>
            <p:cNvPr id="924749" name="Line 77"/>
            <p:cNvSpPr>
              <a:spLocks noChangeShapeType="1"/>
            </p:cNvSpPr>
            <p:nvPr/>
          </p:nvSpPr>
          <p:spPr bwMode="auto">
            <a:xfrm>
              <a:off x="3032" y="1608"/>
              <a:ext cx="1326" cy="0"/>
            </a:xfrm>
            <a:prstGeom prst="line">
              <a:avLst/>
            </a:prstGeom>
            <a:noFill/>
            <a:ln w="19050">
              <a:solidFill>
                <a:srgbClr val="008280"/>
              </a:solidFill>
              <a:round/>
              <a:headEnd/>
              <a:tailEnd type="triangle" w="med" len="med"/>
            </a:ln>
            <a:effectLst/>
          </p:spPr>
          <p:txBody>
            <a:bodyPr wrap="none" anchor="ctr"/>
            <a:lstStyle/>
            <a:p>
              <a:endParaRPr lang="en-US"/>
            </a:p>
          </p:txBody>
        </p:sp>
        <p:sp>
          <p:nvSpPr>
            <p:cNvPr id="924750" name="Line 78"/>
            <p:cNvSpPr>
              <a:spLocks noChangeShapeType="1"/>
            </p:cNvSpPr>
            <p:nvPr/>
          </p:nvSpPr>
          <p:spPr bwMode="auto">
            <a:xfrm>
              <a:off x="3034" y="843"/>
              <a:ext cx="0" cy="762"/>
            </a:xfrm>
            <a:prstGeom prst="line">
              <a:avLst/>
            </a:prstGeom>
            <a:noFill/>
            <a:ln w="19050">
              <a:solidFill>
                <a:srgbClr val="008280"/>
              </a:solidFill>
              <a:round/>
              <a:headEnd type="triangle" w="med" len="med"/>
              <a:tailEnd/>
            </a:ln>
            <a:effectLst/>
          </p:spPr>
          <p:txBody>
            <a:bodyPr wrap="none" anchor="ctr"/>
            <a:lstStyle/>
            <a:p>
              <a:endParaRPr lang="en-US"/>
            </a:p>
          </p:txBody>
        </p:sp>
      </p:grpSp>
      <p:grpSp>
        <p:nvGrpSpPr>
          <p:cNvPr id="924751" name="Group 79"/>
          <p:cNvGrpSpPr>
            <a:grpSpLocks/>
          </p:cNvGrpSpPr>
          <p:nvPr/>
        </p:nvGrpSpPr>
        <p:grpSpPr bwMode="auto">
          <a:xfrm>
            <a:off x="5289550" y="4711700"/>
            <a:ext cx="2105025" cy="1214438"/>
            <a:chOff x="3032" y="843"/>
            <a:chExt cx="1326" cy="765"/>
          </a:xfrm>
        </p:grpSpPr>
        <p:sp>
          <p:nvSpPr>
            <p:cNvPr id="924752" name="Line 80"/>
            <p:cNvSpPr>
              <a:spLocks noChangeShapeType="1"/>
            </p:cNvSpPr>
            <p:nvPr/>
          </p:nvSpPr>
          <p:spPr bwMode="auto">
            <a:xfrm>
              <a:off x="3032" y="1608"/>
              <a:ext cx="1326" cy="0"/>
            </a:xfrm>
            <a:prstGeom prst="line">
              <a:avLst/>
            </a:prstGeom>
            <a:noFill/>
            <a:ln w="19050">
              <a:solidFill>
                <a:srgbClr val="008280"/>
              </a:solidFill>
              <a:round/>
              <a:headEnd/>
              <a:tailEnd type="triangle" w="med" len="med"/>
            </a:ln>
            <a:effectLst/>
          </p:spPr>
          <p:txBody>
            <a:bodyPr wrap="none" anchor="ctr"/>
            <a:lstStyle/>
            <a:p>
              <a:endParaRPr lang="en-US"/>
            </a:p>
          </p:txBody>
        </p:sp>
        <p:sp>
          <p:nvSpPr>
            <p:cNvPr id="924753" name="Line 81"/>
            <p:cNvSpPr>
              <a:spLocks noChangeShapeType="1"/>
            </p:cNvSpPr>
            <p:nvPr/>
          </p:nvSpPr>
          <p:spPr bwMode="auto">
            <a:xfrm>
              <a:off x="3034" y="843"/>
              <a:ext cx="0" cy="762"/>
            </a:xfrm>
            <a:prstGeom prst="line">
              <a:avLst/>
            </a:prstGeom>
            <a:noFill/>
            <a:ln w="19050">
              <a:solidFill>
                <a:srgbClr val="008280"/>
              </a:solidFill>
              <a:round/>
              <a:headEnd type="triangle" w="med" len="med"/>
              <a:tailEnd/>
            </a:ln>
            <a:effectLst/>
          </p:spPr>
          <p:txBody>
            <a:bodyPr wrap="none" anchor="ctr"/>
            <a:lstStyle/>
            <a:p>
              <a:endParaRPr lang="en-US"/>
            </a:p>
          </p:txBody>
        </p:sp>
      </p:grpSp>
      <p:sp>
        <p:nvSpPr>
          <p:cNvPr id="924754" name="Text Box 82"/>
          <p:cNvSpPr txBox="1">
            <a:spLocks noChangeArrowheads="1"/>
          </p:cNvSpPr>
          <p:nvPr/>
        </p:nvSpPr>
        <p:spPr bwMode="auto">
          <a:xfrm>
            <a:off x="7488238" y="2514600"/>
            <a:ext cx="974725" cy="293688"/>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Frequency</a:t>
            </a:r>
            <a:endParaRPr lang="en-US" sz="1600">
              <a:latin typeface="Arial" pitchFamily="34" charset="0"/>
            </a:endParaRPr>
          </a:p>
        </p:txBody>
      </p:sp>
      <p:sp>
        <p:nvSpPr>
          <p:cNvPr id="924755" name="Text Box 83"/>
          <p:cNvSpPr txBox="1">
            <a:spLocks noChangeArrowheads="1"/>
          </p:cNvSpPr>
          <p:nvPr/>
        </p:nvSpPr>
        <p:spPr bwMode="auto">
          <a:xfrm>
            <a:off x="7488238" y="5805488"/>
            <a:ext cx="974725" cy="293687"/>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600">
                <a:solidFill>
                  <a:srgbClr val="000000"/>
                </a:solidFill>
                <a:latin typeface="Arial" pitchFamily="34" charset="0"/>
              </a:rPr>
              <a:t>Frequency</a:t>
            </a:r>
            <a:endParaRPr lang="en-US" sz="1600">
              <a:latin typeface="Arial" pitchFamily="34" charset="0"/>
            </a:endParaRPr>
          </a:p>
        </p:txBody>
      </p:sp>
      <p:sp>
        <p:nvSpPr>
          <p:cNvPr id="924756" name="Rectangle 84"/>
          <p:cNvSpPr>
            <a:spLocks noGrp="1" noChangeArrowheads="1"/>
          </p:cNvSpPr>
          <p:nvPr>
            <p:ph type="title" idx="4294967295"/>
          </p:nvPr>
        </p:nvSpPr>
        <p:spPr>
          <a:xfrm>
            <a:off x="685800" y="390525"/>
            <a:ext cx="7772400" cy="828675"/>
          </a:xfrm>
        </p:spPr>
        <p:txBody>
          <a:bodyPr/>
          <a:lstStyle/>
          <a:p>
            <a:r>
              <a:rPr lang="en-US"/>
              <a:t>Frequency Domain</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8" name="Rectangle 2"/>
          <p:cNvSpPr>
            <a:spLocks noGrp="1" noChangeArrowheads="1"/>
          </p:cNvSpPr>
          <p:nvPr>
            <p:ph type="title" idx="4294967295"/>
          </p:nvPr>
        </p:nvSpPr>
        <p:spPr>
          <a:xfrm>
            <a:off x="685800" y="390525"/>
            <a:ext cx="7772400" cy="828675"/>
          </a:xfrm>
        </p:spPr>
        <p:txBody>
          <a:bodyPr/>
          <a:lstStyle/>
          <a:p>
            <a:r>
              <a:rPr lang="en-US"/>
              <a:t>A Typical FFT Spectrum</a:t>
            </a:r>
          </a:p>
        </p:txBody>
      </p:sp>
      <p:graphicFrame>
        <p:nvGraphicFramePr>
          <p:cNvPr id="925699" name="Object 3"/>
          <p:cNvGraphicFramePr>
            <a:graphicFrameLocks noChangeAspect="1"/>
          </p:cNvGraphicFramePr>
          <p:nvPr/>
        </p:nvGraphicFramePr>
        <p:xfrm>
          <a:off x="2516188" y="1600200"/>
          <a:ext cx="5408612" cy="4473575"/>
        </p:xfrm>
        <a:graphic>
          <a:graphicData uri="http://schemas.openxmlformats.org/presentationml/2006/ole">
            <mc:AlternateContent xmlns:mc="http://schemas.openxmlformats.org/markup-compatibility/2006">
              <mc:Choice xmlns:v="urn:schemas-microsoft-com:vml" Requires="v">
                <p:oleObj spid="_x0000_s925701" name="Paint Shop Pro Image" r:id="rId3" imgW="5639024" imgH="4663415" progId="PaintShopPro">
                  <p:embed/>
                </p:oleObj>
              </mc:Choice>
              <mc:Fallback>
                <p:oleObj name="Paint Shop Pro Image" r:id="rId3" imgW="5639024" imgH="4663415" progId="PaintShopPro">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6188" y="1600200"/>
                        <a:ext cx="5408612"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5700" name="Text Box 4"/>
          <p:cNvSpPr txBox="1">
            <a:spLocks noChangeArrowheads="1"/>
          </p:cNvSpPr>
          <p:nvPr/>
        </p:nvSpPr>
        <p:spPr bwMode="auto">
          <a:xfrm>
            <a:off x="5094288" y="2239963"/>
            <a:ext cx="2413000" cy="396875"/>
          </a:xfrm>
          <a:prstGeom prst="rect">
            <a:avLst/>
          </a:prstGeom>
          <a:noFill/>
          <a:ln w="25400">
            <a:noFill/>
            <a:miter lim="800000"/>
            <a:headEnd type="none" w="sm" len="sm"/>
            <a:tailEnd type="none" w="sm" len="sm"/>
          </a:ln>
          <a:effectLst/>
        </p:spPr>
        <p:txBody>
          <a:bodyPr wrap="none" anchor="ctr">
            <a:spAutoFit/>
          </a:bodyPr>
          <a:lstStyle/>
          <a:p>
            <a:pPr algn="ctr"/>
            <a:r>
              <a:rPr lang="en-US" sz="2000">
                <a:solidFill>
                  <a:srgbClr val="FF0033"/>
                </a:solidFill>
                <a:latin typeface="Arial" pitchFamily="34" charset="0"/>
              </a:rPr>
              <a:t>Many distinct peaks</a:t>
            </a:r>
          </a:p>
        </p:txBody>
      </p:sp>
      <p:sp>
        <p:nvSpPr>
          <p:cNvPr id="925701" name="Line 5"/>
          <p:cNvSpPr>
            <a:spLocks noChangeShapeType="1"/>
          </p:cNvSpPr>
          <p:nvPr/>
        </p:nvSpPr>
        <p:spPr bwMode="auto">
          <a:xfrm flipH="1">
            <a:off x="3687763" y="2590800"/>
            <a:ext cx="1524000" cy="990600"/>
          </a:xfrm>
          <a:prstGeom prst="line">
            <a:avLst/>
          </a:prstGeom>
          <a:noFill/>
          <a:ln w="25400">
            <a:solidFill>
              <a:srgbClr val="FF0033"/>
            </a:solidFill>
            <a:round/>
            <a:headEnd type="none" w="sm" len="sm"/>
            <a:tailEnd type="triangle" w="sm" len="sm"/>
          </a:ln>
          <a:effectLst/>
        </p:spPr>
        <p:txBody>
          <a:bodyPr wrap="none" anchor="ctr"/>
          <a:lstStyle/>
          <a:p>
            <a:endParaRPr lang="en-US"/>
          </a:p>
        </p:txBody>
      </p:sp>
      <p:sp>
        <p:nvSpPr>
          <p:cNvPr id="925702" name="Line 6"/>
          <p:cNvSpPr>
            <a:spLocks noChangeShapeType="1"/>
          </p:cNvSpPr>
          <p:nvPr/>
        </p:nvSpPr>
        <p:spPr bwMode="auto">
          <a:xfrm flipH="1">
            <a:off x="4830763" y="2667000"/>
            <a:ext cx="685800" cy="1600200"/>
          </a:xfrm>
          <a:prstGeom prst="line">
            <a:avLst/>
          </a:prstGeom>
          <a:noFill/>
          <a:ln w="25400">
            <a:solidFill>
              <a:srgbClr val="FF0033"/>
            </a:solidFill>
            <a:round/>
            <a:headEnd type="none" w="sm" len="sm"/>
            <a:tailEnd type="triangle" w="sm" len="sm"/>
          </a:ln>
          <a:effectLst/>
        </p:spPr>
        <p:txBody>
          <a:bodyPr wrap="none" anchor="ctr"/>
          <a:lstStyle/>
          <a:p>
            <a:endParaRPr lang="en-US"/>
          </a:p>
        </p:txBody>
      </p:sp>
      <p:sp>
        <p:nvSpPr>
          <p:cNvPr id="925703" name="Line 7"/>
          <p:cNvSpPr>
            <a:spLocks noChangeShapeType="1"/>
          </p:cNvSpPr>
          <p:nvPr/>
        </p:nvSpPr>
        <p:spPr bwMode="auto">
          <a:xfrm flipH="1">
            <a:off x="5516563" y="2667000"/>
            <a:ext cx="457200" cy="2667000"/>
          </a:xfrm>
          <a:prstGeom prst="line">
            <a:avLst/>
          </a:prstGeom>
          <a:noFill/>
          <a:ln w="25400">
            <a:solidFill>
              <a:srgbClr val="FF0033"/>
            </a:solidFill>
            <a:round/>
            <a:headEnd type="none" w="sm" len="sm"/>
            <a:tailEnd type="triangle" w="sm" len="sm"/>
          </a:ln>
          <a:effectLst/>
        </p:spPr>
        <p:txBody>
          <a:bodyPr wrap="none" anchor="ctr"/>
          <a:lstStyle/>
          <a:p>
            <a:endParaRPr lang="en-US"/>
          </a:p>
        </p:txBody>
      </p:sp>
      <p:sp>
        <p:nvSpPr>
          <p:cNvPr id="925704" name="Line 8"/>
          <p:cNvSpPr>
            <a:spLocks noChangeShapeType="1"/>
          </p:cNvSpPr>
          <p:nvPr/>
        </p:nvSpPr>
        <p:spPr bwMode="auto">
          <a:xfrm>
            <a:off x="6430963" y="2743200"/>
            <a:ext cx="228600" cy="2133600"/>
          </a:xfrm>
          <a:prstGeom prst="line">
            <a:avLst/>
          </a:prstGeom>
          <a:noFill/>
          <a:ln w="25400">
            <a:solidFill>
              <a:srgbClr val="FF0033"/>
            </a:solidFill>
            <a:round/>
            <a:headEnd type="none" w="sm" len="sm"/>
            <a:tailEnd type="triangle" w="sm" len="sm"/>
          </a:ln>
          <a:effectLst/>
        </p:spPr>
        <p:txBody>
          <a:bodyPr wrap="none" anchor="ctr"/>
          <a:lstStyle/>
          <a:p>
            <a:endParaRPr lang="en-US"/>
          </a:p>
        </p:txBody>
      </p:sp>
      <p:sp>
        <p:nvSpPr>
          <p:cNvPr id="925705" name="Line 9"/>
          <p:cNvSpPr>
            <a:spLocks noChangeShapeType="1"/>
          </p:cNvSpPr>
          <p:nvPr/>
        </p:nvSpPr>
        <p:spPr bwMode="auto">
          <a:xfrm>
            <a:off x="6888163" y="2743200"/>
            <a:ext cx="533400" cy="2819400"/>
          </a:xfrm>
          <a:prstGeom prst="line">
            <a:avLst/>
          </a:prstGeom>
          <a:noFill/>
          <a:ln w="25400">
            <a:solidFill>
              <a:srgbClr val="FF0033"/>
            </a:solidFill>
            <a:round/>
            <a:headEnd type="none" w="sm" len="sm"/>
            <a:tailEnd type="triangle" w="sm" len="sm"/>
          </a:ln>
          <a:effectLst/>
        </p:spPr>
        <p:txBody>
          <a:bodyPr wrap="none" anchor="ctr"/>
          <a:lstStyle/>
          <a:p>
            <a:endParaRPr 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300"/>
                                  </p:stCondLst>
                                  <p:childTnLst>
                                    <p:set>
                                      <p:cBhvr>
                                        <p:cTn id="6" dur="1" fill="hold">
                                          <p:stCondLst>
                                            <p:cond delay="499"/>
                                          </p:stCondLst>
                                        </p:cTn>
                                        <p:tgtEl>
                                          <p:spTgt spid="925701"/>
                                        </p:tgtEl>
                                        <p:attrNameLst>
                                          <p:attrName>style.visibility</p:attrName>
                                        </p:attrNameLst>
                                      </p:cBhvr>
                                      <p:to>
                                        <p:strVal val="visible"/>
                                      </p:to>
                                    </p:set>
                                  </p:childTnLst>
                                </p:cTn>
                              </p:par>
                            </p:childTnLst>
                          </p:cTn>
                        </p:par>
                        <p:par>
                          <p:cTn id="7" fill="hold">
                            <p:stCondLst>
                              <p:cond delay="800"/>
                            </p:stCondLst>
                            <p:childTnLst>
                              <p:par>
                                <p:cTn id="8" presetID="1" presetClass="entr" presetSubtype="0" fill="hold" grpId="0" nodeType="afterEffect">
                                  <p:stCondLst>
                                    <p:cond delay="300"/>
                                  </p:stCondLst>
                                  <p:childTnLst>
                                    <p:set>
                                      <p:cBhvr>
                                        <p:cTn id="9" dur="1" fill="hold">
                                          <p:stCondLst>
                                            <p:cond delay="499"/>
                                          </p:stCondLst>
                                        </p:cTn>
                                        <p:tgtEl>
                                          <p:spTgt spid="925702"/>
                                        </p:tgtEl>
                                        <p:attrNameLst>
                                          <p:attrName>style.visibility</p:attrName>
                                        </p:attrNameLst>
                                      </p:cBhvr>
                                      <p:to>
                                        <p:strVal val="visible"/>
                                      </p:to>
                                    </p:set>
                                  </p:childTnLst>
                                </p:cTn>
                              </p:par>
                            </p:childTnLst>
                          </p:cTn>
                        </p:par>
                        <p:par>
                          <p:cTn id="10" fill="hold">
                            <p:stCondLst>
                              <p:cond delay="1600"/>
                            </p:stCondLst>
                            <p:childTnLst>
                              <p:par>
                                <p:cTn id="11" presetID="1" presetClass="entr" presetSubtype="0" fill="hold" grpId="0" nodeType="afterEffect">
                                  <p:stCondLst>
                                    <p:cond delay="300"/>
                                  </p:stCondLst>
                                  <p:childTnLst>
                                    <p:set>
                                      <p:cBhvr>
                                        <p:cTn id="12" dur="1" fill="hold">
                                          <p:stCondLst>
                                            <p:cond delay="499"/>
                                          </p:stCondLst>
                                        </p:cTn>
                                        <p:tgtEl>
                                          <p:spTgt spid="925703"/>
                                        </p:tgtEl>
                                        <p:attrNameLst>
                                          <p:attrName>style.visibility</p:attrName>
                                        </p:attrNameLst>
                                      </p:cBhvr>
                                      <p:to>
                                        <p:strVal val="visible"/>
                                      </p:to>
                                    </p:set>
                                  </p:childTnLst>
                                </p:cTn>
                              </p:par>
                            </p:childTnLst>
                          </p:cTn>
                        </p:par>
                        <p:par>
                          <p:cTn id="13" fill="hold">
                            <p:stCondLst>
                              <p:cond delay="2400"/>
                            </p:stCondLst>
                            <p:childTnLst>
                              <p:par>
                                <p:cTn id="14" presetID="1" presetClass="entr" presetSubtype="0" fill="hold" grpId="0" nodeType="afterEffect">
                                  <p:stCondLst>
                                    <p:cond delay="300"/>
                                  </p:stCondLst>
                                  <p:childTnLst>
                                    <p:set>
                                      <p:cBhvr>
                                        <p:cTn id="15" dur="1" fill="hold">
                                          <p:stCondLst>
                                            <p:cond delay="499"/>
                                          </p:stCondLst>
                                        </p:cTn>
                                        <p:tgtEl>
                                          <p:spTgt spid="925704"/>
                                        </p:tgtEl>
                                        <p:attrNameLst>
                                          <p:attrName>style.visibility</p:attrName>
                                        </p:attrNameLst>
                                      </p:cBhvr>
                                      <p:to>
                                        <p:strVal val="visible"/>
                                      </p:to>
                                    </p:set>
                                  </p:childTnLst>
                                </p:cTn>
                              </p:par>
                            </p:childTnLst>
                          </p:cTn>
                        </p:par>
                        <p:par>
                          <p:cTn id="16" fill="hold">
                            <p:stCondLst>
                              <p:cond delay="3200"/>
                            </p:stCondLst>
                            <p:childTnLst>
                              <p:par>
                                <p:cTn id="17" presetID="1" presetClass="entr" presetSubtype="0" fill="hold" grpId="0" nodeType="afterEffect">
                                  <p:stCondLst>
                                    <p:cond delay="300"/>
                                  </p:stCondLst>
                                  <p:childTnLst>
                                    <p:set>
                                      <p:cBhvr>
                                        <p:cTn id="18" dur="1" fill="hold">
                                          <p:stCondLst>
                                            <p:cond delay="499"/>
                                          </p:stCondLst>
                                        </p:cTn>
                                        <p:tgtEl>
                                          <p:spTgt spid="9257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5701" grpId="0" animBg="1"/>
      <p:bldP spid="925702" grpId="0" animBg="1"/>
      <p:bldP spid="925703" grpId="0" animBg="1"/>
      <p:bldP spid="925704" grpId="0" animBg="1"/>
      <p:bldP spid="92570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22" name="Rectangle 2"/>
          <p:cNvSpPr>
            <a:spLocks noGrp="1" noChangeArrowheads="1"/>
          </p:cNvSpPr>
          <p:nvPr>
            <p:ph type="title" idx="4294967295"/>
          </p:nvPr>
        </p:nvSpPr>
        <p:spPr>
          <a:xfrm>
            <a:off x="685800" y="390525"/>
            <a:ext cx="7772400" cy="828675"/>
          </a:xfrm>
        </p:spPr>
        <p:txBody>
          <a:bodyPr/>
          <a:lstStyle/>
          <a:p>
            <a:r>
              <a:rPr lang="en-US"/>
              <a:t>A Typical FFT Spectrum</a:t>
            </a:r>
          </a:p>
        </p:txBody>
      </p:sp>
      <p:graphicFrame>
        <p:nvGraphicFramePr>
          <p:cNvPr id="926723" name="Object 3"/>
          <p:cNvGraphicFramePr>
            <a:graphicFrameLocks noChangeAspect="1"/>
          </p:cNvGraphicFramePr>
          <p:nvPr/>
        </p:nvGraphicFramePr>
        <p:xfrm>
          <a:off x="2516188" y="1600200"/>
          <a:ext cx="5408612" cy="4473575"/>
        </p:xfrm>
        <a:graphic>
          <a:graphicData uri="http://schemas.openxmlformats.org/presentationml/2006/ole">
            <mc:AlternateContent xmlns:mc="http://schemas.openxmlformats.org/markup-compatibility/2006">
              <mc:Choice xmlns:v="urn:schemas-microsoft-com:vml" Requires="v">
                <p:oleObj spid="_x0000_s926725" name="Paint Shop Pro Image" r:id="rId3" imgW="5639024" imgH="4663415" progId="PaintShopPro">
                  <p:embed/>
                </p:oleObj>
              </mc:Choice>
              <mc:Fallback>
                <p:oleObj name="Paint Shop Pro Image" r:id="rId3" imgW="5639024" imgH="4663415" progId="PaintShopPro">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6188" y="1600200"/>
                        <a:ext cx="5408612"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6724" name="Text Box 4"/>
          <p:cNvSpPr txBox="1">
            <a:spLocks noChangeArrowheads="1"/>
          </p:cNvSpPr>
          <p:nvPr/>
        </p:nvSpPr>
        <p:spPr bwMode="auto">
          <a:xfrm>
            <a:off x="4038600" y="2230438"/>
            <a:ext cx="3581400" cy="1244600"/>
          </a:xfrm>
          <a:prstGeom prst="rect">
            <a:avLst/>
          </a:prstGeom>
          <a:noFill/>
          <a:ln w="25400">
            <a:noFill/>
            <a:miter lim="800000"/>
            <a:headEnd type="none" w="sm" len="sm"/>
            <a:tailEnd type="none" w="sm" len="sm"/>
          </a:ln>
          <a:effectLst/>
        </p:spPr>
        <p:txBody>
          <a:bodyPr anchor="ctr">
            <a:spAutoFit/>
          </a:bodyPr>
          <a:lstStyle/>
          <a:p>
            <a:pPr>
              <a:lnSpc>
                <a:spcPct val="140000"/>
              </a:lnSpc>
            </a:pPr>
            <a:r>
              <a:rPr lang="en-US" sz="1800" i="1">
                <a:solidFill>
                  <a:srgbClr val="FF0033"/>
                </a:solidFill>
                <a:latin typeface="Arial" pitchFamily="34" charset="0"/>
              </a:rPr>
              <a:t>Specific</a:t>
            </a:r>
            <a:r>
              <a:rPr lang="en-US" sz="1600">
                <a:solidFill>
                  <a:srgbClr val="FF0033"/>
                </a:solidFill>
                <a:latin typeface="Arial" pitchFamily="34" charset="0"/>
              </a:rPr>
              <a:t> </a:t>
            </a:r>
            <a:r>
              <a:rPr lang="en-US" sz="1600">
                <a:latin typeface="Arial" pitchFamily="34" charset="0"/>
              </a:rPr>
              <a:t>peaks typically correlate to</a:t>
            </a:r>
          </a:p>
          <a:p>
            <a:pPr>
              <a:lnSpc>
                <a:spcPct val="140000"/>
              </a:lnSpc>
            </a:pPr>
            <a:r>
              <a:rPr lang="en-US" sz="1800" i="1">
                <a:solidFill>
                  <a:srgbClr val="FF0033"/>
                </a:solidFill>
                <a:latin typeface="Arial" pitchFamily="34" charset="0"/>
              </a:rPr>
              <a:t>Specific</a:t>
            </a:r>
            <a:r>
              <a:rPr lang="en-US" sz="1600">
                <a:solidFill>
                  <a:srgbClr val="FF0033"/>
                </a:solidFill>
                <a:latin typeface="Arial" pitchFamily="34" charset="0"/>
              </a:rPr>
              <a:t> </a:t>
            </a:r>
            <a:r>
              <a:rPr lang="en-US" sz="1600">
                <a:latin typeface="Arial" pitchFamily="34" charset="0"/>
              </a:rPr>
              <a:t>machine faults</a:t>
            </a:r>
          </a:p>
          <a:p>
            <a:pPr>
              <a:lnSpc>
                <a:spcPct val="140000"/>
              </a:lnSpc>
            </a:pPr>
            <a:r>
              <a:rPr lang="en-US" sz="1800" i="1">
                <a:solidFill>
                  <a:srgbClr val="FF0033"/>
                </a:solidFill>
                <a:latin typeface="Arial" pitchFamily="34" charset="0"/>
              </a:rPr>
              <a:t>Related</a:t>
            </a:r>
            <a:r>
              <a:rPr lang="en-US" sz="1600">
                <a:solidFill>
                  <a:srgbClr val="FF0033"/>
                </a:solidFill>
                <a:latin typeface="Arial" pitchFamily="34" charset="0"/>
              </a:rPr>
              <a:t> </a:t>
            </a:r>
            <a:r>
              <a:rPr lang="en-US" sz="1600">
                <a:latin typeface="Arial" pitchFamily="34" charset="0"/>
              </a:rPr>
              <a:t>to machine speed</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26724"/>
                                        </p:tgtEl>
                                        <p:attrNameLst>
                                          <p:attrName>style.visibility</p:attrName>
                                        </p:attrNameLst>
                                      </p:cBhvr>
                                      <p:to>
                                        <p:strVal val="visible"/>
                                      </p:to>
                                    </p:set>
                                    <p:animEffect transition="in" filter="wipe(up)">
                                      <p:cBhvr>
                                        <p:cTn id="7" dur="500"/>
                                        <p:tgtEl>
                                          <p:spTgt spid="926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6724"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p:cNvSpPr>
            <a:spLocks noGrp="1" noChangeArrowheads="1"/>
          </p:cNvSpPr>
          <p:nvPr>
            <p:ph type="title" idx="4294967295"/>
          </p:nvPr>
        </p:nvSpPr>
        <p:spPr>
          <a:xfrm>
            <a:off x="609600" y="2590800"/>
            <a:ext cx="7772400" cy="1143000"/>
          </a:xfrm>
          <a:noFill/>
          <a:ln/>
        </p:spPr>
        <p:txBody>
          <a:bodyPr lIns="90488" tIns="44450" rIns="90488" bIns="44450" anchor="ctr"/>
          <a:lstStyle/>
          <a:p>
            <a:r>
              <a:rPr lang="en-US" sz="8000" b="0"/>
              <a:t>Phase</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770" name="Rectangle 2"/>
          <p:cNvSpPr>
            <a:spLocks noGrp="1" noChangeArrowheads="1"/>
          </p:cNvSpPr>
          <p:nvPr>
            <p:ph type="title"/>
          </p:nvPr>
        </p:nvSpPr>
        <p:spPr>
          <a:noFill/>
          <a:ln/>
        </p:spPr>
        <p:txBody>
          <a:bodyPr lIns="90488" tIns="44450" rIns="90488" bIns="44450" anchor="ctr"/>
          <a:lstStyle/>
          <a:p>
            <a:r>
              <a:rPr lang="en-US" sz="3200" b="0">
                <a:latin typeface="Courier New" pitchFamily="49" charset="0"/>
              </a:rPr>
              <a:t>What Is Phase?</a:t>
            </a:r>
          </a:p>
        </p:txBody>
      </p:sp>
      <p:sp>
        <p:nvSpPr>
          <p:cNvPr id="928771" name="Rectangle 3"/>
          <p:cNvSpPr>
            <a:spLocks noGrp="1" noChangeArrowheads="1"/>
          </p:cNvSpPr>
          <p:nvPr>
            <p:ph type="body" idx="1"/>
          </p:nvPr>
        </p:nvSpPr>
        <p:spPr>
          <a:xfrm>
            <a:off x="685800" y="1371600"/>
            <a:ext cx="7772400" cy="4724400"/>
          </a:xfrm>
          <a:noFill/>
          <a:ln/>
        </p:spPr>
        <p:txBody>
          <a:bodyPr lIns="90488" tIns="44450" rIns="90488" bIns="44450"/>
          <a:lstStyle/>
          <a:p>
            <a:pPr marL="60325" indent="-60325">
              <a:spcBef>
                <a:spcPct val="0"/>
              </a:spcBef>
              <a:buFontTx/>
              <a:buNone/>
            </a:pPr>
            <a:r>
              <a:rPr lang="en-US" sz="1800" b="1"/>
              <a:t>Phase is a measure of relative time difference between two sine waves</a:t>
            </a:r>
            <a:r>
              <a:rPr lang="en-US" sz="2000" b="1"/>
              <a:t>.</a:t>
            </a:r>
          </a:p>
          <a:p>
            <a:pPr marL="60325" indent="-60325">
              <a:spcBef>
                <a:spcPct val="0"/>
              </a:spcBef>
              <a:buFontTx/>
              <a:buNone/>
            </a:pPr>
            <a:r>
              <a:rPr lang="en-US" sz="1600" b="1"/>
              <a:t>Trigger Any event which can be used as a timing reference. </a:t>
            </a:r>
          </a:p>
          <a:p>
            <a:pPr marL="60325" indent="-60325">
              <a:spcBef>
                <a:spcPct val="0"/>
              </a:spcBef>
              <a:buFontTx/>
              <a:buNone/>
            </a:pPr>
            <a:r>
              <a:rPr lang="en-US" sz="1600" b="1"/>
              <a:t>Keyphasor ( phase reference sensor ) A signal used in rotating machinery measurements , generated by a sensor observing a once per revolution event .</a:t>
            </a:r>
          </a:p>
          <a:p>
            <a:pPr marL="60325" indent="-60325">
              <a:spcBef>
                <a:spcPct val="0"/>
              </a:spcBef>
              <a:buFontTx/>
              <a:buNone/>
            </a:pPr>
            <a:endParaRPr lang="en-US" sz="2000" b="1"/>
          </a:p>
          <a:p>
            <a:pPr marL="60325" indent="-60325">
              <a:spcBef>
                <a:spcPct val="0"/>
              </a:spcBef>
              <a:buFontTx/>
              <a:buNone/>
            </a:pPr>
            <a:endParaRPr lang="en-US" sz="2000" b="1"/>
          </a:p>
          <a:p>
            <a:pPr marL="60325" indent="-60325">
              <a:spcBef>
                <a:spcPct val="0"/>
              </a:spcBef>
              <a:buFontTx/>
              <a:buNone/>
            </a:pPr>
            <a:endParaRPr lang="en-US" sz="2000" b="1"/>
          </a:p>
          <a:p>
            <a:pPr marL="60325" indent="-60325">
              <a:spcBef>
                <a:spcPct val="0"/>
              </a:spcBef>
              <a:buFontTx/>
              <a:buNone/>
            </a:pPr>
            <a:endParaRPr lang="en-US" sz="2000" b="1"/>
          </a:p>
          <a:p>
            <a:pPr marL="60325" indent="-60325">
              <a:spcBef>
                <a:spcPct val="0"/>
              </a:spcBef>
              <a:buFontTx/>
              <a:buNone/>
            </a:pPr>
            <a:endParaRPr lang="en-US" sz="2000" b="1"/>
          </a:p>
          <a:p>
            <a:pPr marL="60325" indent="-60325">
              <a:spcBef>
                <a:spcPct val="0"/>
              </a:spcBef>
              <a:buFontTx/>
              <a:buNone/>
            </a:pPr>
            <a:endParaRPr lang="en-US" sz="2000" b="1"/>
          </a:p>
          <a:p>
            <a:pPr marL="60325" indent="-60325">
              <a:spcBef>
                <a:spcPct val="0"/>
              </a:spcBef>
              <a:buFontTx/>
              <a:buNone/>
            </a:pPr>
            <a:endParaRPr lang="en-US" sz="2000" b="1"/>
          </a:p>
          <a:p>
            <a:pPr marL="60325" indent="-60325">
              <a:spcBef>
                <a:spcPct val="0"/>
              </a:spcBef>
              <a:buFontTx/>
              <a:buNone/>
            </a:pPr>
            <a:endParaRPr lang="en-US" sz="2000" b="1"/>
          </a:p>
          <a:p>
            <a:pPr marL="60325" indent="-60325">
              <a:spcBef>
                <a:spcPct val="0"/>
              </a:spcBef>
              <a:buFontTx/>
              <a:buNone/>
            </a:pPr>
            <a:endParaRPr lang="en-US" sz="2000" b="1"/>
          </a:p>
          <a:p>
            <a:pPr marL="60325" indent="-60325">
              <a:spcBef>
                <a:spcPct val="0"/>
              </a:spcBef>
              <a:buFontTx/>
              <a:buNone/>
            </a:pPr>
            <a:endParaRPr lang="en-US" sz="2000" b="1"/>
          </a:p>
          <a:p>
            <a:pPr marL="60325" indent="-60325">
              <a:spcBef>
                <a:spcPct val="0"/>
              </a:spcBef>
              <a:buFontTx/>
              <a:buNone/>
            </a:pPr>
            <a:endParaRPr lang="en-US" sz="2000" b="1"/>
          </a:p>
        </p:txBody>
      </p:sp>
      <p:graphicFrame>
        <p:nvGraphicFramePr>
          <p:cNvPr id="1054720" name="Object 0"/>
          <p:cNvGraphicFramePr>
            <a:graphicFrameLocks noChangeAspect="1"/>
          </p:cNvGraphicFramePr>
          <p:nvPr/>
        </p:nvGraphicFramePr>
        <p:xfrm>
          <a:off x="1898650" y="3048000"/>
          <a:ext cx="5627688" cy="3124200"/>
        </p:xfrm>
        <a:graphic>
          <a:graphicData uri="http://schemas.openxmlformats.org/presentationml/2006/ole">
            <mc:AlternateContent xmlns:mc="http://schemas.openxmlformats.org/markup-compatibility/2006">
              <mc:Choice xmlns:v="urn:schemas-microsoft-com:vml" Requires="v">
                <p:oleObj spid="_x0000_s1054722" name="Bitmap Image" r:id="rId3" imgW="2762636" imgH="1971950" progId="Paint.Picture">
                  <p:embed/>
                </p:oleObj>
              </mc:Choice>
              <mc:Fallback>
                <p:oleObj name="Bitmap Image" r:id="rId3" imgW="2762636" imgH="1971950" progId="Paint.Picture">
                  <p:embed/>
                  <p:pic>
                    <p:nvPicPr>
                      <p:cNvPr id="0" name="Picture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8650" y="3048000"/>
                        <a:ext cx="5627688" cy="312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794" name="Rectangle 2"/>
          <p:cNvSpPr>
            <a:spLocks noGrp="1" noChangeArrowheads="1"/>
          </p:cNvSpPr>
          <p:nvPr>
            <p:ph type="title"/>
          </p:nvPr>
        </p:nvSpPr>
        <p:spPr>
          <a:xfrm>
            <a:off x="685800" y="381000"/>
            <a:ext cx="7772400" cy="762000"/>
          </a:xfrm>
          <a:noFill/>
          <a:ln/>
        </p:spPr>
        <p:txBody>
          <a:bodyPr lIns="90488" tIns="44450" rIns="90488" bIns="44450" anchor="ctr"/>
          <a:lstStyle/>
          <a:p>
            <a:r>
              <a:rPr lang="en-US" sz="3200" b="0">
                <a:latin typeface="Courier New" pitchFamily="49" charset="0"/>
              </a:rPr>
              <a:t>Importance Of Phase</a:t>
            </a:r>
          </a:p>
        </p:txBody>
      </p:sp>
      <p:sp>
        <p:nvSpPr>
          <p:cNvPr id="929795" name="Rectangle 3"/>
          <p:cNvSpPr>
            <a:spLocks noChangeArrowheads="1"/>
          </p:cNvSpPr>
          <p:nvPr/>
        </p:nvSpPr>
        <p:spPr bwMode="auto">
          <a:xfrm>
            <a:off x="533400" y="1447800"/>
            <a:ext cx="8229600" cy="4305300"/>
          </a:xfrm>
          <a:prstGeom prst="rect">
            <a:avLst/>
          </a:prstGeom>
          <a:noFill/>
          <a:ln w="12700">
            <a:noFill/>
            <a:miter lim="800000"/>
            <a:headEnd/>
            <a:tailEnd/>
          </a:ln>
          <a:effectLst/>
        </p:spPr>
        <p:txBody>
          <a:bodyPr wrap="none" anchor="ctr"/>
          <a:lstStyle/>
          <a:p>
            <a:endParaRPr lang="en-US"/>
          </a:p>
        </p:txBody>
      </p:sp>
      <p:sp>
        <p:nvSpPr>
          <p:cNvPr id="929796" name="Rectangle 4"/>
          <p:cNvSpPr>
            <a:spLocks noGrp="1" noChangeArrowheads="1"/>
          </p:cNvSpPr>
          <p:nvPr>
            <p:ph type="body" idx="1"/>
          </p:nvPr>
        </p:nvSpPr>
        <p:spPr>
          <a:xfrm>
            <a:off x="685800" y="1371600"/>
            <a:ext cx="7772400" cy="4648200"/>
          </a:xfrm>
          <a:noFill/>
          <a:ln/>
        </p:spPr>
        <p:txBody>
          <a:bodyPr lIns="90488" tIns="44450" rIns="90488" bIns="44450"/>
          <a:lstStyle/>
          <a:p>
            <a:pPr>
              <a:spcBef>
                <a:spcPct val="0"/>
              </a:spcBef>
            </a:pPr>
            <a:r>
              <a:rPr lang="en-US" sz="2000" b="1"/>
              <a:t>Phase is a relative measurement.</a:t>
            </a:r>
          </a:p>
          <a:p>
            <a:pPr>
              <a:spcBef>
                <a:spcPct val="0"/>
              </a:spcBef>
            </a:pPr>
            <a:r>
              <a:rPr lang="en-US" sz="2000" b="1"/>
              <a:t>Provides information how one part of a machine is vibrating compared to other.</a:t>
            </a:r>
          </a:p>
          <a:p>
            <a:pPr>
              <a:spcBef>
                <a:spcPct val="0"/>
              </a:spcBef>
            </a:pPr>
            <a:r>
              <a:rPr lang="en-US" sz="2000" b="1"/>
              <a:t>Confirmatory tool for problems like-</a:t>
            </a:r>
          </a:p>
          <a:p>
            <a:pPr>
              <a:spcBef>
                <a:spcPct val="0"/>
              </a:spcBef>
              <a:buFontTx/>
              <a:buNone/>
            </a:pPr>
            <a:r>
              <a:rPr lang="en-US" sz="2000" b="1"/>
              <a:t>     1. Unbalance </a:t>
            </a:r>
          </a:p>
          <a:p>
            <a:pPr>
              <a:spcBef>
                <a:spcPct val="0"/>
              </a:spcBef>
              <a:buFontTx/>
              <a:buNone/>
            </a:pPr>
            <a:r>
              <a:rPr lang="en-US" sz="2000" b="1"/>
              <a:t>     2. Misalignment</a:t>
            </a:r>
          </a:p>
          <a:p>
            <a:pPr>
              <a:spcBef>
                <a:spcPct val="0"/>
              </a:spcBef>
              <a:buFontTx/>
              <a:buNone/>
            </a:pPr>
            <a:r>
              <a:rPr lang="en-US" sz="2000" b="1"/>
              <a:t>     3. Eccentric Rotor,  Bent Shaft.</a:t>
            </a:r>
          </a:p>
          <a:p>
            <a:pPr>
              <a:spcBef>
                <a:spcPct val="0"/>
              </a:spcBef>
              <a:buFontTx/>
              <a:buNone/>
            </a:pPr>
            <a:r>
              <a:rPr lang="en-US" sz="2000" b="1"/>
              <a:t>     4. Mechanical Looseness, Structural Weakness, Soft Foot.</a:t>
            </a:r>
          </a:p>
          <a:p>
            <a:pPr>
              <a:spcBef>
                <a:spcPct val="0"/>
              </a:spcBef>
              <a:buFontTx/>
              <a:buNone/>
            </a:pPr>
            <a:r>
              <a:rPr lang="en-US" sz="2000" b="1"/>
              <a:t>     5. Resonance.</a:t>
            </a:r>
          </a:p>
          <a:p>
            <a:pPr>
              <a:spcBef>
                <a:spcPct val="0"/>
              </a:spcBef>
              <a:buFontTx/>
              <a:buNone/>
            </a:pPr>
            <a:r>
              <a:rPr lang="en-US" sz="2000" b="1"/>
              <a:t>     6. Cocked bearing.</a:t>
            </a:r>
          </a:p>
          <a:p>
            <a:pPr>
              <a:spcBef>
                <a:spcPct val="0"/>
              </a:spcBef>
              <a:buFontTx/>
              <a:buNone/>
            </a:pPr>
            <a:endParaRPr lang="en-US" sz="2000" b="1"/>
          </a:p>
          <a:p>
            <a:pPr>
              <a:spcBef>
                <a:spcPct val="0"/>
              </a:spcBef>
            </a:pPr>
            <a:r>
              <a:rPr lang="en-US" sz="2000" b="1"/>
              <a:t>No correlation with Bearing defects, Gear defects,</a:t>
            </a:r>
          </a:p>
          <a:p>
            <a:pPr>
              <a:spcBef>
                <a:spcPct val="0"/>
              </a:spcBef>
              <a:buFontTx/>
              <a:buNone/>
            </a:pPr>
            <a:r>
              <a:rPr lang="en-US" sz="2000" b="1"/>
              <a:t>     Electrical motor defect.</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18" name="Rectangle 2"/>
          <p:cNvSpPr>
            <a:spLocks noChangeArrowheads="1"/>
          </p:cNvSpPr>
          <p:nvPr/>
        </p:nvSpPr>
        <p:spPr bwMode="auto">
          <a:xfrm>
            <a:off x="517525" y="1785938"/>
            <a:ext cx="8159750" cy="2867025"/>
          </a:xfrm>
          <a:prstGeom prst="rect">
            <a:avLst/>
          </a:prstGeom>
          <a:noFill/>
          <a:ln w="12700">
            <a:noFill/>
            <a:miter lim="800000"/>
            <a:headEnd/>
            <a:tailEnd/>
          </a:ln>
          <a:effectLst/>
        </p:spPr>
        <p:txBody>
          <a:bodyPr wrap="none" anchor="ctr"/>
          <a:lstStyle/>
          <a:p>
            <a:endParaRPr lang="en-US"/>
          </a:p>
        </p:txBody>
      </p:sp>
      <p:sp>
        <p:nvSpPr>
          <p:cNvPr id="930819" name="Rectangle 3"/>
          <p:cNvSpPr>
            <a:spLocks noGrp="1" noChangeArrowheads="1"/>
          </p:cNvSpPr>
          <p:nvPr>
            <p:ph type="body" idx="1"/>
          </p:nvPr>
        </p:nvSpPr>
        <p:spPr>
          <a:xfrm>
            <a:off x="762000" y="1600200"/>
            <a:ext cx="7772400" cy="4419600"/>
          </a:xfrm>
          <a:noFill/>
          <a:ln/>
        </p:spPr>
        <p:txBody>
          <a:bodyPr lIns="90488" tIns="44450" rIns="90488" bIns="44450"/>
          <a:lstStyle/>
          <a:p>
            <a:pPr>
              <a:lnSpc>
                <a:spcPct val="110000"/>
              </a:lnSpc>
              <a:spcBef>
                <a:spcPct val="0"/>
              </a:spcBef>
              <a:buFontTx/>
              <a:buNone/>
            </a:pPr>
            <a:r>
              <a:rPr lang="en-US" sz="1800" b="1"/>
              <a:t>The Phase Angle is the angle (in degrees) the </a:t>
            </a:r>
          </a:p>
          <a:p>
            <a:pPr>
              <a:lnSpc>
                <a:spcPct val="110000"/>
              </a:lnSpc>
              <a:spcBef>
                <a:spcPct val="0"/>
              </a:spcBef>
              <a:buFontTx/>
              <a:buNone/>
            </a:pPr>
            <a:r>
              <a:rPr lang="en-US" sz="1800" b="1"/>
              <a:t>shaft travels from the start of data collection to </a:t>
            </a:r>
          </a:p>
          <a:p>
            <a:pPr>
              <a:lnSpc>
                <a:spcPct val="110000"/>
              </a:lnSpc>
              <a:spcBef>
                <a:spcPct val="0"/>
              </a:spcBef>
              <a:buFontTx/>
              <a:buNone/>
            </a:pPr>
            <a:r>
              <a:rPr lang="en-US" sz="1800" b="1"/>
              <a:t>when the sensor experiences maximum positive </a:t>
            </a:r>
          </a:p>
          <a:p>
            <a:pPr>
              <a:lnSpc>
                <a:spcPct val="110000"/>
              </a:lnSpc>
              <a:spcBef>
                <a:spcPct val="0"/>
              </a:spcBef>
              <a:buFontTx/>
              <a:buNone/>
            </a:pPr>
            <a:r>
              <a:rPr lang="en-US" sz="1800" b="1"/>
              <a:t>force. </a:t>
            </a:r>
          </a:p>
          <a:p>
            <a:pPr>
              <a:spcBef>
                <a:spcPct val="0"/>
              </a:spcBef>
              <a:buFontTx/>
              <a:buNone/>
            </a:pPr>
            <a:endParaRPr lang="en-US" sz="1800" b="1"/>
          </a:p>
          <a:p>
            <a:pPr>
              <a:lnSpc>
                <a:spcPct val="110000"/>
              </a:lnSpc>
              <a:spcBef>
                <a:spcPct val="0"/>
              </a:spcBef>
              <a:buFontTx/>
              <a:buNone/>
            </a:pPr>
            <a:r>
              <a:rPr lang="en-US" sz="1800" b="1"/>
              <a:t>For example, the phase angle is 90° if the sensor </a:t>
            </a:r>
          </a:p>
          <a:p>
            <a:pPr>
              <a:lnSpc>
                <a:spcPct val="110000"/>
              </a:lnSpc>
              <a:spcBef>
                <a:spcPct val="0"/>
              </a:spcBef>
              <a:buFontTx/>
              <a:buNone/>
            </a:pPr>
            <a:r>
              <a:rPr lang="en-US" sz="1800" b="1"/>
              <a:t>experiences its maximum positive force at 90° </a:t>
            </a:r>
          </a:p>
          <a:p>
            <a:pPr>
              <a:lnSpc>
                <a:spcPct val="110000"/>
              </a:lnSpc>
              <a:spcBef>
                <a:spcPct val="0"/>
              </a:spcBef>
              <a:buFontTx/>
              <a:buNone/>
            </a:pPr>
            <a:r>
              <a:rPr lang="en-US" sz="1800" b="1"/>
              <a:t>after data collection was initiated by the </a:t>
            </a:r>
          </a:p>
          <a:p>
            <a:pPr>
              <a:lnSpc>
                <a:spcPct val="110000"/>
              </a:lnSpc>
              <a:spcBef>
                <a:spcPct val="0"/>
              </a:spcBef>
              <a:buFontTx/>
              <a:buNone/>
            </a:pPr>
            <a:r>
              <a:rPr lang="en-US" sz="1800" b="1"/>
              <a:t>tachometer.</a:t>
            </a:r>
          </a:p>
        </p:txBody>
      </p:sp>
      <p:sp>
        <p:nvSpPr>
          <p:cNvPr id="930820" name="Rectangle 4"/>
          <p:cNvSpPr>
            <a:spLocks noGrp="1" noChangeArrowheads="1"/>
          </p:cNvSpPr>
          <p:nvPr>
            <p:ph type="title"/>
          </p:nvPr>
        </p:nvSpPr>
        <p:spPr>
          <a:xfrm>
            <a:off x="685800" y="381000"/>
            <a:ext cx="7772400" cy="762000"/>
          </a:xfrm>
          <a:noFill/>
          <a:ln/>
        </p:spPr>
        <p:txBody>
          <a:bodyPr lIns="90488" tIns="44450" rIns="90488" bIns="44450" anchor="ctr"/>
          <a:lstStyle/>
          <a:p>
            <a:r>
              <a:rPr lang="en-US" sz="3200" b="0"/>
              <a:t>How Phase Angle Is Measured?</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44482" name="Picture 2" descr="Image13"/>
          <p:cNvPicPr>
            <a:picLocks noChangeAspect="1" noChangeArrowheads="1"/>
          </p:cNvPicPr>
          <p:nvPr/>
        </p:nvPicPr>
        <p:blipFill>
          <a:blip r:embed="rId2" cstate="print"/>
          <a:srcRect/>
          <a:stretch>
            <a:fillRect/>
          </a:stretch>
        </p:blipFill>
        <p:spPr bwMode="auto">
          <a:xfrm>
            <a:off x="0" y="-12700"/>
            <a:ext cx="9144000" cy="6946900"/>
          </a:xfrm>
          <a:prstGeom prst="rect">
            <a:avLst/>
          </a:prstGeom>
          <a:noFill/>
        </p:spPr>
      </p:pic>
      <p:sp>
        <p:nvSpPr>
          <p:cNvPr id="1044483" name="WordArt 3"/>
          <p:cNvSpPr>
            <a:spLocks noChangeArrowheads="1" noChangeShapeType="1" noTextEdit="1"/>
          </p:cNvSpPr>
          <p:nvPr/>
        </p:nvSpPr>
        <p:spPr bwMode="auto">
          <a:xfrm>
            <a:off x="990600" y="5410200"/>
            <a:ext cx="7696200" cy="533400"/>
          </a:xfrm>
          <a:prstGeom prst="rect">
            <a:avLst/>
          </a:prstGeom>
        </p:spPr>
        <p:txBody>
          <a:bodyPr wrap="none" fromWordArt="1">
            <a:prstTxWarp prst="textPlain">
              <a:avLst>
                <a:gd name="adj" fmla="val 50000"/>
              </a:avLst>
            </a:prstTxWarp>
          </a:bodyPr>
          <a:lstStyle/>
          <a:p>
            <a:pPr algn="ctr"/>
            <a:r>
              <a:rPr lang="en-US" sz="3600" kern="10">
                <a:ln w="9525">
                  <a:noFill/>
                  <a:round/>
                  <a:headEnd/>
                  <a:tailEnd/>
                </a:ln>
                <a:gradFill rotWithShape="0">
                  <a:gsLst>
                    <a:gs pos="0">
                      <a:srgbClr val="FFFF00"/>
                    </a:gs>
                    <a:gs pos="100000">
                      <a:srgbClr val="E82C00"/>
                    </a:gs>
                  </a:gsLst>
                  <a:lin ang="5400000" scaled="1"/>
                </a:gradFill>
                <a:latin typeface="Arial Black"/>
              </a:rPr>
              <a:t>We are Machine Doctors</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42" name="Text Box 2"/>
          <p:cNvSpPr txBox="1">
            <a:spLocks noChangeArrowheads="1"/>
          </p:cNvSpPr>
          <p:nvPr/>
        </p:nvSpPr>
        <p:spPr bwMode="auto">
          <a:xfrm>
            <a:off x="722313" y="1824038"/>
            <a:ext cx="8112125" cy="3157537"/>
          </a:xfrm>
          <a:prstGeom prst="rect">
            <a:avLst/>
          </a:prstGeom>
          <a:noFill/>
          <a:ln w="9525">
            <a:noFill/>
            <a:miter lim="800000"/>
            <a:headEnd/>
            <a:tailEnd/>
          </a:ln>
          <a:effectLst/>
        </p:spPr>
        <p:txBody>
          <a:bodyPr lIns="0" tIns="0" rIns="0" bIns="0"/>
          <a:lstStyle/>
          <a:p>
            <a:pPr marL="187325" indent="-187325" defTabSz="409575">
              <a:buClr>
                <a:srgbClr val="C0C0C0"/>
              </a:buClr>
              <a:buSzPct val="46000"/>
              <a:buFont typeface="Monotype Sorts" pitchFamily="2" charset="2"/>
              <a:buChar char="n"/>
            </a:pPr>
            <a:endParaRPr lang="en-US" sz="2200"/>
          </a:p>
        </p:txBody>
      </p:sp>
      <p:sp>
        <p:nvSpPr>
          <p:cNvPr id="931843" name="Rectangle 3"/>
          <p:cNvSpPr>
            <a:spLocks noGrp="1" noChangeArrowheads="1"/>
          </p:cNvSpPr>
          <p:nvPr>
            <p:ph type="title"/>
          </p:nvPr>
        </p:nvSpPr>
        <p:spPr/>
        <p:txBody>
          <a:bodyPr/>
          <a:lstStyle/>
          <a:p>
            <a:r>
              <a:rPr lang="en-US"/>
              <a:t>Diagnosing Machine Faults</a:t>
            </a:r>
          </a:p>
        </p:txBody>
      </p:sp>
      <p:sp>
        <p:nvSpPr>
          <p:cNvPr id="931844" name="Rectangle 4"/>
          <p:cNvSpPr>
            <a:spLocks noGrp="1" noChangeArrowheads="1"/>
          </p:cNvSpPr>
          <p:nvPr>
            <p:ph type="body" idx="1"/>
          </p:nvPr>
        </p:nvSpPr>
        <p:spPr/>
        <p:txBody>
          <a:bodyPr/>
          <a:lstStyle/>
          <a:p>
            <a:r>
              <a:rPr lang="en-US" sz="2400"/>
              <a:t>Unbalance</a:t>
            </a:r>
          </a:p>
          <a:p>
            <a:r>
              <a:rPr lang="en-US" sz="2400"/>
              <a:t>Misalignment</a:t>
            </a:r>
          </a:p>
          <a:p>
            <a:r>
              <a:rPr lang="en-US" sz="2400"/>
              <a:t>General looseness or wear</a:t>
            </a:r>
          </a:p>
          <a:p>
            <a:r>
              <a:rPr lang="en-US" sz="2400"/>
              <a:t>Bearing defects</a:t>
            </a:r>
          </a:p>
          <a:p>
            <a:r>
              <a:rPr lang="en-US" sz="2400"/>
              <a:t>Gear defects</a:t>
            </a:r>
          </a:p>
          <a:p>
            <a:r>
              <a:rPr lang="en-US" sz="2400"/>
              <a:t>Belt defects</a:t>
            </a:r>
          </a:p>
          <a:p>
            <a:r>
              <a:rPr lang="en-US" sz="2400"/>
              <a:t>Electrical Faults</a:t>
            </a:r>
          </a:p>
          <a:p>
            <a:r>
              <a:rPr lang="en-US" sz="2400"/>
              <a:t>Journal Bearing Faults</a:t>
            </a:r>
          </a:p>
          <a:p>
            <a:r>
              <a:rPr lang="en-US" sz="2400"/>
              <a:t>Resonance</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866" name="Rectangle 2"/>
          <p:cNvSpPr>
            <a:spLocks noGrp="1" noChangeArrowheads="1"/>
          </p:cNvSpPr>
          <p:nvPr>
            <p:ph type="title" idx="4294967295"/>
          </p:nvPr>
        </p:nvSpPr>
        <p:spPr>
          <a:xfrm>
            <a:off x="685800" y="2743200"/>
            <a:ext cx="7772400" cy="1143000"/>
          </a:xfrm>
          <a:noFill/>
          <a:ln/>
        </p:spPr>
        <p:txBody>
          <a:bodyPr lIns="90488" tIns="44450" rIns="90488" bIns="44450" anchor="ctr"/>
          <a:lstStyle/>
          <a:p>
            <a:r>
              <a:rPr lang="en-US" sz="8000"/>
              <a:t>Unbalance</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3890" name="Group 2"/>
          <p:cNvGrpSpPr>
            <a:grpSpLocks/>
          </p:cNvGrpSpPr>
          <p:nvPr/>
        </p:nvGrpSpPr>
        <p:grpSpPr bwMode="auto">
          <a:xfrm>
            <a:off x="1752600" y="3048000"/>
            <a:ext cx="7124700" cy="2994025"/>
            <a:chOff x="1104" y="1920"/>
            <a:chExt cx="4488" cy="1886"/>
          </a:xfrm>
        </p:grpSpPr>
        <p:sp>
          <p:nvSpPr>
            <p:cNvPr id="933891" name="Oval 3"/>
            <p:cNvSpPr>
              <a:spLocks noChangeArrowheads="1"/>
            </p:cNvSpPr>
            <p:nvPr/>
          </p:nvSpPr>
          <p:spPr bwMode="auto">
            <a:xfrm>
              <a:off x="2798" y="2341"/>
              <a:ext cx="1098" cy="1032"/>
            </a:xfrm>
            <a:prstGeom prst="ellipse">
              <a:avLst/>
            </a:prstGeom>
            <a:solidFill>
              <a:srgbClr val="006699"/>
            </a:solidFill>
            <a:ln w="25400">
              <a:solidFill>
                <a:srgbClr val="FFFFFF"/>
              </a:solidFill>
              <a:round/>
              <a:headEnd/>
              <a:tailEnd/>
            </a:ln>
            <a:effectLst/>
          </p:spPr>
          <p:txBody>
            <a:bodyPr lIns="0" tIns="0" rIns="0" bIns="0"/>
            <a:lstStyle/>
            <a:p>
              <a:endParaRPr lang="en-US"/>
            </a:p>
          </p:txBody>
        </p:sp>
        <p:sp>
          <p:nvSpPr>
            <p:cNvPr id="933892" name="Freeform 4"/>
            <p:cNvSpPr>
              <a:spLocks/>
            </p:cNvSpPr>
            <p:nvPr/>
          </p:nvSpPr>
          <p:spPr bwMode="auto">
            <a:xfrm>
              <a:off x="2778" y="3289"/>
              <a:ext cx="1032" cy="269"/>
            </a:xfrm>
            <a:custGeom>
              <a:avLst/>
              <a:gdLst/>
              <a:ahLst/>
              <a:cxnLst>
                <a:cxn ang="0">
                  <a:pos x="0" y="0"/>
                </a:cxn>
                <a:cxn ang="0">
                  <a:pos x="53" y="66"/>
                </a:cxn>
                <a:cxn ang="0">
                  <a:pos x="113" y="124"/>
                </a:cxn>
                <a:cxn ang="0">
                  <a:pos x="177" y="174"/>
                </a:cxn>
                <a:cxn ang="0">
                  <a:pos x="247" y="216"/>
                </a:cxn>
                <a:cxn ang="0">
                  <a:pos x="318" y="250"/>
                </a:cxn>
                <a:cxn ang="0">
                  <a:pos x="393" y="276"/>
                </a:cxn>
                <a:cxn ang="0">
                  <a:pos x="470" y="293"/>
                </a:cxn>
                <a:cxn ang="0">
                  <a:pos x="549" y="302"/>
                </a:cxn>
                <a:cxn ang="0">
                  <a:pos x="627" y="304"/>
                </a:cxn>
                <a:cxn ang="0">
                  <a:pos x="705" y="297"/>
                </a:cxn>
                <a:cxn ang="0">
                  <a:pos x="783" y="282"/>
                </a:cxn>
                <a:cxn ang="0">
                  <a:pos x="859" y="257"/>
                </a:cxn>
                <a:cxn ang="0">
                  <a:pos x="933" y="226"/>
                </a:cxn>
                <a:cxn ang="0">
                  <a:pos x="1004" y="184"/>
                </a:cxn>
                <a:cxn ang="0">
                  <a:pos x="1071" y="136"/>
                </a:cxn>
                <a:cxn ang="0">
                  <a:pos x="1134" y="78"/>
                </a:cxn>
              </a:cxnLst>
              <a:rect l="0" t="0" r="r" b="b"/>
              <a:pathLst>
                <a:path w="1135" h="305">
                  <a:moveTo>
                    <a:pt x="0" y="0"/>
                  </a:moveTo>
                  <a:lnTo>
                    <a:pt x="53" y="66"/>
                  </a:lnTo>
                  <a:lnTo>
                    <a:pt x="113" y="124"/>
                  </a:lnTo>
                  <a:lnTo>
                    <a:pt x="177" y="174"/>
                  </a:lnTo>
                  <a:lnTo>
                    <a:pt x="247" y="216"/>
                  </a:lnTo>
                  <a:lnTo>
                    <a:pt x="318" y="250"/>
                  </a:lnTo>
                  <a:lnTo>
                    <a:pt x="393" y="276"/>
                  </a:lnTo>
                  <a:lnTo>
                    <a:pt x="470" y="293"/>
                  </a:lnTo>
                  <a:lnTo>
                    <a:pt x="549" y="302"/>
                  </a:lnTo>
                  <a:lnTo>
                    <a:pt x="627" y="304"/>
                  </a:lnTo>
                  <a:lnTo>
                    <a:pt x="705" y="297"/>
                  </a:lnTo>
                  <a:lnTo>
                    <a:pt x="783" y="282"/>
                  </a:lnTo>
                  <a:lnTo>
                    <a:pt x="859" y="257"/>
                  </a:lnTo>
                  <a:lnTo>
                    <a:pt x="933" y="226"/>
                  </a:lnTo>
                  <a:lnTo>
                    <a:pt x="1004" y="184"/>
                  </a:lnTo>
                  <a:lnTo>
                    <a:pt x="1071" y="136"/>
                  </a:lnTo>
                  <a:lnTo>
                    <a:pt x="1134" y="78"/>
                  </a:lnTo>
                </a:path>
              </a:pathLst>
            </a:custGeom>
            <a:noFill/>
            <a:ln w="25400" cap="rnd" cmpd="sng">
              <a:solidFill>
                <a:schemeClr val="tx2"/>
              </a:solidFill>
              <a:prstDash val="solid"/>
              <a:round/>
              <a:headEnd type="none" w="sm" len="sm"/>
              <a:tailEnd type="stealth" w="med" len="lg"/>
            </a:ln>
            <a:effectLst/>
          </p:spPr>
          <p:txBody>
            <a:bodyPr lIns="0" tIns="0" rIns="0" bIns="0"/>
            <a:lstStyle/>
            <a:p>
              <a:endParaRPr lang="en-US"/>
            </a:p>
          </p:txBody>
        </p:sp>
        <p:sp>
          <p:nvSpPr>
            <p:cNvPr id="933893" name="Rectangle 5"/>
            <p:cNvSpPr>
              <a:spLocks noChangeArrowheads="1"/>
            </p:cNvSpPr>
            <p:nvPr/>
          </p:nvSpPr>
          <p:spPr bwMode="auto">
            <a:xfrm>
              <a:off x="2981" y="3554"/>
              <a:ext cx="859" cy="252"/>
            </a:xfrm>
            <a:prstGeom prst="rect">
              <a:avLst/>
            </a:prstGeom>
            <a:noFill/>
            <a:ln w="9525">
              <a:noFill/>
              <a:miter lim="800000"/>
              <a:headEnd/>
              <a:tailEnd/>
            </a:ln>
            <a:effectLst/>
          </p:spPr>
          <p:txBody>
            <a:bodyPr lIns="0" tIns="0" rIns="0" bIns="0"/>
            <a:lstStyle/>
            <a:p>
              <a:pPr defTabSz="409575"/>
              <a:r>
                <a:rPr lang="en-US" sz="2000">
                  <a:latin typeface="Arial" pitchFamily="34" charset="0"/>
                </a:rPr>
                <a:t>Rotation</a:t>
              </a:r>
            </a:p>
          </p:txBody>
        </p:sp>
        <p:grpSp>
          <p:nvGrpSpPr>
            <p:cNvPr id="933894" name="Group 6"/>
            <p:cNvGrpSpPr>
              <a:grpSpLocks/>
            </p:cNvGrpSpPr>
            <p:nvPr/>
          </p:nvGrpSpPr>
          <p:grpSpPr bwMode="auto">
            <a:xfrm>
              <a:off x="1338" y="2397"/>
              <a:ext cx="1614" cy="274"/>
              <a:chOff x="1338" y="2397"/>
              <a:chExt cx="1614" cy="274"/>
            </a:xfrm>
          </p:grpSpPr>
          <p:sp>
            <p:nvSpPr>
              <p:cNvPr id="933895" name="Line 7"/>
              <p:cNvSpPr>
                <a:spLocks noChangeShapeType="1"/>
              </p:cNvSpPr>
              <p:nvPr/>
            </p:nvSpPr>
            <p:spPr bwMode="auto">
              <a:xfrm>
                <a:off x="2858" y="2543"/>
                <a:ext cx="0" cy="128"/>
              </a:xfrm>
              <a:prstGeom prst="line">
                <a:avLst/>
              </a:prstGeom>
              <a:noFill/>
              <a:ln w="25400">
                <a:solidFill>
                  <a:srgbClr val="FF0000"/>
                </a:solidFill>
                <a:round/>
                <a:headEnd type="none" w="sm" len="sm"/>
                <a:tailEnd type="none" w="sm" len="sm"/>
              </a:ln>
              <a:effectLst/>
            </p:spPr>
            <p:txBody>
              <a:bodyPr lIns="0" tIns="0" rIns="0" bIns="0"/>
              <a:lstStyle/>
              <a:p>
                <a:endParaRPr lang="en-US"/>
              </a:p>
            </p:txBody>
          </p:sp>
          <p:sp>
            <p:nvSpPr>
              <p:cNvPr id="933896" name="Line 8"/>
              <p:cNvSpPr>
                <a:spLocks noChangeShapeType="1"/>
              </p:cNvSpPr>
              <p:nvPr/>
            </p:nvSpPr>
            <p:spPr bwMode="auto">
              <a:xfrm>
                <a:off x="2765" y="2596"/>
                <a:ext cx="187" cy="0"/>
              </a:xfrm>
              <a:prstGeom prst="line">
                <a:avLst/>
              </a:prstGeom>
              <a:noFill/>
              <a:ln w="25400">
                <a:solidFill>
                  <a:srgbClr val="FF0000"/>
                </a:solidFill>
                <a:round/>
                <a:headEnd type="none" w="sm" len="sm"/>
                <a:tailEnd type="none" w="sm" len="sm"/>
              </a:ln>
              <a:effectLst/>
            </p:spPr>
            <p:txBody>
              <a:bodyPr lIns="0" tIns="0" rIns="0" bIns="0"/>
              <a:lstStyle/>
              <a:p>
                <a:endParaRPr lang="en-US"/>
              </a:p>
            </p:txBody>
          </p:sp>
          <p:sp>
            <p:nvSpPr>
              <p:cNvPr id="933897" name="Rectangle 9"/>
              <p:cNvSpPr>
                <a:spLocks noChangeArrowheads="1"/>
              </p:cNvSpPr>
              <p:nvPr/>
            </p:nvSpPr>
            <p:spPr bwMode="auto">
              <a:xfrm>
                <a:off x="1338" y="2397"/>
                <a:ext cx="1198" cy="241"/>
              </a:xfrm>
              <a:prstGeom prst="rect">
                <a:avLst/>
              </a:prstGeom>
              <a:noFill/>
              <a:ln w="9525">
                <a:noFill/>
                <a:miter lim="800000"/>
                <a:headEnd/>
                <a:tailEnd/>
              </a:ln>
              <a:effectLst/>
            </p:spPr>
            <p:txBody>
              <a:bodyPr lIns="0" tIns="0" rIns="0" bIns="0"/>
              <a:lstStyle/>
              <a:p>
                <a:pPr defTabSz="409575"/>
                <a:r>
                  <a:rPr lang="en-US" sz="2000">
                    <a:latin typeface="Arial" pitchFamily="34" charset="0"/>
                  </a:rPr>
                  <a:t>Heavy Spot</a:t>
                </a:r>
              </a:p>
            </p:txBody>
          </p:sp>
          <p:sp>
            <p:nvSpPr>
              <p:cNvPr id="933898" name="Line 10"/>
              <p:cNvSpPr>
                <a:spLocks noChangeShapeType="1"/>
              </p:cNvSpPr>
              <p:nvPr/>
            </p:nvSpPr>
            <p:spPr bwMode="auto">
              <a:xfrm>
                <a:off x="2496" y="2482"/>
                <a:ext cx="340" cy="106"/>
              </a:xfrm>
              <a:prstGeom prst="line">
                <a:avLst/>
              </a:prstGeom>
              <a:noFill/>
              <a:ln w="38100">
                <a:solidFill>
                  <a:srgbClr val="FFFFFF"/>
                </a:solidFill>
                <a:round/>
                <a:headEnd type="none" w="sm" len="sm"/>
                <a:tailEnd type="stealth" w="med" len="lg"/>
              </a:ln>
              <a:effectLst/>
            </p:spPr>
            <p:txBody>
              <a:bodyPr lIns="0" tIns="0" rIns="0" bIns="0"/>
              <a:lstStyle/>
              <a:p>
                <a:endParaRPr lang="en-US"/>
              </a:p>
            </p:txBody>
          </p:sp>
        </p:grpSp>
        <p:grpSp>
          <p:nvGrpSpPr>
            <p:cNvPr id="933899" name="Group 11"/>
            <p:cNvGrpSpPr>
              <a:grpSpLocks/>
            </p:cNvGrpSpPr>
            <p:nvPr/>
          </p:nvGrpSpPr>
          <p:grpSpPr bwMode="auto">
            <a:xfrm>
              <a:off x="2137" y="1920"/>
              <a:ext cx="2617" cy="198"/>
              <a:chOff x="1536" y="1998"/>
              <a:chExt cx="2617" cy="198"/>
            </a:xfrm>
          </p:grpSpPr>
          <p:sp>
            <p:nvSpPr>
              <p:cNvPr id="933900" name="Line 12"/>
              <p:cNvSpPr>
                <a:spLocks noChangeShapeType="1"/>
              </p:cNvSpPr>
              <p:nvPr/>
            </p:nvSpPr>
            <p:spPr bwMode="auto">
              <a:xfrm flipH="1">
                <a:off x="2691" y="2030"/>
                <a:ext cx="35" cy="146"/>
              </a:xfrm>
              <a:prstGeom prst="line">
                <a:avLst/>
              </a:prstGeom>
              <a:noFill/>
              <a:ln w="25400">
                <a:solidFill>
                  <a:schemeClr val="tx1"/>
                </a:solidFill>
                <a:round/>
                <a:headEnd type="none" w="sm" len="sm"/>
                <a:tailEnd type="none" w="sm" len="sm"/>
              </a:ln>
              <a:effectLst/>
            </p:spPr>
            <p:txBody>
              <a:bodyPr lIns="0" tIns="0" rIns="0" bIns="0"/>
              <a:lstStyle/>
              <a:p>
                <a:endParaRPr lang="en-US"/>
              </a:p>
            </p:txBody>
          </p:sp>
          <p:sp>
            <p:nvSpPr>
              <p:cNvPr id="933901" name="Rectangle 13"/>
              <p:cNvSpPr>
                <a:spLocks noChangeArrowheads="1"/>
              </p:cNvSpPr>
              <p:nvPr/>
            </p:nvSpPr>
            <p:spPr bwMode="auto">
              <a:xfrm>
                <a:off x="1536" y="1998"/>
                <a:ext cx="2617" cy="198"/>
              </a:xfrm>
              <a:prstGeom prst="rect">
                <a:avLst/>
              </a:prstGeom>
              <a:noFill/>
              <a:ln w="9525">
                <a:noFill/>
                <a:miter lim="800000"/>
                <a:headEnd/>
                <a:tailEnd/>
              </a:ln>
              <a:effectLst/>
            </p:spPr>
            <p:txBody>
              <a:bodyPr lIns="0" tIns="0" rIns="0" bIns="0"/>
              <a:lstStyle/>
              <a:p>
                <a:pPr defTabSz="409575"/>
                <a:r>
                  <a:rPr lang="en-US" sz="2000">
                    <a:latin typeface="Arial" pitchFamily="34" charset="0"/>
                  </a:rPr>
                  <a:t>Center of Mass = Center of Rotation</a:t>
                </a:r>
              </a:p>
            </p:txBody>
          </p:sp>
        </p:grpSp>
        <p:sp>
          <p:nvSpPr>
            <p:cNvPr id="933902" name="Oval 14"/>
            <p:cNvSpPr>
              <a:spLocks noChangeArrowheads="1"/>
            </p:cNvSpPr>
            <p:nvPr/>
          </p:nvSpPr>
          <p:spPr bwMode="auto">
            <a:xfrm>
              <a:off x="3323" y="2846"/>
              <a:ext cx="25" cy="25"/>
            </a:xfrm>
            <a:prstGeom prst="ellipse">
              <a:avLst/>
            </a:prstGeom>
            <a:solidFill>
              <a:srgbClr val="FF0000"/>
            </a:solidFill>
            <a:ln w="25400">
              <a:solidFill>
                <a:srgbClr val="FF0000"/>
              </a:solidFill>
              <a:round/>
              <a:headEnd/>
              <a:tailEnd/>
            </a:ln>
            <a:effectLst/>
          </p:spPr>
          <p:txBody>
            <a:bodyPr lIns="0" tIns="0" rIns="0" bIns="0"/>
            <a:lstStyle/>
            <a:p>
              <a:endParaRPr lang="en-US"/>
            </a:p>
          </p:txBody>
        </p:sp>
        <p:sp>
          <p:nvSpPr>
            <p:cNvPr id="933903" name="Oval 15"/>
            <p:cNvSpPr>
              <a:spLocks noChangeArrowheads="1"/>
            </p:cNvSpPr>
            <p:nvPr/>
          </p:nvSpPr>
          <p:spPr bwMode="auto">
            <a:xfrm>
              <a:off x="3258" y="2806"/>
              <a:ext cx="25" cy="25"/>
            </a:xfrm>
            <a:prstGeom prst="ellipse">
              <a:avLst/>
            </a:prstGeom>
            <a:solidFill>
              <a:srgbClr val="FF0000"/>
            </a:solidFill>
            <a:ln w="25400">
              <a:solidFill>
                <a:srgbClr val="FF0000"/>
              </a:solidFill>
              <a:round/>
              <a:headEnd/>
              <a:tailEnd/>
            </a:ln>
            <a:effectLst/>
          </p:spPr>
          <p:txBody>
            <a:bodyPr lIns="0" tIns="0" rIns="0" bIns="0"/>
            <a:lstStyle/>
            <a:p>
              <a:endParaRPr lang="en-US"/>
            </a:p>
          </p:txBody>
        </p:sp>
        <p:sp>
          <p:nvSpPr>
            <p:cNvPr id="933904" name="Line 16"/>
            <p:cNvSpPr>
              <a:spLocks noChangeShapeType="1"/>
            </p:cNvSpPr>
            <p:nvPr/>
          </p:nvSpPr>
          <p:spPr bwMode="auto">
            <a:xfrm flipH="1" flipV="1">
              <a:off x="3404" y="2890"/>
              <a:ext cx="686" cy="231"/>
            </a:xfrm>
            <a:prstGeom prst="line">
              <a:avLst/>
            </a:prstGeom>
            <a:noFill/>
            <a:ln w="50800">
              <a:solidFill>
                <a:srgbClr val="FFFFFF"/>
              </a:solidFill>
              <a:round/>
              <a:headEnd type="none" w="sm" len="sm"/>
              <a:tailEnd type="stealth" w="med" len="lg"/>
            </a:ln>
            <a:effectLst/>
          </p:spPr>
          <p:txBody>
            <a:bodyPr lIns="0" tIns="0" rIns="0" bIns="0"/>
            <a:lstStyle/>
            <a:p>
              <a:endParaRPr lang="en-US"/>
            </a:p>
          </p:txBody>
        </p:sp>
        <p:sp>
          <p:nvSpPr>
            <p:cNvPr id="933905" name="Line 17"/>
            <p:cNvSpPr>
              <a:spLocks noChangeShapeType="1"/>
            </p:cNvSpPr>
            <p:nvPr/>
          </p:nvSpPr>
          <p:spPr bwMode="auto">
            <a:xfrm flipV="1">
              <a:off x="2514" y="2856"/>
              <a:ext cx="674" cy="264"/>
            </a:xfrm>
            <a:prstGeom prst="line">
              <a:avLst/>
            </a:prstGeom>
            <a:noFill/>
            <a:ln w="50800">
              <a:solidFill>
                <a:srgbClr val="FFFFFF"/>
              </a:solidFill>
              <a:round/>
              <a:headEnd type="none" w="sm" len="sm"/>
              <a:tailEnd type="stealth" w="med" len="lg"/>
            </a:ln>
            <a:effectLst/>
          </p:spPr>
          <p:txBody>
            <a:bodyPr lIns="0" tIns="0" rIns="0" bIns="0"/>
            <a:lstStyle/>
            <a:p>
              <a:endParaRPr lang="en-US"/>
            </a:p>
          </p:txBody>
        </p:sp>
        <p:sp>
          <p:nvSpPr>
            <p:cNvPr id="933906" name="Rectangle 18"/>
            <p:cNvSpPr>
              <a:spLocks noChangeArrowheads="1"/>
            </p:cNvSpPr>
            <p:nvPr/>
          </p:nvSpPr>
          <p:spPr bwMode="auto">
            <a:xfrm>
              <a:off x="1104" y="3036"/>
              <a:ext cx="1454" cy="446"/>
            </a:xfrm>
            <a:prstGeom prst="rect">
              <a:avLst/>
            </a:prstGeom>
            <a:noFill/>
            <a:ln w="9525">
              <a:noFill/>
              <a:miter lim="800000"/>
              <a:headEnd/>
              <a:tailEnd/>
            </a:ln>
            <a:effectLst/>
          </p:spPr>
          <p:txBody>
            <a:bodyPr lIns="0" tIns="0" rIns="0" bIns="0"/>
            <a:lstStyle/>
            <a:p>
              <a:pPr defTabSz="409575"/>
              <a:r>
                <a:rPr lang="en-US" sz="2000">
                  <a:latin typeface="Arial" pitchFamily="34" charset="0"/>
                </a:rPr>
                <a:t>Center of Mass</a:t>
              </a:r>
            </a:p>
          </p:txBody>
        </p:sp>
        <p:sp>
          <p:nvSpPr>
            <p:cNvPr id="933907" name="Rectangle 19"/>
            <p:cNvSpPr>
              <a:spLocks noChangeArrowheads="1"/>
            </p:cNvSpPr>
            <p:nvPr/>
          </p:nvSpPr>
          <p:spPr bwMode="auto">
            <a:xfrm>
              <a:off x="4147" y="3036"/>
              <a:ext cx="1445" cy="446"/>
            </a:xfrm>
            <a:prstGeom prst="rect">
              <a:avLst/>
            </a:prstGeom>
            <a:noFill/>
            <a:ln w="9525">
              <a:noFill/>
              <a:miter lim="800000"/>
              <a:headEnd/>
              <a:tailEnd/>
            </a:ln>
            <a:effectLst/>
          </p:spPr>
          <p:txBody>
            <a:bodyPr lIns="0" tIns="0" rIns="0" bIns="0"/>
            <a:lstStyle/>
            <a:p>
              <a:pPr defTabSz="409575"/>
              <a:r>
                <a:rPr lang="en-US" sz="2000">
                  <a:latin typeface="Arial" pitchFamily="34" charset="0"/>
                </a:rPr>
                <a:t>Center of Shaft</a:t>
              </a:r>
            </a:p>
          </p:txBody>
        </p:sp>
      </p:grpSp>
      <p:sp>
        <p:nvSpPr>
          <p:cNvPr id="933908" name="Rectangle 20"/>
          <p:cNvSpPr>
            <a:spLocks noGrp="1" noChangeArrowheads="1"/>
          </p:cNvSpPr>
          <p:nvPr>
            <p:ph type="title"/>
          </p:nvPr>
        </p:nvSpPr>
        <p:spPr/>
        <p:txBody>
          <a:bodyPr/>
          <a:lstStyle/>
          <a:p>
            <a:r>
              <a:rPr lang="en-US"/>
              <a:t>What is unbalance?</a:t>
            </a:r>
          </a:p>
        </p:txBody>
      </p:sp>
      <p:sp>
        <p:nvSpPr>
          <p:cNvPr id="933909" name="Rectangle 21"/>
          <p:cNvSpPr>
            <a:spLocks noGrp="1" noChangeArrowheads="1"/>
          </p:cNvSpPr>
          <p:nvPr>
            <p:ph type="body" idx="1"/>
          </p:nvPr>
        </p:nvSpPr>
        <p:spPr/>
        <p:txBody>
          <a:bodyPr/>
          <a:lstStyle/>
          <a:p>
            <a:r>
              <a:rPr lang="en-US"/>
              <a:t>The force created by a rotating body when its center of mass is offset from its center of rotation</a:t>
            </a: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38" name="Rectangle 2"/>
          <p:cNvSpPr>
            <a:spLocks noGrp="1" noChangeArrowheads="1"/>
          </p:cNvSpPr>
          <p:nvPr>
            <p:ph type="title"/>
          </p:nvPr>
        </p:nvSpPr>
        <p:spPr/>
        <p:txBody>
          <a:bodyPr/>
          <a:lstStyle/>
          <a:p>
            <a:r>
              <a:rPr lang="en-US" sz="2800"/>
              <a:t>Causes of unbalance</a:t>
            </a:r>
          </a:p>
        </p:txBody>
      </p:sp>
      <p:sp>
        <p:nvSpPr>
          <p:cNvPr id="935939" name="Rectangle 3"/>
          <p:cNvSpPr>
            <a:spLocks noGrp="1" noChangeArrowheads="1"/>
          </p:cNvSpPr>
          <p:nvPr>
            <p:ph type="body" idx="1"/>
          </p:nvPr>
        </p:nvSpPr>
        <p:spPr/>
        <p:txBody>
          <a:bodyPr/>
          <a:lstStyle/>
          <a:p>
            <a:r>
              <a:rPr lang="en-US"/>
              <a:t>Improper assembly</a:t>
            </a:r>
          </a:p>
          <a:p>
            <a:r>
              <a:rPr lang="en-US"/>
              <a:t>Material Buildup</a:t>
            </a:r>
          </a:p>
          <a:p>
            <a:r>
              <a:rPr lang="en-US"/>
              <a:t>Wear</a:t>
            </a:r>
          </a:p>
          <a:p>
            <a:r>
              <a:rPr lang="en-US"/>
              <a:t>Broken or missing parts</a:t>
            </a:r>
          </a:p>
          <a:p>
            <a:pPr>
              <a:buFontTx/>
              <a:buNone/>
            </a:pPr>
            <a:endParaRPr lang="en-US"/>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6962" name="Text Box 2"/>
          <p:cNvSpPr txBox="1">
            <a:spLocks noChangeArrowheads="1"/>
          </p:cNvSpPr>
          <p:nvPr/>
        </p:nvSpPr>
        <p:spPr bwMode="auto">
          <a:xfrm>
            <a:off x="722313" y="1824038"/>
            <a:ext cx="8112125" cy="2884487"/>
          </a:xfrm>
          <a:prstGeom prst="rect">
            <a:avLst/>
          </a:prstGeom>
          <a:noFill/>
          <a:ln w="9525">
            <a:noFill/>
            <a:miter lim="800000"/>
            <a:headEnd/>
            <a:tailEnd/>
          </a:ln>
          <a:effectLst/>
        </p:spPr>
        <p:txBody>
          <a:bodyPr lIns="0" tIns="0" rIns="0" bIns="0"/>
          <a:lstStyle/>
          <a:p>
            <a:pPr marL="187325" indent="-187325" defTabSz="409575">
              <a:buClr>
                <a:srgbClr val="C0C0C0"/>
              </a:buClr>
              <a:buSzPct val="46000"/>
              <a:buFont typeface="Monotype Sorts" pitchFamily="2" charset="2"/>
              <a:buChar char="n"/>
            </a:pPr>
            <a:endParaRPr lang="en-US" sz="2200"/>
          </a:p>
        </p:txBody>
      </p:sp>
      <p:sp>
        <p:nvSpPr>
          <p:cNvPr id="936963" name="Rectangle 3"/>
          <p:cNvSpPr>
            <a:spLocks noGrp="1" noChangeArrowheads="1"/>
          </p:cNvSpPr>
          <p:nvPr>
            <p:ph type="title"/>
          </p:nvPr>
        </p:nvSpPr>
        <p:spPr/>
        <p:txBody>
          <a:bodyPr/>
          <a:lstStyle/>
          <a:p>
            <a:r>
              <a:rPr lang="en-US"/>
              <a:t>Characteristics of unbalance</a:t>
            </a:r>
          </a:p>
        </p:txBody>
      </p:sp>
      <p:sp>
        <p:nvSpPr>
          <p:cNvPr id="936964" name="Rectangle 4"/>
          <p:cNvSpPr>
            <a:spLocks noGrp="1" noChangeArrowheads="1"/>
          </p:cNvSpPr>
          <p:nvPr>
            <p:ph type="body" idx="1"/>
          </p:nvPr>
        </p:nvSpPr>
        <p:spPr/>
        <p:txBody>
          <a:bodyPr/>
          <a:lstStyle/>
          <a:p>
            <a:pPr>
              <a:buFontTx/>
              <a:buNone/>
            </a:pPr>
            <a:endParaRPr lang="en-US"/>
          </a:p>
          <a:p>
            <a:pPr lvl="1"/>
            <a:r>
              <a:rPr lang="en-US"/>
              <a:t>High radial peaks at 1X shaft RPM</a:t>
            </a:r>
          </a:p>
          <a:p>
            <a:pPr lvl="1"/>
            <a:r>
              <a:rPr lang="en-US"/>
              <a:t>Low  axial vibration at 1X shaft RPM</a:t>
            </a:r>
          </a:p>
          <a:p>
            <a:pPr lvl="1"/>
            <a:r>
              <a:rPr lang="en-US"/>
              <a:t>Low  harmonics of shaft RPM</a:t>
            </a:r>
          </a:p>
          <a:p>
            <a:pPr lvl="1"/>
            <a:r>
              <a:rPr lang="en-US"/>
              <a:t>1X RPM sinusoidal pattern in the time waveform</a:t>
            </a:r>
          </a:p>
          <a:p>
            <a:pPr lvl="1"/>
            <a:r>
              <a:rPr lang="en-US"/>
              <a:t>Can cause other faults to appear, especially looseness</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7986" name="Rectangle 2"/>
          <p:cNvSpPr>
            <a:spLocks noGrp="1" noChangeArrowheads="1"/>
          </p:cNvSpPr>
          <p:nvPr>
            <p:ph type="title" idx="4294967295"/>
          </p:nvPr>
        </p:nvSpPr>
        <p:spPr>
          <a:xfrm>
            <a:off x="685800" y="390525"/>
            <a:ext cx="7772400" cy="828675"/>
          </a:xfrm>
        </p:spPr>
        <p:txBody>
          <a:bodyPr/>
          <a:lstStyle/>
          <a:p>
            <a:r>
              <a:rPr lang="en-US"/>
              <a:t>Unbalance</a:t>
            </a:r>
          </a:p>
        </p:txBody>
      </p:sp>
      <p:graphicFrame>
        <p:nvGraphicFramePr>
          <p:cNvPr id="937987" name="Object 3"/>
          <p:cNvGraphicFramePr>
            <a:graphicFrameLocks noChangeAspect="1"/>
          </p:cNvGraphicFramePr>
          <p:nvPr/>
        </p:nvGraphicFramePr>
        <p:xfrm>
          <a:off x="2516188" y="1600200"/>
          <a:ext cx="5408612" cy="4473575"/>
        </p:xfrm>
        <a:graphic>
          <a:graphicData uri="http://schemas.openxmlformats.org/presentationml/2006/ole">
            <mc:AlternateContent xmlns:mc="http://schemas.openxmlformats.org/markup-compatibility/2006">
              <mc:Choice xmlns:v="urn:schemas-microsoft-com:vml" Requires="v">
                <p:oleObj spid="_x0000_s937989" name="Paint Shop Pro Image" r:id="rId4" imgW="5639024" imgH="4663415" progId="PaintShopPro">
                  <p:embed/>
                </p:oleObj>
              </mc:Choice>
              <mc:Fallback>
                <p:oleObj name="Paint Shop Pro Image" r:id="rId4" imgW="5639024" imgH="4663415" progId="PaintShopPro">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6188" y="1600200"/>
                        <a:ext cx="5408612"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37988" name="Group 4"/>
          <p:cNvGrpSpPr>
            <a:grpSpLocks/>
          </p:cNvGrpSpPr>
          <p:nvPr/>
        </p:nvGrpSpPr>
        <p:grpSpPr bwMode="auto">
          <a:xfrm>
            <a:off x="6324600" y="4038600"/>
            <a:ext cx="2514600" cy="2209800"/>
            <a:chOff x="3888" y="2688"/>
            <a:chExt cx="1584" cy="1392"/>
          </a:xfrm>
        </p:grpSpPr>
        <p:sp>
          <p:nvSpPr>
            <p:cNvPr id="937989" name="Rectangle 5"/>
            <p:cNvSpPr>
              <a:spLocks noChangeArrowheads="1"/>
            </p:cNvSpPr>
            <p:nvPr/>
          </p:nvSpPr>
          <p:spPr bwMode="auto">
            <a:xfrm>
              <a:off x="3888" y="2688"/>
              <a:ext cx="1584" cy="1392"/>
            </a:xfrm>
            <a:prstGeom prst="rect">
              <a:avLst/>
            </a:prstGeom>
            <a:solidFill>
              <a:schemeClr val="bg1"/>
            </a:solidFill>
            <a:ln w="15875">
              <a:solidFill>
                <a:srgbClr val="000000"/>
              </a:solidFill>
              <a:miter lim="800000"/>
              <a:headEnd type="none" w="sm" len="sm"/>
              <a:tailEnd type="none" w="sm" len="sm"/>
            </a:ln>
            <a:effectLst/>
          </p:spPr>
          <p:txBody>
            <a:bodyPr wrap="none" anchor="ctr"/>
            <a:lstStyle/>
            <a:p>
              <a:endParaRPr lang="en-US"/>
            </a:p>
          </p:txBody>
        </p:sp>
        <p:grpSp>
          <p:nvGrpSpPr>
            <p:cNvPr id="937990" name="Group 6"/>
            <p:cNvGrpSpPr>
              <a:grpSpLocks/>
            </p:cNvGrpSpPr>
            <p:nvPr/>
          </p:nvGrpSpPr>
          <p:grpSpPr bwMode="auto">
            <a:xfrm>
              <a:off x="4660" y="3492"/>
              <a:ext cx="292" cy="105"/>
              <a:chOff x="1413" y="2624"/>
              <a:chExt cx="525" cy="188"/>
            </a:xfrm>
          </p:grpSpPr>
          <p:sp>
            <p:nvSpPr>
              <p:cNvPr id="937991" name="Freeform 7"/>
              <p:cNvSpPr>
                <a:spLocks/>
              </p:cNvSpPr>
              <p:nvPr/>
            </p:nvSpPr>
            <p:spPr bwMode="auto">
              <a:xfrm>
                <a:off x="1413" y="2624"/>
                <a:ext cx="525" cy="188"/>
              </a:xfrm>
              <a:custGeom>
                <a:avLst/>
                <a:gdLst/>
                <a:ahLst/>
                <a:cxnLst>
                  <a:cxn ang="0">
                    <a:pos x="508" y="0"/>
                  </a:cxn>
                  <a:cxn ang="0">
                    <a:pos x="0" y="95"/>
                  </a:cxn>
                  <a:cxn ang="0">
                    <a:pos x="15" y="187"/>
                  </a:cxn>
                  <a:cxn ang="0">
                    <a:pos x="524" y="92"/>
                  </a:cxn>
                  <a:cxn ang="0">
                    <a:pos x="508" y="0"/>
                  </a:cxn>
                </a:cxnLst>
                <a:rect l="0" t="0" r="r" b="b"/>
                <a:pathLst>
                  <a:path w="525" h="188">
                    <a:moveTo>
                      <a:pt x="508" y="0"/>
                    </a:moveTo>
                    <a:lnTo>
                      <a:pt x="0" y="95"/>
                    </a:lnTo>
                    <a:lnTo>
                      <a:pt x="15" y="187"/>
                    </a:lnTo>
                    <a:lnTo>
                      <a:pt x="524" y="92"/>
                    </a:lnTo>
                    <a:lnTo>
                      <a:pt x="508" y="0"/>
                    </a:lnTo>
                  </a:path>
                </a:pathLst>
              </a:custGeom>
              <a:solidFill>
                <a:srgbClr val="727272"/>
              </a:solidFill>
              <a:ln w="25400" cap="rnd" cmpd="sng">
                <a:solidFill>
                  <a:srgbClr val="000000"/>
                </a:solidFill>
                <a:prstDash val="solid"/>
                <a:round/>
                <a:headEnd/>
                <a:tailEnd/>
              </a:ln>
              <a:effectLst/>
            </p:spPr>
            <p:txBody>
              <a:bodyPr/>
              <a:lstStyle/>
              <a:p>
                <a:endParaRPr lang="en-US"/>
              </a:p>
            </p:txBody>
          </p:sp>
          <p:sp>
            <p:nvSpPr>
              <p:cNvPr id="937992" name="Oval 8"/>
              <p:cNvSpPr>
                <a:spLocks noChangeArrowheads="1"/>
              </p:cNvSpPr>
              <p:nvPr/>
            </p:nvSpPr>
            <p:spPr bwMode="auto">
              <a:xfrm rot="10500000">
                <a:off x="1419" y="2723"/>
                <a:ext cx="9" cy="80"/>
              </a:xfrm>
              <a:prstGeom prst="ellipse">
                <a:avLst/>
              </a:prstGeom>
              <a:solidFill>
                <a:srgbClr val="727272"/>
              </a:solidFill>
              <a:ln w="25400">
                <a:solidFill>
                  <a:srgbClr val="000000"/>
                </a:solidFill>
                <a:round/>
                <a:headEnd/>
                <a:tailEnd/>
              </a:ln>
              <a:effectLst/>
            </p:spPr>
            <p:txBody>
              <a:bodyPr wrap="none" anchor="ctr"/>
              <a:lstStyle/>
              <a:p>
                <a:endParaRPr lang="en-US"/>
              </a:p>
            </p:txBody>
          </p:sp>
          <p:sp>
            <p:nvSpPr>
              <p:cNvPr id="937993" name="Oval 9"/>
              <p:cNvSpPr>
                <a:spLocks noChangeArrowheads="1"/>
              </p:cNvSpPr>
              <p:nvPr/>
            </p:nvSpPr>
            <p:spPr bwMode="auto">
              <a:xfrm rot="10500000">
                <a:off x="1923" y="2634"/>
                <a:ext cx="9" cy="77"/>
              </a:xfrm>
              <a:prstGeom prst="ellipse">
                <a:avLst/>
              </a:prstGeom>
              <a:solidFill>
                <a:srgbClr val="727272"/>
              </a:solidFill>
              <a:ln w="25400">
                <a:solidFill>
                  <a:srgbClr val="000000"/>
                </a:solidFill>
                <a:round/>
                <a:headEnd/>
                <a:tailEnd/>
              </a:ln>
              <a:effectLst/>
            </p:spPr>
            <p:txBody>
              <a:bodyPr wrap="none" anchor="ctr"/>
              <a:lstStyle/>
              <a:p>
                <a:endParaRPr lang="en-US"/>
              </a:p>
            </p:txBody>
          </p:sp>
          <p:sp>
            <p:nvSpPr>
              <p:cNvPr id="937994" name="Freeform 10"/>
              <p:cNvSpPr>
                <a:spLocks/>
              </p:cNvSpPr>
              <p:nvPr/>
            </p:nvSpPr>
            <p:spPr bwMode="auto">
              <a:xfrm>
                <a:off x="1894" y="2628"/>
                <a:ext cx="41" cy="90"/>
              </a:xfrm>
              <a:custGeom>
                <a:avLst/>
                <a:gdLst/>
                <a:ahLst/>
                <a:cxnLst>
                  <a:cxn ang="0">
                    <a:pos x="27" y="0"/>
                  </a:cxn>
                  <a:cxn ang="0">
                    <a:pos x="0" y="9"/>
                  </a:cxn>
                  <a:cxn ang="0">
                    <a:pos x="5" y="85"/>
                  </a:cxn>
                  <a:cxn ang="0">
                    <a:pos x="40" y="89"/>
                  </a:cxn>
                  <a:cxn ang="0">
                    <a:pos x="27" y="0"/>
                  </a:cxn>
                  <a:cxn ang="0">
                    <a:pos x="27" y="0"/>
                  </a:cxn>
                </a:cxnLst>
                <a:rect l="0" t="0" r="r" b="b"/>
                <a:pathLst>
                  <a:path w="41" h="90">
                    <a:moveTo>
                      <a:pt x="27" y="0"/>
                    </a:moveTo>
                    <a:lnTo>
                      <a:pt x="0" y="9"/>
                    </a:lnTo>
                    <a:lnTo>
                      <a:pt x="5" y="85"/>
                    </a:lnTo>
                    <a:lnTo>
                      <a:pt x="40" y="89"/>
                    </a:lnTo>
                    <a:lnTo>
                      <a:pt x="27" y="0"/>
                    </a:lnTo>
                    <a:lnTo>
                      <a:pt x="27" y="0"/>
                    </a:lnTo>
                  </a:path>
                </a:pathLst>
              </a:custGeom>
              <a:solidFill>
                <a:srgbClr val="727272"/>
              </a:solidFill>
              <a:ln w="25400" cap="rnd" cmpd="sng">
                <a:solidFill>
                  <a:srgbClr val="727272"/>
                </a:solidFill>
                <a:prstDash val="solid"/>
                <a:round/>
                <a:headEnd/>
                <a:tailEnd/>
              </a:ln>
              <a:effectLst/>
            </p:spPr>
            <p:txBody>
              <a:bodyPr/>
              <a:lstStyle/>
              <a:p>
                <a:endParaRPr lang="en-US"/>
              </a:p>
            </p:txBody>
          </p:sp>
        </p:grpSp>
        <p:sp>
          <p:nvSpPr>
            <p:cNvPr id="937995" name="Freeform 11"/>
            <p:cNvSpPr>
              <a:spLocks/>
            </p:cNvSpPr>
            <p:nvPr/>
          </p:nvSpPr>
          <p:spPr bwMode="auto">
            <a:xfrm>
              <a:off x="4374" y="3229"/>
              <a:ext cx="283" cy="331"/>
            </a:xfrm>
            <a:custGeom>
              <a:avLst/>
              <a:gdLst/>
              <a:ahLst/>
              <a:cxnLst>
                <a:cxn ang="0">
                  <a:pos x="509" y="540"/>
                </a:cxn>
                <a:cxn ang="0">
                  <a:pos x="428" y="413"/>
                </a:cxn>
                <a:cxn ang="0">
                  <a:pos x="338" y="265"/>
                </a:cxn>
                <a:cxn ang="0">
                  <a:pos x="251" y="135"/>
                </a:cxn>
                <a:cxn ang="0">
                  <a:pos x="179" y="58"/>
                </a:cxn>
                <a:cxn ang="0">
                  <a:pos x="105" y="0"/>
                </a:cxn>
                <a:cxn ang="0">
                  <a:pos x="61" y="0"/>
                </a:cxn>
                <a:cxn ang="0">
                  <a:pos x="24" y="13"/>
                </a:cxn>
                <a:cxn ang="0">
                  <a:pos x="0" y="55"/>
                </a:cxn>
                <a:cxn ang="0">
                  <a:pos x="9" y="103"/>
                </a:cxn>
                <a:cxn ang="0">
                  <a:pos x="48" y="188"/>
                </a:cxn>
                <a:cxn ang="0">
                  <a:pos x="110" y="288"/>
                </a:cxn>
                <a:cxn ang="0">
                  <a:pos x="245" y="414"/>
                </a:cxn>
                <a:cxn ang="0">
                  <a:pos x="309" y="472"/>
                </a:cxn>
                <a:cxn ang="0">
                  <a:pos x="446" y="596"/>
                </a:cxn>
                <a:cxn ang="0">
                  <a:pos x="509" y="540"/>
                </a:cxn>
                <a:cxn ang="0">
                  <a:pos x="509" y="540"/>
                </a:cxn>
              </a:cxnLst>
              <a:rect l="0" t="0" r="r" b="b"/>
              <a:pathLst>
                <a:path w="510" h="597">
                  <a:moveTo>
                    <a:pt x="509" y="540"/>
                  </a:moveTo>
                  <a:lnTo>
                    <a:pt x="428" y="413"/>
                  </a:lnTo>
                  <a:lnTo>
                    <a:pt x="338" y="265"/>
                  </a:lnTo>
                  <a:lnTo>
                    <a:pt x="251" y="135"/>
                  </a:lnTo>
                  <a:lnTo>
                    <a:pt x="179" y="58"/>
                  </a:lnTo>
                  <a:lnTo>
                    <a:pt x="105" y="0"/>
                  </a:lnTo>
                  <a:lnTo>
                    <a:pt x="61" y="0"/>
                  </a:lnTo>
                  <a:lnTo>
                    <a:pt x="24" y="13"/>
                  </a:lnTo>
                  <a:lnTo>
                    <a:pt x="0" y="55"/>
                  </a:lnTo>
                  <a:lnTo>
                    <a:pt x="9" y="103"/>
                  </a:lnTo>
                  <a:lnTo>
                    <a:pt x="48" y="188"/>
                  </a:lnTo>
                  <a:lnTo>
                    <a:pt x="110" y="288"/>
                  </a:lnTo>
                  <a:lnTo>
                    <a:pt x="245" y="414"/>
                  </a:lnTo>
                  <a:lnTo>
                    <a:pt x="309" y="472"/>
                  </a:lnTo>
                  <a:lnTo>
                    <a:pt x="446" y="596"/>
                  </a:lnTo>
                  <a:lnTo>
                    <a:pt x="509" y="540"/>
                  </a:lnTo>
                  <a:lnTo>
                    <a:pt x="509" y="540"/>
                  </a:lnTo>
                </a:path>
              </a:pathLst>
            </a:custGeom>
            <a:solidFill>
              <a:srgbClr val="E1E1E1"/>
            </a:solidFill>
            <a:ln w="25400" cap="rnd" cmpd="sng">
              <a:solidFill>
                <a:srgbClr val="000000"/>
              </a:solidFill>
              <a:prstDash val="solid"/>
              <a:round/>
              <a:headEnd/>
              <a:tailEnd/>
            </a:ln>
            <a:effectLst/>
          </p:spPr>
          <p:txBody>
            <a:bodyPr/>
            <a:lstStyle/>
            <a:p>
              <a:endParaRPr lang="en-US"/>
            </a:p>
          </p:txBody>
        </p:sp>
        <p:sp>
          <p:nvSpPr>
            <p:cNvPr id="937996" name="Freeform 12"/>
            <p:cNvSpPr>
              <a:spLocks/>
            </p:cNvSpPr>
            <p:nvPr/>
          </p:nvSpPr>
          <p:spPr bwMode="auto">
            <a:xfrm>
              <a:off x="4617" y="3120"/>
              <a:ext cx="110" cy="421"/>
            </a:xfrm>
            <a:custGeom>
              <a:avLst/>
              <a:gdLst/>
              <a:ahLst/>
              <a:cxnLst>
                <a:cxn ang="0">
                  <a:pos x="51" y="757"/>
                </a:cxn>
                <a:cxn ang="0">
                  <a:pos x="35" y="601"/>
                </a:cxn>
                <a:cxn ang="0">
                  <a:pos x="13" y="424"/>
                </a:cxn>
                <a:cxn ang="0">
                  <a:pos x="0" y="262"/>
                </a:cxn>
                <a:cxn ang="0">
                  <a:pos x="8" y="149"/>
                </a:cxn>
                <a:cxn ang="0">
                  <a:pos x="27" y="51"/>
                </a:cxn>
                <a:cxn ang="0">
                  <a:pos x="61" y="19"/>
                </a:cxn>
                <a:cxn ang="0">
                  <a:pos x="95" y="0"/>
                </a:cxn>
                <a:cxn ang="0">
                  <a:pos x="140" y="12"/>
                </a:cxn>
                <a:cxn ang="0">
                  <a:pos x="160" y="55"/>
                </a:cxn>
                <a:cxn ang="0">
                  <a:pos x="182" y="146"/>
                </a:cxn>
                <a:cxn ang="0">
                  <a:pos x="196" y="268"/>
                </a:cxn>
                <a:cxn ang="0">
                  <a:pos x="172" y="464"/>
                </a:cxn>
                <a:cxn ang="0">
                  <a:pos x="158" y="556"/>
                </a:cxn>
                <a:cxn ang="0">
                  <a:pos x="131" y="750"/>
                </a:cxn>
                <a:cxn ang="0">
                  <a:pos x="51" y="757"/>
                </a:cxn>
                <a:cxn ang="0">
                  <a:pos x="51" y="757"/>
                </a:cxn>
              </a:cxnLst>
              <a:rect l="0" t="0" r="r" b="b"/>
              <a:pathLst>
                <a:path w="197" h="758">
                  <a:moveTo>
                    <a:pt x="51" y="757"/>
                  </a:moveTo>
                  <a:lnTo>
                    <a:pt x="35" y="601"/>
                  </a:lnTo>
                  <a:lnTo>
                    <a:pt x="13" y="424"/>
                  </a:lnTo>
                  <a:lnTo>
                    <a:pt x="0" y="262"/>
                  </a:lnTo>
                  <a:lnTo>
                    <a:pt x="8" y="149"/>
                  </a:lnTo>
                  <a:lnTo>
                    <a:pt x="27" y="51"/>
                  </a:lnTo>
                  <a:lnTo>
                    <a:pt x="61" y="19"/>
                  </a:lnTo>
                  <a:lnTo>
                    <a:pt x="95" y="0"/>
                  </a:lnTo>
                  <a:lnTo>
                    <a:pt x="140" y="12"/>
                  </a:lnTo>
                  <a:lnTo>
                    <a:pt x="160" y="55"/>
                  </a:lnTo>
                  <a:lnTo>
                    <a:pt x="182" y="146"/>
                  </a:lnTo>
                  <a:lnTo>
                    <a:pt x="196" y="268"/>
                  </a:lnTo>
                  <a:lnTo>
                    <a:pt x="172" y="464"/>
                  </a:lnTo>
                  <a:lnTo>
                    <a:pt x="158" y="556"/>
                  </a:lnTo>
                  <a:lnTo>
                    <a:pt x="131" y="750"/>
                  </a:lnTo>
                  <a:lnTo>
                    <a:pt x="51" y="757"/>
                  </a:lnTo>
                  <a:lnTo>
                    <a:pt x="51" y="757"/>
                  </a:lnTo>
                </a:path>
              </a:pathLst>
            </a:custGeom>
            <a:solidFill>
              <a:srgbClr val="E1E1E1"/>
            </a:solidFill>
            <a:ln w="25400" cap="rnd" cmpd="sng">
              <a:solidFill>
                <a:srgbClr val="000000"/>
              </a:solidFill>
              <a:prstDash val="solid"/>
              <a:round/>
              <a:headEnd/>
              <a:tailEnd/>
            </a:ln>
            <a:effectLst/>
          </p:spPr>
          <p:txBody>
            <a:bodyPr/>
            <a:lstStyle/>
            <a:p>
              <a:endParaRPr lang="en-US"/>
            </a:p>
          </p:txBody>
        </p:sp>
        <p:sp>
          <p:nvSpPr>
            <p:cNvPr id="937997" name="Freeform 13"/>
            <p:cNvSpPr>
              <a:spLocks/>
            </p:cNvSpPr>
            <p:nvPr/>
          </p:nvSpPr>
          <p:spPr bwMode="auto">
            <a:xfrm>
              <a:off x="4673" y="3234"/>
              <a:ext cx="283" cy="332"/>
            </a:xfrm>
            <a:custGeom>
              <a:avLst/>
              <a:gdLst/>
              <a:ahLst/>
              <a:cxnLst>
                <a:cxn ang="0">
                  <a:pos x="0" y="540"/>
                </a:cxn>
                <a:cxn ang="0">
                  <a:pos x="80" y="412"/>
                </a:cxn>
                <a:cxn ang="0">
                  <a:pos x="170" y="265"/>
                </a:cxn>
                <a:cxn ang="0">
                  <a:pos x="258" y="135"/>
                </a:cxn>
                <a:cxn ang="0">
                  <a:pos x="330" y="58"/>
                </a:cxn>
                <a:cxn ang="0">
                  <a:pos x="403" y="0"/>
                </a:cxn>
                <a:cxn ang="0">
                  <a:pos x="447" y="0"/>
                </a:cxn>
                <a:cxn ang="0">
                  <a:pos x="484" y="14"/>
                </a:cxn>
                <a:cxn ang="0">
                  <a:pos x="509" y="55"/>
                </a:cxn>
                <a:cxn ang="0">
                  <a:pos x="499" y="104"/>
                </a:cxn>
                <a:cxn ang="0">
                  <a:pos x="460" y="187"/>
                </a:cxn>
                <a:cxn ang="0">
                  <a:pos x="398" y="289"/>
                </a:cxn>
                <a:cxn ang="0">
                  <a:pos x="263" y="414"/>
                </a:cxn>
                <a:cxn ang="0">
                  <a:pos x="199" y="471"/>
                </a:cxn>
                <a:cxn ang="0">
                  <a:pos x="61" y="596"/>
                </a:cxn>
                <a:cxn ang="0">
                  <a:pos x="0" y="540"/>
                </a:cxn>
                <a:cxn ang="0">
                  <a:pos x="0" y="540"/>
                </a:cxn>
              </a:cxnLst>
              <a:rect l="0" t="0" r="r" b="b"/>
              <a:pathLst>
                <a:path w="510" h="597">
                  <a:moveTo>
                    <a:pt x="0" y="540"/>
                  </a:moveTo>
                  <a:lnTo>
                    <a:pt x="80" y="412"/>
                  </a:lnTo>
                  <a:lnTo>
                    <a:pt x="170" y="265"/>
                  </a:lnTo>
                  <a:lnTo>
                    <a:pt x="258" y="135"/>
                  </a:lnTo>
                  <a:lnTo>
                    <a:pt x="330" y="58"/>
                  </a:lnTo>
                  <a:lnTo>
                    <a:pt x="403" y="0"/>
                  </a:lnTo>
                  <a:lnTo>
                    <a:pt x="447" y="0"/>
                  </a:lnTo>
                  <a:lnTo>
                    <a:pt x="484" y="14"/>
                  </a:lnTo>
                  <a:lnTo>
                    <a:pt x="509" y="55"/>
                  </a:lnTo>
                  <a:lnTo>
                    <a:pt x="499" y="104"/>
                  </a:lnTo>
                  <a:lnTo>
                    <a:pt x="460" y="187"/>
                  </a:lnTo>
                  <a:lnTo>
                    <a:pt x="398" y="289"/>
                  </a:lnTo>
                  <a:lnTo>
                    <a:pt x="263" y="414"/>
                  </a:lnTo>
                  <a:lnTo>
                    <a:pt x="199" y="471"/>
                  </a:lnTo>
                  <a:lnTo>
                    <a:pt x="61" y="596"/>
                  </a:lnTo>
                  <a:lnTo>
                    <a:pt x="0" y="540"/>
                  </a:lnTo>
                  <a:lnTo>
                    <a:pt x="0" y="540"/>
                  </a:lnTo>
                </a:path>
              </a:pathLst>
            </a:custGeom>
            <a:solidFill>
              <a:srgbClr val="E1E1E1"/>
            </a:solidFill>
            <a:ln w="25400" cap="rnd" cmpd="sng">
              <a:solidFill>
                <a:srgbClr val="000000"/>
              </a:solidFill>
              <a:prstDash val="solid"/>
              <a:round/>
              <a:headEnd/>
              <a:tailEnd/>
            </a:ln>
            <a:effectLst/>
          </p:spPr>
          <p:txBody>
            <a:bodyPr/>
            <a:lstStyle/>
            <a:p>
              <a:endParaRPr lang="en-US"/>
            </a:p>
          </p:txBody>
        </p:sp>
        <p:sp>
          <p:nvSpPr>
            <p:cNvPr id="937998" name="Freeform 14"/>
            <p:cNvSpPr>
              <a:spLocks/>
            </p:cNvSpPr>
            <p:nvPr/>
          </p:nvSpPr>
          <p:spPr bwMode="auto">
            <a:xfrm>
              <a:off x="4692" y="3528"/>
              <a:ext cx="374" cy="122"/>
            </a:xfrm>
            <a:custGeom>
              <a:avLst/>
              <a:gdLst/>
              <a:ahLst/>
              <a:cxnLst>
                <a:cxn ang="0">
                  <a:pos x="0" y="51"/>
                </a:cxn>
                <a:cxn ang="0">
                  <a:pos x="139" y="34"/>
                </a:cxn>
                <a:cxn ang="0">
                  <a:pos x="297" y="13"/>
                </a:cxn>
                <a:cxn ang="0">
                  <a:pos x="440" y="0"/>
                </a:cxn>
                <a:cxn ang="0">
                  <a:pos x="540" y="10"/>
                </a:cxn>
                <a:cxn ang="0">
                  <a:pos x="626" y="33"/>
                </a:cxn>
                <a:cxn ang="0">
                  <a:pos x="656" y="70"/>
                </a:cxn>
                <a:cxn ang="0">
                  <a:pos x="672" y="109"/>
                </a:cxn>
                <a:cxn ang="0">
                  <a:pos x="660" y="157"/>
                </a:cxn>
                <a:cxn ang="0">
                  <a:pos x="621" y="182"/>
                </a:cxn>
                <a:cxn ang="0">
                  <a:pos x="541" y="204"/>
                </a:cxn>
                <a:cxn ang="0">
                  <a:pos x="431" y="219"/>
                </a:cxn>
                <a:cxn ang="0">
                  <a:pos x="260" y="188"/>
                </a:cxn>
                <a:cxn ang="0">
                  <a:pos x="178" y="172"/>
                </a:cxn>
                <a:cxn ang="0">
                  <a:pos x="5" y="138"/>
                </a:cxn>
                <a:cxn ang="0">
                  <a:pos x="0" y="51"/>
                </a:cxn>
                <a:cxn ang="0">
                  <a:pos x="0" y="51"/>
                </a:cxn>
              </a:cxnLst>
              <a:rect l="0" t="0" r="r" b="b"/>
              <a:pathLst>
                <a:path w="673" h="220">
                  <a:moveTo>
                    <a:pt x="0" y="51"/>
                  </a:moveTo>
                  <a:lnTo>
                    <a:pt x="139" y="34"/>
                  </a:lnTo>
                  <a:lnTo>
                    <a:pt x="297" y="13"/>
                  </a:lnTo>
                  <a:lnTo>
                    <a:pt x="440" y="0"/>
                  </a:lnTo>
                  <a:lnTo>
                    <a:pt x="540" y="10"/>
                  </a:lnTo>
                  <a:lnTo>
                    <a:pt x="626" y="33"/>
                  </a:lnTo>
                  <a:lnTo>
                    <a:pt x="656" y="70"/>
                  </a:lnTo>
                  <a:lnTo>
                    <a:pt x="672" y="109"/>
                  </a:lnTo>
                  <a:lnTo>
                    <a:pt x="660" y="157"/>
                  </a:lnTo>
                  <a:lnTo>
                    <a:pt x="621" y="182"/>
                  </a:lnTo>
                  <a:lnTo>
                    <a:pt x="541" y="204"/>
                  </a:lnTo>
                  <a:lnTo>
                    <a:pt x="431" y="219"/>
                  </a:lnTo>
                  <a:lnTo>
                    <a:pt x="260" y="188"/>
                  </a:lnTo>
                  <a:lnTo>
                    <a:pt x="178" y="172"/>
                  </a:lnTo>
                  <a:lnTo>
                    <a:pt x="5" y="138"/>
                  </a:lnTo>
                  <a:lnTo>
                    <a:pt x="0" y="51"/>
                  </a:lnTo>
                  <a:lnTo>
                    <a:pt x="0" y="51"/>
                  </a:lnTo>
                </a:path>
              </a:pathLst>
            </a:custGeom>
            <a:solidFill>
              <a:srgbClr val="E1E1E1"/>
            </a:solidFill>
            <a:ln w="25400" cap="rnd" cmpd="sng">
              <a:solidFill>
                <a:srgbClr val="000000"/>
              </a:solidFill>
              <a:prstDash val="solid"/>
              <a:round/>
              <a:headEnd/>
              <a:tailEnd/>
            </a:ln>
            <a:effectLst/>
          </p:spPr>
          <p:txBody>
            <a:bodyPr/>
            <a:lstStyle/>
            <a:p>
              <a:endParaRPr lang="en-US"/>
            </a:p>
          </p:txBody>
        </p:sp>
        <p:sp>
          <p:nvSpPr>
            <p:cNvPr id="937999" name="Freeform 15"/>
            <p:cNvSpPr>
              <a:spLocks/>
            </p:cNvSpPr>
            <p:nvPr/>
          </p:nvSpPr>
          <p:spPr bwMode="auto">
            <a:xfrm>
              <a:off x="4665" y="3588"/>
              <a:ext cx="283" cy="332"/>
            </a:xfrm>
            <a:custGeom>
              <a:avLst/>
              <a:gdLst/>
              <a:ahLst/>
              <a:cxnLst>
                <a:cxn ang="0">
                  <a:pos x="0" y="56"/>
                </a:cxn>
                <a:cxn ang="0">
                  <a:pos x="80" y="183"/>
                </a:cxn>
                <a:cxn ang="0">
                  <a:pos x="170" y="331"/>
                </a:cxn>
                <a:cxn ang="0">
                  <a:pos x="257" y="461"/>
                </a:cxn>
                <a:cxn ang="0">
                  <a:pos x="329" y="538"/>
                </a:cxn>
                <a:cxn ang="0">
                  <a:pos x="401" y="597"/>
                </a:cxn>
                <a:cxn ang="0">
                  <a:pos x="448" y="597"/>
                </a:cxn>
                <a:cxn ang="0">
                  <a:pos x="484" y="583"/>
                </a:cxn>
                <a:cxn ang="0">
                  <a:pos x="508" y="541"/>
                </a:cxn>
                <a:cxn ang="0">
                  <a:pos x="499" y="492"/>
                </a:cxn>
                <a:cxn ang="0">
                  <a:pos x="460" y="409"/>
                </a:cxn>
                <a:cxn ang="0">
                  <a:pos x="398" y="308"/>
                </a:cxn>
                <a:cxn ang="0">
                  <a:pos x="262" y="181"/>
                </a:cxn>
                <a:cxn ang="0">
                  <a:pos x="198" y="125"/>
                </a:cxn>
                <a:cxn ang="0">
                  <a:pos x="62" y="0"/>
                </a:cxn>
                <a:cxn ang="0">
                  <a:pos x="0" y="56"/>
                </a:cxn>
                <a:cxn ang="0">
                  <a:pos x="0" y="56"/>
                </a:cxn>
              </a:cxnLst>
              <a:rect l="0" t="0" r="r" b="b"/>
              <a:pathLst>
                <a:path w="509" h="598">
                  <a:moveTo>
                    <a:pt x="0" y="56"/>
                  </a:moveTo>
                  <a:lnTo>
                    <a:pt x="80" y="183"/>
                  </a:lnTo>
                  <a:lnTo>
                    <a:pt x="170" y="331"/>
                  </a:lnTo>
                  <a:lnTo>
                    <a:pt x="257" y="461"/>
                  </a:lnTo>
                  <a:lnTo>
                    <a:pt x="329" y="538"/>
                  </a:lnTo>
                  <a:lnTo>
                    <a:pt x="401" y="597"/>
                  </a:lnTo>
                  <a:lnTo>
                    <a:pt x="448" y="597"/>
                  </a:lnTo>
                  <a:lnTo>
                    <a:pt x="484" y="583"/>
                  </a:lnTo>
                  <a:lnTo>
                    <a:pt x="508" y="541"/>
                  </a:lnTo>
                  <a:lnTo>
                    <a:pt x="499" y="492"/>
                  </a:lnTo>
                  <a:lnTo>
                    <a:pt x="460" y="409"/>
                  </a:lnTo>
                  <a:lnTo>
                    <a:pt x="398" y="308"/>
                  </a:lnTo>
                  <a:lnTo>
                    <a:pt x="262" y="181"/>
                  </a:lnTo>
                  <a:lnTo>
                    <a:pt x="198" y="125"/>
                  </a:lnTo>
                  <a:lnTo>
                    <a:pt x="62" y="0"/>
                  </a:lnTo>
                  <a:lnTo>
                    <a:pt x="0" y="56"/>
                  </a:lnTo>
                  <a:lnTo>
                    <a:pt x="0" y="56"/>
                  </a:lnTo>
                </a:path>
              </a:pathLst>
            </a:custGeom>
            <a:solidFill>
              <a:srgbClr val="E1E1E1"/>
            </a:solidFill>
            <a:ln w="25400" cap="rnd" cmpd="sng">
              <a:solidFill>
                <a:srgbClr val="000000"/>
              </a:solidFill>
              <a:prstDash val="solid"/>
              <a:round/>
              <a:headEnd/>
              <a:tailEnd/>
            </a:ln>
            <a:effectLst/>
          </p:spPr>
          <p:txBody>
            <a:bodyPr/>
            <a:lstStyle/>
            <a:p>
              <a:endParaRPr lang="en-US"/>
            </a:p>
          </p:txBody>
        </p:sp>
        <p:sp>
          <p:nvSpPr>
            <p:cNvPr id="938000" name="Freeform 16"/>
            <p:cNvSpPr>
              <a:spLocks/>
            </p:cNvSpPr>
            <p:nvPr/>
          </p:nvSpPr>
          <p:spPr bwMode="auto">
            <a:xfrm>
              <a:off x="4604" y="3615"/>
              <a:ext cx="109" cy="422"/>
            </a:xfrm>
            <a:custGeom>
              <a:avLst/>
              <a:gdLst/>
              <a:ahLst/>
              <a:cxnLst>
                <a:cxn ang="0">
                  <a:pos x="50" y="0"/>
                </a:cxn>
                <a:cxn ang="0">
                  <a:pos x="35" y="155"/>
                </a:cxn>
                <a:cxn ang="0">
                  <a:pos x="13" y="333"/>
                </a:cxn>
                <a:cxn ang="0">
                  <a:pos x="0" y="494"/>
                </a:cxn>
                <a:cxn ang="0">
                  <a:pos x="9" y="608"/>
                </a:cxn>
                <a:cxn ang="0">
                  <a:pos x="27" y="705"/>
                </a:cxn>
                <a:cxn ang="0">
                  <a:pos x="59" y="738"/>
                </a:cxn>
                <a:cxn ang="0">
                  <a:pos x="94" y="758"/>
                </a:cxn>
                <a:cxn ang="0">
                  <a:pos x="137" y="744"/>
                </a:cxn>
                <a:cxn ang="0">
                  <a:pos x="160" y="702"/>
                </a:cxn>
                <a:cxn ang="0">
                  <a:pos x="181" y="610"/>
                </a:cxn>
                <a:cxn ang="0">
                  <a:pos x="195" y="489"/>
                </a:cxn>
                <a:cxn ang="0">
                  <a:pos x="171" y="293"/>
                </a:cxn>
                <a:cxn ang="0">
                  <a:pos x="156" y="201"/>
                </a:cxn>
                <a:cxn ang="0">
                  <a:pos x="129" y="6"/>
                </a:cxn>
                <a:cxn ang="0">
                  <a:pos x="50" y="0"/>
                </a:cxn>
                <a:cxn ang="0">
                  <a:pos x="50" y="0"/>
                </a:cxn>
              </a:cxnLst>
              <a:rect l="0" t="0" r="r" b="b"/>
              <a:pathLst>
                <a:path w="196" h="759">
                  <a:moveTo>
                    <a:pt x="50" y="0"/>
                  </a:moveTo>
                  <a:lnTo>
                    <a:pt x="35" y="155"/>
                  </a:lnTo>
                  <a:lnTo>
                    <a:pt x="13" y="333"/>
                  </a:lnTo>
                  <a:lnTo>
                    <a:pt x="0" y="494"/>
                  </a:lnTo>
                  <a:lnTo>
                    <a:pt x="9" y="608"/>
                  </a:lnTo>
                  <a:lnTo>
                    <a:pt x="27" y="705"/>
                  </a:lnTo>
                  <a:lnTo>
                    <a:pt x="59" y="738"/>
                  </a:lnTo>
                  <a:lnTo>
                    <a:pt x="94" y="758"/>
                  </a:lnTo>
                  <a:lnTo>
                    <a:pt x="137" y="744"/>
                  </a:lnTo>
                  <a:lnTo>
                    <a:pt x="160" y="702"/>
                  </a:lnTo>
                  <a:lnTo>
                    <a:pt x="181" y="610"/>
                  </a:lnTo>
                  <a:lnTo>
                    <a:pt x="195" y="489"/>
                  </a:lnTo>
                  <a:lnTo>
                    <a:pt x="171" y="293"/>
                  </a:lnTo>
                  <a:lnTo>
                    <a:pt x="156" y="201"/>
                  </a:lnTo>
                  <a:lnTo>
                    <a:pt x="129" y="6"/>
                  </a:lnTo>
                  <a:lnTo>
                    <a:pt x="50" y="0"/>
                  </a:lnTo>
                  <a:lnTo>
                    <a:pt x="50" y="0"/>
                  </a:lnTo>
                </a:path>
              </a:pathLst>
            </a:custGeom>
            <a:solidFill>
              <a:srgbClr val="E1E1E1"/>
            </a:solidFill>
            <a:ln w="25400" cap="rnd" cmpd="sng">
              <a:solidFill>
                <a:srgbClr val="000000"/>
              </a:solidFill>
              <a:prstDash val="solid"/>
              <a:round/>
              <a:headEnd/>
              <a:tailEnd/>
            </a:ln>
            <a:effectLst/>
          </p:spPr>
          <p:txBody>
            <a:bodyPr/>
            <a:lstStyle/>
            <a:p>
              <a:endParaRPr lang="en-US"/>
            </a:p>
          </p:txBody>
        </p:sp>
        <p:sp>
          <p:nvSpPr>
            <p:cNvPr id="938001" name="Freeform 17"/>
            <p:cNvSpPr>
              <a:spLocks/>
            </p:cNvSpPr>
            <p:nvPr/>
          </p:nvSpPr>
          <p:spPr bwMode="auto">
            <a:xfrm>
              <a:off x="4363" y="3588"/>
              <a:ext cx="283" cy="332"/>
            </a:xfrm>
            <a:custGeom>
              <a:avLst/>
              <a:gdLst/>
              <a:ahLst/>
              <a:cxnLst>
                <a:cxn ang="0">
                  <a:pos x="509" y="56"/>
                </a:cxn>
                <a:cxn ang="0">
                  <a:pos x="428" y="183"/>
                </a:cxn>
                <a:cxn ang="0">
                  <a:pos x="338" y="331"/>
                </a:cxn>
                <a:cxn ang="0">
                  <a:pos x="252" y="461"/>
                </a:cxn>
                <a:cxn ang="0">
                  <a:pos x="178" y="538"/>
                </a:cxn>
                <a:cxn ang="0">
                  <a:pos x="105" y="597"/>
                </a:cxn>
                <a:cxn ang="0">
                  <a:pos x="61" y="597"/>
                </a:cxn>
                <a:cxn ang="0">
                  <a:pos x="25" y="583"/>
                </a:cxn>
                <a:cxn ang="0">
                  <a:pos x="0" y="541"/>
                </a:cxn>
                <a:cxn ang="0">
                  <a:pos x="9" y="492"/>
                </a:cxn>
                <a:cxn ang="0">
                  <a:pos x="49" y="409"/>
                </a:cxn>
                <a:cxn ang="0">
                  <a:pos x="111" y="308"/>
                </a:cxn>
                <a:cxn ang="0">
                  <a:pos x="245" y="181"/>
                </a:cxn>
                <a:cxn ang="0">
                  <a:pos x="310" y="125"/>
                </a:cxn>
                <a:cxn ang="0">
                  <a:pos x="447" y="0"/>
                </a:cxn>
                <a:cxn ang="0">
                  <a:pos x="509" y="56"/>
                </a:cxn>
                <a:cxn ang="0">
                  <a:pos x="509" y="56"/>
                </a:cxn>
              </a:cxnLst>
              <a:rect l="0" t="0" r="r" b="b"/>
              <a:pathLst>
                <a:path w="510" h="598">
                  <a:moveTo>
                    <a:pt x="509" y="56"/>
                  </a:moveTo>
                  <a:lnTo>
                    <a:pt x="428" y="183"/>
                  </a:lnTo>
                  <a:lnTo>
                    <a:pt x="338" y="331"/>
                  </a:lnTo>
                  <a:lnTo>
                    <a:pt x="252" y="461"/>
                  </a:lnTo>
                  <a:lnTo>
                    <a:pt x="178" y="538"/>
                  </a:lnTo>
                  <a:lnTo>
                    <a:pt x="105" y="597"/>
                  </a:lnTo>
                  <a:lnTo>
                    <a:pt x="61" y="597"/>
                  </a:lnTo>
                  <a:lnTo>
                    <a:pt x="25" y="583"/>
                  </a:lnTo>
                  <a:lnTo>
                    <a:pt x="0" y="541"/>
                  </a:lnTo>
                  <a:lnTo>
                    <a:pt x="9" y="492"/>
                  </a:lnTo>
                  <a:lnTo>
                    <a:pt x="49" y="409"/>
                  </a:lnTo>
                  <a:lnTo>
                    <a:pt x="111" y="308"/>
                  </a:lnTo>
                  <a:lnTo>
                    <a:pt x="245" y="181"/>
                  </a:lnTo>
                  <a:lnTo>
                    <a:pt x="310" y="125"/>
                  </a:lnTo>
                  <a:lnTo>
                    <a:pt x="447" y="0"/>
                  </a:lnTo>
                  <a:lnTo>
                    <a:pt x="509" y="56"/>
                  </a:lnTo>
                  <a:lnTo>
                    <a:pt x="509" y="56"/>
                  </a:lnTo>
                </a:path>
              </a:pathLst>
            </a:custGeom>
            <a:solidFill>
              <a:srgbClr val="E1E1E1"/>
            </a:solidFill>
            <a:ln w="25400" cap="rnd" cmpd="sng">
              <a:solidFill>
                <a:srgbClr val="000000"/>
              </a:solidFill>
              <a:prstDash val="solid"/>
              <a:round/>
              <a:headEnd/>
              <a:tailEnd/>
            </a:ln>
            <a:effectLst/>
          </p:spPr>
          <p:txBody>
            <a:bodyPr/>
            <a:lstStyle/>
            <a:p>
              <a:endParaRPr lang="en-US"/>
            </a:p>
          </p:txBody>
        </p:sp>
        <p:sp>
          <p:nvSpPr>
            <p:cNvPr id="938002" name="Freeform 18"/>
            <p:cNvSpPr>
              <a:spLocks/>
            </p:cNvSpPr>
            <p:nvPr/>
          </p:nvSpPr>
          <p:spPr bwMode="auto">
            <a:xfrm>
              <a:off x="4272" y="3519"/>
              <a:ext cx="374" cy="122"/>
            </a:xfrm>
            <a:custGeom>
              <a:avLst/>
              <a:gdLst/>
              <a:ahLst/>
              <a:cxnLst>
                <a:cxn ang="0">
                  <a:pos x="672" y="51"/>
                </a:cxn>
                <a:cxn ang="0">
                  <a:pos x="533" y="35"/>
                </a:cxn>
                <a:cxn ang="0">
                  <a:pos x="375" y="13"/>
                </a:cxn>
                <a:cxn ang="0">
                  <a:pos x="232" y="0"/>
                </a:cxn>
                <a:cxn ang="0">
                  <a:pos x="132" y="10"/>
                </a:cxn>
                <a:cxn ang="0">
                  <a:pos x="45" y="33"/>
                </a:cxn>
                <a:cxn ang="0">
                  <a:pos x="16" y="70"/>
                </a:cxn>
                <a:cxn ang="0">
                  <a:pos x="0" y="110"/>
                </a:cxn>
                <a:cxn ang="0">
                  <a:pos x="11" y="158"/>
                </a:cxn>
                <a:cxn ang="0">
                  <a:pos x="50" y="182"/>
                </a:cxn>
                <a:cxn ang="0">
                  <a:pos x="131" y="205"/>
                </a:cxn>
                <a:cxn ang="0">
                  <a:pos x="240" y="219"/>
                </a:cxn>
                <a:cxn ang="0">
                  <a:pos x="413" y="188"/>
                </a:cxn>
                <a:cxn ang="0">
                  <a:pos x="493" y="173"/>
                </a:cxn>
                <a:cxn ang="0">
                  <a:pos x="667" y="139"/>
                </a:cxn>
                <a:cxn ang="0">
                  <a:pos x="672" y="51"/>
                </a:cxn>
                <a:cxn ang="0">
                  <a:pos x="672" y="51"/>
                </a:cxn>
              </a:cxnLst>
              <a:rect l="0" t="0" r="r" b="b"/>
              <a:pathLst>
                <a:path w="673" h="220">
                  <a:moveTo>
                    <a:pt x="672" y="51"/>
                  </a:moveTo>
                  <a:lnTo>
                    <a:pt x="533" y="35"/>
                  </a:lnTo>
                  <a:lnTo>
                    <a:pt x="375" y="13"/>
                  </a:lnTo>
                  <a:lnTo>
                    <a:pt x="232" y="0"/>
                  </a:lnTo>
                  <a:lnTo>
                    <a:pt x="132" y="10"/>
                  </a:lnTo>
                  <a:lnTo>
                    <a:pt x="45" y="33"/>
                  </a:lnTo>
                  <a:lnTo>
                    <a:pt x="16" y="70"/>
                  </a:lnTo>
                  <a:lnTo>
                    <a:pt x="0" y="110"/>
                  </a:lnTo>
                  <a:lnTo>
                    <a:pt x="11" y="158"/>
                  </a:lnTo>
                  <a:lnTo>
                    <a:pt x="50" y="182"/>
                  </a:lnTo>
                  <a:lnTo>
                    <a:pt x="131" y="205"/>
                  </a:lnTo>
                  <a:lnTo>
                    <a:pt x="240" y="219"/>
                  </a:lnTo>
                  <a:lnTo>
                    <a:pt x="413" y="188"/>
                  </a:lnTo>
                  <a:lnTo>
                    <a:pt x="493" y="173"/>
                  </a:lnTo>
                  <a:lnTo>
                    <a:pt x="667" y="139"/>
                  </a:lnTo>
                  <a:lnTo>
                    <a:pt x="672" y="51"/>
                  </a:lnTo>
                  <a:lnTo>
                    <a:pt x="672" y="51"/>
                  </a:lnTo>
                </a:path>
              </a:pathLst>
            </a:custGeom>
            <a:solidFill>
              <a:srgbClr val="E1E1E1"/>
            </a:solidFill>
            <a:ln w="25400" cap="rnd" cmpd="sng">
              <a:solidFill>
                <a:srgbClr val="000000"/>
              </a:solidFill>
              <a:prstDash val="solid"/>
              <a:round/>
              <a:headEnd/>
              <a:tailEnd/>
            </a:ln>
            <a:effectLst/>
          </p:spPr>
          <p:txBody>
            <a:bodyPr/>
            <a:lstStyle/>
            <a:p>
              <a:endParaRPr lang="en-US"/>
            </a:p>
          </p:txBody>
        </p:sp>
        <p:sp>
          <p:nvSpPr>
            <p:cNvPr id="938003" name="Freeform 19"/>
            <p:cNvSpPr>
              <a:spLocks/>
            </p:cNvSpPr>
            <p:nvPr/>
          </p:nvSpPr>
          <p:spPr bwMode="auto">
            <a:xfrm>
              <a:off x="4600" y="3521"/>
              <a:ext cx="39" cy="47"/>
            </a:xfrm>
            <a:custGeom>
              <a:avLst/>
              <a:gdLst/>
              <a:ahLst/>
              <a:cxnLst>
                <a:cxn ang="0">
                  <a:pos x="1" y="0"/>
                </a:cxn>
                <a:cxn ang="0">
                  <a:pos x="0" y="78"/>
                </a:cxn>
                <a:cxn ang="0">
                  <a:pos x="68" y="83"/>
                </a:cxn>
                <a:cxn ang="0">
                  <a:pos x="56" y="5"/>
                </a:cxn>
                <a:cxn ang="0">
                  <a:pos x="1" y="2"/>
                </a:cxn>
                <a:cxn ang="0">
                  <a:pos x="1" y="0"/>
                </a:cxn>
                <a:cxn ang="0">
                  <a:pos x="1" y="0"/>
                </a:cxn>
              </a:cxnLst>
              <a:rect l="0" t="0" r="r" b="b"/>
              <a:pathLst>
                <a:path w="69" h="84">
                  <a:moveTo>
                    <a:pt x="1" y="0"/>
                  </a:moveTo>
                  <a:lnTo>
                    <a:pt x="0" y="78"/>
                  </a:lnTo>
                  <a:lnTo>
                    <a:pt x="68" y="83"/>
                  </a:lnTo>
                  <a:lnTo>
                    <a:pt x="56" y="5"/>
                  </a:lnTo>
                  <a:lnTo>
                    <a:pt x="1" y="2"/>
                  </a:lnTo>
                  <a:lnTo>
                    <a:pt x="1" y="0"/>
                  </a:lnTo>
                  <a:lnTo>
                    <a:pt x="1" y="0"/>
                  </a:lnTo>
                </a:path>
              </a:pathLst>
            </a:custGeom>
            <a:solidFill>
              <a:srgbClr val="E1E1E1"/>
            </a:solidFill>
            <a:ln w="25400" cap="rnd" cmpd="sng">
              <a:solidFill>
                <a:srgbClr val="E1E1E1"/>
              </a:solidFill>
              <a:prstDash val="solid"/>
              <a:round/>
              <a:headEnd/>
              <a:tailEnd/>
            </a:ln>
            <a:effectLst/>
          </p:spPr>
          <p:txBody>
            <a:bodyPr/>
            <a:lstStyle/>
            <a:p>
              <a:endParaRPr lang="en-US"/>
            </a:p>
          </p:txBody>
        </p:sp>
        <p:sp>
          <p:nvSpPr>
            <p:cNvPr id="938004" name="Rectangle 20"/>
            <p:cNvSpPr>
              <a:spLocks noChangeArrowheads="1"/>
            </p:cNvSpPr>
            <p:nvPr/>
          </p:nvSpPr>
          <p:spPr bwMode="auto">
            <a:xfrm>
              <a:off x="4852" y="3123"/>
              <a:ext cx="50" cy="88"/>
            </a:xfrm>
            <a:prstGeom prst="rect">
              <a:avLst/>
            </a:prstGeom>
            <a:noFill/>
            <a:ln w="9525">
              <a:noFill/>
              <a:miter lim="800000"/>
              <a:headEnd/>
              <a:tailEnd/>
            </a:ln>
            <a:effectLst/>
          </p:spPr>
          <p:txBody>
            <a:bodyPr wrap="none" anchor="ctr"/>
            <a:lstStyle/>
            <a:p>
              <a:endParaRPr lang="en-US"/>
            </a:p>
          </p:txBody>
        </p:sp>
        <p:sp>
          <p:nvSpPr>
            <p:cNvPr id="938005" name="Line 21"/>
            <p:cNvSpPr>
              <a:spLocks noChangeShapeType="1"/>
            </p:cNvSpPr>
            <p:nvPr/>
          </p:nvSpPr>
          <p:spPr bwMode="auto">
            <a:xfrm>
              <a:off x="4578" y="3519"/>
              <a:ext cx="49" cy="46"/>
            </a:xfrm>
            <a:prstGeom prst="line">
              <a:avLst/>
            </a:prstGeom>
            <a:noFill/>
            <a:ln w="25400">
              <a:solidFill>
                <a:srgbClr val="000000"/>
              </a:solidFill>
              <a:round/>
              <a:headEnd type="none" w="sm" len="sm"/>
              <a:tailEnd type="none" w="sm" len="sm"/>
            </a:ln>
            <a:effectLst/>
          </p:spPr>
          <p:txBody>
            <a:bodyPr wrap="none" anchor="ctr"/>
            <a:lstStyle/>
            <a:p>
              <a:endParaRPr lang="en-US"/>
            </a:p>
          </p:txBody>
        </p:sp>
        <p:sp>
          <p:nvSpPr>
            <p:cNvPr id="938006" name="Oval 22"/>
            <p:cNvSpPr>
              <a:spLocks noChangeArrowheads="1"/>
            </p:cNvSpPr>
            <p:nvPr/>
          </p:nvSpPr>
          <p:spPr bwMode="auto">
            <a:xfrm>
              <a:off x="4619" y="3530"/>
              <a:ext cx="88" cy="95"/>
            </a:xfrm>
            <a:prstGeom prst="ellipse">
              <a:avLst/>
            </a:prstGeom>
            <a:solidFill>
              <a:srgbClr val="E1E1E1"/>
            </a:solidFill>
            <a:ln w="25400">
              <a:solidFill>
                <a:srgbClr val="000000"/>
              </a:solidFill>
              <a:round/>
              <a:headEnd/>
              <a:tailEnd/>
            </a:ln>
            <a:effectLst/>
          </p:spPr>
          <p:txBody>
            <a:bodyPr wrap="none" anchor="ctr"/>
            <a:lstStyle/>
            <a:p>
              <a:endParaRPr lang="en-US"/>
            </a:p>
          </p:txBody>
        </p:sp>
        <p:grpSp>
          <p:nvGrpSpPr>
            <p:cNvPr id="938007" name="Group 23"/>
            <p:cNvGrpSpPr>
              <a:grpSpLocks/>
            </p:cNvGrpSpPr>
            <p:nvPr/>
          </p:nvGrpSpPr>
          <p:grpSpPr bwMode="auto">
            <a:xfrm>
              <a:off x="4392" y="3554"/>
              <a:ext cx="277" cy="104"/>
              <a:chOff x="931" y="2735"/>
              <a:chExt cx="498" cy="188"/>
            </a:xfrm>
          </p:grpSpPr>
          <p:sp>
            <p:nvSpPr>
              <p:cNvPr id="938008" name="Freeform 24"/>
              <p:cNvSpPr>
                <a:spLocks/>
              </p:cNvSpPr>
              <p:nvPr/>
            </p:nvSpPr>
            <p:spPr bwMode="auto">
              <a:xfrm>
                <a:off x="931" y="2735"/>
                <a:ext cx="498" cy="188"/>
              </a:xfrm>
              <a:custGeom>
                <a:avLst/>
                <a:gdLst/>
                <a:ahLst/>
                <a:cxnLst>
                  <a:cxn ang="0">
                    <a:pos x="482" y="0"/>
                  </a:cxn>
                  <a:cxn ang="0">
                    <a:pos x="0" y="95"/>
                  </a:cxn>
                  <a:cxn ang="0">
                    <a:pos x="15" y="187"/>
                  </a:cxn>
                  <a:cxn ang="0">
                    <a:pos x="497" y="92"/>
                  </a:cxn>
                  <a:cxn ang="0">
                    <a:pos x="482" y="0"/>
                  </a:cxn>
                </a:cxnLst>
                <a:rect l="0" t="0" r="r" b="b"/>
                <a:pathLst>
                  <a:path w="498" h="188">
                    <a:moveTo>
                      <a:pt x="482" y="0"/>
                    </a:moveTo>
                    <a:lnTo>
                      <a:pt x="0" y="95"/>
                    </a:lnTo>
                    <a:lnTo>
                      <a:pt x="15" y="187"/>
                    </a:lnTo>
                    <a:lnTo>
                      <a:pt x="497" y="92"/>
                    </a:lnTo>
                    <a:lnTo>
                      <a:pt x="482" y="0"/>
                    </a:lnTo>
                  </a:path>
                </a:pathLst>
              </a:custGeom>
              <a:solidFill>
                <a:srgbClr val="727272"/>
              </a:solidFill>
              <a:ln w="25400" cap="rnd" cmpd="sng">
                <a:solidFill>
                  <a:srgbClr val="000000"/>
                </a:solidFill>
                <a:prstDash val="solid"/>
                <a:round/>
                <a:headEnd/>
                <a:tailEnd/>
              </a:ln>
              <a:effectLst/>
            </p:spPr>
            <p:txBody>
              <a:bodyPr/>
              <a:lstStyle/>
              <a:p>
                <a:endParaRPr lang="en-US"/>
              </a:p>
            </p:txBody>
          </p:sp>
          <p:sp>
            <p:nvSpPr>
              <p:cNvPr id="938009" name="Oval 25"/>
              <p:cNvSpPr>
                <a:spLocks noChangeArrowheads="1"/>
              </p:cNvSpPr>
              <p:nvPr/>
            </p:nvSpPr>
            <p:spPr bwMode="auto">
              <a:xfrm rot="10620000">
                <a:off x="939" y="2835"/>
                <a:ext cx="6" cy="81"/>
              </a:xfrm>
              <a:prstGeom prst="ellipse">
                <a:avLst/>
              </a:prstGeom>
              <a:solidFill>
                <a:srgbClr val="727272"/>
              </a:solidFill>
              <a:ln w="25400">
                <a:solidFill>
                  <a:srgbClr val="000000"/>
                </a:solidFill>
                <a:round/>
                <a:headEnd/>
                <a:tailEnd/>
              </a:ln>
              <a:effectLst/>
            </p:spPr>
            <p:txBody>
              <a:bodyPr wrap="none" anchor="ctr"/>
              <a:lstStyle/>
              <a:p>
                <a:endParaRPr lang="en-US"/>
              </a:p>
            </p:txBody>
          </p:sp>
          <p:sp>
            <p:nvSpPr>
              <p:cNvPr id="938010" name="Oval 26"/>
              <p:cNvSpPr>
                <a:spLocks noChangeArrowheads="1"/>
              </p:cNvSpPr>
              <p:nvPr/>
            </p:nvSpPr>
            <p:spPr bwMode="auto">
              <a:xfrm rot="10380000">
                <a:off x="1413" y="2743"/>
                <a:ext cx="13" cy="77"/>
              </a:xfrm>
              <a:prstGeom prst="ellipse">
                <a:avLst/>
              </a:prstGeom>
              <a:solidFill>
                <a:srgbClr val="727272"/>
              </a:solidFill>
              <a:ln w="25400">
                <a:solidFill>
                  <a:srgbClr val="000000"/>
                </a:solidFill>
                <a:round/>
                <a:headEnd/>
                <a:tailEnd/>
              </a:ln>
              <a:effectLst/>
            </p:spPr>
            <p:txBody>
              <a:bodyPr wrap="none" anchor="ctr"/>
              <a:lstStyle/>
              <a:p>
                <a:endParaRPr lang="en-US"/>
              </a:p>
            </p:txBody>
          </p:sp>
          <p:sp>
            <p:nvSpPr>
              <p:cNvPr id="938011" name="Freeform 27"/>
              <p:cNvSpPr>
                <a:spLocks/>
              </p:cNvSpPr>
              <p:nvPr/>
            </p:nvSpPr>
            <p:spPr bwMode="auto">
              <a:xfrm>
                <a:off x="1387" y="2738"/>
                <a:ext cx="39" cy="91"/>
              </a:xfrm>
              <a:custGeom>
                <a:avLst/>
                <a:gdLst/>
                <a:ahLst/>
                <a:cxnLst>
                  <a:cxn ang="0">
                    <a:pos x="25" y="0"/>
                  </a:cxn>
                  <a:cxn ang="0">
                    <a:pos x="0" y="9"/>
                  </a:cxn>
                  <a:cxn ang="0">
                    <a:pos x="5" y="86"/>
                  </a:cxn>
                  <a:cxn ang="0">
                    <a:pos x="38" y="90"/>
                  </a:cxn>
                  <a:cxn ang="0">
                    <a:pos x="25" y="0"/>
                  </a:cxn>
                  <a:cxn ang="0">
                    <a:pos x="25" y="0"/>
                  </a:cxn>
                </a:cxnLst>
                <a:rect l="0" t="0" r="r" b="b"/>
                <a:pathLst>
                  <a:path w="39" h="91">
                    <a:moveTo>
                      <a:pt x="25" y="0"/>
                    </a:moveTo>
                    <a:lnTo>
                      <a:pt x="0" y="9"/>
                    </a:lnTo>
                    <a:lnTo>
                      <a:pt x="5" y="86"/>
                    </a:lnTo>
                    <a:lnTo>
                      <a:pt x="38" y="90"/>
                    </a:lnTo>
                    <a:lnTo>
                      <a:pt x="25" y="0"/>
                    </a:lnTo>
                    <a:lnTo>
                      <a:pt x="25" y="0"/>
                    </a:lnTo>
                  </a:path>
                </a:pathLst>
              </a:custGeom>
              <a:solidFill>
                <a:srgbClr val="727272"/>
              </a:solidFill>
              <a:ln w="25400" cap="rnd" cmpd="sng">
                <a:solidFill>
                  <a:srgbClr val="727272"/>
                </a:solidFill>
                <a:prstDash val="solid"/>
                <a:round/>
                <a:headEnd/>
                <a:tailEnd/>
              </a:ln>
              <a:effectLst/>
            </p:spPr>
            <p:txBody>
              <a:bodyPr/>
              <a:lstStyle/>
              <a:p>
                <a:endParaRPr lang="en-US"/>
              </a:p>
            </p:txBody>
          </p:sp>
        </p:grpSp>
        <p:sp>
          <p:nvSpPr>
            <p:cNvPr id="938012" name="Rectangle 28"/>
            <p:cNvSpPr>
              <a:spLocks noChangeArrowheads="1"/>
            </p:cNvSpPr>
            <p:nvPr/>
          </p:nvSpPr>
          <p:spPr bwMode="auto">
            <a:xfrm>
              <a:off x="4220" y="2784"/>
              <a:ext cx="1003" cy="288"/>
            </a:xfrm>
            <a:prstGeom prst="rect">
              <a:avLst/>
            </a:prstGeom>
            <a:noFill/>
            <a:ln w="25400">
              <a:noFill/>
              <a:prstDash val="dash"/>
              <a:miter lim="800000"/>
              <a:headEnd type="none" w="sm" len="sm"/>
              <a:tailEnd type="none" w="sm" len="sm"/>
            </a:ln>
            <a:effectLst/>
          </p:spPr>
          <p:txBody>
            <a:bodyPr wrap="none" anchor="ctr">
              <a:spAutoFit/>
            </a:bodyPr>
            <a:lstStyle/>
            <a:p>
              <a:pPr algn="ctr"/>
              <a:r>
                <a:rPr lang="en-US">
                  <a:latin typeface="Arial" pitchFamily="34" charset="0"/>
                </a:rPr>
                <a:t>Imbalance</a:t>
              </a:r>
            </a:p>
          </p:txBody>
        </p:sp>
        <p:sp>
          <p:nvSpPr>
            <p:cNvPr id="938013" name="Freeform 29"/>
            <p:cNvSpPr>
              <a:spLocks/>
            </p:cNvSpPr>
            <p:nvPr/>
          </p:nvSpPr>
          <p:spPr bwMode="auto">
            <a:xfrm>
              <a:off x="4378" y="3242"/>
              <a:ext cx="67" cy="84"/>
            </a:xfrm>
            <a:custGeom>
              <a:avLst/>
              <a:gdLst/>
              <a:ahLst/>
              <a:cxnLst>
                <a:cxn ang="0">
                  <a:pos x="3" y="4"/>
                </a:cxn>
                <a:cxn ang="0">
                  <a:pos x="12" y="76"/>
                </a:cxn>
                <a:cxn ang="0">
                  <a:pos x="40" y="67"/>
                </a:cxn>
                <a:cxn ang="0">
                  <a:pos x="49" y="40"/>
                </a:cxn>
                <a:cxn ang="0">
                  <a:pos x="67" y="13"/>
                </a:cxn>
                <a:cxn ang="0">
                  <a:pos x="3" y="4"/>
                </a:cxn>
              </a:cxnLst>
              <a:rect l="0" t="0" r="r" b="b"/>
              <a:pathLst>
                <a:path w="67" h="84">
                  <a:moveTo>
                    <a:pt x="3" y="4"/>
                  </a:moveTo>
                  <a:cubicBezTo>
                    <a:pt x="6" y="28"/>
                    <a:pt x="0" y="55"/>
                    <a:pt x="12" y="76"/>
                  </a:cubicBezTo>
                  <a:cubicBezTo>
                    <a:pt x="17" y="84"/>
                    <a:pt x="33" y="74"/>
                    <a:pt x="40" y="67"/>
                  </a:cubicBezTo>
                  <a:cubicBezTo>
                    <a:pt x="47" y="60"/>
                    <a:pt x="45" y="48"/>
                    <a:pt x="49" y="40"/>
                  </a:cubicBezTo>
                  <a:cubicBezTo>
                    <a:pt x="54" y="30"/>
                    <a:pt x="61" y="22"/>
                    <a:pt x="67" y="13"/>
                  </a:cubicBezTo>
                  <a:cubicBezTo>
                    <a:pt x="28" y="0"/>
                    <a:pt x="49" y="4"/>
                    <a:pt x="3" y="4"/>
                  </a:cubicBezTo>
                  <a:close/>
                </a:path>
              </a:pathLst>
            </a:custGeom>
            <a:solidFill>
              <a:srgbClr val="333333"/>
            </a:solidFill>
            <a:ln w="25400" cap="flat" cmpd="sng">
              <a:solidFill>
                <a:srgbClr val="333333"/>
              </a:solidFill>
              <a:prstDash val="solid"/>
              <a:round/>
              <a:headEnd type="none" w="sm" len="sm"/>
              <a:tailEnd type="none" w="sm" len="sm"/>
            </a:ln>
            <a:effectLst/>
          </p:spPr>
          <p:txBody>
            <a:bodyPr wrap="none" anchor="ctr"/>
            <a:lstStyle/>
            <a:p>
              <a:endParaRPr lang="en-US"/>
            </a:p>
          </p:txBody>
        </p:sp>
        <p:sp>
          <p:nvSpPr>
            <p:cNvPr id="938014" name="Line 30"/>
            <p:cNvSpPr>
              <a:spLocks noChangeShapeType="1"/>
            </p:cNvSpPr>
            <p:nvPr/>
          </p:nvSpPr>
          <p:spPr bwMode="auto">
            <a:xfrm flipH="1">
              <a:off x="4464" y="3024"/>
              <a:ext cx="144" cy="192"/>
            </a:xfrm>
            <a:prstGeom prst="line">
              <a:avLst/>
            </a:prstGeom>
            <a:noFill/>
            <a:ln w="25400">
              <a:solidFill>
                <a:srgbClr val="FF0033"/>
              </a:solidFill>
              <a:round/>
              <a:headEnd type="none" w="sm" len="sm"/>
              <a:tailEnd type="triangle" w="sm" len="sm"/>
            </a:ln>
            <a:effectLst/>
          </p:spPr>
          <p:txBody>
            <a:bodyPr wrap="none" anchor="ctr"/>
            <a:lstStyle/>
            <a:p>
              <a:endParaRPr lang="en-US"/>
            </a:p>
          </p:txBody>
        </p:sp>
      </p:grpSp>
      <p:sp>
        <p:nvSpPr>
          <p:cNvPr id="938015" name="Text Box 31"/>
          <p:cNvSpPr txBox="1">
            <a:spLocks noChangeArrowheads="1"/>
          </p:cNvSpPr>
          <p:nvPr/>
        </p:nvSpPr>
        <p:spPr bwMode="auto">
          <a:xfrm>
            <a:off x="4251325" y="2057400"/>
            <a:ext cx="3536950" cy="666750"/>
          </a:xfrm>
          <a:prstGeom prst="rect">
            <a:avLst/>
          </a:prstGeom>
          <a:solidFill>
            <a:schemeClr val="bg1"/>
          </a:solidFill>
          <a:ln w="25400">
            <a:solidFill>
              <a:schemeClr val="tx1"/>
            </a:solidFill>
            <a:miter lim="800000"/>
            <a:headEnd type="none" w="sm" len="sm"/>
            <a:tailEnd type="none" w="sm" len="sm"/>
          </a:ln>
          <a:effectLst/>
        </p:spPr>
        <p:txBody>
          <a:bodyPr wrap="none" anchor="ctr">
            <a:spAutoFit/>
          </a:bodyPr>
          <a:lstStyle/>
          <a:p>
            <a:pPr algn="ctr"/>
            <a:r>
              <a:rPr lang="en-US" sz="1800">
                <a:solidFill>
                  <a:schemeClr val="accent2"/>
                </a:solidFill>
                <a:latin typeface="Arial" pitchFamily="34" charset="0"/>
              </a:rPr>
              <a:t>Imbalance typically appears at</a:t>
            </a:r>
          </a:p>
          <a:p>
            <a:pPr algn="ctr"/>
            <a:r>
              <a:rPr lang="en-US" sz="1800">
                <a:solidFill>
                  <a:schemeClr val="accent2"/>
                </a:solidFill>
                <a:latin typeface="Arial" pitchFamily="34" charset="0"/>
              </a:rPr>
              <a:t>the turning speed of the machine</a:t>
            </a:r>
            <a:endParaRPr lang="en-US" sz="1800">
              <a:latin typeface="Arial" pitchFamily="34" charset="0"/>
            </a:endParaRPr>
          </a:p>
        </p:txBody>
      </p:sp>
      <p:sp>
        <p:nvSpPr>
          <p:cNvPr id="938016" name="Line 32"/>
          <p:cNvSpPr>
            <a:spLocks noChangeShapeType="1"/>
          </p:cNvSpPr>
          <p:nvPr/>
        </p:nvSpPr>
        <p:spPr bwMode="auto">
          <a:xfrm flipV="1">
            <a:off x="3565525" y="1863725"/>
            <a:ext cx="0" cy="1143000"/>
          </a:xfrm>
          <a:prstGeom prst="line">
            <a:avLst/>
          </a:prstGeom>
          <a:noFill/>
          <a:ln w="25400">
            <a:solidFill>
              <a:srgbClr val="FF0033"/>
            </a:solidFill>
            <a:prstDash val="dash"/>
            <a:round/>
            <a:headEnd type="none" w="sm" len="sm"/>
            <a:tailEnd type="none" w="sm" len="sm"/>
          </a:ln>
          <a:effectLst/>
        </p:spPr>
        <p:txBody>
          <a:bodyPr wrap="none" anchor="ctr"/>
          <a:lstStyle/>
          <a:p>
            <a:endParaRPr 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37988"/>
                                        </p:tgtEl>
                                        <p:attrNameLst>
                                          <p:attrName>style.visibility</p:attrName>
                                        </p:attrNameLst>
                                      </p:cBhvr>
                                      <p:to>
                                        <p:strVal val="visible"/>
                                      </p:to>
                                    </p:set>
                                    <p:anim calcmode="lin" valueType="num">
                                      <p:cBhvr additive="base">
                                        <p:cTn id="7" dur="500" fill="hold"/>
                                        <p:tgtEl>
                                          <p:spTgt spid="937988"/>
                                        </p:tgtEl>
                                        <p:attrNameLst>
                                          <p:attrName>ppt_x</p:attrName>
                                        </p:attrNameLst>
                                      </p:cBhvr>
                                      <p:tavLst>
                                        <p:tav tm="0">
                                          <p:val>
                                            <p:strVal val="0-#ppt_w/2"/>
                                          </p:val>
                                        </p:tav>
                                        <p:tav tm="100000">
                                          <p:val>
                                            <p:strVal val="#ppt_x"/>
                                          </p:val>
                                        </p:tav>
                                      </p:tavLst>
                                    </p:anim>
                                    <p:anim calcmode="lin" valueType="num">
                                      <p:cBhvr additive="base">
                                        <p:cTn id="8" dur="500" fill="hold"/>
                                        <p:tgtEl>
                                          <p:spTgt spid="93798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IR_END.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9010" name="Text Box 2"/>
          <p:cNvSpPr txBox="1">
            <a:spLocks noChangeArrowheads="1"/>
          </p:cNvSpPr>
          <p:nvPr/>
        </p:nvSpPr>
        <p:spPr bwMode="auto">
          <a:xfrm>
            <a:off x="5514975" y="1139825"/>
            <a:ext cx="3165475" cy="806450"/>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endParaRPr lang="en-US" sz="2200"/>
          </a:p>
        </p:txBody>
      </p:sp>
      <p:sp>
        <p:nvSpPr>
          <p:cNvPr id="939011" name="Text Box 3"/>
          <p:cNvSpPr txBox="1">
            <a:spLocks noChangeArrowheads="1"/>
          </p:cNvSpPr>
          <p:nvPr/>
        </p:nvSpPr>
        <p:spPr bwMode="auto">
          <a:xfrm>
            <a:off x="5541963" y="4940300"/>
            <a:ext cx="1335087" cy="801688"/>
          </a:xfrm>
          <a:prstGeom prst="rect">
            <a:avLst/>
          </a:prstGeom>
          <a:noFill/>
          <a:ln w="9525">
            <a:noFill/>
            <a:miter lim="800000"/>
            <a:headEnd/>
            <a:tailEnd/>
          </a:ln>
          <a:effectLst/>
        </p:spPr>
        <p:txBody>
          <a:bodyPr lIns="0" tIns="0" rIns="0" bIns="0"/>
          <a:lstStyle/>
          <a:p>
            <a:pPr defTabSz="409575">
              <a:buClr>
                <a:srgbClr val="008280"/>
              </a:buClr>
              <a:buSzPct val="90000"/>
              <a:buFont typeface="Monotype Sorts" pitchFamily="2" charset="2"/>
              <a:buNone/>
            </a:pPr>
            <a:r>
              <a:rPr lang="en-US" sz="1500">
                <a:solidFill>
                  <a:srgbClr val="000000"/>
                </a:solidFill>
                <a:latin typeface="Arial" pitchFamily="34" charset="0"/>
              </a:rPr>
              <a:t>Freq: 60.04 Hz</a:t>
            </a:r>
          </a:p>
          <a:p>
            <a:pPr defTabSz="409575">
              <a:buClr>
                <a:srgbClr val="008280"/>
              </a:buClr>
              <a:buSzPct val="90000"/>
              <a:buFont typeface="Monotype Sorts" pitchFamily="2" charset="2"/>
              <a:buNone/>
            </a:pPr>
            <a:r>
              <a:rPr lang="en-US" sz="1500">
                <a:solidFill>
                  <a:srgbClr val="000000"/>
                </a:solidFill>
                <a:latin typeface="Arial" pitchFamily="34" charset="0"/>
              </a:rPr>
              <a:t>Order: 1.010</a:t>
            </a:r>
          </a:p>
          <a:p>
            <a:pPr defTabSz="409575">
              <a:buClr>
                <a:srgbClr val="008280"/>
              </a:buClr>
              <a:buSzPct val="90000"/>
              <a:buFont typeface="Monotype Sorts" pitchFamily="2" charset="2"/>
              <a:buNone/>
            </a:pPr>
            <a:r>
              <a:rPr lang="en-US" sz="1500">
                <a:solidFill>
                  <a:srgbClr val="000000"/>
                </a:solidFill>
                <a:latin typeface="Arial" pitchFamily="34" charset="0"/>
              </a:rPr>
              <a:t>Spec: .390</a:t>
            </a:r>
            <a:endParaRPr lang="en-US" sz="2200"/>
          </a:p>
        </p:txBody>
      </p:sp>
      <p:grpSp>
        <p:nvGrpSpPr>
          <p:cNvPr id="939012" name="Group 4"/>
          <p:cNvGrpSpPr>
            <a:grpSpLocks/>
          </p:cNvGrpSpPr>
          <p:nvPr/>
        </p:nvGrpSpPr>
        <p:grpSpPr bwMode="auto">
          <a:xfrm>
            <a:off x="1089025" y="1509713"/>
            <a:ext cx="4405313" cy="4584700"/>
            <a:chOff x="162" y="373"/>
            <a:chExt cx="3609" cy="3755"/>
          </a:xfrm>
        </p:grpSpPr>
        <p:pic>
          <p:nvPicPr>
            <p:cNvPr id="939013" name="Picture 5"/>
            <p:cNvPicPr>
              <a:picLocks noChangeArrowheads="1"/>
            </p:cNvPicPr>
            <p:nvPr/>
          </p:nvPicPr>
          <p:blipFill>
            <a:blip r:embed="rId3" cstate="print"/>
            <a:srcRect/>
            <a:stretch>
              <a:fillRect/>
            </a:stretch>
          </p:blipFill>
          <p:spPr bwMode="auto">
            <a:xfrm>
              <a:off x="162" y="373"/>
              <a:ext cx="3364" cy="3755"/>
            </a:xfrm>
            <a:prstGeom prst="rect">
              <a:avLst/>
            </a:prstGeom>
            <a:noFill/>
            <a:ln w="9525">
              <a:noFill/>
              <a:miter lim="800000"/>
              <a:headEnd/>
              <a:tailEnd/>
            </a:ln>
            <a:effectLst/>
          </p:spPr>
        </p:pic>
        <p:sp>
          <p:nvSpPr>
            <p:cNvPr id="939014" name="Oval 6"/>
            <p:cNvSpPr>
              <a:spLocks noChangeArrowheads="1"/>
            </p:cNvSpPr>
            <p:nvPr/>
          </p:nvSpPr>
          <p:spPr bwMode="auto">
            <a:xfrm>
              <a:off x="448" y="3453"/>
              <a:ext cx="193" cy="213"/>
            </a:xfrm>
            <a:prstGeom prst="ellipse">
              <a:avLst/>
            </a:prstGeom>
            <a:noFill/>
            <a:ln w="31750">
              <a:solidFill>
                <a:srgbClr val="000000"/>
              </a:solidFill>
              <a:round/>
              <a:headEnd/>
              <a:tailEnd/>
            </a:ln>
            <a:effectLst/>
          </p:spPr>
          <p:txBody>
            <a:bodyPr wrap="none" anchor="ctr"/>
            <a:lstStyle/>
            <a:p>
              <a:endParaRPr lang="en-US"/>
            </a:p>
          </p:txBody>
        </p:sp>
        <p:sp>
          <p:nvSpPr>
            <p:cNvPr id="939015" name="Line 7"/>
            <p:cNvSpPr>
              <a:spLocks noChangeShapeType="1"/>
            </p:cNvSpPr>
            <p:nvPr/>
          </p:nvSpPr>
          <p:spPr bwMode="auto">
            <a:xfrm>
              <a:off x="606" y="3469"/>
              <a:ext cx="3165" cy="0"/>
            </a:xfrm>
            <a:prstGeom prst="line">
              <a:avLst/>
            </a:prstGeom>
            <a:noFill/>
            <a:ln w="31750">
              <a:solidFill>
                <a:srgbClr val="008280"/>
              </a:solidFill>
              <a:round/>
              <a:headEnd/>
              <a:tailEnd/>
            </a:ln>
            <a:effectLst/>
          </p:spPr>
          <p:txBody>
            <a:bodyPr wrap="none" anchor="ctr"/>
            <a:lstStyle/>
            <a:p>
              <a:endParaRPr lang="en-US"/>
            </a:p>
          </p:txBody>
        </p:sp>
      </p:grpSp>
      <p:sp>
        <p:nvSpPr>
          <p:cNvPr id="939016" name="Rectangle 8"/>
          <p:cNvSpPr>
            <a:spLocks noGrp="1" noChangeArrowheads="1"/>
          </p:cNvSpPr>
          <p:nvPr>
            <p:ph type="title"/>
          </p:nvPr>
        </p:nvSpPr>
        <p:spPr/>
        <p:txBody>
          <a:bodyPr/>
          <a:lstStyle/>
          <a:p>
            <a:r>
              <a:rPr lang="en-US"/>
              <a:t>Unbalance</a:t>
            </a:r>
          </a:p>
        </p:txBody>
      </p:sp>
      <p:sp>
        <p:nvSpPr>
          <p:cNvPr id="939017" name="Rectangle 9"/>
          <p:cNvSpPr>
            <a:spLocks noGrp="1" noChangeArrowheads="1"/>
          </p:cNvSpPr>
          <p:nvPr>
            <p:ph type="body" sz="half" idx="2"/>
          </p:nvPr>
        </p:nvSpPr>
        <p:spPr>
          <a:xfrm>
            <a:off x="4645025" y="1447800"/>
            <a:ext cx="3813175" cy="4648200"/>
          </a:xfrm>
        </p:spPr>
        <p:txBody>
          <a:bodyPr/>
          <a:lstStyle/>
          <a:p>
            <a:r>
              <a:rPr lang="en-US" sz="2400"/>
              <a:t>Radial vibration at 1X shaft RPM is much more significant than in the axial direction</a:t>
            </a: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1058" name="Group 2"/>
          <p:cNvGrpSpPr>
            <a:grpSpLocks/>
          </p:cNvGrpSpPr>
          <p:nvPr/>
        </p:nvGrpSpPr>
        <p:grpSpPr bwMode="auto">
          <a:xfrm>
            <a:off x="2057400" y="2743200"/>
            <a:ext cx="5918200" cy="3373438"/>
            <a:chOff x="3452" y="2196"/>
            <a:chExt cx="1812" cy="1033"/>
          </a:xfrm>
        </p:grpSpPr>
        <p:sp>
          <p:nvSpPr>
            <p:cNvPr id="941059" name="Line 3"/>
            <p:cNvSpPr>
              <a:spLocks noChangeShapeType="1"/>
            </p:cNvSpPr>
            <p:nvPr/>
          </p:nvSpPr>
          <p:spPr bwMode="auto">
            <a:xfrm>
              <a:off x="3452" y="3229"/>
              <a:ext cx="1812" cy="0"/>
            </a:xfrm>
            <a:prstGeom prst="line">
              <a:avLst/>
            </a:prstGeom>
            <a:noFill/>
            <a:ln w="127000">
              <a:solidFill>
                <a:srgbClr val="000000"/>
              </a:solidFill>
              <a:round/>
              <a:headEnd type="none" w="sm" len="sm"/>
              <a:tailEnd type="none" w="sm" len="sm"/>
            </a:ln>
            <a:effectLst/>
          </p:spPr>
          <p:txBody>
            <a:bodyPr wrap="none" anchor="ctr"/>
            <a:lstStyle/>
            <a:p>
              <a:endParaRPr lang="en-US"/>
            </a:p>
          </p:txBody>
        </p:sp>
        <p:sp>
          <p:nvSpPr>
            <p:cNvPr id="941060" name="Line 4"/>
            <p:cNvSpPr>
              <a:spLocks noChangeShapeType="1"/>
            </p:cNvSpPr>
            <p:nvPr/>
          </p:nvSpPr>
          <p:spPr bwMode="auto">
            <a:xfrm>
              <a:off x="5014" y="2951"/>
              <a:ext cx="97" cy="26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61" name="Line 5"/>
            <p:cNvSpPr>
              <a:spLocks noChangeShapeType="1"/>
            </p:cNvSpPr>
            <p:nvPr/>
          </p:nvSpPr>
          <p:spPr bwMode="auto">
            <a:xfrm flipH="1">
              <a:off x="3585" y="2951"/>
              <a:ext cx="95" cy="26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62" name="Line 6"/>
            <p:cNvSpPr>
              <a:spLocks noChangeShapeType="1"/>
            </p:cNvSpPr>
            <p:nvPr/>
          </p:nvSpPr>
          <p:spPr bwMode="auto">
            <a:xfrm flipH="1">
              <a:off x="3680" y="2951"/>
              <a:ext cx="133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63" name="Freeform 7"/>
            <p:cNvSpPr>
              <a:spLocks/>
            </p:cNvSpPr>
            <p:nvPr/>
          </p:nvSpPr>
          <p:spPr bwMode="auto">
            <a:xfrm>
              <a:off x="3862" y="2793"/>
              <a:ext cx="22" cy="57"/>
            </a:xfrm>
            <a:custGeom>
              <a:avLst/>
              <a:gdLst/>
              <a:ahLst/>
              <a:cxnLst>
                <a:cxn ang="0">
                  <a:pos x="0" y="72"/>
                </a:cxn>
                <a:cxn ang="0">
                  <a:pos x="4" y="64"/>
                </a:cxn>
                <a:cxn ang="0">
                  <a:pos x="9" y="61"/>
                </a:cxn>
                <a:cxn ang="0">
                  <a:pos x="15" y="56"/>
                </a:cxn>
                <a:cxn ang="0">
                  <a:pos x="17" y="51"/>
                </a:cxn>
                <a:cxn ang="0">
                  <a:pos x="19" y="48"/>
                </a:cxn>
                <a:cxn ang="0">
                  <a:pos x="20" y="43"/>
                </a:cxn>
                <a:cxn ang="0">
                  <a:pos x="22" y="40"/>
                </a:cxn>
                <a:cxn ang="0">
                  <a:pos x="24" y="35"/>
                </a:cxn>
                <a:cxn ang="0">
                  <a:pos x="24" y="32"/>
                </a:cxn>
                <a:cxn ang="0">
                  <a:pos x="25" y="28"/>
                </a:cxn>
                <a:cxn ang="0">
                  <a:pos x="25" y="24"/>
                </a:cxn>
                <a:cxn ang="0">
                  <a:pos x="26" y="19"/>
                </a:cxn>
                <a:cxn ang="0">
                  <a:pos x="27" y="15"/>
                </a:cxn>
                <a:cxn ang="0">
                  <a:pos x="27" y="10"/>
                </a:cxn>
                <a:cxn ang="0">
                  <a:pos x="27" y="4"/>
                </a:cxn>
                <a:cxn ang="0">
                  <a:pos x="27" y="0"/>
                </a:cxn>
              </a:cxnLst>
              <a:rect l="0" t="0" r="r" b="b"/>
              <a:pathLst>
                <a:path w="28" h="73">
                  <a:moveTo>
                    <a:pt x="0" y="72"/>
                  </a:moveTo>
                  <a:lnTo>
                    <a:pt x="4" y="64"/>
                  </a:lnTo>
                  <a:lnTo>
                    <a:pt x="9" y="61"/>
                  </a:lnTo>
                  <a:lnTo>
                    <a:pt x="15" y="56"/>
                  </a:lnTo>
                  <a:lnTo>
                    <a:pt x="17" y="51"/>
                  </a:lnTo>
                  <a:lnTo>
                    <a:pt x="19" y="48"/>
                  </a:lnTo>
                  <a:lnTo>
                    <a:pt x="20" y="43"/>
                  </a:lnTo>
                  <a:lnTo>
                    <a:pt x="22" y="40"/>
                  </a:lnTo>
                  <a:lnTo>
                    <a:pt x="24" y="35"/>
                  </a:lnTo>
                  <a:lnTo>
                    <a:pt x="24" y="32"/>
                  </a:lnTo>
                  <a:lnTo>
                    <a:pt x="25" y="28"/>
                  </a:lnTo>
                  <a:lnTo>
                    <a:pt x="25" y="24"/>
                  </a:lnTo>
                  <a:lnTo>
                    <a:pt x="26" y="19"/>
                  </a:lnTo>
                  <a:lnTo>
                    <a:pt x="27" y="15"/>
                  </a:lnTo>
                  <a:lnTo>
                    <a:pt x="27" y="10"/>
                  </a:lnTo>
                  <a:lnTo>
                    <a:pt x="27" y="4"/>
                  </a:lnTo>
                  <a:lnTo>
                    <a:pt x="27"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064" name="Freeform 8"/>
            <p:cNvSpPr>
              <a:spLocks/>
            </p:cNvSpPr>
            <p:nvPr/>
          </p:nvSpPr>
          <p:spPr bwMode="auto">
            <a:xfrm>
              <a:off x="4528" y="2863"/>
              <a:ext cx="188" cy="31"/>
            </a:xfrm>
            <a:custGeom>
              <a:avLst/>
              <a:gdLst/>
              <a:ahLst/>
              <a:cxnLst>
                <a:cxn ang="0">
                  <a:pos x="0" y="39"/>
                </a:cxn>
                <a:cxn ang="0">
                  <a:pos x="22" y="31"/>
                </a:cxn>
                <a:cxn ang="0">
                  <a:pos x="46" y="23"/>
                </a:cxn>
                <a:cxn ang="0">
                  <a:pos x="70" y="15"/>
                </a:cxn>
                <a:cxn ang="0">
                  <a:pos x="98" y="10"/>
                </a:cxn>
                <a:cxn ang="0">
                  <a:pos x="128" y="6"/>
                </a:cxn>
                <a:cxn ang="0">
                  <a:pos x="161" y="3"/>
                </a:cxn>
                <a:cxn ang="0">
                  <a:pos x="198" y="0"/>
                </a:cxn>
                <a:cxn ang="0">
                  <a:pos x="240" y="0"/>
                </a:cxn>
              </a:cxnLst>
              <a:rect l="0" t="0" r="r" b="b"/>
              <a:pathLst>
                <a:path w="241" h="40">
                  <a:moveTo>
                    <a:pt x="0" y="39"/>
                  </a:moveTo>
                  <a:lnTo>
                    <a:pt x="22" y="31"/>
                  </a:lnTo>
                  <a:lnTo>
                    <a:pt x="46" y="23"/>
                  </a:lnTo>
                  <a:lnTo>
                    <a:pt x="70" y="15"/>
                  </a:lnTo>
                  <a:lnTo>
                    <a:pt x="98" y="10"/>
                  </a:lnTo>
                  <a:lnTo>
                    <a:pt x="128" y="6"/>
                  </a:lnTo>
                  <a:lnTo>
                    <a:pt x="161" y="3"/>
                  </a:lnTo>
                  <a:lnTo>
                    <a:pt x="198" y="0"/>
                  </a:lnTo>
                  <a:lnTo>
                    <a:pt x="24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065" name="Freeform 9"/>
            <p:cNvSpPr>
              <a:spLocks/>
            </p:cNvSpPr>
            <p:nvPr/>
          </p:nvSpPr>
          <p:spPr bwMode="auto">
            <a:xfrm>
              <a:off x="4625" y="2444"/>
              <a:ext cx="31" cy="43"/>
            </a:xfrm>
            <a:custGeom>
              <a:avLst/>
              <a:gdLst/>
              <a:ahLst/>
              <a:cxnLst>
                <a:cxn ang="0">
                  <a:pos x="39" y="0"/>
                </a:cxn>
                <a:cxn ang="0">
                  <a:pos x="34" y="1"/>
                </a:cxn>
                <a:cxn ang="0">
                  <a:pos x="30" y="2"/>
                </a:cxn>
                <a:cxn ang="0">
                  <a:pos x="26" y="3"/>
                </a:cxn>
                <a:cxn ang="0">
                  <a:pos x="23" y="5"/>
                </a:cxn>
                <a:cxn ang="0">
                  <a:pos x="19" y="8"/>
                </a:cxn>
                <a:cxn ang="0">
                  <a:pos x="16" y="10"/>
                </a:cxn>
                <a:cxn ang="0">
                  <a:pos x="12" y="14"/>
                </a:cxn>
                <a:cxn ang="0">
                  <a:pos x="10" y="16"/>
                </a:cxn>
                <a:cxn ang="0">
                  <a:pos x="8" y="21"/>
                </a:cxn>
                <a:cxn ang="0">
                  <a:pos x="6" y="24"/>
                </a:cxn>
                <a:cxn ang="0">
                  <a:pos x="4" y="30"/>
                </a:cxn>
                <a:cxn ang="0">
                  <a:pos x="2" y="33"/>
                </a:cxn>
                <a:cxn ang="0">
                  <a:pos x="0" y="38"/>
                </a:cxn>
                <a:cxn ang="0">
                  <a:pos x="0" y="44"/>
                </a:cxn>
                <a:cxn ang="0">
                  <a:pos x="0" y="48"/>
                </a:cxn>
                <a:cxn ang="0">
                  <a:pos x="0" y="54"/>
                </a:cxn>
              </a:cxnLst>
              <a:rect l="0" t="0" r="r" b="b"/>
              <a:pathLst>
                <a:path w="40" h="55">
                  <a:moveTo>
                    <a:pt x="39" y="0"/>
                  </a:moveTo>
                  <a:lnTo>
                    <a:pt x="34" y="1"/>
                  </a:lnTo>
                  <a:lnTo>
                    <a:pt x="30" y="2"/>
                  </a:lnTo>
                  <a:lnTo>
                    <a:pt x="26" y="3"/>
                  </a:lnTo>
                  <a:lnTo>
                    <a:pt x="23" y="5"/>
                  </a:lnTo>
                  <a:lnTo>
                    <a:pt x="19" y="8"/>
                  </a:lnTo>
                  <a:lnTo>
                    <a:pt x="16" y="10"/>
                  </a:lnTo>
                  <a:lnTo>
                    <a:pt x="12" y="14"/>
                  </a:lnTo>
                  <a:lnTo>
                    <a:pt x="10" y="16"/>
                  </a:lnTo>
                  <a:lnTo>
                    <a:pt x="8" y="21"/>
                  </a:lnTo>
                  <a:lnTo>
                    <a:pt x="6" y="24"/>
                  </a:lnTo>
                  <a:lnTo>
                    <a:pt x="4" y="30"/>
                  </a:lnTo>
                  <a:lnTo>
                    <a:pt x="2" y="33"/>
                  </a:lnTo>
                  <a:lnTo>
                    <a:pt x="0" y="38"/>
                  </a:lnTo>
                  <a:lnTo>
                    <a:pt x="0" y="44"/>
                  </a:lnTo>
                  <a:lnTo>
                    <a:pt x="0" y="48"/>
                  </a:lnTo>
                  <a:lnTo>
                    <a:pt x="0" y="54"/>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066" name="Freeform 10"/>
            <p:cNvSpPr>
              <a:spLocks/>
            </p:cNvSpPr>
            <p:nvPr/>
          </p:nvSpPr>
          <p:spPr bwMode="auto">
            <a:xfrm>
              <a:off x="4180" y="2793"/>
              <a:ext cx="22" cy="57"/>
            </a:xfrm>
            <a:custGeom>
              <a:avLst/>
              <a:gdLst/>
              <a:ahLst/>
              <a:cxnLst>
                <a:cxn ang="0">
                  <a:pos x="27" y="72"/>
                </a:cxn>
                <a:cxn ang="0">
                  <a:pos x="21" y="64"/>
                </a:cxn>
                <a:cxn ang="0">
                  <a:pos x="17" y="61"/>
                </a:cxn>
                <a:cxn ang="0">
                  <a:pos x="13" y="56"/>
                </a:cxn>
                <a:cxn ang="0">
                  <a:pos x="9" y="51"/>
                </a:cxn>
                <a:cxn ang="0">
                  <a:pos x="8" y="48"/>
                </a:cxn>
                <a:cxn ang="0">
                  <a:pos x="5" y="43"/>
                </a:cxn>
                <a:cxn ang="0">
                  <a:pos x="4" y="40"/>
                </a:cxn>
                <a:cxn ang="0">
                  <a:pos x="3" y="35"/>
                </a:cxn>
                <a:cxn ang="0">
                  <a:pos x="1" y="32"/>
                </a:cxn>
                <a:cxn ang="0">
                  <a:pos x="1" y="28"/>
                </a:cxn>
                <a:cxn ang="0">
                  <a:pos x="0" y="24"/>
                </a:cxn>
                <a:cxn ang="0">
                  <a:pos x="0" y="19"/>
                </a:cxn>
                <a:cxn ang="0">
                  <a:pos x="0" y="15"/>
                </a:cxn>
                <a:cxn ang="0">
                  <a:pos x="0" y="10"/>
                </a:cxn>
                <a:cxn ang="0">
                  <a:pos x="0" y="4"/>
                </a:cxn>
                <a:cxn ang="0">
                  <a:pos x="0" y="0"/>
                </a:cxn>
              </a:cxnLst>
              <a:rect l="0" t="0" r="r" b="b"/>
              <a:pathLst>
                <a:path w="28" h="73">
                  <a:moveTo>
                    <a:pt x="27" y="72"/>
                  </a:moveTo>
                  <a:lnTo>
                    <a:pt x="21" y="64"/>
                  </a:lnTo>
                  <a:lnTo>
                    <a:pt x="17" y="61"/>
                  </a:lnTo>
                  <a:lnTo>
                    <a:pt x="13" y="56"/>
                  </a:lnTo>
                  <a:lnTo>
                    <a:pt x="9" y="51"/>
                  </a:lnTo>
                  <a:lnTo>
                    <a:pt x="8" y="48"/>
                  </a:lnTo>
                  <a:lnTo>
                    <a:pt x="5" y="43"/>
                  </a:lnTo>
                  <a:lnTo>
                    <a:pt x="4" y="40"/>
                  </a:lnTo>
                  <a:lnTo>
                    <a:pt x="3" y="35"/>
                  </a:lnTo>
                  <a:lnTo>
                    <a:pt x="1" y="32"/>
                  </a:lnTo>
                  <a:lnTo>
                    <a:pt x="1" y="28"/>
                  </a:lnTo>
                  <a:lnTo>
                    <a:pt x="0" y="24"/>
                  </a:lnTo>
                  <a:lnTo>
                    <a:pt x="0" y="19"/>
                  </a:lnTo>
                  <a:lnTo>
                    <a:pt x="0" y="15"/>
                  </a:lnTo>
                  <a:lnTo>
                    <a:pt x="0" y="10"/>
                  </a:lnTo>
                  <a:lnTo>
                    <a:pt x="0" y="4"/>
                  </a:lnTo>
                  <a:lnTo>
                    <a:pt x="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067" name="Freeform 11"/>
            <p:cNvSpPr>
              <a:spLocks/>
            </p:cNvSpPr>
            <p:nvPr/>
          </p:nvSpPr>
          <p:spPr bwMode="auto">
            <a:xfrm>
              <a:off x="4331" y="2513"/>
              <a:ext cx="31" cy="187"/>
            </a:xfrm>
            <a:custGeom>
              <a:avLst/>
              <a:gdLst/>
              <a:ahLst/>
              <a:cxnLst>
                <a:cxn ang="0">
                  <a:pos x="0" y="238"/>
                </a:cxn>
                <a:cxn ang="0">
                  <a:pos x="0" y="0"/>
                </a:cxn>
                <a:cxn ang="0">
                  <a:pos x="38" y="0"/>
                </a:cxn>
                <a:cxn ang="0">
                  <a:pos x="38" y="238"/>
                </a:cxn>
                <a:cxn ang="0">
                  <a:pos x="0" y="238"/>
                </a:cxn>
              </a:cxnLst>
              <a:rect l="0" t="0" r="r" b="b"/>
              <a:pathLst>
                <a:path w="39" h="239">
                  <a:moveTo>
                    <a:pt x="0" y="238"/>
                  </a:moveTo>
                  <a:lnTo>
                    <a:pt x="0" y="0"/>
                  </a:lnTo>
                  <a:lnTo>
                    <a:pt x="38" y="0"/>
                  </a:lnTo>
                  <a:lnTo>
                    <a:pt x="38" y="238"/>
                  </a:lnTo>
                  <a:lnTo>
                    <a:pt x="0" y="238"/>
                  </a:lnTo>
                </a:path>
              </a:pathLst>
            </a:custGeom>
            <a:noFill/>
            <a:ln w="12700" cap="rnd" cmpd="sng">
              <a:solidFill>
                <a:srgbClr val="000000"/>
              </a:solidFill>
              <a:prstDash val="solid"/>
              <a:round/>
              <a:headEnd/>
              <a:tailEnd/>
            </a:ln>
            <a:effectLst/>
          </p:spPr>
          <p:txBody>
            <a:bodyPr/>
            <a:lstStyle/>
            <a:p>
              <a:endParaRPr lang="en-US"/>
            </a:p>
          </p:txBody>
        </p:sp>
        <p:sp>
          <p:nvSpPr>
            <p:cNvPr id="941068" name="Freeform 12"/>
            <p:cNvSpPr>
              <a:spLocks/>
            </p:cNvSpPr>
            <p:nvPr/>
          </p:nvSpPr>
          <p:spPr bwMode="auto">
            <a:xfrm>
              <a:off x="4306" y="2527"/>
              <a:ext cx="26" cy="161"/>
            </a:xfrm>
            <a:custGeom>
              <a:avLst/>
              <a:gdLst/>
              <a:ahLst/>
              <a:cxnLst>
                <a:cxn ang="0">
                  <a:pos x="0" y="0"/>
                </a:cxn>
                <a:cxn ang="0">
                  <a:pos x="33" y="0"/>
                </a:cxn>
                <a:cxn ang="0">
                  <a:pos x="33" y="205"/>
                </a:cxn>
                <a:cxn ang="0">
                  <a:pos x="0" y="205"/>
                </a:cxn>
                <a:cxn ang="0">
                  <a:pos x="0" y="0"/>
                </a:cxn>
              </a:cxnLst>
              <a:rect l="0" t="0" r="r" b="b"/>
              <a:pathLst>
                <a:path w="34" h="206">
                  <a:moveTo>
                    <a:pt x="0" y="0"/>
                  </a:moveTo>
                  <a:lnTo>
                    <a:pt x="33" y="0"/>
                  </a:lnTo>
                  <a:lnTo>
                    <a:pt x="33" y="205"/>
                  </a:lnTo>
                  <a:lnTo>
                    <a:pt x="0" y="205"/>
                  </a:lnTo>
                  <a:lnTo>
                    <a:pt x="0" y="0"/>
                  </a:lnTo>
                </a:path>
              </a:pathLst>
            </a:custGeom>
            <a:noFill/>
            <a:ln w="12700" cap="rnd" cmpd="sng">
              <a:solidFill>
                <a:srgbClr val="000000"/>
              </a:solidFill>
              <a:prstDash val="solid"/>
              <a:round/>
              <a:headEnd/>
              <a:tailEnd/>
            </a:ln>
            <a:effectLst/>
          </p:spPr>
          <p:txBody>
            <a:bodyPr/>
            <a:lstStyle/>
            <a:p>
              <a:endParaRPr lang="en-US"/>
            </a:p>
          </p:txBody>
        </p:sp>
        <p:sp>
          <p:nvSpPr>
            <p:cNvPr id="941069" name="Line 13"/>
            <p:cNvSpPr>
              <a:spLocks noChangeShapeType="1"/>
            </p:cNvSpPr>
            <p:nvPr/>
          </p:nvSpPr>
          <p:spPr bwMode="auto">
            <a:xfrm>
              <a:off x="3758" y="2882"/>
              <a:ext cx="51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70" name="Line 14"/>
            <p:cNvSpPr>
              <a:spLocks noChangeShapeType="1"/>
            </p:cNvSpPr>
            <p:nvPr/>
          </p:nvSpPr>
          <p:spPr bwMode="auto">
            <a:xfrm flipH="1">
              <a:off x="4130" y="2862"/>
              <a:ext cx="6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71" name="Line 15"/>
            <p:cNvSpPr>
              <a:spLocks noChangeShapeType="1"/>
            </p:cNvSpPr>
            <p:nvPr/>
          </p:nvSpPr>
          <p:spPr bwMode="auto">
            <a:xfrm>
              <a:off x="4129" y="2850"/>
              <a:ext cx="7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72" name="Line 16"/>
            <p:cNvSpPr>
              <a:spLocks noChangeShapeType="1"/>
            </p:cNvSpPr>
            <p:nvPr/>
          </p:nvSpPr>
          <p:spPr bwMode="auto">
            <a:xfrm>
              <a:off x="4126" y="2868"/>
              <a:ext cx="78"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73" name="Line 17"/>
            <p:cNvSpPr>
              <a:spLocks noChangeShapeType="1"/>
            </p:cNvSpPr>
            <p:nvPr/>
          </p:nvSpPr>
          <p:spPr bwMode="auto">
            <a:xfrm flipH="1">
              <a:off x="4126" y="2870"/>
              <a:ext cx="78"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74" name="Line 18"/>
            <p:cNvSpPr>
              <a:spLocks noChangeShapeType="1"/>
            </p:cNvSpPr>
            <p:nvPr/>
          </p:nvSpPr>
          <p:spPr bwMode="auto">
            <a:xfrm>
              <a:off x="4126" y="2874"/>
              <a:ext cx="78"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75" name="Line 19"/>
            <p:cNvSpPr>
              <a:spLocks noChangeShapeType="1"/>
            </p:cNvSpPr>
            <p:nvPr/>
          </p:nvSpPr>
          <p:spPr bwMode="auto">
            <a:xfrm flipH="1">
              <a:off x="4126" y="2879"/>
              <a:ext cx="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76" name="Line 20"/>
            <p:cNvSpPr>
              <a:spLocks noChangeShapeType="1"/>
            </p:cNvSpPr>
            <p:nvPr/>
          </p:nvSpPr>
          <p:spPr bwMode="auto">
            <a:xfrm flipH="1">
              <a:off x="4148" y="2834"/>
              <a:ext cx="28"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77" name="Line 21"/>
            <p:cNvSpPr>
              <a:spLocks noChangeShapeType="1"/>
            </p:cNvSpPr>
            <p:nvPr/>
          </p:nvSpPr>
          <p:spPr bwMode="auto">
            <a:xfrm>
              <a:off x="4170" y="2835"/>
              <a:ext cx="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78" name="Line 22"/>
            <p:cNvSpPr>
              <a:spLocks noChangeShapeType="1"/>
            </p:cNvSpPr>
            <p:nvPr/>
          </p:nvSpPr>
          <p:spPr bwMode="auto">
            <a:xfrm>
              <a:off x="3874" y="2862"/>
              <a:ext cx="6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79" name="Line 23"/>
            <p:cNvSpPr>
              <a:spLocks noChangeShapeType="1"/>
            </p:cNvSpPr>
            <p:nvPr/>
          </p:nvSpPr>
          <p:spPr bwMode="auto">
            <a:xfrm flipH="1">
              <a:off x="3862" y="2850"/>
              <a:ext cx="7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80" name="Line 24"/>
            <p:cNvSpPr>
              <a:spLocks noChangeShapeType="1"/>
            </p:cNvSpPr>
            <p:nvPr/>
          </p:nvSpPr>
          <p:spPr bwMode="auto">
            <a:xfrm>
              <a:off x="3888" y="2834"/>
              <a:ext cx="2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81" name="Line 25"/>
            <p:cNvSpPr>
              <a:spLocks noChangeShapeType="1"/>
            </p:cNvSpPr>
            <p:nvPr/>
          </p:nvSpPr>
          <p:spPr bwMode="auto">
            <a:xfrm>
              <a:off x="3908" y="2835"/>
              <a:ext cx="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82" name="Line 26"/>
            <p:cNvSpPr>
              <a:spLocks noChangeShapeType="1"/>
            </p:cNvSpPr>
            <p:nvPr/>
          </p:nvSpPr>
          <p:spPr bwMode="auto">
            <a:xfrm>
              <a:off x="3858" y="2868"/>
              <a:ext cx="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83" name="Line 27"/>
            <p:cNvSpPr>
              <a:spLocks noChangeShapeType="1"/>
            </p:cNvSpPr>
            <p:nvPr/>
          </p:nvSpPr>
          <p:spPr bwMode="auto">
            <a:xfrm flipH="1">
              <a:off x="3858" y="2870"/>
              <a:ext cx="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84" name="Line 28"/>
            <p:cNvSpPr>
              <a:spLocks noChangeShapeType="1"/>
            </p:cNvSpPr>
            <p:nvPr/>
          </p:nvSpPr>
          <p:spPr bwMode="auto">
            <a:xfrm>
              <a:off x="3858" y="2874"/>
              <a:ext cx="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85" name="Line 29"/>
            <p:cNvSpPr>
              <a:spLocks noChangeShapeType="1"/>
            </p:cNvSpPr>
            <p:nvPr/>
          </p:nvSpPr>
          <p:spPr bwMode="auto">
            <a:xfrm flipH="1">
              <a:off x="3858" y="2879"/>
              <a:ext cx="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86" name="Line 30"/>
            <p:cNvSpPr>
              <a:spLocks noChangeShapeType="1"/>
            </p:cNvSpPr>
            <p:nvPr/>
          </p:nvSpPr>
          <p:spPr bwMode="auto">
            <a:xfrm flipH="1">
              <a:off x="3862" y="2862"/>
              <a:ext cx="1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87" name="Line 31"/>
            <p:cNvSpPr>
              <a:spLocks noChangeShapeType="1"/>
            </p:cNvSpPr>
            <p:nvPr/>
          </p:nvSpPr>
          <p:spPr bwMode="auto">
            <a:xfrm>
              <a:off x="3862" y="2850"/>
              <a:ext cx="0" cy="1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88" name="Line 32"/>
            <p:cNvSpPr>
              <a:spLocks noChangeShapeType="1"/>
            </p:cNvSpPr>
            <p:nvPr/>
          </p:nvSpPr>
          <p:spPr bwMode="auto">
            <a:xfrm flipV="1">
              <a:off x="3887" y="2834"/>
              <a:ext cx="0" cy="16"/>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89" name="Line 33"/>
            <p:cNvSpPr>
              <a:spLocks noChangeShapeType="1"/>
            </p:cNvSpPr>
            <p:nvPr/>
          </p:nvSpPr>
          <p:spPr bwMode="auto">
            <a:xfrm>
              <a:off x="3895" y="2838"/>
              <a:ext cx="0" cy="1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90" name="Line 34"/>
            <p:cNvSpPr>
              <a:spLocks noChangeShapeType="1"/>
            </p:cNvSpPr>
            <p:nvPr/>
          </p:nvSpPr>
          <p:spPr bwMode="auto">
            <a:xfrm>
              <a:off x="3907" y="2838"/>
              <a:ext cx="0" cy="1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91" name="Line 35"/>
            <p:cNvSpPr>
              <a:spLocks noChangeShapeType="1"/>
            </p:cNvSpPr>
            <p:nvPr/>
          </p:nvSpPr>
          <p:spPr bwMode="auto">
            <a:xfrm flipV="1">
              <a:off x="3907" y="2835"/>
              <a:ext cx="1" cy="3"/>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92" name="Line 36"/>
            <p:cNvSpPr>
              <a:spLocks noChangeShapeType="1"/>
            </p:cNvSpPr>
            <p:nvPr/>
          </p:nvSpPr>
          <p:spPr bwMode="auto">
            <a:xfrm flipH="1" flipV="1">
              <a:off x="3904" y="2835"/>
              <a:ext cx="3" cy="3"/>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93" name="Line 37"/>
            <p:cNvSpPr>
              <a:spLocks noChangeShapeType="1"/>
            </p:cNvSpPr>
            <p:nvPr/>
          </p:nvSpPr>
          <p:spPr bwMode="auto">
            <a:xfrm flipH="1">
              <a:off x="3896" y="2835"/>
              <a:ext cx="8"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94" name="Line 38"/>
            <p:cNvSpPr>
              <a:spLocks noChangeShapeType="1"/>
            </p:cNvSpPr>
            <p:nvPr/>
          </p:nvSpPr>
          <p:spPr bwMode="auto">
            <a:xfrm flipH="1">
              <a:off x="3895" y="2835"/>
              <a:ext cx="1" cy="3"/>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95" name="Line 39"/>
            <p:cNvSpPr>
              <a:spLocks noChangeShapeType="1"/>
            </p:cNvSpPr>
            <p:nvPr/>
          </p:nvSpPr>
          <p:spPr bwMode="auto">
            <a:xfrm flipH="1" flipV="1">
              <a:off x="3893" y="2835"/>
              <a:ext cx="2" cy="3"/>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96" name="Line 40"/>
            <p:cNvSpPr>
              <a:spLocks noChangeShapeType="1"/>
            </p:cNvSpPr>
            <p:nvPr/>
          </p:nvSpPr>
          <p:spPr bwMode="auto">
            <a:xfrm>
              <a:off x="3888" y="2835"/>
              <a:ext cx="0"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97" name="Line 41"/>
            <p:cNvSpPr>
              <a:spLocks noChangeShapeType="1"/>
            </p:cNvSpPr>
            <p:nvPr/>
          </p:nvSpPr>
          <p:spPr bwMode="auto">
            <a:xfrm flipH="1">
              <a:off x="3888" y="2835"/>
              <a:ext cx="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98" name="Line 42"/>
            <p:cNvSpPr>
              <a:spLocks noChangeShapeType="1"/>
            </p:cNvSpPr>
            <p:nvPr/>
          </p:nvSpPr>
          <p:spPr bwMode="auto">
            <a:xfrm>
              <a:off x="3758" y="2882"/>
              <a:ext cx="0" cy="6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099" name="Line 43"/>
            <p:cNvSpPr>
              <a:spLocks noChangeShapeType="1"/>
            </p:cNvSpPr>
            <p:nvPr/>
          </p:nvSpPr>
          <p:spPr bwMode="auto">
            <a:xfrm flipV="1">
              <a:off x="3935" y="2850"/>
              <a:ext cx="0" cy="1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00" name="Line 44"/>
            <p:cNvSpPr>
              <a:spLocks noChangeShapeType="1"/>
            </p:cNvSpPr>
            <p:nvPr/>
          </p:nvSpPr>
          <p:spPr bwMode="auto">
            <a:xfrm>
              <a:off x="3933" y="2862"/>
              <a:ext cx="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01" name="Line 45"/>
            <p:cNvSpPr>
              <a:spLocks noChangeShapeType="1"/>
            </p:cNvSpPr>
            <p:nvPr/>
          </p:nvSpPr>
          <p:spPr bwMode="auto">
            <a:xfrm>
              <a:off x="3914" y="2834"/>
              <a:ext cx="0" cy="16"/>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02" name="Line 46"/>
            <p:cNvSpPr>
              <a:spLocks noChangeShapeType="1"/>
            </p:cNvSpPr>
            <p:nvPr/>
          </p:nvSpPr>
          <p:spPr bwMode="auto">
            <a:xfrm>
              <a:off x="3914" y="2835"/>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03" name="Line 47"/>
            <p:cNvSpPr>
              <a:spLocks noChangeShapeType="1"/>
            </p:cNvSpPr>
            <p:nvPr/>
          </p:nvSpPr>
          <p:spPr bwMode="auto">
            <a:xfrm flipV="1">
              <a:off x="3934" y="2793"/>
              <a:ext cx="0" cy="57"/>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04" name="Line 48"/>
            <p:cNvSpPr>
              <a:spLocks noChangeShapeType="1"/>
            </p:cNvSpPr>
            <p:nvPr/>
          </p:nvSpPr>
          <p:spPr bwMode="auto">
            <a:xfrm flipV="1">
              <a:off x="4129" y="2850"/>
              <a:ext cx="0" cy="1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05" name="Line 49"/>
            <p:cNvSpPr>
              <a:spLocks noChangeShapeType="1"/>
            </p:cNvSpPr>
            <p:nvPr/>
          </p:nvSpPr>
          <p:spPr bwMode="auto">
            <a:xfrm flipH="1">
              <a:off x="4129" y="2862"/>
              <a:ext cx="1"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06" name="Line 50"/>
            <p:cNvSpPr>
              <a:spLocks noChangeShapeType="1"/>
            </p:cNvSpPr>
            <p:nvPr/>
          </p:nvSpPr>
          <p:spPr bwMode="auto">
            <a:xfrm>
              <a:off x="4148" y="2834"/>
              <a:ext cx="0" cy="16"/>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07" name="Line 51"/>
            <p:cNvSpPr>
              <a:spLocks noChangeShapeType="1"/>
            </p:cNvSpPr>
            <p:nvPr/>
          </p:nvSpPr>
          <p:spPr bwMode="auto">
            <a:xfrm>
              <a:off x="4168" y="2838"/>
              <a:ext cx="0" cy="1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08" name="Line 52"/>
            <p:cNvSpPr>
              <a:spLocks noChangeShapeType="1"/>
            </p:cNvSpPr>
            <p:nvPr/>
          </p:nvSpPr>
          <p:spPr bwMode="auto">
            <a:xfrm>
              <a:off x="4157" y="2838"/>
              <a:ext cx="0" cy="1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09" name="Line 53"/>
            <p:cNvSpPr>
              <a:spLocks noChangeShapeType="1"/>
            </p:cNvSpPr>
            <p:nvPr/>
          </p:nvSpPr>
          <p:spPr bwMode="auto">
            <a:xfrm flipH="1" flipV="1">
              <a:off x="4154" y="2835"/>
              <a:ext cx="3" cy="3"/>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10" name="Line 54"/>
            <p:cNvSpPr>
              <a:spLocks noChangeShapeType="1"/>
            </p:cNvSpPr>
            <p:nvPr/>
          </p:nvSpPr>
          <p:spPr bwMode="auto">
            <a:xfrm flipH="1">
              <a:off x="4149" y="2835"/>
              <a:ext cx="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11" name="Line 55"/>
            <p:cNvSpPr>
              <a:spLocks noChangeShapeType="1"/>
            </p:cNvSpPr>
            <p:nvPr/>
          </p:nvSpPr>
          <p:spPr bwMode="auto">
            <a:xfrm flipH="1">
              <a:off x="4148" y="2835"/>
              <a:ext cx="1"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12" name="Line 56"/>
            <p:cNvSpPr>
              <a:spLocks noChangeShapeType="1"/>
            </p:cNvSpPr>
            <p:nvPr/>
          </p:nvSpPr>
          <p:spPr bwMode="auto">
            <a:xfrm flipV="1">
              <a:off x="4157" y="2835"/>
              <a:ext cx="1" cy="3"/>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13" name="Line 57"/>
            <p:cNvSpPr>
              <a:spLocks noChangeShapeType="1"/>
            </p:cNvSpPr>
            <p:nvPr/>
          </p:nvSpPr>
          <p:spPr bwMode="auto">
            <a:xfrm>
              <a:off x="4158" y="2835"/>
              <a:ext cx="8"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14" name="Line 58"/>
            <p:cNvSpPr>
              <a:spLocks noChangeShapeType="1"/>
            </p:cNvSpPr>
            <p:nvPr/>
          </p:nvSpPr>
          <p:spPr bwMode="auto">
            <a:xfrm>
              <a:off x="4166" y="2835"/>
              <a:ext cx="2" cy="3"/>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15" name="Line 59"/>
            <p:cNvSpPr>
              <a:spLocks noChangeShapeType="1"/>
            </p:cNvSpPr>
            <p:nvPr/>
          </p:nvSpPr>
          <p:spPr bwMode="auto">
            <a:xfrm flipV="1">
              <a:off x="4168" y="2835"/>
              <a:ext cx="2" cy="3"/>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16" name="Line 60"/>
            <p:cNvSpPr>
              <a:spLocks noChangeShapeType="1"/>
            </p:cNvSpPr>
            <p:nvPr/>
          </p:nvSpPr>
          <p:spPr bwMode="auto">
            <a:xfrm flipV="1">
              <a:off x="4130" y="2793"/>
              <a:ext cx="0" cy="57"/>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17" name="Line 61"/>
            <p:cNvSpPr>
              <a:spLocks noChangeShapeType="1"/>
            </p:cNvSpPr>
            <p:nvPr/>
          </p:nvSpPr>
          <p:spPr bwMode="auto">
            <a:xfrm>
              <a:off x="4590" y="2591"/>
              <a:ext cx="12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18" name="Line 62"/>
            <p:cNvSpPr>
              <a:spLocks noChangeShapeType="1"/>
            </p:cNvSpPr>
            <p:nvPr/>
          </p:nvSpPr>
          <p:spPr bwMode="auto">
            <a:xfrm>
              <a:off x="4624" y="2591"/>
              <a:ext cx="5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19" name="Line 63"/>
            <p:cNvSpPr>
              <a:spLocks noChangeShapeType="1"/>
            </p:cNvSpPr>
            <p:nvPr/>
          </p:nvSpPr>
          <p:spPr bwMode="auto">
            <a:xfrm>
              <a:off x="4591" y="2591"/>
              <a:ext cx="5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20" name="Line 64"/>
            <p:cNvSpPr>
              <a:spLocks noChangeShapeType="1"/>
            </p:cNvSpPr>
            <p:nvPr/>
          </p:nvSpPr>
          <p:spPr bwMode="auto">
            <a:xfrm>
              <a:off x="4583" y="2565"/>
              <a:ext cx="131"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21" name="Line 65"/>
            <p:cNvSpPr>
              <a:spLocks noChangeShapeType="1"/>
            </p:cNvSpPr>
            <p:nvPr/>
          </p:nvSpPr>
          <p:spPr bwMode="auto">
            <a:xfrm>
              <a:off x="4590" y="2543"/>
              <a:ext cx="5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22" name="Line 66"/>
            <p:cNvSpPr>
              <a:spLocks noChangeShapeType="1"/>
            </p:cNvSpPr>
            <p:nvPr/>
          </p:nvSpPr>
          <p:spPr bwMode="auto">
            <a:xfrm>
              <a:off x="4625" y="2486"/>
              <a:ext cx="0" cy="43"/>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23" name="Line 67"/>
            <p:cNvSpPr>
              <a:spLocks noChangeShapeType="1"/>
            </p:cNvSpPr>
            <p:nvPr/>
          </p:nvSpPr>
          <p:spPr bwMode="auto">
            <a:xfrm flipV="1">
              <a:off x="4177" y="2834"/>
              <a:ext cx="0" cy="16"/>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24" name="Line 68"/>
            <p:cNvSpPr>
              <a:spLocks noChangeShapeType="1"/>
            </p:cNvSpPr>
            <p:nvPr/>
          </p:nvSpPr>
          <p:spPr bwMode="auto">
            <a:xfrm flipH="1">
              <a:off x="4361" y="2659"/>
              <a:ext cx="3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25" name="Line 69"/>
            <p:cNvSpPr>
              <a:spLocks noChangeShapeType="1"/>
            </p:cNvSpPr>
            <p:nvPr/>
          </p:nvSpPr>
          <p:spPr bwMode="auto">
            <a:xfrm flipH="1">
              <a:off x="4361" y="2552"/>
              <a:ext cx="2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26" name="Line 70"/>
            <p:cNvSpPr>
              <a:spLocks noChangeShapeType="1"/>
            </p:cNvSpPr>
            <p:nvPr/>
          </p:nvSpPr>
          <p:spPr bwMode="auto">
            <a:xfrm>
              <a:off x="4190" y="2862"/>
              <a:ext cx="11"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27" name="Line 71"/>
            <p:cNvSpPr>
              <a:spLocks noChangeShapeType="1"/>
            </p:cNvSpPr>
            <p:nvPr/>
          </p:nvSpPr>
          <p:spPr bwMode="auto">
            <a:xfrm>
              <a:off x="4201" y="2850"/>
              <a:ext cx="0" cy="1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28" name="Line 72"/>
            <p:cNvSpPr>
              <a:spLocks noChangeShapeType="1"/>
            </p:cNvSpPr>
            <p:nvPr/>
          </p:nvSpPr>
          <p:spPr bwMode="auto">
            <a:xfrm>
              <a:off x="4271" y="2882"/>
              <a:ext cx="0" cy="6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29" name="Line 73"/>
            <p:cNvSpPr>
              <a:spLocks noChangeShapeType="1"/>
            </p:cNvSpPr>
            <p:nvPr/>
          </p:nvSpPr>
          <p:spPr bwMode="auto">
            <a:xfrm>
              <a:off x="4304" y="2527"/>
              <a:ext cx="1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30" name="Line 74"/>
            <p:cNvSpPr>
              <a:spLocks noChangeShapeType="1"/>
            </p:cNvSpPr>
            <p:nvPr/>
          </p:nvSpPr>
          <p:spPr bwMode="auto">
            <a:xfrm flipV="1">
              <a:off x="4304" y="2527"/>
              <a:ext cx="19" cy="2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31" name="Line 75"/>
            <p:cNvSpPr>
              <a:spLocks noChangeShapeType="1"/>
            </p:cNvSpPr>
            <p:nvPr/>
          </p:nvSpPr>
          <p:spPr bwMode="auto">
            <a:xfrm flipH="1">
              <a:off x="4304" y="2544"/>
              <a:ext cx="24" cy="33"/>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32" name="Line 76"/>
            <p:cNvSpPr>
              <a:spLocks noChangeShapeType="1"/>
            </p:cNvSpPr>
            <p:nvPr/>
          </p:nvSpPr>
          <p:spPr bwMode="auto">
            <a:xfrm flipV="1">
              <a:off x="4304" y="2561"/>
              <a:ext cx="24" cy="34"/>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33" name="Line 77"/>
            <p:cNvSpPr>
              <a:spLocks noChangeShapeType="1"/>
            </p:cNvSpPr>
            <p:nvPr/>
          </p:nvSpPr>
          <p:spPr bwMode="auto">
            <a:xfrm flipH="1">
              <a:off x="4304" y="2587"/>
              <a:ext cx="24" cy="33"/>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34" name="Line 78"/>
            <p:cNvSpPr>
              <a:spLocks noChangeShapeType="1"/>
            </p:cNvSpPr>
            <p:nvPr/>
          </p:nvSpPr>
          <p:spPr bwMode="auto">
            <a:xfrm flipV="1">
              <a:off x="4304" y="2607"/>
              <a:ext cx="28" cy="3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35" name="Line 79"/>
            <p:cNvSpPr>
              <a:spLocks noChangeShapeType="1"/>
            </p:cNvSpPr>
            <p:nvPr/>
          </p:nvSpPr>
          <p:spPr bwMode="auto">
            <a:xfrm flipH="1">
              <a:off x="4304" y="2634"/>
              <a:ext cx="28" cy="37"/>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36" name="Line 80"/>
            <p:cNvSpPr>
              <a:spLocks noChangeShapeType="1"/>
            </p:cNvSpPr>
            <p:nvPr/>
          </p:nvSpPr>
          <p:spPr bwMode="auto">
            <a:xfrm flipV="1">
              <a:off x="4313" y="2659"/>
              <a:ext cx="19" cy="26"/>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37" name="Line 81"/>
            <p:cNvSpPr>
              <a:spLocks noChangeShapeType="1"/>
            </p:cNvSpPr>
            <p:nvPr/>
          </p:nvSpPr>
          <p:spPr bwMode="auto">
            <a:xfrm>
              <a:off x="4335" y="2681"/>
              <a:ext cx="11"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38" name="Line 82"/>
            <p:cNvSpPr>
              <a:spLocks noChangeShapeType="1"/>
            </p:cNvSpPr>
            <p:nvPr/>
          </p:nvSpPr>
          <p:spPr bwMode="auto">
            <a:xfrm flipH="1" flipV="1">
              <a:off x="4321" y="2527"/>
              <a:ext cx="13" cy="1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39" name="Line 83"/>
            <p:cNvSpPr>
              <a:spLocks noChangeShapeType="1"/>
            </p:cNvSpPr>
            <p:nvPr/>
          </p:nvSpPr>
          <p:spPr bwMode="auto">
            <a:xfrm>
              <a:off x="4306" y="2532"/>
              <a:ext cx="28" cy="37"/>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40" name="Line 84"/>
            <p:cNvSpPr>
              <a:spLocks noChangeShapeType="1"/>
            </p:cNvSpPr>
            <p:nvPr/>
          </p:nvSpPr>
          <p:spPr bwMode="auto">
            <a:xfrm flipH="1" flipV="1">
              <a:off x="4306" y="2557"/>
              <a:ext cx="28" cy="3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41" name="Line 85"/>
            <p:cNvSpPr>
              <a:spLocks noChangeShapeType="1"/>
            </p:cNvSpPr>
            <p:nvPr/>
          </p:nvSpPr>
          <p:spPr bwMode="auto">
            <a:xfrm>
              <a:off x="4306" y="2573"/>
              <a:ext cx="25" cy="34"/>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42" name="Line 86"/>
            <p:cNvSpPr>
              <a:spLocks noChangeShapeType="1"/>
            </p:cNvSpPr>
            <p:nvPr/>
          </p:nvSpPr>
          <p:spPr bwMode="auto">
            <a:xfrm flipH="1" flipV="1">
              <a:off x="4306" y="2599"/>
              <a:ext cx="25" cy="3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43" name="Line 87"/>
            <p:cNvSpPr>
              <a:spLocks noChangeShapeType="1"/>
            </p:cNvSpPr>
            <p:nvPr/>
          </p:nvSpPr>
          <p:spPr bwMode="auto">
            <a:xfrm>
              <a:off x="4306" y="2627"/>
              <a:ext cx="25" cy="33"/>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44" name="Line 88"/>
            <p:cNvSpPr>
              <a:spLocks noChangeShapeType="1"/>
            </p:cNvSpPr>
            <p:nvPr/>
          </p:nvSpPr>
          <p:spPr bwMode="auto">
            <a:xfrm flipH="1" flipV="1">
              <a:off x="4306" y="2651"/>
              <a:ext cx="25" cy="34"/>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45" name="Line 89"/>
            <p:cNvSpPr>
              <a:spLocks noChangeShapeType="1"/>
            </p:cNvSpPr>
            <p:nvPr/>
          </p:nvSpPr>
          <p:spPr bwMode="auto">
            <a:xfrm>
              <a:off x="4306" y="2676"/>
              <a:ext cx="7"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46" name="Freeform 90"/>
            <p:cNvSpPr>
              <a:spLocks/>
            </p:cNvSpPr>
            <p:nvPr/>
          </p:nvSpPr>
          <p:spPr bwMode="auto">
            <a:xfrm>
              <a:off x="4480" y="2753"/>
              <a:ext cx="87" cy="198"/>
            </a:xfrm>
            <a:custGeom>
              <a:avLst/>
              <a:gdLst/>
              <a:ahLst/>
              <a:cxnLst>
                <a:cxn ang="0">
                  <a:pos x="105" y="0"/>
                </a:cxn>
                <a:cxn ang="0">
                  <a:pos x="108" y="27"/>
                </a:cxn>
                <a:cxn ang="0">
                  <a:pos x="109" y="52"/>
                </a:cxn>
                <a:cxn ang="0">
                  <a:pos x="110" y="70"/>
                </a:cxn>
                <a:cxn ang="0">
                  <a:pos x="110" y="85"/>
                </a:cxn>
                <a:cxn ang="0">
                  <a:pos x="110" y="98"/>
                </a:cxn>
                <a:cxn ang="0">
                  <a:pos x="109" y="107"/>
                </a:cxn>
                <a:cxn ang="0">
                  <a:pos x="107" y="114"/>
                </a:cxn>
                <a:cxn ang="0">
                  <a:pos x="104" y="120"/>
                </a:cxn>
                <a:cxn ang="0">
                  <a:pos x="101" y="127"/>
                </a:cxn>
                <a:cxn ang="0">
                  <a:pos x="100" y="132"/>
                </a:cxn>
                <a:cxn ang="0">
                  <a:pos x="97" y="138"/>
                </a:cxn>
                <a:cxn ang="0">
                  <a:pos x="94" y="145"/>
                </a:cxn>
                <a:cxn ang="0">
                  <a:pos x="91" y="150"/>
                </a:cxn>
                <a:cxn ang="0">
                  <a:pos x="89" y="154"/>
                </a:cxn>
                <a:cxn ang="0">
                  <a:pos x="86" y="158"/>
                </a:cxn>
                <a:cxn ang="0">
                  <a:pos x="82" y="163"/>
                </a:cxn>
                <a:cxn ang="0">
                  <a:pos x="78" y="165"/>
                </a:cxn>
                <a:cxn ang="0">
                  <a:pos x="74" y="169"/>
                </a:cxn>
                <a:cxn ang="0">
                  <a:pos x="70" y="173"/>
                </a:cxn>
                <a:cxn ang="0">
                  <a:pos x="67" y="176"/>
                </a:cxn>
                <a:cxn ang="0">
                  <a:pos x="61" y="179"/>
                </a:cxn>
                <a:cxn ang="0">
                  <a:pos x="58" y="182"/>
                </a:cxn>
                <a:cxn ang="0">
                  <a:pos x="52" y="184"/>
                </a:cxn>
                <a:cxn ang="0">
                  <a:pos x="49" y="189"/>
                </a:cxn>
                <a:cxn ang="0">
                  <a:pos x="44" y="191"/>
                </a:cxn>
                <a:cxn ang="0">
                  <a:pos x="40" y="193"/>
                </a:cxn>
                <a:cxn ang="0">
                  <a:pos x="35" y="195"/>
                </a:cxn>
                <a:cxn ang="0">
                  <a:pos x="31" y="198"/>
                </a:cxn>
                <a:cxn ang="0">
                  <a:pos x="27" y="200"/>
                </a:cxn>
                <a:cxn ang="0">
                  <a:pos x="24" y="201"/>
                </a:cxn>
                <a:cxn ang="0">
                  <a:pos x="21" y="205"/>
                </a:cxn>
                <a:cxn ang="0">
                  <a:pos x="18" y="207"/>
                </a:cxn>
                <a:cxn ang="0">
                  <a:pos x="14" y="211"/>
                </a:cxn>
                <a:cxn ang="0">
                  <a:pos x="10" y="214"/>
                </a:cxn>
                <a:cxn ang="0">
                  <a:pos x="9" y="218"/>
                </a:cxn>
                <a:cxn ang="0">
                  <a:pos x="6" y="222"/>
                </a:cxn>
                <a:cxn ang="0">
                  <a:pos x="4" y="228"/>
                </a:cxn>
                <a:cxn ang="0">
                  <a:pos x="2" y="235"/>
                </a:cxn>
                <a:cxn ang="0">
                  <a:pos x="0" y="242"/>
                </a:cxn>
                <a:cxn ang="0">
                  <a:pos x="0" y="253"/>
                </a:cxn>
              </a:cxnLst>
              <a:rect l="0" t="0" r="r" b="b"/>
              <a:pathLst>
                <a:path w="111" h="254">
                  <a:moveTo>
                    <a:pt x="105" y="0"/>
                  </a:moveTo>
                  <a:lnTo>
                    <a:pt x="108" y="27"/>
                  </a:lnTo>
                  <a:lnTo>
                    <a:pt x="109" y="52"/>
                  </a:lnTo>
                  <a:lnTo>
                    <a:pt x="110" y="70"/>
                  </a:lnTo>
                  <a:lnTo>
                    <a:pt x="110" y="85"/>
                  </a:lnTo>
                  <a:lnTo>
                    <a:pt x="110" y="98"/>
                  </a:lnTo>
                  <a:lnTo>
                    <a:pt x="109" y="107"/>
                  </a:lnTo>
                  <a:lnTo>
                    <a:pt x="107" y="114"/>
                  </a:lnTo>
                  <a:lnTo>
                    <a:pt x="104" y="120"/>
                  </a:lnTo>
                  <a:lnTo>
                    <a:pt x="101" y="127"/>
                  </a:lnTo>
                  <a:lnTo>
                    <a:pt x="100" y="132"/>
                  </a:lnTo>
                  <a:lnTo>
                    <a:pt x="97" y="138"/>
                  </a:lnTo>
                  <a:lnTo>
                    <a:pt x="94" y="145"/>
                  </a:lnTo>
                  <a:lnTo>
                    <a:pt x="91" y="150"/>
                  </a:lnTo>
                  <a:lnTo>
                    <a:pt x="89" y="154"/>
                  </a:lnTo>
                  <a:lnTo>
                    <a:pt x="86" y="158"/>
                  </a:lnTo>
                  <a:lnTo>
                    <a:pt x="82" y="163"/>
                  </a:lnTo>
                  <a:lnTo>
                    <a:pt x="78" y="165"/>
                  </a:lnTo>
                  <a:lnTo>
                    <a:pt x="74" y="169"/>
                  </a:lnTo>
                  <a:lnTo>
                    <a:pt x="70" y="173"/>
                  </a:lnTo>
                  <a:lnTo>
                    <a:pt x="67" y="176"/>
                  </a:lnTo>
                  <a:lnTo>
                    <a:pt x="61" y="179"/>
                  </a:lnTo>
                  <a:lnTo>
                    <a:pt x="58" y="182"/>
                  </a:lnTo>
                  <a:lnTo>
                    <a:pt x="52" y="184"/>
                  </a:lnTo>
                  <a:lnTo>
                    <a:pt x="49" y="189"/>
                  </a:lnTo>
                  <a:lnTo>
                    <a:pt x="44" y="191"/>
                  </a:lnTo>
                  <a:lnTo>
                    <a:pt x="40" y="193"/>
                  </a:lnTo>
                  <a:lnTo>
                    <a:pt x="35" y="195"/>
                  </a:lnTo>
                  <a:lnTo>
                    <a:pt x="31" y="198"/>
                  </a:lnTo>
                  <a:lnTo>
                    <a:pt x="27" y="200"/>
                  </a:lnTo>
                  <a:lnTo>
                    <a:pt x="24" y="201"/>
                  </a:lnTo>
                  <a:lnTo>
                    <a:pt x="21" y="205"/>
                  </a:lnTo>
                  <a:lnTo>
                    <a:pt x="18" y="207"/>
                  </a:lnTo>
                  <a:lnTo>
                    <a:pt x="14" y="211"/>
                  </a:lnTo>
                  <a:lnTo>
                    <a:pt x="10" y="214"/>
                  </a:lnTo>
                  <a:lnTo>
                    <a:pt x="9" y="218"/>
                  </a:lnTo>
                  <a:lnTo>
                    <a:pt x="6" y="222"/>
                  </a:lnTo>
                  <a:lnTo>
                    <a:pt x="4" y="228"/>
                  </a:lnTo>
                  <a:lnTo>
                    <a:pt x="2" y="235"/>
                  </a:lnTo>
                  <a:lnTo>
                    <a:pt x="0" y="242"/>
                  </a:lnTo>
                  <a:lnTo>
                    <a:pt x="0" y="253"/>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147" name="Freeform 91"/>
            <p:cNvSpPr>
              <a:spLocks/>
            </p:cNvSpPr>
            <p:nvPr/>
          </p:nvSpPr>
          <p:spPr bwMode="auto">
            <a:xfrm>
              <a:off x="4552" y="2621"/>
              <a:ext cx="32" cy="44"/>
            </a:xfrm>
            <a:custGeom>
              <a:avLst/>
              <a:gdLst/>
              <a:ahLst/>
              <a:cxnLst>
                <a:cxn ang="0">
                  <a:pos x="0" y="55"/>
                </a:cxn>
                <a:cxn ang="0">
                  <a:pos x="3" y="55"/>
                </a:cxn>
                <a:cxn ang="0">
                  <a:pos x="6" y="55"/>
                </a:cxn>
                <a:cxn ang="0">
                  <a:pos x="10" y="53"/>
                </a:cxn>
                <a:cxn ang="0">
                  <a:pos x="14" y="51"/>
                </a:cxn>
                <a:cxn ang="0">
                  <a:pos x="17" y="49"/>
                </a:cxn>
                <a:cxn ang="0">
                  <a:pos x="20" y="46"/>
                </a:cxn>
                <a:cxn ang="0">
                  <a:pos x="23" y="42"/>
                </a:cxn>
                <a:cxn ang="0">
                  <a:pos x="27" y="39"/>
                </a:cxn>
                <a:cxn ang="0">
                  <a:pos x="29" y="35"/>
                </a:cxn>
                <a:cxn ang="0">
                  <a:pos x="30" y="31"/>
                </a:cxn>
                <a:cxn ang="0">
                  <a:pos x="32" y="27"/>
                </a:cxn>
                <a:cxn ang="0">
                  <a:pos x="35" y="21"/>
                </a:cxn>
                <a:cxn ang="0">
                  <a:pos x="36" y="16"/>
                </a:cxn>
                <a:cxn ang="0">
                  <a:pos x="38" y="11"/>
                </a:cxn>
                <a:cxn ang="0">
                  <a:pos x="38" y="6"/>
                </a:cxn>
                <a:cxn ang="0">
                  <a:pos x="40" y="0"/>
                </a:cxn>
              </a:cxnLst>
              <a:rect l="0" t="0" r="r" b="b"/>
              <a:pathLst>
                <a:path w="41" h="56">
                  <a:moveTo>
                    <a:pt x="0" y="55"/>
                  </a:moveTo>
                  <a:lnTo>
                    <a:pt x="3" y="55"/>
                  </a:lnTo>
                  <a:lnTo>
                    <a:pt x="6" y="55"/>
                  </a:lnTo>
                  <a:lnTo>
                    <a:pt x="10" y="53"/>
                  </a:lnTo>
                  <a:lnTo>
                    <a:pt x="14" y="51"/>
                  </a:lnTo>
                  <a:lnTo>
                    <a:pt x="17" y="49"/>
                  </a:lnTo>
                  <a:lnTo>
                    <a:pt x="20" y="46"/>
                  </a:lnTo>
                  <a:lnTo>
                    <a:pt x="23" y="42"/>
                  </a:lnTo>
                  <a:lnTo>
                    <a:pt x="27" y="39"/>
                  </a:lnTo>
                  <a:lnTo>
                    <a:pt x="29" y="35"/>
                  </a:lnTo>
                  <a:lnTo>
                    <a:pt x="30" y="31"/>
                  </a:lnTo>
                  <a:lnTo>
                    <a:pt x="32" y="27"/>
                  </a:lnTo>
                  <a:lnTo>
                    <a:pt x="35" y="21"/>
                  </a:lnTo>
                  <a:lnTo>
                    <a:pt x="36" y="16"/>
                  </a:lnTo>
                  <a:lnTo>
                    <a:pt x="38" y="11"/>
                  </a:lnTo>
                  <a:lnTo>
                    <a:pt x="38" y="6"/>
                  </a:lnTo>
                  <a:lnTo>
                    <a:pt x="4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148" name="Freeform 92"/>
            <p:cNvSpPr>
              <a:spLocks/>
            </p:cNvSpPr>
            <p:nvPr/>
          </p:nvSpPr>
          <p:spPr bwMode="auto">
            <a:xfrm>
              <a:off x="4527" y="2743"/>
              <a:ext cx="33" cy="107"/>
            </a:xfrm>
            <a:custGeom>
              <a:avLst/>
              <a:gdLst/>
              <a:ahLst/>
              <a:cxnLst>
                <a:cxn ang="0">
                  <a:pos x="0" y="0"/>
                </a:cxn>
                <a:cxn ang="0">
                  <a:pos x="10" y="23"/>
                </a:cxn>
                <a:cxn ang="0">
                  <a:pos x="19" y="42"/>
                </a:cxn>
                <a:cxn ang="0">
                  <a:pos x="25" y="55"/>
                </a:cxn>
                <a:cxn ang="0">
                  <a:pos x="30" y="68"/>
                </a:cxn>
                <a:cxn ang="0">
                  <a:pos x="32" y="82"/>
                </a:cxn>
                <a:cxn ang="0">
                  <a:pos x="36" y="97"/>
                </a:cxn>
                <a:cxn ang="0">
                  <a:pos x="38" y="114"/>
                </a:cxn>
                <a:cxn ang="0">
                  <a:pos x="41" y="136"/>
                </a:cxn>
              </a:cxnLst>
              <a:rect l="0" t="0" r="r" b="b"/>
              <a:pathLst>
                <a:path w="42" h="137">
                  <a:moveTo>
                    <a:pt x="0" y="0"/>
                  </a:moveTo>
                  <a:lnTo>
                    <a:pt x="10" y="23"/>
                  </a:lnTo>
                  <a:lnTo>
                    <a:pt x="19" y="42"/>
                  </a:lnTo>
                  <a:lnTo>
                    <a:pt x="25" y="55"/>
                  </a:lnTo>
                  <a:lnTo>
                    <a:pt x="30" y="68"/>
                  </a:lnTo>
                  <a:lnTo>
                    <a:pt x="32" y="82"/>
                  </a:lnTo>
                  <a:lnTo>
                    <a:pt x="36" y="97"/>
                  </a:lnTo>
                  <a:lnTo>
                    <a:pt x="38" y="114"/>
                  </a:lnTo>
                  <a:lnTo>
                    <a:pt x="41" y="136"/>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149" name="Line 93"/>
            <p:cNvSpPr>
              <a:spLocks noChangeShapeType="1"/>
            </p:cNvSpPr>
            <p:nvPr/>
          </p:nvSpPr>
          <p:spPr bwMode="auto">
            <a:xfrm flipH="1">
              <a:off x="4460" y="2546"/>
              <a:ext cx="8"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50" name="Line 94"/>
            <p:cNvSpPr>
              <a:spLocks noChangeShapeType="1"/>
            </p:cNvSpPr>
            <p:nvPr/>
          </p:nvSpPr>
          <p:spPr bwMode="auto">
            <a:xfrm>
              <a:off x="4459" y="2546"/>
              <a:ext cx="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51" name="Freeform 95"/>
            <p:cNvSpPr>
              <a:spLocks/>
            </p:cNvSpPr>
            <p:nvPr/>
          </p:nvSpPr>
          <p:spPr bwMode="auto">
            <a:xfrm>
              <a:off x="4487" y="2622"/>
              <a:ext cx="30" cy="43"/>
            </a:xfrm>
            <a:custGeom>
              <a:avLst/>
              <a:gdLst/>
              <a:ahLst/>
              <a:cxnLst>
                <a:cxn ang="0">
                  <a:pos x="0" y="0"/>
                </a:cxn>
                <a:cxn ang="0">
                  <a:pos x="0" y="6"/>
                </a:cxn>
                <a:cxn ang="0">
                  <a:pos x="0" y="11"/>
                </a:cxn>
                <a:cxn ang="0">
                  <a:pos x="0" y="16"/>
                </a:cxn>
                <a:cxn ang="0">
                  <a:pos x="1" y="22"/>
                </a:cxn>
                <a:cxn ang="0">
                  <a:pos x="3" y="26"/>
                </a:cxn>
                <a:cxn ang="0">
                  <a:pos x="5" y="30"/>
                </a:cxn>
                <a:cxn ang="0">
                  <a:pos x="6" y="35"/>
                </a:cxn>
                <a:cxn ang="0">
                  <a:pos x="9" y="38"/>
                </a:cxn>
                <a:cxn ang="0">
                  <a:pos x="11" y="42"/>
                </a:cxn>
                <a:cxn ang="0">
                  <a:pos x="15" y="46"/>
                </a:cxn>
                <a:cxn ang="0">
                  <a:pos x="18" y="48"/>
                </a:cxn>
                <a:cxn ang="0">
                  <a:pos x="21" y="50"/>
                </a:cxn>
                <a:cxn ang="0">
                  <a:pos x="25" y="52"/>
                </a:cxn>
                <a:cxn ang="0">
                  <a:pos x="28" y="54"/>
                </a:cxn>
                <a:cxn ang="0">
                  <a:pos x="32" y="54"/>
                </a:cxn>
                <a:cxn ang="0">
                  <a:pos x="37" y="54"/>
                </a:cxn>
              </a:cxnLst>
              <a:rect l="0" t="0" r="r" b="b"/>
              <a:pathLst>
                <a:path w="38" h="55">
                  <a:moveTo>
                    <a:pt x="0" y="0"/>
                  </a:moveTo>
                  <a:lnTo>
                    <a:pt x="0" y="6"/>
                  </a:lnTo>
                  <a:lnTo>
                    <a:pt x="0" y="11"/>
                  </a:lnTo>
                  <a:lnTo>
                    <a:pt x="0" y="16"/>
                  </a:lnTo>
                  <a:lnTo>
                    <a:pt x="1" y="22"/>
                  </a:lnTo>
                  <a:lnTo>
                    <a:pt x="3" y="26"/>
                  </a:lnTo>
                  <a:lnTo>
                    <a:pt x="5" y="30"/>
                  </a:lnTo>
                  <a:lnTo>
                    <a:pt x="6" y="35"/>
                  </a:lnTo>
                  <a:lnTo>
                    <a:pt x="9" y="38"/>
                  </a:lnTo>
                  <a:lnTo>
                    <a:pt x="11" y="42"/>
                  </a:lnTo>
                  <a:lnTo>
                    <a:pt x="15" y="46"/>
                  </a:lnTo>
                  <a:lnTo>
                    <a:pt x="18" y="48"/>
                  </a:lnTo>
                  <a:lnTo>
                    <a:pt x="21" y="50"/>
                  </a:lnTo>
                  <a:lnTo>
                    <a:pt x="25" y="52"/>
                  </a:lnTo>
                  <a:lnTo>
                    <a:pt x="28" y="54"/>
                  </a:lnTo>
                  <a:lnTo>
                    <a:pt x="32" y="54"/>
                  </a:lnTo>
                  <a:lnTo>
                    <a:pt x="37" y="54"/>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152" name="Freeform 96"/>
            <p:cNvSpPr>
              <a:spLocks/>
            </p:cNvSpPr>
            <p:nvPr/>
          </p:nvSpPr>
          <p:spPr bwMode="auto">
            <a:xfrm>
              <a:off x="4440" y="2516"/>
              <a:ext cx="47" cy="17"/>
            </a:xfrm>
            <a:custGeom>
              <a:avLst/>
              <a:gdLst/>
              <a:ahLst/>
              <a:cxnLst>
                <a:cxn ang="0">
                  <a:pos x="59" y="20"/>
                </a:cxn>
                <a:cxn ang="0">
                  <a:pos x="55" y="16"/>
                </a:cxn>
                <a:cxn ang="0">
                  <a:pos x="51" y="11"/>
                </a:cxn>
                <a:cxn ang="0">
                  <a:pos x="49" y="8"/>
                </a:cxn>
                <a:cxn ang="0">
                  <a:pos x="45" y="4"/>
                </a:cxn>
                <a:cxn ang="0">
                  <a:pos x="39" y="2"/>
                </a:cxn>
                <a:cxn ang="0">
                  <a:pos x="36" y="1"/>
                </a:cxn>
                <a:cxn ang="0">
                  <a:pos x="31" y="0"/>
                </a:cxn>
                <a:cxn ang="0">
                  <a:pos x="29" y="0"/>
                </a:cxn>
                <a:cxn ang="0">
                  <a:pos x="23" y="0"/>
                </a:cxn>
                <a:cxn ang="0">
                  <a:pos x="19" y="1"/>
                </a:cxn>
                <a:cxn ang="0">
                  <a:pos x="15" y="2"/>
                </a:cxn>
                <a:cxn ang="0">
                  <a:pos x="12" y="4"/>
                </a:cxn>
                <a:cxn ang="0">
                  <a:pos x="9" y="8"/>
                </a:cxn>
                <a:cxn ang="0">
                  <a:pos x="5" y="11"/>
                </a:cxn>
                <a:cxn ang="0">
                  <a:pos x="1" y="16"/>
                </a:cxn>
                <a:cxn ang="0">
                  <a:pos x="0" y="20"/>
                </a:cxn>
              </a:cxnLst>
              <a:rect l="0" t="0" r="r" b="b"/>
              <a:pathLst>
                <a:path w="60" h="21">
                  <a:moveTo>
                    <a:pt x="59" y="20"/>
                  </a:moveTo>
                  <a:lnTo>
                    <a:pt x="55" y="16"/>
                  </a:lnTo>
                  <a:lnTo>
                    <a:pt x="51" y="11"/>
                  </a:lnTo>
                  <a:lnTo>
                    <a:pt x="49" y="8"/>
                  </a:lnTo>
                  <a:lnTo>
                    <a:pt x="45" y="4"/>
                  </a:lnTo>
                  <a:lnTo>
                    <a:pt x="39" y="2"/>
                  </a:lnTo>
                  <a:lnTo>
                    <a:pt x="36" y="1"/>
                  </a:lnTo>
                  <a:lnTo>
                    <a:pt x="31" y="0"/>
                  </a:lnTo>
                  <a:lnTo>
                    <a:pt x="29" y="0"/>
                  </a:lnTo>
                  <a:lnTo>
                    <a:pt x="23" y="0"/>
                  </a:lnTo>
                  <a:lnTo>
                    <a:pt x="19" y="1"/>
                  </a:lnTo>
                  <a:lnTo>
                    <a:pt x="15" y="2"/>
                  </a:lnTo>
                  <a:lnTo>
                    <a:pt x="12" y="4"/>
                  </a:lnTo>
                  <a:lnTo>
                    <a:pt x="9" y="8"/>
                  </a:lnTo>
                  <a:lnTo>
                    <a:pt x="5" y="11"/>
                  </a:lnTo>
                  <a:lnTo>
                    <a:pt x="1" y="16"/>
                  </a:lnTo>
                  <a:lnTo>
                    <a:pt x="0" y="2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153" name="Freeform 97"/>
            <p:cNvSpPr>
              <a:spLocks/>
            </p:cNvSpPr>
            <p:nvPr/>
          </p:nvSpPr>
          <p:spPr bwMode="auto">
            <a:xfrm>
              <a:off x="4511" y="2731"/>
              <a:ext cx="17" cy="13"/>
            </a:xfrm>
            <a:custGeom>
              <a:avLst/>
              <a:gdLst/>
              <a:ahLst/>
              <a:cxnLst>
                <a:cxn ang="0">
                  <a:pos x="20" y="16"/>
                </a:cxn>
                <a:cxn ang="0">
                  <a:pos x="17" y="11"/>
                </a:cxn>
                <a:cxn ang="0">
                  <a:pos x="14" y="9"/>
                </a:cxn>
                <a:cxn ang="0">
                  <a:pos x="12" y="7"/>
                </a:cxn>
                <a:cxn ang="0">
                  <a:pos x="10" y="7"/>
                </a:cxn>
                <a:cxn ang="0">
                  <a:pos x="9" y="6"/>
                </a:cxn>
                <a:cxn ang="0">
                  <a:pos x="6" y="4"/>
                </a:cxn>
                <a:cxn ang="0">
                  <a:pos x="3" y="3"/>
                </a:cxn>
                <a:cxn ang="0">
                  <a:pos x="0" y="0"/>
                </a:cxn>
              </a:cxnLst>
              <a:rect l="0" t="0" r="r" b="b"/>
              <a:pathLst>
                <a:path w="21" h="17">
                  <a:moveTo>
                    <a:pt x="20" y="16"/>
                  </a:moveTo>
                  <a:lnTo>
                    <a:pt x="17" y="11"/>
                  </a:lnTo>
                  <a:lnTo>
                    <a:pt x="14" y="9"/>
                  </a:lnTo>
                  <a:lnTo>
                    <a:pt x="12" y="7"/>
                  </a:lnTo>
                  <a:lnTo>
                    <a:pt x="10" y="7"/>
                  </a:lnTo>
                  <a:lnTo>
                    <a:pt x="9" y="6"/>
                  </a:lnTo>
                  <a:lnTo>
                    <a:pt x="6" y="4"/>
                  </a:lnTo>
                  <a:lnTo>
                    <a:pt x="3" y="3"/>
                  </a:lnTo>
                  <a:lnTo>
                    <a:pt x="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154" name="Freeform 98"/>
            <p:cNvSpPr>
              <a:spLocks/>
            </p:cNvSpPr>
            <p:nvPr/>
          </p:nvSpPr>
          <p:spPr bwMode="auto">
            <a:xfrm>
              <a:off x="4440" y="2678"/>
              <a:ext cx="74" cy="53"/>
            </a:xfrm>
            <a:custGeom>
              <a:avLst/>
              <a:gdLst/>
              <a:ahLst/>
              <a:cxnLst>
                <a:cxn ang="0">
                  <a:pos x="0" y="0"/>
                </a:cxn>
                <a:cxn ang="0">
                  <a:pos x="0" y="7"/>
                </a:cxn>
                <a:cxn ang="0">
                  <a:pos x="1" y="11"/>
                </a:cxn>
                <a:cxn ang="0">
                  <a:pos x="3" y="16"/>
                </a:cxn>
                <a:cxn ang="0">
                  <a:pos x="6" y="20"/>
                </a:cxn>
                <a:cxn ang="0">
                  <a:pos x="9" y="22"/>
                </a:cxn>
                <a:cxn ang="0">
                  <a:pos x="12" y="25"/>
                </a:cxn>
                <a:cxn ang="0">
                  <a:pos x="15" y="28"/>
                </a:cxn>
                <a:cxn ang="0">
                  <a:pos x="21" y="29"/>
                </a:cxn>
                <a:cxn ang="0">
                  <a:pos x="27" y="29"/>
                </a:cxn>
                <a:cxn ang="0">
                  <a:pos x="31" y="32"/>
                </a:cxn>
                <a:cxn ang="0">
                  <a:pos x="40" y="36"/>
                </a:cxn>
                <a:cxn ang="0">
                  <a:pos x="48" y="40"/>
                </a:cxn>
                <a:cxn ang="0">
                  <a:pos x="57" y="44"/>
                </a:cxn>
                <a:cxn ang="0">
                  <a:pos x="68" y="51"/>
                </a:cxn>
                <a:cxn ang="0">
                  <a:pos x="78" y="58"/>
                </a:cxn>
                <a:cxn ang="0">
                  <a:pos x="93" y="67"/>
                </a:cxn>
              </a:cxnLst>
              <a:rect l="0" t="0" r="r" b="b"/>
              <a:pathLst>
                <a:path w="94" h="68">
                  <a:moveTo>
                    <a:pt x="0" y="0"/>
                  </a:moveTo>
                  <a:lnTo>
                    <a:pt x="0" y="7"/>
                  </a:lnTo>
                  <a:lnTo>
                    <a:pt x="1" y="11"/>
                  </a:lnTo>
                  <a:lnTo>
                    <a:pt x="3" y="16"/>
                  </a:lnTo>
                  <a:lnTo>
                    <a:pt x="6" y="20"/>
                  </a:lnTo>
                  <a:lnTo>
                    <a:pt x="9" y="22"/>
                  </a:lnTo>
                  <a:lnTo>
                    <a:pt x="12" y="25"/>
                  </a:lnTo>
                  <a:lnTo>
                    <a:pt x="15" y="28"/>
                  </a:lnTo>
                  <a:lnTo>
                    <a:pt x="21" y="29"/>
                  </a:lnTo>
                  <a:lnTo>
                    <a:pt x="27" y="29"/>
                  </a:lnTo>
                  <a:lnTo>
                    <a:pt x="31" y="32"/>
                  </a:lnTo>
                  <a:lnTo>
                    <a:pt x="40" y="36"/>
                  </a:lnTo>
                  <a:lnTo>
                    <a:pt x="48" y="40"/>
                  </a:lnTo>
                  <a:lnTo>
                    <a:pt x="57" y="44"/>
                  </a:lnTo>
                  <a:lnTo>
                    <a:pt x="68" y="51"/>
                  </a:lnTo>
                  <a:lnTo>
                    <a:pt x="78" y="58"/>
                  </a:lnTo>
                  <a:lnTo>
                    <a:pt x="93" y="67"/>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155" name="Freeform 99"/>
            <p:cNvSpPr>
              <a:spLocks/>
            </p:cNvSpPr>
            <p:nvPr/>
          </p:nvSpPr>
          <p:spPr bwMode="auto">
            <a:xfrm>
              <a:off x="4583" y="2581"/>
              <a:ext cx="14" cy="13"/>
            </a:xfrm>
            <a:custGeom>
              <a:avLst/>
              <a:gdLst/>
              <a:ahLst/>
              <a:cxnLst>
                <a:cxn ang="0">
                  <a:pos x="0" y="0"/>
                </a:cxn>
                <a:cxn ang="0">
                  <a:pos x="0" y="2"/>
                </a:cxn>
                <a:cxn ang="0">
                  <a:pos x="0" y="4"/>
                </a:cxn>
                <a:cxn ang="0">
                  <a:pos x="0" y="6"/>
                </a:cxn>
                <a:cxn ang="0">
                  <a:pos x="0" y="7"/>
                </a:cxn>
                <a:cxn ang="0">
                  <a:pos x="0" y="9"/>
                </a:cxn>
                <a:cxn ang="0">
                  <a:pos x="0" y="9"/>
                </a:cxn>
                <a:cxn ang="0">
                  <a:pos x="0" y="11"/>
                </a:cxn>
                <a:cxn ang="0">
                  <a:pos x="1" y="11"/>
                </a:cxn>
                <a:cxn ang="0">
                  <a:pos x="1" y="13"/>
                </a:cxn>
                <a:cxn ang="0">
                  <a:pos x="5" y="13"/>
                </a:cxn>
                <a:cxn ang="0">
                  <a:pos x="5" y="14"/>
                </a:cxn>
                <a:cxn ang="0">
                  <a:pos x="8" y="14"/>
                </a:cxn>
                <a:cxn ang="0">
                  <a:pos x="8" y="16"/>
                </a:cxn>
                <a:cxn ang="0">
                  <a:pos x="12" y="16"/>
                </a:cxn>
                <a:cxn ang="0">
                  <a:pos x="12" y="16"/>
                </a:cxn>
                <a:cxn ang="0">
                  <a:pos x="16" y="16"/>
                </a:cxn>
              </a:cxnLst>
              <a:rect l="0" t="0" r="r" b="b"/>
              <a:pathLst>
                <a:path w="17" h="17">
                  <a:moveTo>
                    <a:pt x="0" y="0"/>
                  </a:moveTo>
                  <a:lnTo>
                    <a:pt x="0" y="2"/>
                  </a:lnTo>
                  <a:lnTo>
                    <a:pt x="0" y="4"/>
                  </a:lnTo>
                  <a:lnTo>
                    <a:pt x="0" y="6"/>
                  </a:lnTo>
                  <a:lnTo>
                    <a:pt x="0" y="7"/>
                  </a:lnTo>
                  <a:lnTo>
                    <a:pt x="0" y="9"/>
                  </a:lnTo>
                  <a:lnTo>
                    <a:pt x="0" y="9"/>
                  </a:lnTo>
                  <a:lnTo>
                    <a:pt x="0" y="11"/>
                  </a:lnTo>
                  <a:lnTo>
                    <a:pt x="1" y="11"/>
                  </a:lnTo>
                  <a:lnTo>
                    <a:pt x="1" y="13"/>
                  </a:lnTo>
                  <a:lnTo>
                    <a:pt x="5" y="13"/>
                  </a:lnTo>
                  <a:lnTo>
                    <a:pt x="5" y="14"/>
                  </a:lnTo>
                  <a:lnTo>
                    <a:pt x="8" y="14"/>
                  </a:lnTo>
                  <a:lnTo>
                    <a:pt x="8" y="16"/>
                  </a:lnTo>
                  <a:lnTo>
                    <a:pt x="12" y="16"/>
                  </a:lnTo>
                  <a:lnTo>
                    <a:pt x="12" y="16"/>
                  </a:lnTo>
                  <a:lnTo>
                    <a:pt x="16" y="16"/>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156" name="Freeform 100"/>
            <p:cNvSpPr>
              <a:spLocks/>
            </p:cNvSpPr>
            <p:nvPr/>
          </p:nvSpPr>
          <p:spPr bwMode="auto">
            <a:xfrm>
              <a:off x="4583" y="2543"/>
              <a:ext cx="14" cy="13"/>
            </a:xfrm>
            <a:custGeom>
              <a:avLst/>
              <a:gdLst/>
              <a:ahLst/>
              <a:cxnLst>
                <a:cxn ang="0">
                  <a:pos x="16" y="0"/>
                </a:cxn>
                <a:cxn ang="0">
                  <a:pos x="12" y="2"/>
                </a:cxn>
                <a:cxn ang="0">
                  <a:pos x="12" y="2"/>
                </a:cxn>
                <a:cxn ang="0">
                  <a:pos x="8" y="2"/>
                </a:cxn>
                <a:cxn ang="0">
                  <a:pos x="8" y="2"/>
                </a:cxn>
                <a:cxn ang="0">
                  <a:pos x="5" y="4"/>
                </a:cxn>
                <a:cxn ang="0">
                  <a:pos x="5" y="4"/>
                </a:cxn>
                <a:cxn ang="0">
                  <a:pos x="1" y="5"/>
                </a:cxn>
                <a:cxn ang="0">
                  <a:pos x="1" y="5"/>
                </a:cxn>
                <a:cxn ang="0">
                  <a:pos x="0" y="7"/>
                </a:cxn>
                <a:cxn ang="0">
                  <a:pos x="0" y="8"/>
                </a:cxn>
                <a:cxn ang="0">
                  <a:pos x="0" y="10"/>
                </a:cxn>
                <a:cxn ang="0">
                  <a:pos x="0" y="10"/>
                </a:cxn>
                <a:cxn ang="0">
                  <a:pos x="0" y="12"/>
                </a:cxn>
                <a:cxn ang="0">
                  <a:pos x="0" y="13"/>
                </a:cxn>
                <a:cxn ang="0">
                  <a:pos x="0" y="16"/>
                </a:cxn>
                <a:cxn ang="0">
                  <a:pos x="0" y="16"/>
                </a:cxn>
              </a:cxnLst>
              <a:rect l="0" t="0" r="r" b="b"/>
              <a:pathLst>
                <a:path w="17" h="17">
                  <a:moveTo>
                    <a:pt x="16" y="0"/>
                  </a:moveTo>
                  <a:lnTo>
                    <a:pt x="12" y="2"/>
                  </a:lnTo>
                  <a:lnTo>
                    <a:pt x="12" y="2"/>
                  </a:lnTo>
                  <a:lnTo>
                    <a:pt x="8" y="2"/>
                  </a:lnTo>
                  <a:lnTo>
                    <a:pt x="8" y="2"/>
                  </a:lnTo>
                  <a:lnTo>
                    <a:pt x="5" y="4"/>
                  </a:lnTo>
                  <a:lnTo>
                    <a:pt x="5" y="4"/>
                  </a:lnTo>
                  <a:lnTo>
                    <a:pt x="1" y="5"/>
                  </a:lnTo>
                  <a:lnTo>
                    <a:pt x="1" y="5"/>
                  </a:lnTo>
                  <a:lnTo>
                    <a:pt x="0" y="7"/>
                  </a:lnTo>
                  <a:lnTo>
                    <a:pt x="0" y="8"/>
                  </a:lnTo>
                  <a:lnTo>
                    <a:pt x="0" y="10"/>
                  </a:lnTo>
                  <a:lnTo>
                    <a:pt x="0" y="10"/>
                  </a:lnTo>
                  <a:lnTo>
                    <a:pt x="0" y="12"/>
                  </a:lnTo>
                  <a:lnTo>
                    <a:pt x="0" y="13"/>
                  </a:lnTo>
                  <a:lnTo>
                    <a:pt x="0" y="16"/>
                  </a:lnTo>
                  <a:lnTo>
                    <a:pt x="0" y="16"/>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157" name="Line 101"/>
            <p:cNvSpPr>
              <a:spLocks noChangeShapeType="1"/>
            </p:cNvSpPr>
            <p:nvPr/>
          </p:nvSpPr>
          <p:spPr bwMode="auto">
            <a:xfrm flipH="1">
              <a:off x="4611" y="2529"/>
              <a:ext cx="8"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58" name="Line 102"/>
            <p:cNvSpPr>
              <a:spLocks noChangeShapeType="1"/>
            </p:cNvSpPr>
            <p:nvPr/>
          </p:nvSpPr>
          <p:spPr bwMode="auto">
            <a:xfrm>
              <a:off x="4554" y="2529"/>
              <a:ext cx="2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59" name="Line 103"/>
            <p:cNvSpPr>
              <a:spLocks noChangeShapeType="1"/>
            </p:cNvSpPr>
            <p:nvPr/>
          </p:nvSpPr>
          <p:spPr bwMode="auto">
            <a:xfrm flipH="1">
              <a:off x="4385" y="2552"/>
              <a:ext cx="1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60" name="Line 104"/>
            <p:cNvSpPr>
              <a:spLocks noChangeShapeType="1"/>
            </p:cNvSpPr>
            <p:nvPr/>
          </p:nvSpPr>
          <p:spPr bwMode="auto">
            <a:xfrm flipH="1">
              <a:off x="4393" y="2552"/>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61" name="Line 105"/>
            <p:cNvSpPr>
              <a:spLocks noChangeShapeType="1"/>
            </p:cNvSpPr>
            <p:nvPr/>
          </p:nvSpPr>
          <p:spPr bwMode="auto">
            <a:xfrm flipH="1">
              <a:off x="4393" y="2659"/>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62" name="Line 106"/>
            <p:cNvSpPr>
              <a:spLocks noChangeShapeType="1"/>
            </p:cNvSpPr>
            <p:nvPr/>
          </p:nvSpPr>
          <p:spPr bwMode="auto">
            <a:xfrm flipV="1">
              <a:off x="4396" y="2552"/>
              <a:ext cx="0" cy="107"/>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63" name="Line 107"/>
            <p:cNvSpPr>
              <a:spLocks noChangeShapeType="1"/>
            </p:cNvSpPr>
            <p:nvPr/>
          </p:nvSpPr>
          <p:spPr bwMode="auto">
            <a:xfrm>
              <a:off x="4558" y="2845"/>
              <a:ext cx="2"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64" name="Line 108"/>
            <p:cNvSpPr>
              <a:spLocks noChangeShapeType="1"/>
            </p:cNvSpPr>
            <p:nvPr/>
          </p:nvSpPr>
          <p:spPr bwMode="auto">
            <a:xfrm flipH="1">
              <a:off x="4441" y="2559"/>
              <a:ext cx="4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65" name="Line 109"/>
            <p:cNvSpPr>
              <a:spLocks noChangeShapeType="1"/>
            </p:cNvSpPr>
            <p:nvPr/>
          </p:nvSpPr>
          <p:spPr bwMode="auto">
            <a:xfrm flipH="1">
              <a:off x="4441" y="2590"/>
              <a:ext cx="4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66" name="Line 110"/>
            <p:cNvSpPr>
              <a:spLocks noChangeShapeType="1"/>
            </p:cNvSpPr>
            <p:nvPr/>
          </p:nvSpPr>
          <p:spPr bwMode="auto">
            <a:xfrm flipH="1">
              <a:off x="4441" y="2618"/>
              <a:ext cx="4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67" name="Line 111"/>
            <p:cNvSpPr>
              <a:spLocks noChangeShapeType="1"/>
            </p:cNvSpPr>
            <p:nvPr/>
          </p:nvSpPr>
          <p:spPr bwMode="auto">
            <a:xfrm>
              <a:off x="4487" y="2530"/>
              <a:ext cx="0" cy="9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68" name="Line 112"/>
            <p:cNvSpPr>
              <a:spLocks noChangeShapeType="1"/>
            </p:cNvSpPr>
            <p:nvPr/>
          </p:nvSpPr>
          <p:spPr bwMode="auto">
            <a:xfrm>
              <a:off x="4439" y="2559"/>
              <a:ext cx="4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69" name="Line 113"/>
            <p:cNvSpPr>
              <a:spLocks noChangeShapeType="1"/>
            </p:cNvSpPr>
            <p:nvPr/>
          </p:nvSpPr>
          <p:spPr bwMode="auto">
            <a:xfrm flipH="1">
              <a:off x="4454" y="2629"/>
              <a:ext cx="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70" name="Line 114"/>
            <p:cNvSpPr>
              <a:spLocks noChangeShapeType="1"/>
            </p:cNvSpPr>
            <p:nvPr/>
          </p:nvSpPr>
          <p:spPr bwMode="auto">
            <a:xfrm flipH="1">
              <a:off x="4458" y="2627"/>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71" name="Line 115"/>
            <p:cNvSpPr>
              <a:spLocks noChangeShapeType="1"/>
            </p:cNvSpPr>
            <p:nvPr/>
          </p:nvSpPr>
          <p:spPr bwMode="auto">
            <a:xfrm flipH="1" flipV="1">
              <a:off x="4459" y="2627"/>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72" name="Line 116"/>
            <p:cNvSpPr>
              <a:spLocks noChangeShapeType="1"/>
            </p:cNvSpPr>
            <p:nvPr/>
          </p:nvSpPr>
          <p:spPr bwMode="auto">
            <a:xfrm flipH="1">
              <a:off x="4461" y="2629"/>
              <a:ext cx="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73" name="Line 117"/>
            <p:cNvSpPr>
              <a:spLocks noChangeShapeType="1"/>
            </p:cNvSpPr>
            <p:nvPr/>
          </p:nvSpPr>
          <p:spPr bwMode="auto">
            <a:xfrm flipH="1">
              <a:off x="4467" y="2627"/>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74" name="Line 118"/>
            <p:cNvSpPr>
              <a:spLocks noChangeShapeType="1"/>
            </p:cNvSpPr>
            <p:nvPr/>
          </p:nvSpPr>
          <p:spPr bwMode="auto">
            <a:xfrm flipV="1">
              <a:off x="4474" y="2628"/>
              <a:ext cx="1"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75" name="Line 119"/>
            <p:cNvSpPr>
              <a:spLocks noChangeShapeType="1"/>
            </p:cNvSpPr>
            <p:nvPr/>
          </p:nvSpPr>
          <p:spPr bwMode="auto">
            <a:xfrm>
              <a:off x="4469" y="2629"/>
              <a:ext cx="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76" name="Line 120"/>
            <p:cNvSpPr>
              <a:spLocks noChangeShapeType="1"/>
            </p:cNvSpPr>
            <p:nvPr/>
          </p:nvSpPr>
          <p:spPr bwMode="auto">
            <a:xfrm>
              <a:off x="4468" y="2627"/>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77" name="Line 121"/>
            <p:cNvSpPr>
              <a:spLocks noChangeShapeType="1"/>
            </p:cNvSpPr>
            <p:nvPr/>
          </p:nvSpPr>
          <p:spPr bwMode="auto">
            <a:xfrm flipV="1">
              <a:off x="4468" y="2618"/>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78" name="Line 122"/>
            <p:cNvSpPr>
              <a:spLocks noChangeShapeType="1"/>
            </p:cNvSpPr>
            <p:nvPr/>
          </p:nvSpPr>
          <p:spPr bwMode="auto">
            <a:xfrm flipV="1">
              <a:off x="4459" y="2619"/>
              <a:ext cx="0" cy="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79" name="Line 123"/>
            <p:cNvSpPr>
              <a:spLocks noChangeShapeType="1"/>
            </p:cNvSpPr>
            <p:nvPr/>
          </p:nvSpPr>
          <p:spPr bwMode="auto">
            <a:xfrm flipV="1">
              <a:off x="4475" y="2618"/>
              <a:ext cx="0" cy="1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80" name="Line 124"/>
            <p:cNvSpPr>
              <a:spLocks noChangeShapeType="1"/>
            </p:cNvSpPr>
            <p:nvPr/>
          </p:nvSpPr>
          <p:spPr bwMode="auto">
            <a:xfrm>
              <a:off x="4453" y="2630"/>
              <a:ext cx="2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81" name="Line 125"/>
            <p:cNvSpPr>
              <a:spLocks noChangeShapeType="1"/>
            </p:cNvSpPr>
            <p:nvPr/>
          </p:nvSpPr>
          <p:spPr bwMode="auto">
            <a:xfrm>
              <a:off x="4453" y="2618"/>
              <a:ext cx="0" cy="1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82" name="Line 126"/>
            <p:cNvSpPr>
              <a:spLocks noChangeShapeType="1"/>
            </p:cNvSpPr>
            <p:nvPr/>
          </p:nvSpPr>
          <p:spPr bwMode="auto">
            <a:xfrm>
              <a:off x="4459" y="2544"/>
              <a:ext cx="0" cy="6"/>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83" name="Line 127"/>
            <p:cNvSpPr>
              <a:spLocks noChangeShapeType="1"/>
            </p:cNvSpPr>
            <p:nvPr/>
          </p:nvSpPr>
          <p:spPr bwMode="auto">
            <a:xfrm flipH="1">
              <a:off x="4459" y="2544"/>
              <a:ext cx="1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84" name="Line 128"/>
            <p:cNvSpPr>
              <a:spLocks noChangeShapeType="1"/>
            </p:cNvSpPr>
            <p:nvPr/>
          </p:nvSpPr>
          <p:spPr bwMode="auto">
            <a:xfrm flipV="1">
              <a:off x="4469" y="2544"/>
              <a:ext cx="0" cy="6"/>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85" name="Line 129"/>
            <p:cNvSpPr>
              <a:spLocks noChangeShapeType="1"/>
            </p:cNvSpPr>
            <p:nvPr/>
          </p:nvSpPr>
          <p:spPr bwMode="auto">
            <a:xfrm>
              <a:off x="4469" y="2550"/>
              <a:ext cx="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86" name="Line 130"/>
            <p:cNvSpPr>
              <a:spLocks noChangeShapeType="1"/>
            </p:cNvSpPr>
            <p:nvPr/>
          </p:nvSpPr>
          <p:spPr bwMode="auto">
            <a:xfrm>
              <a:off x="4473" y="2550"/>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87" name="Line 131"/>
            <p:cNvSpPr>
              <a:spLocks noChangeShapeType="1"/>
            </p:cNvSpPr>
            <p:nvPr/>
          </p:nvSpPr>
          <p:spPr bwMode="auto">
            <a:xfrm flipV="1">
              <a:off x="4468" y="2550"/>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88" name="Line 132"/>
            <p:cNvSpPr>
              <a:spLocks noChangeShapeType="1"/>
            </p:cNvSpPr>
            <p:nvPr/>
          </p:nvSpPr>
          <p:spPr bwMode="auto">
            <a:xfrm>
              <a:off x="4467" y="2550"/>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89" name="Line 133"/>
            <p:cNvSpPr>
              <a:spLocks noChangeShapeType="1"/>
            </p:cNvSpPr>
            <p:nvPr/>
          </p:nvSpPr>
          <p:spPr bwMode="auto">
            <a:xfrm>
              <a:off x="4461" y="2550"/>
              <a:ext cx="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90" name="Line 134"/>
            <p:cNvSpPr>
              <a:spLocks noChangeShapeType="1"/>
            </p:cNvSpPr>
            <p:nvPr/>
          </p:nvSpPr>
          <p:spPr bwMode="auto">
            <a:xfrm flipV="1">
              <a:off x="4459" y="2550"/>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91" name="Line 135"/>
            <p:cNvSpPr>
              <a:spLocks noChangeShapeType="1"/>
            </p:cNvSpPr>
            <p:nvPr/>
          </p:nvSpPr>
          <p:spPr bwMode="auto">
            <a:xfrm flipH="1">
              <a:off x="4454" y="2550"/>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92" name="Line 136"/>
            <p:cNvSpPr>
              <a:spLocks noChangeShapeType="1"/>
            </p:cNvSpPr>
            <p:nvPr/>
          </p:nvSpPr>
          <p:spPr bwMode="auto">
            <a:xfrm flipH="1">
              <a:off x="4455" y="2550"/>
              <a:ext cx="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93" name="Line 137"/>
            <p:cNvSpPr>
              <a:spLocks noChangeShapeType="1"/>
            </p:cNvSpPr>
            <p:nvPr/>
          </p:nvSpPr>
          <p:spPr bwMode="auto">
            <a:xfrm flipV="1">
              <a:off x="4459" y="2550"/>
              <a:ext cx="0"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94" name="Line 138"/>
            <p:cNvSpPr>
              <a:spLocks noChangeShapeType="1"/>
            </p:cNvSpPr>
            <p:nvPr/>
          </p:nvSpPr>
          <p:spPr bwMode="auto">
            <a:xfrm>
              <a:off x="4459" y="2552"/>
              <a:ext cx="0" cy="7"/>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95" name="Line 139"/>
            <p:cNvSpPr>
              <a:spLocks noChangeShapeType="1"/>
            </p:cNvSpPr>
            <p:nvPr/>
          </p:nvSpPr>
          <p:spPr bwMode="auto">
            <a:xfrm>
              <a:off x="4468" y="2552"/>
              <a:ext cx="0" cy="7"/>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96" name="Line 140"/>
            <p:cNvSpPr>
              <a:spLocks noChangeShapeType="1"/>
            </p:cNvSpPr>
            <p:nvPr/>
          </p:nvSpPr>
          <p:spPr bwMode="auto">
            <a:xfrm>
              <a:off x="4454" y="2550"/>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97" name="Line 141"/>
            <p:cNvSpPr>
              <a:spLocks noChangeShapeType="1"/>
            </p:cNvSpPr>
            <p:nvPr/>
          </p:nvSpPr>
          <p:spPr bwMode="auto">
            <a:xfrm flipH="1">
              <a:off x="4454" y="2550"/>
              <a:ext cx="2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98" name="Line 142"/>
            <p:cNvSpPr>
              <a:spLocks noChangeShapeType="1"/>
            </p:cNvSpPr>
            <p:nvPr/>
          </p:nvSpPr>
          <p:spPr bwMode="auto">
            <a:xfrm flipV="1">
              <a:off x="4475" y="2550"/>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199" name="Line 143"/>
            <p:cNvSpPr>
              <a:spLocks noChangeShapeType="1"/>
            </p:cNvSpPr>
            <p:nvPr/>
          </p:nvSpPr>
          <p:spPr bwMode="auto">
            <a:xfrm>
              <a:off x="4490" y="2640"/>
              <a:ext cx="6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00" name="Line 144"/>
            <p:cNvSpPr>
              <a:spLocks noChangeShapeType="1"/>
            </p:cNvSpPr>
            <p:nvPr/>
          </p:nvSpPr>
          <p:spPr bwMode="auto">
            <a:xfrm>
              <a:off x="4487" y="2569"/>
              <a:ext cx="6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01" name="Line 145"/>
            <p:cNvSpPr>
              <a:spLocks noChangeShapeType="1"/>
            </p:cNvSpPr>
            <p:nvPr/>
          </p:nvSpPr>
          <p:spPr bwMode="auto">
            <a:xfrm>
              <a:off x="4554" y="2529"/>
              <a:ext cx="0" cy="13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02" name="Line 146"/>
            <p:cNvSpPr>
              <a:spLocks noChangeShapeType="1"/>
            </p:cNvSpPr>
            <p:nvPr/>
          </p:nvSpPr>
          <p:spPr bwMode="auto">
            <a:xfrm flipV="1">
              <a:off x="4554" y="2605"/>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03" name="Line 147"/>
            <p:cNvSpPr>
              <a:spLocks noChangeShapeType="1"/>
            </p:cNvSpPr>
            <p:nvPr/>
          </p:nvSpPr>
          <p:spPr bwMode="auto">
            <a:xfrm>
              <a:off x="4435" y="2570"/>
              <a:ext cx="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04" name="Line 148"/>
            <p:cNvSpPr>
              <a:spLocks noChangeShapeType="1"/>
            </p:cNvSpPr>
            <p:nvPr/>
          </p:nvSpPr>
          <p:spPr bwMode="auto">
            <a:xfrm>
              <a:off x="4398" y="2570"/>
              <a:ext cx="4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05" name="Line 149"/>
            <p:cNvSpPr>
              <a:spLocks noChangeShapeType="1"/>
            </p:cNvSpPr>
            <p:nvPr/>
          </p:nvSpPr>
          <p:spPr bwMode="auto">
            <a:xfrm>
              <a:off x="4469" y="2544"/>
              <a:ext cx="0" cy="6"/>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06" name="Line 150"/>
            <p:cNvSpPr>
              <a:spLocks noChangeShapeType="1"/>
            </p:cNvSpPr>
            <p:nvPr/>
          </p:nvSpPr>
          <p:spPr bwMode="auto">
            <a:xfrm>
              <a:off x="4459" y="2544"/>
              <a:ext cx="1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07" name="Line 151"/>
            <p:cNvSpPr>
              <a:spLocks noChangeShapeType="1"/>
            </p:cNvSpPr>
            <p:nvPr/>
          </p:nvSpPr>
          <p:spPr bwMode="auto">
            <a:xfrm flipV="1">
              <a:off x="4459" y="2544"/>
              <a:ext cx="0" cy="6"/>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08" name="Line 152"/>
            <p:cNvSpPr>
              <a:spLocks noChangeShapeType="1"/>
            </p:cNvSpPr>
            <p:nvPr/>
          </p:nvSpPr>
          <p:spPr bwMode="auto">
            <a:xfrm flipH="1">
              <a:off x="4456" y="2550"/>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09" name="Line 153"/>
            <p:cNvSpPr>
              <a:spLocks noChangeShapeType="1"/>
            </p:cNvSpPr>
            <p:nvPr/>
          </p:nvSpPr>
          <p:spPr bwMode="auto">
            <a:xfrm flipH="1">
              <a:off x="4455" y="2550"/>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10" name="Line 154"/>
            <p:cNvSpPr>
              <a:spLocks noChangeShapeType="1"/>
            </p:cNvSpPr>
            <p:nvPr/>
          </p:nvSpPr>
          <p:spPr bwMode="auto">
            <a:xfrm flipV="1">
              <a:off x="4459" y="2550"/>
              <a:ext cx="0"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11" name="Line 155"/>
            <p:cNvSpPr>
              <a:spLocks noChangeShapeType="1"/>
            </p:cNvSpPr>
            <p:nvPr/>
          </p:nvSpPr>
          <p:spPr bwMode="auto">
            <a:xfrm flipH="1">
              <a:off x="4459" y="2550"/>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12" name="Line 156"/>
            <p:cNvSpPr>
              <a:spLocks noChangeShapeType="1"/>
            </p:cNvSpPr>
            <p:nvPr/>
          </p:nvSpPr>
          <p:spPr bwMode="auto">
            <a:xfrm flipH="1">
              <a:off x="4461" y="2550"/>
              <a:ext cx="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13" name="Line 157"/>
            <p:cNvSpPr>
              <a:spLocks noChangeShapeType="1"/>
            </p:cNvSpPr>
            <p:nvPr/>
          </p:nvSpPr>
          <p:spPr bwMode="auto">
            <a:xfrm flipH="1" flipV="1">
              <a:off x="4467" y="2550"/>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14" name="Line 158"/>
            <p:cNvSpPr>
              <a:spLocks noChangeShapeType="1"/>
            </p:cNvSpPr>
            <p:nvPr/>
          </p:nvSpPr>
          <p:spPr bwMode="auto">
            <a:xfrm>
              <a:off x="4474" y="2550"/>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15" name="Line 159"/>
            <p:cNvSpPr>
              <a:spLocks noChangeShapeType="1"/>
            </p:cNvSpPr>
            <p:nvPr/>
          </p:nvSpPr>
          <p:spPr bwMode="auto">
            <a:xfrm>
              <a:off x="4469" y="2550"/>
              <a:ext cx="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16" name="Line 160"/>
            <p:cNvSpPr>
              <a:spLocks noChangeShapeType="1"/>
            </p:cNvSpPr>
            <p:nvPr/>
          </p:nvSpPr>
          <p:spPr bwMode="auto">
            <a:xfrm flipV="1">
              <a:off x="4468" y="2550"/>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17" name="Line 161"/>
            <p:cNvSpPr>
              <a:spLocks noChangeShapeType="1"/>
            </p:cNvSpPr>
            <p:nvPr/>
          </p:nvSpPr>
          <p:spPr bwMode="auto">
            <a:xfrm>
              <a:off x="4468" y="2552"/>
              <a:ext cx="0" cy="7"/>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18" name="Line 162"/>
            <p:cNvSpPr>
              <a:spLocks noChangeShapeType="1"/>
            </p:cNvSpPr>
            <p:nvPr/>
          </p:nvSpPr>
          <p:spPr bwMode="auto">
            <a:xfrm>
              <a:off x="4459" y="2552"/>
              <a:ext cx="0" cy="7"/>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19" name="Line 163"/>
            <p:cNvSpPr>
              <a:spLocks noChangeShapeType="1"/>
            </p:cNvSpPr>
            <p:nvPr/>
          </p:nvSpPr>
          <p:spPr bwMode="auto">
            <a:xfrm>
              <a:off x="4475" y="2550"/>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20" name="Line 164"/>
            <p:cNvSpPr>
              <a:spLocks noChangeShapeType="1"/>
            </p:cNvSpPr>
            <p:nvPr/>
          </p:nvSpPr>
          <p:spPr bwMode="auto">
            <a:xfrm>
              <a:off x="4454" y="2550"/>
              <a:ext cx="21"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21" name="Line 165"/>
            <p:cNvSpPr>
              <a:spLocks noChangeShapeType="1"/>
            </p:cNvSpPr>
            <p:nvPr/>
          </p:nvSpPr>
          <p:spPr bwMode="auto">
            <a:xfrm flipV="1">
              <a:off x="4454" y="2550"/>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22" name="Line 166"/>
            <p:cNvSpPr>
              <a:spLocks noChangeShapeType="1"/>
            </p:cNvSpPr>
            <p:nvPr/>
          </p:nvSpPr>
          <p:spPr bwMode="auto">
            <a:xfrm>
              <a:off x="4439" y="2589"/>
              <a:ext cx="48"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23" name="Line 167"/>
            <p:cNvSpPr>
              <a:spLocks noChangeShapeType="1"/>
            </p:cNvSpPr>
            <p:nvPr/>
          </p:nvSpPr>
          <p:spPr bwMode="auto">
            <a:xfrm>
              <a:off x="4440" y="2530"/>
              <a:ext cx="0" cy="14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24" name="Line 168"/>
            <p:cNvSpPr>
              <a:spLocks noChangeShapeType="1"/>
            </p:cNvSpPr>
            <p:nvPr/>
          </p:nvSpPr>
          <p:spPr bwMode="auto">
            <a:xfrm>
              <a:off x="4396" y="2641"/>
              <a:ext cx="4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25" name="Line 169"/>
            <p:cNvSpPr>
              <a:spLocks noChangeShapeType="1"/>
            </p:cNvSpPr>
            <p:nvPr/>
          </p:nvSpPr>
          <p:spPr bwMode="auto">
            <a:xfrm flipH="1">
              <a:off x="4516" y="2664"/>
              <a:ext cx="3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26" name="Line 170"/>
            <p:cNvSpPr>
              <a:spLocks noChangeShapeType="1"/>
            </p:cNvSpPr>
            <p:nvPr/>
          </p:nvSpPr>
          <p:spPr bwMode="auto">
            <a:xfrm>
              <a:off x="4622" y="2601"/>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27" name="Line 171"/>
            <p:cNvSpPr>
              <a:spLocks noChangeShapeType="1"/>
            </p:cNvSpPr>
            <p:nvPr/>
          </p:nvSpPr>
          <p:spPr bwMode="auto">
            <a:xfrm>
              <a:off x="4621" y="2599"/>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28" name="Line 172"/>
            <p:cNvSpPr>
              <a:spLocks noChangeShapeType="1"/>
            </p:cNvSpPr>
            <p:nvPr/>
          </p:nvSpPr>
          <p:spPr bwMode="auto">
            <a:xfrm flipV="1">
              <a:off x="4619" y="2599"/>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29" name="Line 173"/>
            <p:cNvSpPr>
              <a:spLocks noChangeShapeType="1"/>
            </p:cNvSpPr>
            <p:nvPr/>
          </p:nvSpPr>
          <p:spPr bwMode="auto">
            <a:xfrm>
              <a:off x="4613" y="2601"/>
              <a:ext cx="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30" name="Line 174"/>
            <p:cNvSpPr>
              <a:spLocks noChangeShapeType="1"/>
            </p:cNvSpPr>
            <p:nvPr/>
          </p:nvSpPr>
          <p:spPr bwMode="auto">
            <a:xfrm>
              <a:off x="4612" y="2599"/>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31" name="Line 175"/>
            <p:cNvSpPr>
              <a:spLocks noChangeShapeType="1"/>
            </p:cNvSpPr>
            <p:nvPr/>
          </p:nvSpPr>
          <p:spPr bwMode="auto">
            <a:xfrm flipH="1" flipV="1">
              <a:off x="4607" y="2600"/>
              <a:ext cx="1"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32" name="Line 176"/>
            <p:cNvSpPr>
              <a:spLocks noChangeShapeType="1"/>
            </p:cNvSpPr>
            <p:nvPr/>
          </p:nvSpPr>
          <p:spPr bwMode="auto">
            <a:xfrm flipH="1">
              <a:off x="4608" y="2601"/>
              <a:ext cx="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33" name="Line 177"/>
            <p:cNvSpPr>
              <a:spLocks noChangeShapeType="1"/>
            </p:cNvSpPr>
            <p:nvPr/>
          </p:nvSpPr>
          <p:spPr bwMode="auto">
            <a:xfrm flipH="1">
              <a:off x="4610" y="2599"/>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34" name="Line 178"/>
            <p:cNvSpPr>
              <a:spLocks noChangeShapeType="1"/>
            </p:cNvSpPr>
            <p:nvPr/>
          </p:nvSpPr>
          <p:spPr bwMode="auto">
            <a:xfrm flipV="1">
              <a:off x="4612" y="2591"/>
              <a:ext cx="0" cy="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35" name="Line 179"/>
            <p:cNvSpPr>
              <a:spLocks noChangeShapeType="1"/>
            </p:cNvSpPr>
            <p:nvPr/>
          </p:nvSpPr>
          <p:spPr bwMode="auto">
            <a:xfrm flipV="1">
              <a:off x="4621" y="2591"/>
              <a:ext cx="0" cy="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36" name="Line 180"/>
            <p:cNvSpPr>
              <a:spLocks noChangeShapeType="1"/>
            </p:cNvSpPr>
            <p:nvPr/>
          </p:nvSpPr>
          <p:spPr bwMode="auto">
            <a:xfrm flipV="1">
              <a:off x="4607" y="2591"/>
              <a:ext cx="0" cy="1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37" name="Line 181"/>
            <p:cNvSpPr>
              <a:spLocks noChangeShapeType="1"/>
            </p:cNvSpPr>
            <p:nvPr/>
          </p:nvSpPr>
          <p:spPr bwMode="auto">
            <a:xfrm flipH="1">
              <a:off x="4607" y="2601"/>
              <a:ext cx="1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38" name="Line 182"/>
            <p:cNvSpPr>
              <a:spLocks noChangeShapeType="1"/>
            </p:cNvSpPr>
            <p:nvPr/>
          </p:nvSpPr>
          <p:spPr bwMode="auto">
            <a:xfrm>
              <a:off x="4626" y="2591"/>
              <a:ext cx="0" cy="1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39" name="Line 183"/>
            <p:cNvSpPr>
              <a:spLocks noChangeShapeType="1"/>
            </p:cNvSpPr>
            <p:nvPr/>
          </p:nvSpPr>
          <p:spPr bwMode="auto">
            <a:xfrm>
              <a:off x="4583" y="2580"/>
              <a:ext cx="0" cy="5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40" name="Line 184"/>
            <p:cNvSpPr>
              <a:spLocks noChangeShapeType="1"/>
            </p:cNvSpPr>
            <p:nvPr/>
          </p:nvSpPr>
          <p:spPr bwMode="auto">
            <a:xfrm>
              <a:off x="4583" y="2553"/>
              <a:ext cx="0" cy="27"/>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41" name="Line 185"/>
            <p:cNvSpPr>
              <a:spLocks noChangeShapeType="1"/>
            </p:cNvSpPr>
            <p:nvPr/>
          </p:nvSpPr>
          <p:spPr bwMode="auto">
            <a:xfrm>
              <a:off x="4583" y="2569"/>
              <a:ext cx="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42" name="Line 186"/>
            <p:cNvSpPr>
              <a:spLocks noChangeShapeType="1"/>
            </p:cNvSpPr>
            <p:nvPr/>
          </p:nvSpPr>
          <p:spPr bwMode="auto">
            <a:xfrm>
              <a:off x="4583" y="2529"/>
              <a:ext cx="0" cy="77"/>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43" name="Line 187"/>
            <p:cNvSpPr>
              <a:spLocks noChangeShapeType="1"/>
            </p:cNvSpPr>
            <p:nvPr/>
          </p:nvSpPr>
          <p:spPr bwMode="auto">
            <a:xfrm flipV="1">
              <a:off x="4583" y="2606"/>
              <a:ext cx="0" cy="2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44" name="Line 188"/>
            <p:cNvSpPr>
              <a:spLocks noChangeShapeType="1"/>
            </p:cNvSpPr>
            <p:nvPr/>
          </p:nvSpPr>
          <p:spPr bwMode="auto">
            <a:xfrm flipV="1">
              <a:off x="4583" y="2605"/>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45" name="Line 189"/>
            <p:cNvSpPr>
              <a:spLocks noChangeShapeType="1"/>
            </p:cNvSpPr>
            <p:nvPr/>
          </p:nvSpPr>
          <p:spPr bwMode="auto">
            <a:xfrm>
              <a:off x="4610" y="2527"/>
              <a:ext cx="0" cy="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46" name="Line 190"/>
            <p:cNvSpPr>
              <a:spLocks noChangeShapeType="1"/>
            </p:cNvSpPr>
            <p:nvPr/>
          </p:nvSpPr>
          <p:spPr bwMode="auto">
            <a:xfrm flipH="1">
              <a:off x="4610" y="2527"/>
              <a:ext cx="11"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47" name="Line 191"/>
            <p:cNvSpPr>
              <a:spLocks noChangeShapeType="1"/>
            </p:cNvSpPr>
            <p:nvPr/>
          </p:nvSpPr>
          <p:spPr bwMode="auto">
            <a:xfrm flipV="1">
              <a:off x="4621" y="2527"/>
              <a:ext cx="0" cy="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48" name="Line 192"/>
            <p:cNvSpPr>
              <a:spLocks noChangeShapeType="1"/>
            </p:cNvSpPr>
            <p:nvPr/>
          </p:nvSpPr>
          <p:spPr bwMode="auto">
            <a:xfrm>
              <a:off x="4621" y="2532"/>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49" name="Line 193"/>
            <p:cNvSpPr>
              <a:spLocks noChangeShapeType="1"/>
            </p:cNvSpPr>
            <p:nvPr/>
          </p:nvSpPr>
          <p:spPr bwMode="auto">
            <a:xfrm>
              <a:off x="4623" y="2532"/>
              <a:ext cx="1"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50" name="Line 194"/>
            <p:cNvSpPr>
              <a:spLocks noChangeShapeType="1"/>
            </p:cNvSpPr>
            <p:nvPr/>
          </p:nvSpPr>
          <p:spPr bwMode="auto">
            <a:xfrm flipV="1">
              <a:off x="4619" y="2532"/>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51" name="Line 195"/>
            <p:cNvSpPr>
              <a:spLocks noChangeShapeType="1"/>
            </p:cNvSpPr>
            <p:nvPr/>
          </p:nvSpPr>
          <p:spPr bwMode="auto">
            <a:xfrm>
              <a:off x="4619" y="2532"/>
              <a:ext cx="0"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52" name="Line 196"/>
            <p:cNvSpPr>
              <a:spLocks noChangeShapeType="1"/>
            </p:cNvSpPr>
            <p:nvPr/>
          </p:nvSpPr>
          <p:spPr bwMode="auto">
            <a:xfrm>
              <a:off x="4612" y="2532"/>
              <a:ext cx="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53" name="Line 197"/>
            <p:cNvSpPr>
              <a:spLocks noChangeShapeType="1"/>
            </p:cNvSpPr>
            <p:nvPr/>
          </p:nvSpPr>
          <p:spPr bwMode="auto">
            <a:xfrm flipV="1">
              <a:off x="4611" y="2532"/>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54" name="Line 198"/>
            <p:cNvSpPr>
              <a:spLocks noChangeShapeType="1"/>
            </p:cNvSpPr>
            <p:nvPr/>
          </p:nvSpPr>
          <p:spPr bwMode="auto">
            <a:xfrm>
              <a:off x="4607" y="2532"/>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55" name="Line 199"/>
            <p:cNvSpPr>
              <a:spLocks noChangeShapeType="1"/>
            </p:cNvSpPr>
            <p:nvPr/>
          </p:nvSpPr>
          <p:spPr bwMode="auto">
            <a:xfrm flipH="1">
              <a:off x="4607" y="2532"/>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56" name="Line 200"/>
            <p:cNvSpPr>
              <a:spLocks noChangeShapeType="1"/>
            </p:cNvSpPr>
            <p:nvPr/>
          </p:nvSpPr>
          <p:spPr bwMode="auto">
            <a:xfrm flipH="1" flipV="1">
              <a:off x="4610" y="2532"/>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57" name="Freeform 201"/>
            <p:cNvSpPr>
              <a:spLocks/>
            </p:cNvSpPr>
            <p:nvPr/>
          </p:nvSpPr>
          <p:spPr bwMode="auto">
            <a:xfrm>
              <a:off x="4716" y="2863"/>
              <a:ext cx="187" cy="31"/>
            </a:xfrm>
            <a:custGeom>
              <a:avLst/>
              <a:gdLst/>
              <a:ahLst/>
              <a:cxnLst>
                <a:cxn ang="0">
                  <a:pos x="239" y="39"/>
                </a:cxn>
                <a:cxn ang="0">
                  <a:pos x="217" y="31"/>
                </a:cxn>
                <a:cxn ang="0">
                  <a:pos x="194" y="23"/>
                </a:cxn>
                <a:cxn ang="0">
                  <a:pos x="168" y="15"/>
                </a:cxn>
                <a:cxn ang="0">
                  <a:pos x="141" y="10"/>
                </a:cxn>
                <a:cxn ang="0">
                  <a:pos x="111" y="6"/>
                </a:cxn>
                <a:cxn ang="0">
                  <a:pos x="78" y="3"/>
                </a:cxn>
                <a:cxn ang="0">
                  <a:pos x="40" y="0"/>
                </a:cxn>
                <a:cxn ang="0">
                  <a:pos x="0" y="0"/>
                </a:cxn>
              </a:cxnLst>
              <a:rect l="0" t="0" r="r" b="b"/>
              <a:pathLst>
                <a:path w="240" h="40">
                  <a:moveTo>
                    <a:pt x="239" y="39"/>
                  </a:moveTo>
                  <a:lnTo>
                    <a:pt x="217" y="31"/>
                  </a:lnTo>
                  <a:lnTo>
                    <a:pt x="194" y="23"/>
                  </a:lnTo>
                  <a:lnTo>
                    <a:pt x="168" y="15"/>
                  </a:lnTo>
                  <a:lnTo>
                    <a:pt x="141" y="10"/>
                  </a:lnTo>
                  <a:lnTo>
                    <a:pt x="111" y="6"/>
                  </a:lnTo>
                  <a:lnTo>
                    <a:pt x="78" y="3"/>
                  </a:lnTo>
                  <a:lnTo>
                    <a:pt x="40" y="0"/>
                  </a:lnTo>
                  <a:lnTo>
                    <a:pt x="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258" name="Line 202"/>
            <p:cNvSpPr>
              <a:spLocks noChangeShapeType="1"/>
            </p:cNvSpPr>
            <p:nvPr/>
          </p:nvSpPr>
          <p:spPr bwMode="auto">
            <a:xfrm>
              <a:off x="4807" y="2529"/>
              <a:ext cx="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59" name="Line 203"/>
            <p:cNvSpPr>
              <a:spLocks noChangeShapeType="1"/>
            </p:cNvSpPr>
            <p:nvPr/>
          </p:nvSpPr>
          <p:spPr bwMode="auto">
            <a:xfrm flipH="1">
              <a:off x="4742" y="2529"/>
              <a:ext cx="8"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60" name="Line 204"/>
            <p:cNvSpPr>
              <a:spLocks noChangeShapeType="1"/>
            </p:cNvSpPr>
            <p:nvPr/>
          </p:nvSpPr>
          <p:spPr bwMode="auto">
            <a:xfrm>
              <a:off x="4611" y="2534"/>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61" name="Line 205"/>
            <p:cNvSpPr>
              <a:spLocks noChangeShapeType="1"/>
            </p:cNvSpPr>
            <p:nvPr/>
          </p:nvSpPr>
          <p:spPr bwMode="auto">
            <a:xfrm>
              <a:off x="4619" y="2534"/>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62" name="Line 206"/>
            <p:cNvSpPr>
              <a:spLocks noChangeShapeType="1"/>
            </p:cNvSpPr>
            <p:nvPr/>
          </p:nvSpPr>
          <p:spPr bwMode="auto">
            <a:xfrm>
              <a:off x="4606" y="2532"/>
              <a:ext cx="0" cy="1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63" name="Line 207"/>
            <p:cNvSpPr>
              <a:spLocks noChangeShapeType="1"/>
            </p:cNvSpPr>
            <p:nvPr/>
          </p:nvSpPr>
          <p:spPr bwMode="auto">
            <a:xfrm flipH="1">
              <a:off x="4606" y="2532"/>
              <a:ext cx="1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64" name="Line 208"/>
            <p:cNvSpPr>
              <a:spLocks noChangeShapeType="1"/>
            </p:cNvSpPr>
            <p:nvPr/>
          </p:nvSpPr>
          <p:spPr bwMode="auto">
            <a:xfrm flipV="1">
              <a:off x="4625" y="2532"/>
              <a:ext cx="0" cy="1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65" name="Line 209"/>
            <p:cNvSpPr>
              <a:spLocks noChangeShapeType="1"/>
            </p:cNvSpPr>
            <p:nvPr/>
          </p:nvSpPr>
          <p:spPr bwMode="auto">
            <a:xfrm>
              <a:off x="4802" y="2486"/>
              <a:ext cx="0" cy="43"/>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66" name="Line 210"/>
            <p:cNvSpPr>
              <a:spLocks noChangeShapeType="1"/>
            </p:cNvSpPr>
            <p:nvPr/>
          </p:nvSpPr>
          <p:spPr bwMode="auto">
            <a:xfrm>
              <a:off x="4756" y="2444"/>
              <a:ext cx="0" cy="8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67" name="Line 211"/>
            <p:cNvSpPr>
              <a:spLocks noChangeShapeType="1"/>
            </p:cNvSpPr>
            <p:nvPr/>
          </p:nvSpPr>
          <p:spPr bwMode="auto">
            <a:xfrm>
              <a:off x="4672" y="2444"/>
              <a:ext cx="0" cy="8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68" name="Line 212"/>
            <p:cNvSpPr>
              <a:spLocks noChangeShapeType="1"/>
            </p:cNvSpPr>
            <p:nvPr/>
          </p:nvSpPr>
          <p:spPr bwMode="auto">
            <a:xfrm flipH="1">
              <a:off x="4716" y="2591"/>
              <a:ext cx="12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69" name="Line 213"/>
            <p:cNvSpPr>
              <a:spLocks noChangeShapeType="1"/>
            </p:cNvSpPr>
            <p:nvPr/>
          </p:nvSpPr>
          <p:spPr bwMode="auto">
            <a:xfrm flipH="1">
              <a:off x="4807" y="2601"/>
              <a:ext cx="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70" name="Line 214"/>
            <p:cNvSpPr>
              <a:spLocks noChangeShapeType="1"/>
            </p:cNvSpPr>
            <p:nvPr/>
          </p:nvSpPr>
          <p:spPr bwMode="auto">
            <a:xfrm>
              <a:off x="4802" y="2601"/>
              <a:ext cx="1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71" name="Line 215"/>
            <p:cNvSpPr>
              <a:spLocks noChangeShapeType="1"/>
            </p:cNvSpPr>
            <p:nvPr/>
          </p:nvSpPr>
          <p:spPr bwMode="auto">
            <a:xfrm flipH="1">
              <a:off x="4783" y="2591"/>
              <a:ext cx="5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72" name="Line 216"/>
            <p:cNvSpPr>
              <a:spLocks noChangeShapeType="1"/>
            </p:cNvSpPr>
            <p:nvPr/>
          </p:nvSpPr>
          <p:spPr bwMode="auto">
            <a:xfrm flipH="1">
              <a:off x="4713" y="2565"/>
              <a:ext cx="13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73" name="Line 217"/>
            <p:cNvSpPr>
              <a:spLocks noChangeShapeType="1"/>
            </p:cNvSpPr>
            <p:nvPr/>
          </p:nvSpPr>
          <p:spPr bwMode="auto">
            <a:xfrm flipH="1">
              <a:off x="4779" y="2543"/>
              <a:ext cx="5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74" name="Line 218"/>
            <p:cNvSpPr>
              <a:spLocks noChangeShapeType="1"/>
            </p:cNvSpPr>
            <p:nvPr/>
          </p:nvSpPr>
          <p:spPr bwMode="auto">
            <a:xfrm>
              <a:off x="4806" y="2527"/>
              <a:ext cx="1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75" name="Line 219"/>
            <p:cNvSpPr>
              <a:spLocks noChangeShapeType="1"/>
            </p:cNvSpPr>
            <p:nvPr/>
          </p:nvSpPr>
          <p:spPr bwMode="auto">
            <a:xfrm flipH="1">
              <a:off x="4809" y="2532"/>
              <a:ext cx="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76" name="Line 220"/>
            <p:cNvSpPr>
              <a:spLocks noChangeShapeType="1"/>
            </p:cNvSpPr>
            <p:nvPr/>
          </p:nvSpPr>
          <p:spPr bwMode="auto">
            <a:xfrm>
              <a:off x="4803" y="2532"/>
              <a:ext cx="1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77" name="Line 221"/>
            <p:cNvSpPr>
              <a:spLocks noChangeShapeType="1"/>
            </p:cNvSpPr>
            <p:nvPr/>
          </p:nvSpPr>
          <p:spPr bwMode="auto">
            <a:xfrm>
              <a:off x="4687" y="2601"/>
              <a:ext cx="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78" name="Line 222"/>
            <p:cNvSpPr>
              <a:spLocks noChangeShapeType="1"/>
            </p:cNvSpPr>
            <p:nvPr/>
          </p:nvSpPr>
          <p:spPr bwMode="auto">
            <a:xfrm>
              <a:off x="4686" y="2599"/>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79" name="Line 223"/>
            <p:cNvSpPr>
              <a:spLocks noChangeShapeType="1"/>
            </p:cNvSpPr>
            <p:nvPr/>
          </p:nvSpPr>
          <p:spPr bwMode="auto">
            <a:xfrm flipV="1">
              <a:off x="4684" y="2599"/>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80" name="Line 224"/>
            <p:cNvSpPr>
              <a:spLocks noChangeShapeType="1"/>
            </p:cNvSpPr>
            <p:nvPr/>
          </p:nvSpPr>
          <p:spPr bwMode="auto">
            <a:xfrm>
              <a:off x="4678" y="2601"/>
              <a:ext cx="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81" name="Line 225"/>
            <p:cNvSpPr>
              <a:spLocks noChangeShapeType="1"/>
            </p:cNvSpPr>
            <p:nvPr/>
          </p:nvSpPr>
          <p:spPr bwMode="auto">
            <a:xfrm>
              <a:off x="4678" y="2599"/>
              <a:ext cx="0"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82" name="Line 226"/>
            <p:cNvSpPr>
              <a:spLocks noChangeShapeType="1"/>
            </p:cNvSpPr>
            <p:nvPr/>
          </p:nvSpPr>
          <p:spPr bwMode="auto">
            <a:xfrm flipV="1">
              <a:off x="4672" y="2600"/>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83" name="Line 227"/>
            <p:cNvSpPr>
              <a:spLocks noChangeShapeType="1"/>
            </p:cNvSpPr>
            <p:nvPr/>
          </p:nvSpPr>
          <p:spPr bwMode="auto">
            <a:xfrm flipH="1">
              <a:off x="4672" y="2601"/>
              <a:ext cx="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84" name="Line 228"/>
            <p:cNvSpPr>
              <a:spLocks noChangeShapeType="1"/>
            </p:cNvSpPr>
            <p:nvPr/>
          </p:nvSpPr>
          <p:spPr bwMode="auto">
            <a:xfrm flipH="1">
              <a:off x="4676" y="2599"/>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85" name="Line 229"/>
            <p:cNvSpPr>
              <a:spLocks noChangeShapeType="1"/>
            </p:cNvSpPr>
            <p:nvPr/>
          </p:nvSpPr>
          <p:spPr bwMode="auto">
            <a:xfrm flipV="1">
              <a:off x="4678" y="2591"/>
              <a:ext cx="0" cy="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86" name="Line 230"/>
            <p:cNvSpPr>
              <a:spLocks noChangeShapeType="1"/>
            </p:cNvSpPr>
            <p:nvPr/>
          </p:nvSpPr>
          <p:spPr bwMode="auto">
            <a:xfrm flipV="1">
              <a:off x="4686" y="2591"/>
              <a:ext cx="0" cy="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87" name="Line 231"/>
            <p:cNvSpPr>
              <a:spLocks noChangeShapeType="1"/>
            </p:cNvSpPr>
            <p:nvPr/>
          </p:nvSpPr>
          <p:spPr bwMode="auto">
            <a:xfrm flipV="1">
              <a:off x="4672" y="2591"/>
              <a:ext cx="0" cy="1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88" name="Line 232"/>
            <p:cNvSpPr>
              <a:spLocks noChangeShapeType="1"/>
            </p:cNvSpPr>
            <p:nvPr/>
          </p:nvSpPr>
          <p:spPr bwMode="auto">
            <a:xfrm flipH="1">
              <a:off x="4672" y="2601"/>
              <a:ext cx="1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89" name="Line 233"/>
            <p:cNvSpPr>
              <a:spLocks noChangeShapeType="1"/>
            </p:cNvSpPr>
            <p:nvPr/>
          </p:nvSpPr>
          <p:spPr bwMode="auto">
            <a:xfrm>
              <a:off x="4692" y="2591"/>
              <a:ext cx="0" cy="1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90" name="Line 234"/>
            <p:cNvSpPr>
              <a:spLocks noChangeShapeType="1"/>
            </p:cNvSpPr>
            <p:nvPr/>
          </p:nvSpPr>
          <p:spPr bwMode="auto">
            <a:xfrm>
              <a:off x="4658" y="2591"/>
              <a:ext cx="51"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91" name="Line 235"/>
            <p:cNvSpPr>
              <a:spLocks noChangeShapeType="1"/>
            </p:cNvSpPr>
            <p:nvPr/>
          </p:nvSpPr>
          <p:spPr bwMode="auto">
            <a:xfrm>
              <a:off x="4655" y="2601"/>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92" name="Line 236"/>
            <p:cNvSpPr>
              <a:spLocks noChangeShapeType="1"/>
            </p:cNvSpPr>
            <p:nvPr/>
          </p:nvSpPr>
          <p:spPr bwMode="auto">
            <a:xfrm>
              <a:off x="4654" y="2599"/>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93" name="Line 237"/>
            <p:cNvSpPr>
              <a:spLocks noChangeShapeType="1"/>
            </p:cNvSpPr>
            <p:nvPr/>
          </p:nvSpPr>
          <p:spPr bwMode="auto">
            <a:xfrm flipV="1">
              <a:off x="4652" y="2599"/>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94" name="Line 238"/>
            <p:cNvSpPr>
              <a:spLocks noChangeShapeType="1"/>
            </p:cNvSpPr>
            <p:nvPr/>
          </p:nvSpPr>
          <p:spPr bwMode="auto">
            <a:xfrm>
              <a:off x="4646" y="2601"/>
              <a:ext cx="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95" name="Line 239"/>
            <p:cNvSpPr>
              <a:spLocks noChangeShapeType="1"/>
            </p:cNvSpPr>
            <p:nvPr/>
          </p:nvSpPr>
          <p:spPr bwMode="auto">
            <a:xfrm>
              <a:off x="4645" y="2599"/>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96" name="Line 240"/>
            <p:cNvSpPr>
              <a:spLocks noChangeShapeType="1"/>
            </p:cNvSpPr>
            <p:nvPr/>
          </p:nvSpPr>
          <p:spPr bwMode="auto">
            <a:xfrm flipV="1">
              <a:off x="4639" y="2600"/>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97" name="Line 241"/>
            <p:cNvSpPr>
              <a:spLocks noChangeShapeType="1"/>
            </p:cNvSpPr>
            <p:nvPr/>
          </p:nvSpPr>
          <p:spPr bwMode="auto">
            <a:xfrm flipH="1">
              <a:off x="4639" y="2601"/>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98" name="Line 242"/>
            <p:cNvSpPr>
              <a:spLocks noChangeShapeType="1"/>
            </p:cNvSpPr>
            <p:nvPr/>
          </p:nvSpPr>
          <p:spPr bwMode="auto">
            <a:xfrm flipH="1">
              <a:off x="4642" y="2599"/>
              <a:ext cx="3"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299" name="Line 243"/>
            <p:cNvSpPr>
              <a:spLocks noChangeShapeType="1"/>
            </p:cNvSpPr>
            <p:nvPr/>
          </p:nvSpPr>
          <p:spPr bwMode="auto">
            <a:xfrm flipV="1">
              <a:off x="4645" y="2591"/>
              <a:ext cx="0" cy="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00" name="Line 244"/>
            <p:cNvSpPr>
              <a:spLocks noChangeShapeType="1"/>
            </p:cNvSpPr>
            <p:nvPr/>
          </p:nvSpPr>
          <p:spPr bwMode="auto">
            <a:xfrm flipV="1">
              <a:off x="4654" y="2591"/>
              <a:ext cx="0" cy="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01" name="Line 245"/>
            <p:cNvSpPr>
              <a:spLocks noChangeShapeType="1"/>
            </p:cNvSpPr>
            <p:nvPr/>
          </p:nvSpPr>
          <p:spPr bwMode="auto">
            <a:xfrm flipV="1">
              <a:off x="4639" y="2591"/>
              <a:ext cx="0" cy="1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02" name="Line 246"/>
            <p:cNvSpPr>
              <a:spLocks noChangeShapeType="1"/>
            </p:cNvSpPr>
            <p:nvPr/>
          </p:nvSpPr>
          <p:spPr bwMode="auto">
            <a:xfrm flipH="1">
              <a:off x="4639" y="2601"/>
              <a:ext cx="1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03" name="Line 247"/>
            <p:cNvSpPr>
              <a:spLocks noChangeShapeType="1"/>
            </p:cNvSpPr>
            <p:nvPr/>
          </p:nvSpPr>
          <p:spPr bwMode="auto">
            <a:xfrm>
              <a:off x="4658" y="2591"/>
              <a:ext cx="0" cy="1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04" name="Line 248"/>
            <p:cNvSpPr>
              <a:spLocks noChangeShapeType="1"/>
            </p:cNvSpPr>
            <p:nvPr/>
          </p:nvSpPr>
          <p:spPr bwMode="auto">
            <a:xfrm flipH="1">
              <a:off x="4736" y="2601"/>
              <a:ext cx="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05" name="Line 249"/>
            <p:cNvSpPr>
              <a:spLocks noChangeShapeType="1"/>
            </p:cNvSpPr>
            <p:nvPr/>
          </p:nvSpPr>
          <p:spPr bwMode="auto">
            <a:xfrm flipH="1">
              <a:off x="4741" y="2599"/>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06" name="Line 250"/>
            <p:cNvSpPr>
              <a:spLocks noChangeShapeType="1"/>
            </p:cNvSpPr>
            <p:nvPr/>
          </p:nvSpPr>
          <p:spPr bwMode="auto">
            <a:xfrm flipH="1" flipV="1">
              <a:off x="4742" y="2599"/>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07" name="Line 251"/>
            <p:cNvSpPr>
              <a:spLocks noChangeShapeType="1"/>
            </p:cNvSpPr>
            <p:nvPr/>
          </p:nvSpPr>
          <p:spPr bwMode="auto">
            <a:xfrm flipH="1">
              <a:off x="4743" y="2601"/>
              <a:ext cx="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08" name="Line 252"/>
            <p:cNvSpPr>
              <a:spLocks noChangeShapeType="1"/>
            </p:cNvSpPr>
            <p:nvPr/>
          </p:nvSpPr>
          <p:spPr bwMode="auto">
            <a:xfrm flipH="1">
              <a:off x="4749" y="2599"/>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09" name="Line 253"/>
            <p:cNvSpPr>
              <a:spLocks noChangeShapeType="1"/>
            </p:cNvSpPr>
            <p:nvPr/>
          </p:nvSpPr>
          <p:spPr bwMode="auto">
            <a:xfrm flipV="1">
              <a:off x="4756" y="2600"/>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10" name="Line 254"/>
            <p:cNvSpPr>
              <a:spLocks noChangeShapeType="1"/>
            </p:cNvSpPr>
            <p:nvPr/>
          </p:nvSpPr>
          <p:spPr bwMode="auto">
            <a:xfrm>
              <a:off x="4752" y="2601"/>
              <a:ext cx="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11" name="Line 255"/>
            <p:cNvSpPr>
              <a:spLocks noChangeShapeType="1"/>
            </p:cNvSpPr>
            <p:nvPr/>
          </p:nvSpPr>
          <p:spPr bwMode="auto">
            <a:xfrm>
              <a:off x="4750" y="2599"/>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12" name="Line 256"/>
            <p:cNvSpPr>
              <a:spLocks noChangeShapeType="1"/>
            </p:cNvSpPr>
            <p:nvPr/>
          </p:nvSpPr>
          <p:spPr bwMode="auto">
            <a:xfrm flipV="1">
              <a:off x="4750" y="2591"/>
              <a:ext cx="0" cy="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13" name="Line 257"/>
            <p:cNvSpPr>
              <a:spLocks noChangeShapeType="1"/>
            </p:cNvSpPr>
            <p:nvPr/>
          </p:nvSpPr>
          <p:spPr bwMode="auto">
            <a:xfrm flipV="1">
              <a:off x="4742" y="2591"/>
              <a:ext cx="0" cy="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14" name="Line 258"/>
            <p:cNvSpPr>
              <a:spLocks noChangeShapeType="1"/>
            </p:cNvSpPr>
            <p:nvPr/>
          </p:nvSpPr>
          <p:spPr bwMode="auto">
            <a:xfrm flipV="1">
              <a:off x="4756" y="2591"/>
              <a:ext cx="0" cy="1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15" name="Line 259"/>
            <p:cNvSpPr>
              <a:spLocks noChangeShapeType="1"/>
            </p:cNvSpPr>
            <p:nvPr/>
          </p:nvSpPr>
          <p:spPr bwMode="auto">
            <a:xfrm>
              <a:off x="4736" y="2601"/>
              <a:ext cx="2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16" name="Line 260"/>
            <p:cNvSpPr>
              <a:spLocks noChangeShapeType="1"/>
            </p:cNvSpPr>
            <p:nvPr/>
          </p:nvSpPr>
          <p:spPr bwMode="auto">
            <a:xfrm>
              <a:off x="4736" y="2591"/>
              <a:ext cx="0" cy="1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17" name="Line 261"/>
            <p:cNvSpPr>
              <a:spLocks noChangeShapeType="1"/>
            </p:cNvSpPr>
            <p:nvPr/>
          </p:nvSpPr>
          <p:spPr bwMode="auto">
            <a:xfrm flipH="1">
              <a:off x="4718" y="2591"/>
              <a:ext cx="5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18" name="Line 262"/>
            <p:cNvSpPr>
              <a:spLocks noChangeShapeType="1"/>
            </p:cNvSpPr>
            <p:nvPr/>
          </p:nvSpPr>
          <p:spPr bwMode="auto">
            <a:xfrm flipH="1">
              <a:off x="4769" y="2601"/>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19" name="Line 263"/>
            <p:cNvSpPr>
              <a:spLocks noChangeShapeType="1"/>
            </p:cNvSpPr>
            <p:nvPr/>
          </p:nvSpPr>
          <p:spPr bwMode="auto">
            <a:xfrm flipH="1">
              <a:off x="4772" y="2599"/>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20" name="Line 264"/>
            <p:cNvSpPr>
              <a:spLocks noChangeShapeType="1"/>
            </p:cNvSpPr>
            <p:nvPr/>
          </p:nvSpPr>
          <p:spPr bwMode="auto">
            <a:xfrm flipH="1" flipV="1">
              <a:off x="4773" y="2599"/>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21" name="Line 265"/>
            <p:cNvSpPr>
              <a:spLocks noChangeShapeType="1"/>
            </p:cNvSpPr>
            <p:nvPr/>
          </p:nvSpPr>
          <p:spPr bwMode="auto">
            <a:xfrm flipH="1">
              <a:off x="4775" y="2601"/>
              <a:ext cx="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22" name="Line 266"/>
            <p:cNvSpPr>
              <a:spLocks noChangeShapeType="1"/>
            </p:cNvSpPr>
            <p:nvPr/>
          </p:nvSpPr>
          <p:spPr bwMode="auto">
            <a:xfrm flipH="1">
              <a:off x="4782" y="2599"/>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23" name="Line 267"/>
            <p:cNvSpPr>
              <a:spLocks noChangeShapeType="1"/>
            </p:cNvSpPr>
            <p:nvPr/>
          </p:nvSpPr>
          <p:spPr bwMode="auto">
            <a:xfrm flipV="1">
              <a:off x="4788" y="2600"/>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24" name="Line 268"/>
            <p:cNvSpPr>
              <a:spLocks noChangeShapeType="1"/>
            </p:cNvSpPr>
            <p:nvPr/>
          </p:nvSpPr>
          <p:spPr bwMode="auto">
            <a:xfrm>
              <a:off x="4784" y="2601"/>
              <a:ext cx="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25" name="Line 269"/>
            <p:cNvSpPr>
              <a:spLocks noChangeShapeType="1"/>
            </p:cNvSpPr>
            <p:nvPr/>
          </p:nvSpPr>
          <p:spPr bwMode="auto">
            <a:xfrm>
              <a:off x="4783" y="2599"/>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26" name="Line 270"/>
            <p:cNvSpPr>
              <a:spLocks noChangeShapeType="1"/>
            </p:cNvSpPr>
            <p:nvPr/>
          </p:nvSpPr>
          <p:spPr bwMode="auto">
            <a:xfrm flipV="1">
              <a:off x="4783" y="2591"/>
              <a:ext cx="0" cy="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27" name="Line 271"/>
            <p:cNvSpPr>
              <a:spLocks noChangeShapeType="1"/>
            </p:cNvSpPr>
            <p:nvPr/>
          </p:nvSpPr>
          <p:spPr bwMode="auto">
            <a:xfrm flipV="1">
              <a:off x="4773" y="2591"/>
              <a:ext cx="0" cy="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28" name="Line 272"/>
            <p:cNvSpPr>
              <a:spLocks noChangeShapeType="1"/>
            </p:cNvSpPr>
            <p:nvPr/>
          </p:nvSpPr>
          <p:spPr bwMode="auto">
            <a:xfrm flipV="1">
              <a:off x="4788" y="2591"/>
              <a:ext cx="0" cy="1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29" name="Line 273"/>
            <p:cNvSpPr>
              <a:spLocks noChangeShapeType="1"/>
            </p:cNvSpPr>
            <p:nvPr/>
          </p:nvSpPr>
          <p:spPr bwMode="auto">
            <a:xfrm>
              <a:off x="4769" y="2601"/>
              <a:ext cx="1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30" name="Line 274"/>
            <p:cNvSpPr>
              <a:spLocks noChangeShapeType="1"/>
            </p:cNvSpPr>
            <p:nvPr/>
          </p:nvSpPr>
          <p:spPr bwMode="auto">
            <a:xfrm>
              <a:off x="4768" y="2591"/>
              <a:ext cx="0" cy="1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31" name="Line 275"/>
            <p:cNvSpPr>
              <a:spLocks noChangeShapeType="1"/>
            </p:cNvSpPr>
            <p:nvPr/>
          </p:nvSpPr>
          <p:spPr bwMode="auto">
            <a:xfrm flipH="1">
              <a:off x="4750" y="2591"/>
              <a:ext cx="5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32" name="Line 276"/>
            <p:cNvSpPr>
              <a:spLocks noChangeShapeType="1"/>
            </p:cNvSpPr>
            <p:nvPr/>
          </p:nvSpPr>
          <p:spPr bwMode="auto">
            <a:xfrm flipH="1">
              <a:off x="4802" y="2601"/>
              <a:ext cx="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33" name="Line 277"/>
            <p:cNvSpPr>
              <a:spLocks noChangeShapeType="1"/>
            </p:cNvSpPr>
            <p:nvPr/>
          </p:nvSpPr>
          <p:spPr bwMode="auto">
            <a:xfrm flipH="1">
              <a:off x="4806" y="2599"/>
              <a:ext cx="0"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34" name="Line 278"/>
            <p:cNvSpPr>
              <a:spLocks noChangeShapeType="1"/>
            </p:cNvSpPr>
            <p:nvPr/>
          </p:nvSpPr>
          <p:spPr bwMode="auto">
            <a:xfrm flipH="1" flipV="1">
              <a:off x="4806" y="2599"/>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35" name="Line 279"/>
            <p:cNvSpPr>
              <a:spLocks noChangeShapeType="1"/>
            </p:cNvSpPr>
            <p:nvPr/>
          </p:nvSpPr>
          <p:spPr bwMode="auto">
            <a:xfrm flipV="1">
              <a:off x="4806" y="2591"/>
              <a:ext cx="0" cy="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36" name="Line 280"/>
            <p:cNvSpPr>
              <a:spLocks noChangeShapeType="1"/>
            </p:cNvSpPr>
            <p:nvPr/>
          </p:nvSpPr>
          <p:spPr bwMode="auto">
            <a:xfrm>
              <a:off x="4802" y="2591"/>
              <a:ext cx="0" cy="1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37" name="Line 281"/>
            <p:cNvSpPr>
              <a:spLocks noChangeShapeType="1"/>
            </p:cNvSpPr>
            <p:nvPr/>
          </p:nvSpPr>
          <p:spPr bwMode="auto">
            <a:xfrm flipH="1">
              <a:off x="4713" y="2591"/>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38" name="Line 282"/>
            <p:cNvSpPr>
              <a:spLocks noChangeShapeType="1"/>
            </p:cNvSpPr>
            <p:nvPr/>
          </p:nvSpPr>
          <p:spPr bwMode="auto">
            <a:xfrm flipH="1">
              <a:off x="4713" y="2543"/>
              <a:ext cx="6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39" name="Line 283"/>
            <p:cNvSpPr>
              <a:spLocks noChangeShapeType="1"/>
            </p:cNvSpPr>
            <p:nvPr/>
          </p:nvSpPr>
          <p:spPr bwMode="auto">
            <a:xfrm flipV="1">
              <a:off x="4806" y="2527"/>
              <a:ext cx="0" cy="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40" name="Line 284"/>
            <p:cNvSpPr>
              <a:spLocks noChangeShapeType="1"/>
            </p:cNvSpPr>
            <p:nvPr/>
          </p:nvSpPr>
          <p:spPr bwMode="auto">
            <a:xfrm flipH="1">
              <a:off x="4803" y="2532"/>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41" name="Line 285"/>
            <p:cNvSpPr>
              <a:spLocks noChangeShapeType="1"/>
            </p:cNvSpPr>
            <p:nvPr/>
          </p:nvSpPr>
          <p:spPr bwMode="auto">
            <a:xfrm>
              <a:off x="4803" y="2532"/>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42" name="Line 286"/>
            <p:cNvSpPr>
              <a:spLocks noChangeShapeType="1"/>
            </p:cNvSpPr>
            <p:nvPr/>
          </p:nvSpPr>
          <p:spPr bwMode="auto">
            <a:xfrm flipH="1" flipV="1">
              <a:off x="4806" y="2532"/>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43" name="Line 287"/>
            <p:cNvSpPr>
              <a:spLocks noChangeShapeType="1"/>
            </p:cNvSpPr>
            <p:nvPr/>
          </p:nvSpPr>
          <p:spPr bwMode="auto">
            <a:xfrm flipH="1">
              <a:off x="4807" y="2532"/>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44" name="Line 288"/>
            <p:cNvSpPr>
              <a:spLocks noChangeShapeType="1"/>
            </p:cNvSpPr>
            <p:nvPr/>
          </p:nvSpPr>
          <p:spPr bwMode="auto">
            <a:xfrm>
              <a:off x="4807" y="2534"/>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45" name="Line 289"/>
            <p:cNvSpPr>
              <a:spLocks noChangeShapeType="1"/>
            </p:cNvSpPr>
            <p:nvPr/>
          </p:nvSpPr>
          <p:spPr bwMode="auto">
            <a:xfrm flipV="1">
              <a:off x="4803" y="2532"/>
              <a:ext cx="0" cy="1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46" name="Line 290"/>
            <p:cNvSpPr>
              <a:spLocks noChangeShapeType="1"/>
            </p:cNvSpPr>
            <p:nvPr/>
          </p:nvSpPr>
          <p:spPr bwMode="auto">
            <a:xfrm>
              <a:off x="4741" y="2527"/>
              <a:ext cx="0" cy="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47" name="Line 291"/>
            <p:cNvSpPr>
              <a:spLocks noChangeShapeType="1"/>
            </p:cNvSpPr>
            <p:nvPr/>
          </p:nvSpPr>
          <p:spPr bwMode="auto">
            <a:xfrm flipH="1">
              <a:off x="4741" y="2527"/>
              <a:ext cx="11"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48" name="Line 292"/>
            <p:cNvSpPr>
              <a:spLocks noChangeShapeType="1"/>
            </p:cNvSpPr>
            <p:nvPr/>
          </p:nvSpPr>
          <p:spPr bwMode="auto">
            <a:xfrm flipV="1">
              <a:off x="4752" y="2527"/>
              <a:ext cx="0" cy="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49" name="Line 293"/>
            <p:cNvSpPr>
              <a:spLocks noChangeShapeType="1"/>
            </p:cNvSpPr>
            <p:nvPr/>
          </p:nvSpPr>
          <p:spPr bwMode="auto">
            <a:xfrm>
              <a:off x="4751" y="2532"/>
              <a:ext cx="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50" name="Line 294"/>
            <p:cNvSpPr>
              <a:spLocks noChangeShapeType="1"/>
            </p:cNvSpPr>
            <p:nvPr/>
          </p:nvSpPr>
          <p:spPr bwMode="auto">
            <a:xfrm>
              <a:off x="4755" y="2532"/>
              <a:ext cx="1"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51" name="Line 295"/>
            <p:cNvSpPr>
              <a:spLocks noChangeShapeType="1"/>
            </p:cNvSpPr>
            <p:nvPr/>
          </p:nvSpPr>
          <p:spPr bwMode="auto">
            <a:xfrm flipV="1">
              <a:off x="4750" y="2532"/>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52" name="Line 296"/>
            <p:cNvSpPr>
              <a:spLocks noChangeShapeType="1"/>
            </p:cNvSpPr>
            <p:nvPr/>
          </p:nvSpPr>
          <p:spPr bwMode="auto">
            <a:xfrm>
              <a:off x="4749" y="2532"/>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53" name="Line 297"/>
            <p:cNvSpPr>
              <a:spLocks noChangeShapeType="1"/>
            </p:cNvSpPr>
            <p:nvPr/>
          </p:nvSpPr>
          <p:spPr bwMode="auto">
            <a:xfrm>
              <a:off x="4744" y="2532"/>
              <a:ext cx="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54" name="Line 298"/>
            <p:cNvSpPr>
              <a:spLocks noChangeShapeType="1"/>
            </p:cNvSpPr>
            <p:nvPr/>
          </p:nvSpPr>
          <p:spPr bwMode="auto">
            <a:xfrm flipV="1">
              <a:off x="4742" y="2532"/>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55" name="Line 299"/>
            <p:cNvSpPr>
              <a:spLocks noChangeShapeType="1"/>
            </p:cNvSpPr>
            <p:nvPr/>
          </p:nvSpPr>
          <p:spPr bwMode="auto">
            <a:xfrm flipH="1">
              <a:off x="4736" y="2532"/>
              <a:ext cx="1"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56" name="Line 300"/>
            <p:cNvSpPr>
              <a:spLocks noChangeShapeType="1"/>
            </p:cNvSpPr>
            <p:nvPr/>
          </p:nvSpPr>
          <p:spPr bwMode="auto">
            <a:xfrm flipH="1">
              <a:off x="4737" y="2532"/>
              <a:ext cx="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57" name="Line 301"/>
            <p:cNvSpPr>
              <a:spLocks noChangeShapeType="1"/>
            </p:cNvSpPr>
            <p:nvPr/>
          </p:nvSpPr>
          <p:spPr bwMode="auto">
            <a:xfrm flipH="1" flipV="1">
              <a:off x="4741" y="2532"/>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58" name="Line 302"/>
            <p:cNvSpPr>
              <a:spLocks noChangeShapeType="1"/>
            </p:cNvSpPr>
            <p:nvPr/>
          </p:nvSpPr>
          <p:spPr bwMode="auto">
            <a:xfrm>
              <a:off x="4742" y="2534"/>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59" name="Line 303"/>
            <p:cNvSpPr>
              <a:spLocks noChangeShapeType="1"/>
            </p:cNvSpPr>
            <p:nvPr/>
          </p:nvSpPr>
          <p:spPr bwMode="auto">
            <a:xfrm flipH="1">
              <a:off x="4775" y="2529"/>
              <a:ext cx="8"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60" name="Line 304"/>
            <p:cNvSpPr>
              <a:spLocks noChangeShapeType="1"/>
            </p:cNvSpPr>
            <p:nvPr/>
          </p:nvSpPr>
          <p:spPr bwMode="auto">
            <a:xfrm>
              <a:off x="4678" y="2529"/>
              <a:ext cx="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61" name="Line 305"/>
            <p:cNvSpPr>
              <a:spLocks noChangeShapeType="1"/>
            </p:cNvSpPr>
            <p:nvPr/>
          </p:nvSpPr>
          <p:spPr bwMode="auto">
            <a:xfrm>
              <a:off x="4645" y="2529"/>
              <a:ext cx="8"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62" name="Freeform 306"/>
            <p:cNvSpPr>
              <a:spLocks/>
            </p:cNvSpPr>
            <p:nvPr/>
          </p:nvSpPr>
          <p:spPr bwMode="auto">
            <a:xfrm>
              <a:off x="4864" y="2753"/>
              <a:ext cx="87" cy="198"/>
            </a:xfrm>
            <a:custGeom>
              <a:avLst/>
              <a:gdLst/>
              <a:ahLst/>
              <a:cxnLst>
                <a:cxn ang="0">
                  <a:pos x="5" y="0"/>
                </a:cxn>
                <a:cxn ang="0">
                  <a:pos x="2" y="27"/>
                </a:cxn>
                <a:cxn ang="0">
                  <a:pos x="1" y="52"/>
                </a:cxn>
                <a:cxn ang="0">
                  <a:pos x="0" y="70"/>
                </a:cxn>
                <a:cxn ang="0">
                  <a:pos x="0" y="85"/>
                </a:cxn>
                <a:cxn ang="0">
                  <a:pos x="0" y="98"/>
                </a:cxn>
                <a:cxn ang="0">
                  <a:pos x="1" y="107"/>
                </a:cxn>
                <a:cxn ang="0">
                  <a:pos x="4" y="114"/>
                </a:cxn>
                <a:cxn ang="0">
                  <a:pos x="5" y="120"/>
                </a:cxn>
                <a:cxn ang="0">
                  <a:pos x="7" y="127"/>
                </a:cxn>
                <a:cxn ang="0">
                  <a:pos x="9" y="132"/>
                </a:cxn>
                <a:cxn ang="0">
                  <a:pos x="11" y="138"/>
                </a:cxn>
                <a:cxn ang="0">
                  <a:pos x="14" y="145"/>
                </a:cxn>
                <a:cxn ang="0">
                  <a:pos x="17" y="150"/>
                </a:cxn>
                <a:cxn ang="0">
                  <a:pos x="20" y="154"/>
                </a:cxn>
                <a:cxn ang="0">
                  <a:pos x="24" y="158"/>
                </a:cxn>
                <a:cxn ang="0">
                  <a:pos x="27" y="163"/>
                </a:cxn>
                <a:cxn ang="0">
                  <a:pos x="32" y="165"/>
                </a:cxn>
                <a:cxn ang="0">
                  <a:pos x="36" y="169"/>
                </a:cxn>
                <a:cxn ang="0">
                  <a:pos x="39" y="173"/>
                </a:cxn>
                <a:cxn ang="0">
                  <a:pos x="43" y="176"/>
                </a:cxn>
                <a:cxn ang="0">
                  <a:pos x="48" y="179"/>
                </a:cxn>
                <a:cxn ang="0">
                  <a:pos x="51" y="182"/>
                </a:cxn>
                <a:cxn ang="0">
                  <a:pos x="56" y="184"/>
                </a:cxn>
                <a:cxn ang="0">
                  <a:pos x="60" y="189"/>
                </a:cxn>
                <a:cxn ang="0">
                  <a:pos x="65" y="191"/>
                </a:cxn>
                <a:cxn ang="0">
                  <a:pos x="70" y="193"/>
                </a:cxn>
                <a:cxn ang="0">
                  <a:pos x="74" y="195"/>
                </a:cxn>
                <a:cxn ang="0">
                  <a:pos x="78" y="198"/>
                </a:cxn>
                <a:cxn ang="0">
                  <a:pos x="81" y="200"/>
                </a:cxn>
                <a:cxn ang="0">
                  <a:pos x="85" y="201"/>
                </a:cxn>
                <a:cxn ang="0">
                  <a:pos x="89" y="205"/>
                </a:cxn>
                <a:cxn ang="0">
                  <a:pos x="92" y="207"/>
                </a:cxn>
                <a:cxn ang="0">
                  <a:pos x="95" y="211"/>
                </a:cxn>
                <a:cxn ang="0">
                  <a:pos x="98" y="214"/>
                </a:cxn>
                <a:cxn ang="0">
                  <a:pos x="100" y="218"/>
                </a:cxn>
                <a:cxn ang="0">
                  <a:pos x="102" y="222"/>
                </a:cxn>
                <a:cxn ang="0">
                  <a:pos x="104" y="228"/>
                </a:cxn>
                <a:cxn ang="0">
                  <a:pos x="107" y="235"/>
                </a:cxn>
                <a:cxn ang="0">
                  <a:pos x="108" y="242"/>
                </a:cxn>
                <a:cxn ang="0">
                  <a:pos x="110" y="253"/>
                </a:cxn>
              </a:cxnLst>
              <a:rect l="0" t="0" r="r" b="b"/>
              <a:pathLst>
                <a:path w="111" h="254">
                  <a:moveTo>
                    <a:pt x="5" y="0"/>
                  </a:moveTo>
                  <a:lnTo>
                    <a:pt x="2" y="27"/>
                  </a:lnTo>
                  <a:lnTo>
                    <a:pt x="1" y="52"/>
                  </a:lnTo>
                  <a:lnTo>
                    <a:pt x="0" y="70"/>
                  </a:lnTo>
                  <a:lnTo>
                    <a:pt x="0" y="85"/>
                  </a:lnTo>
                  <a:lnTo>
                    <a:pt x="0" y="98"/>
                  </a:lnTo>
                  <a:lnTo>
                    <a:pt x="1" y="107"/>
                  </a:lnTo>
                  <a:lnTo>
                    <a:pt x="4" y="114"/>
                  </a:lnTo>
                  <a:lnTo>
                    <a:pt x="5" y="120"/>
                  </a:lnTo>
                  <a:lnTo>
                    <a:pt x="7" y="127"/>
                  </a:lnTo>
                  <a:lnTo>
                    <a:pt x="9" y="132"/>
                  </a:lnTo>
                  <a:lnTo>
                    <a:pt x="11" y="138"/>
                  </a:lnTo>
                  <a:lnTo>
                    <a:pt x="14" y="145"/>
                  </a:lnTo>
                  <a:lnTo>
                    <a:pt x="17" y="150"/>
                  </a:lnTo>
                  <a:lnTo>
                    <a:pt x="20" y="154"/>
                  </a:lnTo>
                  <a:lnTo>
                    <a:pt x="24" y="158"/>
                  </a:lnTo>
                  <a:lnTo>
                    <a:pt x="27" y="163"/>
                  </a:lnTo>
                  <a:lnTo>
                    <a:pt x="32" y="165"/>
                  </a:lnTo>
                  <a:lnTo>
                    <a:pt x="36" y="169"/>
                  </a:lnTo>
                  <a:lnTo>
                    <a:pt x="39" y="173"/>
                  </a:lnTo>
                  <a:lnTo>
                    <a:pt x="43" y="176"/>
                  </a:lnTo>
                  <a:lnTo>
                    <a:pt x="48" y="179"/>
                  </a:lnTo>
                  <a:lnTo>
                    <a:pt x="51" y="182"/>
                  </a:lnTo>
                  <a:lnTo>
                    <a:pt x="56" y="184"/>
                  </a:lnTo>
                  <a:lnTo>
                    <a:pt x="60" y="189"/>
                  </a:lnTo>
                  <a:lnTo>
                    <a:pt x="65" y="191"/>
                  </a:lnTo>
                  <a:lnTo>
                    <a:pt x="70" y="193"/>
                  </a:lnTo>
                  <a:lnTo>
                    <a:pt x="74" y="195"/>
                  </a:lnTo>
                  <a:lnTo>
                    <a:pt x="78" y="198"/>
                  </a:lnTo>
                  <a:lnTo>
                    <a:pt x="81" y="200"/>
                  </a:lnTo>
                  <a:lnTo>
                    <a:pt x="85" y="201"/>
                  </a:lnTo>
                  <a:lnTo>
                    <a:pt x="89" y="205"/>
                  </a:lnTo>
                  <a:lnTo>
                    <a:pt x="92" y="207"/>
                  </a:lnTo>
                  <a:lnTo>
                    <a:pt x="95" y="211"/>
                  </a:lnTo>
                  <a:lnTo>
                    <a:pt x="98" y="214"/>
                  </a:lnTo>
                  <a:lnTo>
                    <a:pt x="100" y="218"/>
                  </a:lnTo>
                  <a:lnTo>
                    <a:pt x="102" y="222"/>
                  </a:lnTo>
                  <a:lnTo>
                    <a:pt x="104" y="228"/>
                  </a:lnTo>
                  <a:lnTo>
                    <a:pt x="107" y="235"/>
                  </a:lnTo>
                  <a:lnTo>
                    <a:pt x="108" y="242"/>
                  </a:lnTo>
                  <a:lnTo>
                    <a:pt x="110" y="253"/>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363" name="Freeform 307"/>
            <p:cNvSpPr>
              <a:spLocks/>
            </p:cNvSpPr>
            <p:nvPr/>
          </p:nvSpPr>
          <p:spPr bwMode="auto">
            <a:xfrm>
              <a:off x="4868" y="2743"/>
              <a:ext cx="34" cy="103"/>
            </a:xfrm>
            <a:custGeom>
              <a:avLst/>
              <a:gdLst/>
              <a:ahLst/>
              <a:cxnLst>
                <a:cxn ang="0">
                  <a:pos x="42" y="0"/>
                </a:cxn>
                <a:cxn ang="0">
                  <a:pos x="31" y="23"/>
                </a:cxn>
                <a:cxn ang="0">
                  <a:pos x="21" y="42"/>
                </a:cxn>
                <a:cxn ang="0">
                  <a:pos x="15" y="55"/>
                </a:cxn>
                <a:cxn ang="0">
                  <a:pos x="10" y="68"/>
                </a:cxn>
                <a:cxn ang="0">
                  <a:pos x="8" y="80"/>
                </a:cxn>
                <a:cxn ang="0">
                  <a:pos x="5" y="94"/>
                </a:cxn>
                <a:cxn ang="0">
                  <a:pos x="2" y="111"/>
                </a:cxn>
                <a:cxn ang="0">
                  <a:pos x="0" y="131"/>
                </a:cxn>
              </a:cxnLst>
              <a:rect l="0" t="0" r="r" b="b"/>
              <a:pathLst>
                <a:path w="43" h="132">
                  <a:moveTo>
                    <a:pt x="42" y="0"/>
                  </a:moveTo>
                  <a:lnTo>
                    <a:pt x="31" y="23"/>
                  </a:lnTo>
                  <a:lnTo>
                    <a:pt x="21" y="42"/>
                  </a:lnTo>
                  <a:lnTo>
                    <a:pt x="15" y="55"/>
                  </a:lnTo>
                  <a:lnTo>
                    <a:pt x="10" y="68"/>
                  </a:lnTo>
                  <a:lnTo>
                    <a:pt x="8" y="80"/>
                  </a:lnTo>
                  <a:lnTo>
                    <a:pt x="5" y="94"/>
                  </a:lnTo>
                  <a:lnTo>
                    <a:pt x="2" y="111"/>
                  </a:lnTo>
                  <a:lnTo>
                    <a:pt x="0" y="131"/>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364" name="Freeform 308"/>
            <p:cNvSpPr>
              <a:spLocks/>
            </p:cNvSpPr>
            <p:nvPr/>
          </p:nvSpPr>
          <p:spPr bwMode="auto">
            <a:xfrm>
              <a:off x="4836" y="2580"/>
              <a:ext cx="13" cy="13"/>
            </a:xfrm>
            <a:custGeom>
              <a:avLst/>
              <a:gdLst/>
              <a:ahLst/>
              <a:cxnLst>
                <a:cxn ang="0">
                  <a:pos x="0" y="15"/>
                </a:cxn>
                <a:cxn ang="0">
                  <a:pos x="0" y="16"/>
                </a:cxn>
                <a:cxn ang="0">
                  <a:pos x="1" y="16"/>
                </a:cxn>
                <a:cxn ang="0">
                  <a:pos x="1" y="16"/>
                </a:cxn>
                <a:cxn ang="0">
                  <a:pos x="4" y="15"/>
                </a:cxn>
                <a:cxn ang="0">
                  <a:pos x="4" y="15"/>
                </a:cxn>
                <a:cxn ang="0">
                  <a:pos x="7" y="14"/>
                </a:cxn>
                <a:cxn ang="0">
                  <a:pos x="7" y="14"/>
                </a:cxn>
                <a:cxn ang="0">
                  <a:pos x="10" y="12"/>
                </a:cxn>
                <a:cxn ang="0">
                  <a:pos x="10" y="12"/>
                </a:cxn>
                <a:cxn ang="0">
                  <a:pos x="10" y="10"/>
                </a:cxn>
                <a:cxn ang="0">
                  <a:pos x="10" y="9"/>
                </a:cxn>
                <a:cxn ang="0">
                  <a:pos x="13" y="7"/>
                </a:cxn>
                <a:cxn ang="0">
                  <a:pos x="13" y="5"/>
                </a:cxn>
                <a:cxn ang="0">
                  <a:pos x="14" y="3"/>
                </a:cxn>
                <a:cxn ang="0">
                  <a:pos x="14" y="1"/>
                </a:cxn>
                <a:cxn ang="0">
                  <a:pos x="16" y="0"/>
                </a:cxn>
              </a:cxnLst>
              <a:rect l="0" t="0" r="r" b="b"/>
              <a:pathLst>
                <a:path w="17" h="17">
                  <a:moveTo>
                    <a:pt x="0" y="15"/>
                  </a:moveTo>
                  <a:lnTo>
                    <a:pt x="0" y="16"/>
                  </a:lnTo>
                  <a:lnTo>
                    <a:pt x="1" y="16"/>
                  </a:lnTo>
                  <a:lnTo>
                    <a:pt x="1" y="16"/>
                  </a:lnTo>
                  <a:lnTo>
                    <a:pt x="4" y="15"/>
                  </a:lnTo>
                  <a:lnTo>
                    <a:pt x="4" y="15"/>
                  </a:lnTo>
                  <a:lnTo>
                    <a:pt x="7" y="14"/>
                  </a:lnTo>
                  <a:lnTo>
                    <a:pt x="7" y="14"/>
                  </a:lnTo>
                  <a:lnTo>
                    <a:pt x="10" y="12"/>
                  </a:lnTo>
                  <a:lnTo>
                    <a:pt x="10" y="12"/>
                  </a:lnTo>
                  <a:lnTo>
                    <a:pt x="10" y="10"/>
                  </a:lnTo>
                  <a:lnTo>
                    <a:pt x="10" y="9"/>
                  </a:lnTo>
                  <a:lnTo>
                    <a:pt x="13" y="7"/>
                  </a:lnTo>
                  <a:lnTo>
                    <a:pt x="13" y="5"/>
                  </a:lnTo>
                  <a:lnTo>
                    <a:pt x="14" y="3"/>
                  </a:lnTo>
                  <a:lnTo>
                    <a:pt x="14" y="1"/>
                  </a:lnTo>
                  <a:lnTo>
                    <a:pt x="16"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365" name="Freeform 309"/>
            <p:cNvSpPr>
              <a:spLocks/>
            </p:cNvSpPr>
            <p:nvPr/>
          </p:nvSpPr>
          <p:spPr bwMode="auto">
            <a:xfrm>
              <a:off x="4835" y="2545"/>
              <a:ext cx="14" cy="13"/>
            </a:xfrm>
            <a:custGeom>
              <a:avLst/>
              <a:gdLst/>
              <a:ahLst/>
              <a:cxnLst>
                <a:cxn ang="0">
                  <a:pos x="16" y="16"/>
                </a:cxn>
                <a:cxn ang="0">
                  <a:pos x="14" y="16"/>
                </a:cxn>
                <a:cxn ang="0">
                  <a:pos x="14" y="13"/>
                </a:cxn>
                <a:cxn ang="0">
                  <a:pos x="13" y="11"/>
                </a:cxn>
                <a:cxn ang="0">
                  <a:pos x="13" y="8"/>
                </a:cxn>
                <a:cxn ang="0">
                  <a:pos x="10" y="8"/>
                </a:cxn>
                <a:cxn ang="0">
                  <a:pos x="10" y="6"/>
                </a:cxn>
                <a:cxn ang="0">
                  <a:pos x="10" y="4"/>
                </a:cxn>
                <a:cxn ang="0">
                  <a:pos x="10" y="3"/>
                </a:cxn>
                <a:cxn ang="0">
                  <a:pos x="8" y="3"/>
                </a:cxn>
                <a:cxn ang="0">
                  <a:pos x="6" y="2"/>
                </a:cxn>
                <a:cxn ang="0">
                  <a:pos x="5" y="2"/>
                </a:cxn>
                <a:cxn ang="0">
                  <a:pos x="5" y="0"/>
                </a:cxn>
                <a:cxn ang="0">
                  <a:pos x="2" y="0"/>
                </a:cxn>
                <a:cxn ang="0">
                  <a:pos x="2" y="0"/>
                </a:cxn>
                <a:cxn ang="0">
                  <a:pos x="0" y="0"/>
                </a:cxn>
                <a:cxn ang="0">
                  <a:pos x="0" y="0"/>
                </a:cxn>
              </a:cxnLst>
              <a:rect l="0" t="0" r="r" b="b"/>
              <a:pathLst>
                <a:path w="17" h="17">
                  <a:moveTo>
                    <a:pt x="16" y="16"/>
                  </a:moveTo>
                  <a:lnTo>
                    <a:pt x="14" y="16"/>
                  </a:lnTo>
                  <a:lnTo>
                    <a:pt x="14" y="13"/>
                  </a:lnTo>
                  <a:lnTo>
                    <a:pt x="13" y="11"/>
                  </a:lnTo>
                  <a:lnTo>
                    <a:pt x="13" y="8"/>
                  </a:lnTo>
                  <a:lnTo>
                    <a:pt x="10" y="8"/>
                  </a:lnTo>
                  <a:lnTo>
                    <a:pt x="10" y="6"/>
                  </a:lnTo>
                  <a:lnTo>
                    <a:pt x="10" y="4"/>
                  </a:lnTo>
                  <a:lnTo>
                    <a:pt x="10" y="3"/>
                  </a:lnTo>
                  <a:lnTo>
                    <a:pt x="8" y="3"/>
                  </a:lnTo>
                  <a:lnTo>
                    <a:pt x="6" y="2"/>
                  </a:lnTo>
                  <a:lnTo>
                    <a:pt x="5" y="2"/>
                  </a:lnTo>
                  <a:lnTo>
                    <a:pt x="5" y="0"/>
                  </a:lnTo>
                  <a:lnTo>
                    <a:pt x="2" y="0"/>
                  </a:lnTo>
                  <a:lnTo>
                    <a:pt x="2" y="0"/>
                  </a:lnTo>
                  <a:lnTo>
                    <a:pt x="0" y="0"/>
                  </a:lnTo>
                  <a:lnTo>
                    <a:pt x="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366" name="Line 310"/>
            <p:cNvSpPr>
              <a:spLocks noChangeShapeType="1"/>
            </p:cNvSpPr>
            <p:nvPr/>
          </p:nvSpPr>
          <p:spPr bwMode="auto">
            <a:xfrm flipH="1">
              <a:off x="4960" y="2546"/>
              <a:ext cx="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67" name="Line 311"/>
            <p:cNvSpPr>
              <a:spLocks noChangeShapeType="1"/>
            </p:cNvSpPr>
            <p:nvPr/>
          </p:nvSpPr>
          <p:spPr bwMode="auto">
            <a:xfrm>
              <a:off x="4750" y="2534"/>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68" name="Line 312"/>
            <p:cNvSpPr>
              <a:spLocks noChangeShapeType="1"/>
            </p:cNvSpPr>
            <p:nvPr/>
          </p:nvSpPr>
          <p:spPr bwMode="auto">
            <a:xfrm>
              <a:off x="4736" y="2532"/>
              <a:ext cx="0" cy="1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69" name="Line 313"/>
            <p:cNvSpPr>
              <a:spLocks noChangeShapeType="1"/>
            </p:cNvSpPr>
            <p:nvPr/>
          </p:nvSpPr>
          <p:spPr bwMode="auto">
            <a:xfrm flipH="1">
              <a:off x="4736" y="2532"/>
              <a:ext cx="2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70" name="Line 314"/>
            <p:cNvSpPr>
              <a:spLocks noChangeShapeType="1"/>
            </p:cNvSpPr>
            <p:nvPr/>
          </p:nvSpPr>
          <p:spPr bwMode="auto">
            <a:xfrm flipV="1">
              <a:off x="4756" y="2532"/>
              <a:ext cx="0" cy="1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71" name="Line 315"/>
            <p:cNvSpPr>
              <a:spLocks noChangeShapeType="1"/>
            </p:cNvSpPr>
            <p:nvPr/>
          </p:nvSpPr>
          <p:spPr bwMode="auto">
            <a:xfrm>
              <a:off x="4772" y="2527"/>
              <a:ext cx="0" cy="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72" name="Line 316"/>
            <p:cNvSpPr>
              <a:spLocks noChangeShapeType="1"/>
            </p:cNvSpPr>
            <p:nvPr/>
          </p:nvSpPr>
          <p:spPr bwMode="auto">
            <a:xfrm flipH="1">
              <a:off x="4772" y="2527"/>
              <a:ext cx="1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73" name="Line 317"/>
            <p:cNvSpPr>
              <a:spLocks noChangeShapeType="1"/>
            </p:cNvSpPr>
            <p:nvPr/>
          </p:nvSpPr>
          <p:spPr bwMode="auto">
            <a:xfrm flipV="1">
              <a:off x="4784" y="2527"/>
              <a:ext cx="0" cy="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74" name="Line 318"/>
            <p:cNvSpPr>
              <a:spLocks noChangeShapeType="1"/>
            </p:cNvSpPr>
            <p:nvPr/>
          </p:nvSpPr>
          <p:spPr bwMode="auto">
            <a:xfrm>
              <a:off x="4784" y="2532"/>
              <a:ext cx="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75" name="Line 319"/>
            <p:cNvSpPr>
              <a:spLocks noChangeShapeType="1"/>
            </p:cNvSpPr>
            <p:nvPr/>
          </p:nvSpPr>
          <p:spPr bwMode="auto">
            <a:xfrm>
              <a:off x="4788" y="2532"/>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76" name="Line 320"/>
            <p:cNvSpPr>
              <a:spLocks noChangeShapeType="1"/>
            </p:cNvSpPr>
            <p:nvPr/>
          </p:nvSpPr>
          <p:spPr bwMode="auto">
            <a:xfrm flipV="1">
              <a:off x="4784" y="2532"/>
              <a:ext cx="0"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77" name="Line 321"/>
            <p:cNvSpPr>
              <a:spLocks noChangeShapeType="1"/>
            </p:cNvSpPr>
            <p:nvPr/>
          </p:nvSpPr>
          <p:spPr bwMode="auto">
            <a:xfrm>
              <a:off x="4782" y="2532"/>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78" name="Line 322"/>
            <p:cNvSpPr>
              <a:spLocks noChangeShapeType="1"/>
            </p:cNvSpPr>
            <p:nvPr/>
          </p:nvSpPr>
          <p:spPr bwMode="auto">
            <a:xfrm>
              <a:off x="4776" y="2532"/>
              <a:ext cx="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79" name="Line 323"/>
            <p:cNvSpPr>
              <a:spLocks noChangeShapeType="1"/>
            </p:cNvSpPr>
            <p:nvPr/>
          </p:nvSpPr>
          <p:spPr bwMode="auto">
            <a:xfrm flipV="1">
              <a:off x="4774" y="2532"/>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80" name="Line 324"/>
            <p:cNvSpPr>
              <a:spLocks noChangeShapeType="1"/>
            </p:cNvSpPr>
            <p:nvPr/>
          </p:nvSpPr>
          <p:spPr bwMode="auto">
            <a:xfrm flipH="1">
              <a:off x="4769" y="2532"/>
              <a:ext cx="1"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81" name="Line 325"/>
            <p:cNvSpPr>
              <a:spLocks noChangeShapeType="1"/>
            </p:cNvSpPr>
            <p:nvPr/>
          </p:nvSpPr>
          <p:spPr bwMode="auto">
            <a:xfrm flipH="1">
              <a:off x="4770" y="2532"/>
              <a:ext cx="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82" name="Line 326"/>
            <p:cNvSpPr>
              <a:spLocks noChangeShapeType="1"/>
            </p:cNvSpPr>
            <p:nvPr/>
          </p:nvSpPr>
          <p:spPr bwMode="auto">
            <a:xfrm flipH="1" flipV="1">
              <a:off x="4772" y="2532"/>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83" name="Line 327"/>
            <p:cNvSpPr>
              <a:spLocks noChangeShapeType="1"/>
            </p:cNvSpPr>
            <p:nvPr/>
          </p:nvSpPr>
          <p:spPr bwMode="auto">
            <a:xfrm>
              <a:off x="4774" y="2534"/>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84" name="Line 328"/>
            <p:cNvSpPr>
              <a:spLocks noChangeShapeType="1"/>
            </p:cNvSpPr>
            <p:nvPr/>
          </p:nvSpPr>
          <p:spPr bwMode="auto">
            <a:xfrm>
              <a:off x="4784" y="2534"/>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85" name="Line 329"/>
            <p:cNvSpPr>
              <a:spLocks noChangeShapeType="1"/>
            </p:cNvSpPr>
            <p:nvPr/>
          </p:nvSpPr>
          <p:spPr bwMode="auto">
            <a:xfrm>
              <a:off x="4769" y="2532"/>
              <a:ext cx="0" cy="1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86" name="Line 330"/>
            <p:cNvSpPr>
              <a:spLocks noChangeShapeType="1"/>
            </p:cNvSpPr>
            <p:nvPr/>
          </p:nvSpPr>
          <p:spPr bwMode="auto">
            <a:xfrm flipH="1">
              <a:off x="4769" y="2532"/>
              <a:ext cx="1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87" name="Line 331"/>
            <p:cNvSpPr>
              <a:spLocks noChangeShapeType="1"/>
            </p:cNvSpPr>
            <p:nvPr/>
          </p:nvSpPr>
          <p:spPr bwMode="auto">
            <a:xfrm flipV="1">
              <a:off x="4788" y="2532"/>
              <a:ext cx="0" cy="1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88" name="Line 332"/>
            <p:cNvSpPr>
              <a:spLocks noChangeShapeType="1"/>
            </p:cNvSpPr>
            <p:nvPr/>
          </p:nvSpPr>
          <p:spPr bwMode="auto">
            <a:xfrm>
              <a:off x="4711" y="2591"/>
              <a:ext cx="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89" name="Line 333"/>
            <p:cNvSpPr>
              <a:spLocks noChangeShapeType="1"/>
            </p:cNvSpPr>
            <p:nvPr/>
          </p:nvSpPr>
          <p:spPr bwMode="auto">
            <a:xfrm>
              <a:off x="4647" y="2543"/>
              <a:ext cx="6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90" name="Line 334"/>
            <p:cNvSpPr>
              <a:spLocks noChangeShapeType="1"/>
            </p:cNvSpPr>
            <p:nvPr/>
          </p:nvSpPr>
          <p:spPr bwMode="auto">
            <a:xfrm>
              <a:off x="4686" y="2527"/>
              <a:ext cx="0" cy="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91" name="Line 335"/>
            <p:cNvSpPr>
              <a:spLocks noChangeShapeType="1"/>
            </p:cNvSpPr>
            <p:nvPr/>
          </p:nvSpPr>
          <p:spPr bwMode="auto">
            <a:xfrm>
              <a:off x="4676" y="2527"/>
              <a:ext cx="1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92" name="Line 336"/>
            <p:cNvSpPr>
              <a:spLocks noChangeShapeType="1"/>
            </p:cNvSpPr>
            <p:nvPr/>
          </p:nvSpPr>
          <p:spPr bwMode="auto">
            <a:xfrm flipV="1">
              <a:off x="4676" y="2527"/>
              <a:ext cx="0" cy="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93" name="Line 337"/>
            <p:cNvSpPr>
              <a:spLocks noChangeShapeType="1"/>
            </p:cNvSpPr>
            <p:nvPr/>
          </p:nvSpPr>
          <p:spPr bwMode="auto">
            <a:xfrm flipH="1">
              <a:off x="4673" y="2532"/>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94" name="Line 338"/>
            <p:cNvSpPr>
              <a:spLocks noChangeShapeType="1"/>
            </p:cNvSpPr>
            <p:nvPr/>
          </p:nvSpPr>
          <p:spPr bwMode="auto">
            <a:xfrm>
              <a:off x="4673" y="2532"/>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95" name="Line 339"/>
            <p:cNvSpPr>
              <a:spLocks noChangeShapeType="1"/>
            </p:cNvSpPr>
            <p:nvPr/>
          </p:nvSpPr>
          <p:spPr bwMode="auto">
            <a:xfrm flipH="1" flipV="1">
              <a:off x="4676" y="2532"/>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96" name="Line 340"/>
            <p:cNvSpPr>
              <a:spLocks noChangeShapeType="1"/>
            </p:cNvSpPr>
            <p:nvPr/>
          </p:nvSpPr>
          <p:spPr bwMode="auto">
            <a:xfrm flipH="1">
              <a:off x="4677" y="2532"/>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97" name="Line 341"/>
            <p:cNvSpPr>
              <a:spLocks noChangeShapeType="1"/>
            </p:cNvSpPr>
            <p:nvPr/>
          </p:nvSpPr>
          <p:spPr bwMode="auto">
            <a:xfrm flipH="1">
              <a:off x="4678" y="2532"/>
              <a:ext cx="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98" name="Line 342"/>
            <p:cNvSpPr>
              <a:spLocks noChangeShapeType="1"/>
            </p:cNvSpPr>
            <p:nvPr/>
          </p:nvSpPr>
          <p:spPr bwMode="auto">
            <a:xfrm flipH="1" flipV="1">
              <a:off x="4684" y="2532"/>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399" name="Line 343"/>
            <p:cNvSpPr>
              <a:spLocks noChangeShapeType="1"/>
            </p:cNvSpPr>
            <p:nvPr/>
          </p:nvSpPr>
          <p:spPr bwMode="auto">
            <a:xfrm>
              <a:off x="4691" y="2532"/>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00" name="Line 344"/>
            <p:cNvSpPr>
              <a:spLocks noChangeShapeType="1"/>
            </p:cNvSpPr>
            <p:nvPr/>
          </p:nvSpPr>
          <p:spPr bwMode="auto">
            <a:xfrm>
              <a:off x="4687" y="2532"/>
              <a:ext cx="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01" name="Line 345"/>
            <p:cNvSpPr>
              <a:spLocks noChangeShapeType="1"/>
            </p:cNvSpPr>
            <p:nvPr/>
          </p:nvSpPr>
          <p:spPr bwMode="auto">
            <a:xfrm flipV="1">
              <a:off x="4685" y="2532"/>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02" name="Line 346"/>
            <p:cNvSpPr>
              <a:spLocks noChangeShapeType="1"/>
            </p:cNvSpPr>
            <p:nvPr/>
          </p:nvSpPr>
          <p:spPr bwMode="auto">
            <a:xfrm>
              <a:off x="4685" y="2534"/>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03" name="Line 347"/>
            <p:cNvSpPr>
              <a:spLocks noChangeShapeType="1"/>
            </p:cNvSpPr>
            <p:nvPr/>
          </p:nvSpPr>
          <p:spPr bwMode="auto">
            <a:xfrm>
              <a:off x="4677" y="2534"/>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04" name="Line 348"/>
            <p:cNvSpPr>
              <a:spLocks noChangeShapeType="1"/>
            </p:cNvSpPr>
            <p:nvPr/>
          </p:nvSpPr>
          <p:spPr bwMode="auto">
            <a:xfrm>
              <a:off x="4691" y="2532"/>
              <a:ext cx="0" cy="1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05" name="Line 349"/>
            <p:cNvSpPr>
              <a:spLocks noChangeShapeType="1"/>
            </p:cNvSpPr>
            <p:nvPr/>
          </p:nvSpPr>
          <p:spPr bwMode="auto">
            <a:xfrm>
              <a:off x="4672" y="2532"/>
              <a:ext cx="1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06" name="Line 350"/>
            <p:cNvSpPr>
              <a:spLocks noChangeShapeType="1"/>
            </p:cNvSpPr>
            <p:nvPr/>
          </p:nvSpPr>
          <p:spPr bwMode="auto">
            <a:xfrm flipV="1">
              <a:off x="4672" y="2532"/>
              <a:ext cx="0" cy="1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07" name="Line 351"/>
            <p:cNvSpPr>
              <a:spLocks noChangeShapeType="1"/>
            </p:cNvSpPr>
            <p:nvPr/>
          </p:nvSpPr>
          <p:spPr bwMode="auto">
            <a:xfrm>
              <a:off x="4654" y="2527"/>
              <a:ext cx="0" cy="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08" name="Line 352"/>
            <p:cNvSpPr>
              <a:spLocks noChangeShapeType="1"/>
            </p:cNvSpPr>
            <p:nvPr/>
          </p:nvSpPr>
          <p:spPr bwMode="auto">
            <a:xfrm>
              <a:off x="4642" y="2527"/>
              <a:ext cx="1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09" name="Line 353"/>
            <p:cNvSpPr>
              <a:spLocks noChangeShapeType="1"/>
            </p:cNvSpPr>
            <p:nvPr/>
          </p:nvSpPr>
          <p:spPr bwMode="auto">
            <a:xfrm flipV="1">
              <a:off x="4642" y="2527"/>
              <a:ext cx="0" cy="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10" name="Line 354"/>
            <p:cNvSpPr>
              <a:spLocks noChangeShapeType="1"/>
            </p:cNvSpPr>
            <p:nvPr/>
          </p:nvSpPr>
          <p:spPr bwMode="auto">
            <a:xfrm flipH="1">
              <a:off x="4639" y="2532"/>
              <a:ext cx="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11" name="Line 355"/>
            <p:cNvSpPr>
              <a:spLocks noChangeShapeType="1"/>
            </p:cNvSpPr>
            <p:nvPr/>
          </p:nvSpPr>
          <p:spPr bwMode="auto">
            <a:xfrm>
              <a:off x="4639" y="2532"/>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12" name="Line 356"/>
            <p:cNvSpPr>
              <a:spLocks noChangeShapeType="1"/>
            </p:cNvSpPr>
            <p:nvPr/>
          </p:nvSpPr>
          <p:spPr bwMode="auto">
            <a:xfrm flipH="1" flipV="1">
              <a:off x="4642" y="2532"/>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13" name="Line 357"/>
            <p:cNvSpPr>
              <a:spLocks noChangeShapeType="1"/>
            </p:cNvSpPr>
            <p:nvPr/>
          </p:nvSpPr>
          <p:spPr bwMode="auto">
            <a:xfrm flipH="1">
              <a:off x="4644" y="2532"/>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14" name="Line 358"/>
            <p:cNvSpPr>
              <a:spLocks noChangeShapeType="1"/>
            </p:cNvSpPr>
            <p:nvPr/>
          </p:nvSpPr>
          <p:spPr bwMode="auto">
            <a:xfrm flipH="1">
              <a:off x="4646" y="2532"/>
              <a:ext cx="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15" name="Line 359"/>
            <p:cNvSpPr>
              <a:spLocks noChangeShapeType="1"/>
            </p:cNvSpPr>
            <p:nvPr/>
          </p:nvSpPr>
          <p:spPr bwMode="auto">
            <a:xfrm flipH="1" flipV="1">
              <a:off x="4652" y="2532"/>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16" name="Line 360"/>
            <p:cNvSpPr>
              <a:spLocks noChangeShapeType="1"/>
            </p:cNvSpPr>
            <p:nvPr/>
          </p:nvSpPr>
          <p:spPr bwMode="auto">
            <a:xfrm>
              <a:off x="4658" y="2532"/>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17" name="Line 361"/>
            <p:cNvSpPr>
              <a:spLocks noChangeShapeType="1"/>
            </p:cNvSpPr>
            <p:nvPr/>
          </p:nvSpPr>
          <p:spPr bwMode="auto">
            <a:xfrm>
              <a:off x="4655" y="2532"/>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18" name="Line 362"/>
            <p:cNvSpPr>
              <a:spLocks noChangeShapeType="1"/>
            </p:cNvSpPr>
            <p:nvPr/>
          </p:nvSpPr>
          <p:spPr bwMode="auto">
            <a:xfrm flipV="1">
              <a:off x="4653" y="2532"/>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19" name="Line 363"/>
            <p:cNvSpPr>
              <a:spLocks noChangeShapeType="1"/>
            </p:cNvSpPr>
            <p:nvPr/>
          </p:nvSpPr>
          <p:spPr bwMode="auto">
            <a:xfrm>
              <a:off x="4653" y="2534"/>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20" name="Line 364"/>
            <p:cNvSpPr>
              <a:spLocks noChangeShapeType="1"/>
            </p:cNvSpPr>
            <p:nvPr/>
          </p:nvSpPr>
          <p:spPr bwMode="auto">
            <a:xfrm>
              <a:off x="4644" y="2534"/>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21" name="Line 365"/>
            <p:cNvSpPr>
              <a:spLocks noChangeShapeType="1"/>
            </p:cNvSpPr>
            <p:nvPr/>
          </p:nvSpPr>
          <p:spPr bwMode="auto">
            <a:xfrm>
              <a:off x="4658" y="2532"/>
              <a:ext cx="0" cy="1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22" name="Line 366"/>
            <p:cNvSpPr>
              <a:spLocks noChangeShapeType="1"/>
            </p:cNvSpPr>
            <p:nvPr/>
          </p:nvSpPr>
          <p:spPr bwMode="auto">
            <a:xfrm>
              <a:off x="4639" y="2532"/>
              <a:ext cx="1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23" name="Line 367"/>
            <p:cNvSpPr>
              <a:spLocks noChangeShapeType="1"/>
            </p:cNvSpPr>
            <p:nvPr/>
          </p:nvSpPr>
          <p:spPr bwMode="auto">
            <a:xfrm flipV="1">
              <a:off x="4639" y="2532"/>
              <a:ext cx="0" cy="1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24" name="Line 368"/>
            <p:cNvSpPr>
              <a:spLocks noChangeShapeType="1"/>
            </p:cNvSpPr>
            <p:nvPr/>
          </p:nvSpPr>
          <p:spPr bwMode="auto">
            <a:xfrm flipH="1">
              <a:off x="4814" y="2599"/>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25" name="Line 369"/>
            <p:cNvSpPr>
              <a:spLocks noChangeShapeType="1"/>
            </p:cNvSpPr>
            <p:nvPr/>
          </p:nvSpPr>
          <p:spPr bwMode="auto">
            <a:xfrm flipV="1">
              <a:off x="4820" y="2600"/>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26" name="Line 370"/>
            <p:cNvSpPr>
              <a:spLocks noChangeShapeType="1"/>
            </p:cNvSpPr>
            <p:nvPr/>
          </p:nvSpPr>
          <p:spPr bwMode="auto">
            <a:xfrm>
              <a:off x="4817" y="2601"/>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27" name="Line 371"/>
            <p:cNvSpPr>
              <a:spLocks noChangeShapeType="1"/>
            </p:cNvSpPr>
            <p:nvPr/>
          </p:nvSpPr>
          <p:spPr bwMode="auto">
            <a:xfrm>
              <a:off x="4816" y="2599"/>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28" name="Line 372"/>
            <p:cNvSpPr>
              <a:spLocks noChangeShapeType="1"/>
            </p:cNvSpPr>
            <p:nvPr/>
          </p:nvSpPr>
          <p:spPr bwMode="auto">
            <a:xfrm flipV="1">
              <a:off x="4816" y="2591"/>
              <a:ext cx="0" cy="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29" name="Line 373"/>
            <p:cNvSpPr>
              <a:spLocks noChangeShapeType="1"/>
            </p:cNvSpPr>
            <p:nvPr/>
          </p:nvSpPr>
          <p:spPr bwMode="auto">
            <a:xfrm flipV="1">
              <a:off x="4821" y="2591"/>
              <a:ext cx="0" cy="1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30" name="Line 374"/>
            <p:cNvSpPr>
              <a:spLocks noChangeShapeType="1"/>
            </p:cNvSpPr>
            <p:nvPr/>
          </p:nvSpPr>
          <p:spPr bwMode="auto">
            <a:xfrm flipV="1">
              <a:off x="4845" y="2605"/>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31" name="Line 375"/>
            <p:cNvSpPr>
              <a:spLocks noChangeShapeType="1"/>
            </p:cNvSpPr>
            <p:nvPr/>
          </p:nvSpPr>
          <p:spPr bwMode="auto">
            <a:xfrm flipH="1">
              <a:off x="4955" y="2629"/>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32" name="Line 376"/>
            <p:cNvSpPr>
              <a:spLocks noChangeShapeType="1"/>
            </p:cNvSpPr>
            <p:nvPr/>
          </p:nvSpPr>
          <p:spPr bwMode="auto">
            <a:xfrm flipH="1">
              <a:off x="4958" y="2627"/>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33" name="Line 377"/>
            <p:cNvSpPr>
              <a:spLocks noChangeShapeType="1"/>
            </p:cNvSpPr>
            <p:nvPr/>
          </p:nvSpPr>
          <p:spPr bwMode="auto">
            <a:xfrm flipH="1" flipV="1">
              <a:off x="4959" y="2627"/>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34" name="Line 378"/>
            <p:cNvSpPr>
              <a:spLocks noChangeShapeType="1"/>
            </p:cNvSpPr>
            <p:nvPr/>
          </p:nvSpPr>
          <p:spPr bwMode="auto">
            <a:xfrm flipH="1">
              <a:off x="4960" y="2629"/>
              <a:ext cx="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35" name="Line 379"/>
            <p:cNvSpPr>
              <a:spLocks noChangeShapeType="1"/>
            </p:cNvSpPr>
            <p:nvPr/>
          </p:nvSpPr>
          <p:spPr bwMode="auto">
            <a:xfrm flipH="1">
              <a:off x="4967" y="2627"/>
              <a:ext cx="0"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36" name="Line 380"/>
            <p:cNvSpPr>
              <a:spLocks noChangeShapeType="1"/>
            </p:cNvSpPr>
            <p:nvPr/>
          </p:nvSpPr>
          <p:spPr bwMode="auto">
            <a:xfrm flipV="1">
              <a:off x="4972" y="2628"/>
              <a:ext cx="1"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37" name="Line 381"/>
            <p:cNvSpPr>
              <a:spLocks noChangeShapeType="1"/>
            </p:cNvSpPr>
            <p:nvPr/>
          </p:nvSpPr>
          <p:spPr bwMode="auto">
            <a:xfrm>
              <a:off x="4969" y="2629"/>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38" name="Line 382"/>
            <p:cNvSpPr>
              <a:spLocks noChangeShapeType="1"/>
            </p:cNvSpPr>
            <p:nvPr/>
          </p:nvSpPr>
          <p:spPr bwMode="auto">
            <a:xfrm>
              <a:off x="4967" y="2627"/>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39" name="Line 383"/>
            <p:cNvSpPr>
              <a:spLocks noChangeShapeType="1"/>
            </p:cNvSpPr>
            <p:nvPr/>
          </p:nvSpPr>
          <p:spPr bwMode="auto">
            <a:xfrm flipV="1">
              <a:off x="4967" y="2618"/>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40" name="Line 384"/>
            <p:cNvSpPr>
              <a:spLocks noChangeShapeType="1"/>
            </p:cNvSpPr>
            <p:nvPr/>
          </p:nvSpPr>
          <p:spPr bwMode="auto">
            <a:xfrm flipV="1">
              <a:off x="4959" y="2619"/>
              <a:ext cx="0" cy="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41" name="Line 385"/>
            <p:cNvSpPr>
              <a:spLocks noChangeShapeType="1"/>
            </p:cNvSpPr>
            <p:nvPr/>
          </p:nvSpPr>
          <p:spPr bwMode="auto">
            <a:xfrm flipV="1">
              <a:off x="4973" y="2618"/>
              <a:ext cx="0" cy="1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42" name="Line 386"/>
            <p:cNvSpPr>
              <a:spLocks noChangeShapeType="1"/>
            </p:cNvSpPr>
            <p:nvPr/>
          </p:nvSpPr>
          <p:spPr bwMode="auto">
            <a:xfrm>
              <a:off x="4954" y="2630"/>
              <a:ext cx="1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43" name="Line 387"/>
            <p:cNvSpPr>
              <a:spLocks noChangeShapeType="1"/>
            </p:cNvSpPr>
            <p:nvPr/>
          </p:nvSpPr>
          <p:spPr bwMode="auto">
            <a:xfrm>
              <a:off x="4954" y="2618"/>
              <a:ext cx="0" cy="1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44" name="Line 388"/>
            <p:cNvSpPr>
              <a:spLocks noChangeShapeType="1"/>
            </p:cNvSpPr>
            <p:nvPr/>
          </p:nvSpPr>
          <p:spPr bwMode="auto">
            <a:xfrm>
              <a:off x="4941" y="2618"/>
              <a:ext cx="4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45" name="Line 389"/>
            <p:cNvSpPr>
              <a:spLocks noChangeShapeType="1"/>
            </p:cNvSpPr>
            <p:nvPr/>
          </p:nvSpPr>
          <p:spPr bwMode="auto">
            <a:xfrm>
              <a:off x="4986" y="2530"/>
              <a:ext cx="0" cy="14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46" name="Line 390"/>
            <p:cNvSpPr>
              <a:spLocks noChangeShapeType="1"/>
            </p:cNvSpPr>
            <p:nvPr/>
          </p:nvSpPr>
          <p:spPr bwMode="auto">
            <a:xfrm>
              <a:off x="4845" y="2580"/>
              <a:ext cx="0" cy="5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47" name="Line 391"/>
            <p:cNvSpPr>
              <a:spLocks noChangeShapeType="1"/>
            </p:cNvSpPr>
            <p:nvPr/>
          </p:nvSpPr>
          <p:spPr bwMode="auto">
            <a:xfrm>
              <a:off x="4845" y="2553"/>
              <a:ext cx="0" cy="27"/>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48" name="Line 392"/>
            <p:cNvSpPr>
              <a:spLocks noChangeShapeType="1"/>
            </p:cNvSpPr>
            <p:nvPr/>
          </p:nvSpPr>
          <p:spPr bwMode="auto">
            <a:xfrm flipH="1">
              <a:off x="4845" y="2569"/>
              <a:ext cx="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49" name="Line 393"/>
            <p:cNvSpPr>
              <a:spLocks noChangeShapeType="1"/>
            </p:cNvSpPr>
            <p:nvPr/>
          </p:nvSpPr>
          <p:spPr bwMode="auto">
            <a:xfrm>
              <a:off x="4845" y="2529"/>
              <a:ext cx="0" cy="77"/>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50" name="Line 394"/>
            <p:cNvSpPr>
              <a:spLocks noChangeShapeType="1"/>
            </p:cNvSpPr>
            <p:nvPr/>
          </p:nvSpPr>
          <p:spPr bwMode="auto">
            <a:xfrm flipV="1">
              <a:off x="4845" y="2606"/>
              <a:ext cx="0" cy="2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51" name="Line 395"/>
            <p:cNvSpPr>
              <a:spLocks noChangeShapeType="1"/>
            </p:cNvSpPr>
            <p:nvPr/>
          </p:nvSpPr>
          <p:spPr bwMode="auto">
            <a:xfrm>
              <a:off x="4818" y="2527"/>
              <a:ext cx="0" cy="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52" name="Line 396"/>
            <p:cNvSpPr>
              <a:spLocks noChangeShapeType="1"/>
            </p:cNvSpPr>
            <p:nvPr/>
          </p:nvSpPr>
          <p:spPr bwMode="auto">
            <a:xfrm flipH="1" flipV="1">
              <a:off x="4816" y="2532"/>
              <a:ext cx="0"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53" name="Line 397"/>
            <p:cNvSpPr>
              <a:spLocks noChangeShapeType="1"/>
            </p:cNvSpPr>
            <p:nvPr/>
          </p:nvSpPr>
          <p:spPr bwMode="auto">
            <a:xfrm>
              <a:off x="4821" y="2532"/>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54" name="Line 398"/>
            <p:cNvSpPr>
              <a:spLocks noChangeShapeType="1"/>
            </p:cNvSpPr>
            <p:nvPr/>
          </p:nvSpPr>
          <p:spPr bwMode="auto">
            <a:xfrm>
              <a:off x="4818" y="2532"/>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55" name="Line 399"/>
            <p:cNvSpPr>
              <a:spLocks noChangeShapeType="1"/>
            </p:cNvSpPr>
            <p:nvPr/>
          </p:nvSpPr>
          <p:spPr bwMode="auto">
            <a:xfrm flipV="1">
              <a:off x="4816" y="2532"/>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56" name="Line 400"/>
            <p:cNvSpPr>
              <a:spLocks noChangeShapeType="1"/>
            </p:cNvSpPr>
            <p:nvPr/>
          </p:nvSpPr>
          <p:spPr bwMode="auto">
            <a:xfrm>
              <a:off x="4816" y="2534"/>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57" name="Line 401"/>
            <p:cNvSpPr>
              <a:spLocks noChangeShapeType="1"/>
            </p:cNvSpPr>
            <p:nvPr/>
          </p:nvSpPr>
          <p:spPr bwMode="auto">
            <a:xfrm>
              <a:off x="4822" y="2532"/>
              <a:ext cx="0" cy="1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58" name="Line 402"/>
            <p:cNvSpPr>
              <a:spLocks noChangeShapeType="1"/>
            </p:cNvSpPr>
            <p:nvPr/>
          </p:nvSpPr>
          <p:spPr bwMode="auto">
            <a:xfrm flipH="1">
              <a:off x="4874" y="2640"/>
              <a:ext cx="6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59" name="Line 403"/>
            <p:cNvSpPr>
              <a:spLocks noChangeShapeType="1"/>
            </p:cNvSpPr>
            <p:nvPr/>
          </p:nvSpPr>
          <p:spPr bwMode="auto">
            <a:xfrm flipH="1">
              <a:off x="4874" y="2569"/>
              <a:ext cx="6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60" name="Line 404"/>
            <p:cNvSpPr>
              <a:spLocks noChangeShapeType="1"/>
            </p:cNvSpPr>
            <p:nvPr/>
          </p:nvSpPr>
          <p:spPr bwMode="auto">
            <a:xfrm>
              <a:off x="4873" y="2529"/>
              <a:ext cx="0" cy="13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61" name="Line 405"/>
            <p:cNvSpPr>
              <a:spLocks noChangeShapeType="1"/>
            </p:cNvSpPr>
            <p:nvPr/>
          </p:nvSpPr>
          <p:spPr bwMode="auto">
            <a:xfrm flipV="1">
              <a:off x="4873" y="2605"/>
              <a:ext cx="0" cy="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62" name="Line 406"/>
            <p:cNvSpPr>
              <a:spLocks noChangeShapeType="1"/>
            </p:cNvSpPr>
            <p:nvPr/>
          </p:nvSpPr>
          <p:spPr bwMode="auto">
            <a:xfrm>
              <a:off x="4958" y="2544"/>
              <a:ext cx="0" cy="6"/>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63" name="Line 407"/>
            <p:cNvSpPr>
              <a:spLocks noChangeShapeType="1"/>
            </p:cNvSpPr>
            <p:nvPr/>
          </p:nvSpPr>
          <p:spPr bwMode="auto">
            <a:xfrm flipH="1">
              <a:off x="4958" y="2544"/>
              <a:ext cx="1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64" name="Line 408"/>
            <p:cNvSpPr>
              <a:spLocks noChangeShapeType="1"/>
            </p:cNvSpPr>
            <p:nvPr/>
          </p:nvSpPr>
          <p:spPr bwMode="auto">
            <a:xfrm flipV="1">
              <a:off x="4968" y="2544"/>
              <a:ext cx="0" cy="6"/>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65" name="Line 409"/>
            <p:cNvSpPr>
              <a:spLocks noChangeShapeType="1"/>
            </p:cNvSpPr>
            <p:nvPr/>
          </p:nvSpPr>
          <p:spPr bwMode="auto">
            <a:xfrm>
              <a:off x="4968" y="2550"/>
              <a:ext cx="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66" name="Freeform 410"/>
            <p:cNvSpPr>
              <a:spLocks/>
            </p:cNvSpPr>
            <p:nvPr/>
          </p:nvSpPr>
          <p:spPr bwMode="auto">
            <a:xfrm>
              <a:off x="4910" y="2621"/>
              <a:ext cx="32" cy="44"/>
            </a:xfrm>
            <a:custGeom>
              <a:avLst/>
              <a:gdLst/>
              <a:ahLst/>
              <a:cxnLst>
                <a:cxn ang="0">
                  <a:pos x="0" y="55"/>
                </a:cxn>
                <a:cxn ang="0">
                  <a:pos x="3" y="55"/>
                </a:cxn>
                <a:cxn ang="0">
                  <a:pos x="7" y="55"/>
                </a:cxn>
                <a:cxn ang="0">
                  <a:pos x="10" y="53"/>
                </a:cxn>
                <a:cxn ang="0">
                  <a:pos x="14" y="51"/>
                </a:cxn>
                <a:cxn ang="0">
                  <a:pos x="17" y="49"/>
                </a:cxn>
                <a:cxn ang="0">
                  <a:pos x="20" y="46"/>
                </a:cxn>
                <a:cxn ang="0">
                  <a:pos x="23" y="42"/>
                </a:cxn>
                <a:cxn ang="0">
                  <a:pos x="27" y="39"/>
                </a:cxn>
                <a:cxn ang="0">
                  <a:pos x="29" y="35"/>
                </a:cxn>
                <a:cxn ang="0">
                  <a:pos x="30" y="31"/>
                </a:cxn>
                <a:cxn ang="0">
                  <a:pos x="32" y="27"/>
                </a:cxn>
                <a:cxn ang="0">
                  <a:pos x="35" y="21"/>
                </a:cxn>
                <a:cxn ang="0">
                  <a:pos x="36" y="16"/>
                </a:cxn>
                <a:cxn ang="0">
                  <a:pos x="38" y="11"/>
                </a:cxn>
                <a:cxn ang="0">
                  <a:pos x="38" y="6"/>
                </a:cxn>
                <a:cxn ang="0">
                  <a:pos x="40" y="0"/>
                </a:cxn>
              </a:cxnLst>
              <a:rect l="0" t="0" r="r" b="b"/>
              <a:pathLst>
                <a:path w="41" h="56">
                  <a:moveTo>
                    <a:pt x="0" y="55"/>
                  </a:moveTo>
                  <a:lnTo>
                    <a:pt x="3" y="55"/>
                  </a:lnTo>
                  <a:lnTo>
                    <a:pt x="7" y="55"/>
                  </a:lnTo>
                  <a:lnTo>
                    <a:pt x="10" y="53"/>
                  </a:lnTo>
                  <a:lnTo>
                    <a:pt x="14" y="51"/>
                  </a:lnTo>
                  <a:lnTo>
                    <a:pt x="17" y="49"/>
                  </a:lnTo>
                  <a:lnTo>
                    <a:pt x="20" y="46"/>
                  </a:lnTo>
                  <a:lnTo>
                    <a:pt x="23" y="42"/>
                  </a:lnTo>
                  <a:lnTo>
                    <a:pt x="27" y="39"/>
                  </a:lnTo>
                  <a:lnTo>
                    <a:pt x="29" y="35"/>
                  </a:lnTo>
                  <a:lnTo>
                    <a:pt x="30" y="31"/>
                  </a:lnTo>
                  <a:lnTo>
                    <a:pt x="32" y="27"/>
                  </a:lnTo>
                  <a:lnTo>
                    <a:pt x="35" y="21"/>
                  </a:lnTo>
                  <a:lnTo>
                    <a:pt x="36" y="16"/>
                  </a:lnTo>
                  <a:lnTo>
                    <a:pt x="38" y="11"/>
                  </a:lnTo>
                  <a:lnTo>
                    <a:pt x="38" y="6"/>
                  </a:lnTo>
                  <a:lnTo>
                    <a:pt x="4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467" name="Freeform 411"/>
            <p:cNvSpPr>
              <a:spLocks/>
            </p:cNvSpPr>
            <p:nvPr/>
          </p:nvSpPr>
          <p:spPr bwMode="auto">
            <a:xfrm>
              <a:off x="4941" y="2516"/>
              <a:ext cx="46" cy="17"/>
            </a:xfrm>
            <a:custGeom>
              <a:avLst/>
              <a:gdLst/>
              <a:ahLst/>
              <a:cxnLst>
                <a:cxn ang="0">
                  <a:pos x="58" y="20"/>
                </a:cxn>
                <a:cxn ang="0">
                  <a:pos x="54" y="16"/>
                </a:cxn>
                <a:cxn ang="0">
                  <a:pos x="50" y="11"/>
                </a:cxn>
                <a:cxn ang="0">
                  <a:pos x="48" y="8"/>
                </a:cxn>
                <a:cxn ang="0">
                  <a:pos x="44" y="4"/>
                </a:cxn>
                <a:cxn ang="0">
                  <a:pos x="38" y="2"/>
                </a:cxn>
                <a:cxn ang="0">
                  <a:pos x="36" y="1"/>
                </a:cxn>
                <a:cxn ang="0">
                  <a:pos x="32" y="0"/>
                </a:cxn>
                <a:cxn ang="0">
                  <a:pos x="29" y="0"/>
                </a:cxn>
                <a:cxn ang="0">
                  <a:pos x="23" y="0"/>
                </a:cxn>
                <a:cxn ang="0">
                  <a:pos x="20" y="1"/>
                </a:cxn>
                <a:cxn ang="0">
                  <a:pos x="16" y="2"/>
                </a:cxn>
                <a:cxn ang="0">
                  <a:pos x="12" y="4"/>
                </a:cxn>
                <a:cxn ang="0">
                  <a:pos x="9" y="8"/>
                </a:cxn>
                <a:cxn ang="0">
                  <a:pos x="5" y="11"/>
                </a:cxn>
                <a:cxn ang="0">
                  <a:pos x="2" y="16"/>
                </a:cxn>
                <a:cxn ang="0">
                  <a:pos x="0" y="20"/>
                </a:cxn>
              </a:cxnLst>
              <a:rect l="0" t="0" r="r" b="b"/>
              <a:pathLst>
                <a:path w="59" h="21">
                  <a:moveTo>
                    <a:pt x="58" y="20"/>
                  </a:moveTo>
                  <a:lnTo>
                    <a:pt x="54" y="16"/>
                  </a:lnTo>
                  <a:lnTo>
                    <a:pt x="50" y="11"/>
                  </a:lnTo>
                  <a:lnTo>
                    <a:pt x="48" y="8"/>
                  </a:lnTo>
                  <a:lnTo>
                    <a:pt x="44" y="4"/>
                  </a:lnTo>
                  <a:lnTo>
                    <a:pt x="38" y="2"/>
                  </a:lnTo>
                  <a:lnTo>
                    <a:pt x="36" y="1"/>
                  </a:lnTo>
                  <a:lnTo>
                    <a:pt x="32" y="0"/>
                  </a:lnTo>
                  <a:lnTo>
                    <a:pt x="29" y="0"/>
                  </a:lnTo>
                  <a:lnTo>
                    <a:pt x="23" y="0"/>
                  </a:lnTo>
                  <a:lnTo>
                    <a:pt x="20" y="1"/>
                  </a:lnTo>
                  <a:lnTo>
                    <a:pt x="16" y="2"/>
                  </a:lnTo>
                  <a:lnTo>
                    <a:pt x="12" y="4"/>
                  </a:lnTo>
                  <a:lnTo>
                    <a:pt x="9" y="8"/>
                  </a:lnTo>
                  <a:lnTo>
                    <a:pt x="5" y="11"/>
                  </a:lnTo>
                  <a:lnTo>
                    <a:pt x="2" y="16"/>
                  </a:lnTo>
                  <a:lnTo>
                    <a:pt x="0" y="2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468" name="Freeform 412"/>
            <p:cNvSpPr>
              <a:spLocks/>
            </p:cNvSpPr>
            <p:nvPr/>
          </p:nvSpPr>
          <p:spPr bwMode="auto">
            <a:xfrm>
              <a:off x="4901" y="2731"/>
              <a:ext cx="16" cy="13"/>
            </a:xfrm>
            <a:custGeom>
              <a:avLst/>
              <a:gdLst/>
              <a:ahLst/>
              <a:cxnLst>
                <a:cxn ang="0">
                  <a:pos x="0" y="16"/>
                </a:cxn>
                <a:cxn ang="0">
                  <a:pos x="1" y="11"/>
                </a:cxn>
                <a:cxn ang="0">
                  <a:pos x="3" y="9"/>
                </a:cxn>
                <a:cxn ang="0">
                  <a:pos x="6" y="7"/>
                </a:cxn>
                <a:cxn ang="0">
                  <a:pos x="7" y="7"/>
                </a:cxn>
                <a:cxn ang="0">
                  <a:pos x="9" y="6"/>
                </a:cxn>
                <a:cxn ang="0">
                  <a:pos x="11" y="4"/>
                </a:cxn>
                <a:cxn ang="0">
                  <a:pos x="14" y="3"/>
                </a:cxn>
                <a:cxn ang="0">
                  <a:pos x="19" y="0"/>
                </a:cxn>
              </a:cxnLst>
              <a:rect l="0" t="0" r="r" b="b"/>
              <a:pathLst>
                <a:path w="20" h="17">
                  <a:moveTo>
                    <a:pt x="0" y="16"/>
                  </a:moveTo>
                  <a:lnTo>
                    <a:pt x="1" y="11"/>
                  </a:lnTo>
                  <a:lnTo>
                    <a:pt x="3" y="9"/>
                  </a:lnTo>
                  <a:lnTo>
                    <a:pt x="6" y="7"/>
                  </a:lnTo>
                  <a:lnTo>
                    <a:pt x="7" y="7"/>
                  </a:lnTo>
                  <a:lnTo>
                    <a:pt x="9" y="6"/>
                  </a:lnTo>
                  <a:lnTo>
                    <a:pt x="11" y="4"/>
                  </a:lnTo>
                  <a:lnTo>
                    <a:pt x="14" y="3"/>
                  </a:lnTo>
                  <a:lnTo>
                    <a:pt x="19"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469" name="Freeform 413"/>
            <p:cNvSpPr>
              <a:spLocks/>
            </p:cNvSpPr>
            <p:nvPr/>
          </p:nvSpPr>
          <p:spPr bwMode="auto">
            <a:xfrm>
              <a:off x="4915" y="2678"/>
              <a:ext cx="72" cy="53"/>
            </a:xfrm>
            <a:custGeom>
              <a:avLst/>
              <a:gdLst/>
              <a:ahLst/>
              <a:cxnLst>
                <a:cxn ang="0">
                  <a:pos x="91" y="0"/>
                </a:cxn>
                <a:cxn ang="0">
                  <a:pos x="90" y="7"/>
                </a:cxn>
                <a:cxn ang="0">
                  <a:pos x="89" y="11"/>
                </a:cxn>
                <a:cxn ang="0">
                  <a:pos x="87" y="16"/>
                </a:cxn>
                <a:cxn ang="0">
                  <a:pos x="84" y="20"/>
                </a:cxn>
                <a:cxn ang="0">
                  <a:pos x="82" y="22"/>
                </a:cxn>
                <a:cxn ang="0">
                  <a:pos x="80" y="25"/>
                </a:cxn>
                <a:cxn ang="0">
                  <a:pos x="74" y="28"/>
                </a:cxn>
                <a:cxn ang="0">
                  <a:pos x="71" y="29"/>
                </a:cxn>
                <a:cxn ang="0">
                  <a:pos x="66" y="29"/>
                </a:cxn>
                <a:cxn ang="0">
                  <a:pos x="60" y="32"/>
                </a:cxn>
                <a:cxn ang="0">
                  <a:pos x="52" y="36"/>
                </a:cxn>
                <a:cxn ang="0">
                  <a:pos x="43" y="40"/>
                </a:cxn>
                <a:cxn ang="0">
                  <a:pos x="34" y="44"/>
                </a:cxn>
                <a:cxn ang="0">
                  <a:pos x="25" y="51"/>
                </a:cxn>
                <a:cxn ang="0">
                  <a:pos x="12" y="58"/>
                </a:cxn>
                <a:cxn ang="0">
                  <a:pos x="0" y="67"/>
                </a:cxn>
              </a:cxnLst>
              <a:rect l="0" t="0" r="r" b="b"/>
              <a:pathLst>
                <a:path w="92" h="68">
                  <a:moveTo>
                    <a:pt x="91" y="0"/>
                  </a:moveTo>
                  <a:lnTo>
                    <a:pt x="90" y="7"/>
                  </a:lnTo>
                  <a:lnTo>
                    <a:pt x="89" y="11"/>
                  </a:lnTo>
                  <a:lnTo>
                    <a:pt x="87" y="16"/>
                  </a:lnTo>
                  <a:lnTo>
                    <a:pt x="84" y="20"/>
                  </a:lnTo>
                  <a:lnTo>
                    <a:pt x="82" y="22"/>
                  </a:lnTo>
                  <a:lnTo>
                    <a:pt x="80" y="25"/>
                  </a:lnTo>
                  <a:lnTo>
                    <a:pt x="74" y="28"/>
                  </a:lnTo>
                  <a:lnTo>
                    <a:pt x="71" y="29"/>
                  </a:lnTo>
                  <a:lnTo>
                    <a:pt x="66" y="29"/>
                  </a:lnTo>
                  <a:lnTo>
                    <a:pt x="60" y="32"/>
                  </a:lnTo>
                  <a:lnTo>
                    <a:pt x="52" y="36"/>
                  </a:lnTo>
                  <a:lnTo>
                    <a:pt x="43" y="40"/>
                  </a:lnTo>
                  <a:lnTo>
                    <a:pt x="34" y="44"/>
                  </a:lnTo>
                  <a:lnTo>
                    <a:pt x="25" y="51"/>
                  </a:lnTo>
                  <a:lnTo>
                    <a:pt x="12" y="58"/>
                  </a:lnTo>
                  <a:lnTo>
                    <a:pt x="0" y="67"/>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470" name="Freeform 414"/>
            <p:cNvSpPr>
              <a:spLocks/>
            </p:cNvSpPr>
            <p:nvPr/>
          </p:nvSpPr>
          <p:spPr bwMode="auto">
            <a:xfrm>
              <a:off x="4845" y="2621"/>
              <a:ext cx="30" cy="44"/>
            </a:xfrm>
            <a:custGeom>
              <a:avLst/>
              <a:gdLst/>
              <a:ahLst/>
              <a:cxnLst>
                <a:cxn ang="0">
                  <a:pos x="0" y="0"/>
                </a:cxn>
                <a:cxn ang="0">
                  <a:pos x="0" y="6"/>
                </a:cxn>
                <a:cxn ang="0">
                  <a:pos x="0" y="11"/>
                </a:cxn>
                <a:cxn ang="0">
                  <a:pos x="0" y="16"/>
                </a:cxn>
                <a:cxn ang="0">
                  <a:pos x="1" y="21"/>
                </a:cxn>
                <a:cxn ang="0">
                  <a:pos x="3" y="27"/>
                </a:cxn>
                <a:cxn ang="0">
                  <a:pos x="5" y="31"/>
                </a:cxn>
                <a:cxn ang="0">
                  <a:pos x="7" y="35"/>
                </a:cxn>
                <a:cxn ang="0">
                  <a:pos x="10" y="39"/>
                </a:cxn>
                <a:cxn ang="0">
                  <a:pos x="11" y="42"/>
                </a:cxn>
                <a:cxn ang="0">
                  <a:pos x="15" y="46"/>
                </a:cxn>
                <a:cxn ang="0">
                  <a:pos x="19" y="49"/>
                </a:cxn>
                <a:cxn ang="0">
                  <a:pos x="22" y="51"/>
                </a:cxn>
                <a:cxn ang="0">
                  <a:pos x="26" y="53"/>
                </a:cxn>
                <a:cxn ang="0">
                  <a:pos x="28" y="55"/>
                </a:cxn>
                <a:cxn ang="0">
                  <a:pos x="32" y="55"/>
                </a:cxn>
                <a:cxn ang="0">
                  <a:pos x="38" y="55"/>
                </a:cxn>
              </a:cxnLst>
              <a:rect l="0" t="0" r="r" b="b"/>
              <a:pathLst>
                <a:path w="39" h="56">
                  <a:moveTo>
                    <a:pt x="0" y="0"/>
                  </a:moveTo>
                  <a:lnTo>
                    <a:pt x="0" y="6"/>
                  </a:lnTo>
                  <a:lnTo>
                    <a:pt x="0" y="11"/>
                  </a:lnTo>
                  <a:lnTo>
                    <a:pt x="0" y="16"/>
                  </a:lnTo>
                  <a:lnTo>
                    <a:pt x="1" y="21"/>
                  </a:lnTo>
                  <a:lnTo>
                    <a:pt x="3" y="27"/>
                  </a:lnTo>
                  <a:lnTo>
                    <a:pt x="5" y="31"/>
                  </a:lnTo>
                  <a:lnTo>
                    <a:pt x="7" y="35"/>
                  </a:lnTo>
                  <a:lnTo>
                    <a:pt x="10" y="39"/>
                  </a:lnTo>
                  <a:lnTo>
                    <a:pt x="11" y="42"/>
                  </a:lnTo>
                  <a:lnTo>
                    <a:pt x="15" y="46"/>
                  </a:lnTo>
                  <a:lnTo>
                    <a:pt x="19" y="49"/>
                  </a:lnTo>
                  <a:lnTo>
                    <a:pt x="22" y="51"/>
                  </a:lnTo>
                  <a:lnTo>
                    <a:pt x="26" y="53"/>
                  </a:lnTo>
                  <a:lnTo>
                    <a:pt x="28" y="55"/>
                  </a:lnTo>
                  <a:lnTo>
                    <a:pt x="32" y="55"/>
                  </a:lnTo>
                  <a:lnTo>
                    <a:pt x="38" y="55"/>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471" name="Freeform 415"/>
            <p:cNvSpPr>
              <a:spLocks/>
            </p:cNvSpPr>
            <p:nvPr/>
          </p:nvSpPr>
          <p:spPr bwMode="auto">
            <a:xfrm>
              <a:off x="4766" y="2444"/>
              <a:ext cx="36" cy="43"/>
            </a:xfrm>
            <a:custGeom>
              <a:avLst/>
              <a:gdLst/>
              <a:ahLst/>
              <a:cxnLst>
                <a:cxn ang="0">
                  <a:pos x="45" y="53"/>
                </a:cxn>
                <a:cxn ang="0">
                  <a:pos x="44" y="47"/>
                </a:cxn>
                <a:cxn ang="0">
                  <a:pos x="43" y="41"/>
                </a:cxn>
                <a:cxn ang="0">
                  <a:pos x="41" y="36"/>
                </a:cxn>
                <a:cxn ang="0">
                  <a:pos x="40" y="30"/>
                </a:cxn>
                <a:cxn ang="0">
                  <a:pos x="37" y="26"/>
                </a:cxn>
                <a:cxn ang="0">
                  <a:pos x="35" y="21"/>
                </a:cxn>
                <a:cxn ang="0">
                  <a:pos x="32" y="17"/>
                </a:cxn>
                <a:cxn ang="0">
                  <a:pos x="31" y="12"/>
                </a:cxn>
                <a:cxn ang="0">
                  <a:pos x="26" y="9"/>
                </a:cxn>
                <a:cxn ang="0">
                  <a:pos x="22" y="6"/>
                </a:cxn>
                <a:cxn ang="0">
                  <a:pos x="19" y="4"/>
                </a:cxn>
                <a:cxn ang="0">
                  <a:pos x="15" y="1"/>
                </a:cxn>
                <a:cxn ang="0">
                  <a:pos x="11" y="1"/>
                </a:cxn>
                <a:cxn ang="0">
                  <a:pos x="7" y="0"/>
                </a:cxn>
                <a:cxn ang="0">
                  <a:pos x="3" y="0"/>
                </a:cxn>
                <a:cxn ang="0">
                  <a:pos x="0" y="0"/>
                </a:cxn>
              </a:cxnLst>
              <a:rect l="0" t="0" r="r" b="b"/>
              <a:pathLst>
                <a:path w="46" h="54">
                  <a:moveTo>
                    <a:pt x="45" y="53"/>
                  </a:moveTo>
                  <a:lnTo>
                    <a:pt x="44" y="47"/>
                  </a:lnTo>
                  <a:lnTo>
                    <a:pt x="43" y="41"/>
                  </a:lnTo>
                  <a:lnTo>
                    <a:pt x="41" y="36"/>
                  </a:lnTo>
                  <a:lnTo>
                    <a:pt x="40" y="30"/>
                  </a:lnTo>
                  <a:lnTo>
                    <a:pt x="37" y="26"/>
                  </a:lnTo>
                  <a:lnTo>
                    <a:pt x="35" y="21"/>
                  </a:lnTo>
                  <a:lnTo>
                    <a:pt x="32" y="17"/>
                  </a:lnTo>
                  <a:lnTo>
                    <a:pt x="31" y="12"/>
                  </a:lnTo>
                  <a:lnTo>
                    <a:pt x="26" y="9"/>
                  </a:lnTo>
                  <a:lnTo>
                    <a:pt x="22" y="6"/>
                  </a:lnTo>
                  <a:lnTo>
                    <a:pt x="19" y="4"/>
                  </a:lnTo>
                  <a:lnTo>
                    <a:pt x="15" y="1"/>
                  </a:lnTo>
                  <a:lnTo>
                    <a:pt x="11" y="1"/>
                  </a:lnTo>
                  <a:lnTo>
                    <a:pt x="7" y="0"/>
                  </a:lnTo>
                  <a:lnTo>
                    <a:pt x="3" y="0"/>
                  </a:lnTo>
                  <a:lnTo>
                    <a:pt x="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472" name="Freeform 416"/>
            <p:cNvSpPr>
              <a:spLocks/>
            </p:cNvSpPr>
            <p:nvPr/>
          </p:nvSpPr>
          <p:spPr bwMode="auto">
            <a:xfrm>
              <a:off x="4720" y="2340"/>
              <a:ext cx="37" cy="42"/>
            </a:xfrm>
            <a:custGeom>
              <a:avLst/>
              <a:gdLst/>
              <a:ahLst/>
              <a:cxnLst>
                <a:cxn ang="0">
                  <a:pos x="46" y="52"/>
                </a:cxn>
                <a:cxn ang="0">
                  <a:pos x="44" y="46"/>
                </a:cxn>
                <a:cxn ang="0">
                  <a:pos x="44" y="40"/>
                </a:cxn>
                <a:cxn ang="0">
                  <a:pos x="42" y="36"/>
                </a:cxn>
                <a:cxn ang="0">
                  <a:pos x="40" y="29"/>
                </a:cxn>
                <a:cxn ang="0">
                  <a:pos x="37" y="25"/>
                </a:cxn>
                <a:cxn ang="0">
                  <a:pos x="36" y="21"/>
                </a:cxn>
                <a:cxn ang="0">
                  <a:pos x="33" y="16"/>
                </a:cxn>
                <a:cxn ang="0">
                  <a:pos x="31" y="12"/>
                </a:cxn>
                <a:cxn ang="0">
                  <a:pos x="27" y="9"/>
                </a:cxn>
                <a:cxn ang="0">
                  <a:pos x="23" y="6"/>
                </a:cxn>
                <a:cxn ang="0">
                  <a:pos x="20" y="4"/>
                </a:cxn>
                <a:cxn ang="0">
                  <a:pos x="16" y="1"/>
                </a:cxn>
                <a:cxn ang="0">
                  <a:pos x="11" y="0"/>
                </a:cxn>
                <a:cxn ang="0">
                  <a:pos x="8" y="0"/>
                </a:cxn>
                <a:cxn ang="0">
                  <a:pos x="3" y="0"/>
                </a:cxn>
                <a:cxn ang="0">
                  <a:pos x="0" y="0"/>
                </a:cxn>
              </a:cxnLst>
              <a:rect l="0" t="0" r="r" b="b"/>
              <a:pathLst>
                <a:path w="47" h="53">
                  <a:moveTo>
                    <a:pt x="46" y="52"/>
                  </a:moveTo>
                  <a:lnTo>
                    <a:pt x="44" y="46"/>
                  </a:lnTo>
                  <a:lnTo>
                    <a:pt x="44" y="40"/>
                  </a:lnTo>
                  <a:lnTo>
                    <a:pt x="42" y="36"/>
                  </a:lnTo>
                  <a:lnTo>
                    <a:pt x="40" y="29"/>
                  </a:lnTo>
                  <a:lnTo>
                    <a:pt x="37" y="25"/>
                  </a:lnTo>
                  <a:lnTo>
                    <a:pt x="36" y="21"/>
                  </a:lnTo>
                  <a:lnTo>
                    <a:pt x="33" y="16"/>
                  </a:lnTo>
                  <a:lnTo>
                    <a:pt x="31" y="12"/>
                  </a:lnTo>
                  <a:lnTo>
                    <a:pt x="27" y="9"/>
                  </a:lnTo>
                  <a:lnTo>
                    <a:pt x="23" y="6"/>
                  </a:lnTo>
                  <a:lnTo>
                    <a:pt x="20" y="4"/>
                  </a:lnTo>
                  <a:lnTo>
                    <a:pt x="16" y="1"/>
                  </a:lnTo>
                  <a:lnTo>
                    <a:pt x="11" y="0"/>
                  </a:lnTo>
                  <a:lnTo>
                    <a:pt x="8" y="0"/>
                  </a:lnTo>
                  <a:lnTo>
                    <a:pt x="3" y="0"/>
                  </a:lnTo>
                  <a:lnTo>
                    <a:pt x="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473" name="Freeform 417"/>
            <p:cNvSpPr>
              <a:spLocks/>
            </p:cNvSpPr>
            <p:nvPr/>
          </p:nvSpPr>
          <p:spPr bwMode="auto">
            <a:xfrm>
              <a:off x="4672" y="2340"/>
              <a:ext cx="29" cy="42"/>
            </a:xfrm>
            <a:custGeom>
              <a:avLst/>
              <a:gdLst/>
              <a:ahLst/>
              <a:cxnLst>
                <a:cxn ang="0">
                  <a:pos x="37" y="0"/>
                </a:cxn>
                <a:cxn ang="0">
                  <a:pos x="32" y="0"/>
                </a:cxn>
                <a:cxn ang="0">
                  <a:pos x="28" y="1"/>
                </a:cxn>
                <a:cxn ang="0">
                  <a:pos x="25" y="3"/>
                </a:cxn>
                <a:cxn ang="0">
                  <a:pos x="22" y="5"/>
                </a:cxn>
                <a:cxn ang="0">
                  <a:pos x="18" y="7"/>
                </a:cxn>
                <a:cxn ang="0">
                  <a:pos x="15" y="10"/>
                </a:cxn>
                <a:cxn ang="0">
                  <a:pos x="12" y="13"/>
                </a:cxn>
                <a:cxn ang="0">
                  <a:pos x="10" y="16"/>
                </a:cxn>
                <a:cxn ang="0">
                  <a:pos x="7" y="21"/>
                </a:cxn>
                <a:cxn ang="0">
                  <a:pos x="5" y="24"/>
                </a:cxn>
                <a:cxn ang="0">
                  <a:pos x="3" y="29"/>
                </a:cxn>
                <a:cxn ang="0">
                  <a:pos x="2" y="33"/>
                </a:cxn>
                <a:cxn ang="0">
                  <a:pos x="0" y="38"/>
                </a:cxn>
                <a:cxn ang="0">
                  <a:pos x="0" y="42"/>
                </a:cxn>
                <a:cxn ang="0">
                  <a:pos x="0" y="47"/>
                </a:cxn>
                <a:cxn ang="0">
                  <a:pos x="0" y="53"/>
                </a:cxn>
              </a:cxnLst>
              <a:rect l="0" t="0" r="r" b="b"/>
              <a:pathLst>
                <a:path w="38" h="54">
                  <a:moveTo>
                    <a:pt x="37" y="0"/>
                  </a:moveTo>
                  <a:lnTo>
                    <a:pt x="32" y="0"/>
                  </a:lnTo>
                  <a:lnTo>
                    <a:pt x="28" y="1"/>
                  </a:lnTo>
                  <a:lnTo>
                    <a:pt x="25" y="3"/>
                  </a:lnTo>
                  <a:lnTo>
                    <a:pt x="22" y="5"/>
                  </a:lnTo>
                  <a:lnTo>
                    <a:pt x="18" y="7"/>
                  </a:lnTo>
                  <a:lnTo>
                    <a:pt x="15" y="10"/>
                  </a:lnTo>
                  <a:lnTo>
                    <a:pt x="12" y="13"/>
                  </a:lnTo>
                  <a:lnTo>
                    <a:pt x="10" y="16"/>
                  </a:lnTo>
                  <a:lnTo>
                    <a:pt x="7" y="21"/>
                  </a:lnTo>
                  <a:lnTo>
                    <a:pt x="5" y="24"/>
                  </a:lnTo>
                  <a:lnTo>
                    <a:pt x="3" y="29"/>
                  </a:lnTo>
                  <a:lnTo>
                    <a:pt x="2" y="33"/>
                  </a:lnTo>
                  <a:lnTo>
                    <a:pt x="0" y="38"/>
                  </a:lnTo>
                  <a:lnTo>
                    <a:pt x="0" y="42"/>
                  </a:lnTo>
                  <a:lnTo>
                    <a:pt x="0" y="47"/>
                  </a:lnTo>
                  <a:lnTo>
                    <a:pt x="0" y="53"/>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474" name="Freeform 418"/>
            <p:cNvSpPr>
              <a:spLocks/>
            </p:cNvSpPr>
            <p:nvPr/>
          </p:nvSpPr>
          <p:spPr bwMode="auto">
            <a:xfrm>
              <a:off x="4700" y="2322"/>
              <a:ext cx="28" cy="18"/>
            </a:xfrm>
            <a:custGeom>
              <a:avLst/>
              <a:gdLst/>
              <a:ahLst/>
              <a:cxnLst>
                <a:cxn ang="0">
                  <a:pos x="0" y="22"/>
                </a:cxn>
                <a:cxn ang="0">
                  <a:pos x="0" y="0"/>
                </a:cxn>
                <a:cxn ang="0">
                  <a:pos x="35" y="0"/>
                </a:cxn>
                <a:cxn ang="0">
                  <a:pos x="35" y="22"/>
                </a:cxn>
                <a:cxn ang="0">
                  <a:pos x="0" y="22"/>
                </a:cxn>
              </a:cxnLst>
              <a:rect l="0" t="0" r="r" b="b"/>
              <a:pathLst>
                <a:path w="36" h="23">
                  <a:moveTo>
                    <a:pt x="0" y="22"/>
                  </a:moveTo>
                  <a:lnTo>
                    <a:pt x="0" y="0"/>
                  </a:lnTo>
                  <a:lnTo>
                    <a:pt x="35" y="0"/>
                  </a:lnTo>
                  <a:lnTo>
                    <a:pt x="35" y="22"/>
                  </a:lnTo>
                  <a:lnTo>
                    <a:pt x="0" y="22"/>
                  </a:lnTo>
                </a:path>
              </a:pathLst>
            </a:custGeom>
            <a:noFill/>
            <a:ln w="12700" cap="rnd" cmpd="sng">
              <a:solidFill>
                <a:srgbClr val="000000"/>
              </a:solidFill>
              <a:prstDash val="solid"/>
              <a:round/>
              <a:headEnd/>
              <a:tailEnd/>
            </a:ln>
            <a:effectLst/>
          </p:spPr>
          <p:txBody>
            <a:bodyPr/>
            <a:lstStyle/>
            <a:p>
              <a:endParaRPr lang="en-US"/>
            </a:p>
          </p:txBody>
        </p:sp>
        <p:sp>
          <p:nvSpPr>
            <p:cNvPr id="941475" name="Freeform 419"/>
            <p:cNvSpPr>
              <a:spLocks/>
            </p:cNvSpPr>
            <p:nvPr/>
          </p:nvSpPr>
          <p:spPr bwMode="auto">
            <a:xfrm>
              <a:off x="4698" y="2275"/>
              <a:ext cx="31" cy="14"/>
            </a:xfrm>
            <a:custGeom>
              <a:avLst/>
              <a:gdLst/>
              <a:ahLst/>
              <a:cxnLst>
                <a:cxn ang="0">
                  <a:pos x="0" y="16"/>
                </a:cxn>
                <a:cxn ang="0">
                  <a:pos x="0" y="0"/>
                </a:cxn>
                <a:cxn ang="0">
                  <a:pos x="38" y="0"/>
                </a:cxn>
                <a:cxn ang="0">
                  <a:pos x="38" y="16"/>
                </a:cxn>
                <a:cxn ang="0">
                  <a:pos x="0" y="16"/>
                </a:cxn>
              </a:cxnLst>
              <a:rect l="0" t="0" r="r" b="b"/>
              <a:pathLst>
                <a:path w="39" h="17">
                  <a:moveTo>
                    <a:pt x="0" y="16"/>
                  </a:moveTo>
                  <a:lnTo>
                    <a:pt x="0" y="0"/>
                  </a:lnTo>
                  <a:lnTo>
                    <a:pt x="38" y="0"/>
                  </a:lnTo>
                  <a:lnTo>
                    <a:pt x="38" y="16"/>
                  </a:lnTo>
                  <a:lnTo>
                    <a:pt x="0" y="16"/>
                  </a:lnTo>
                </a:path>
              </a:pathLst>
            </a:custGeom>
            <a:noFill/>
            <a:ln w="12700" cap="rnd" cmpd="sng">
              <a:solidFill>
                <a:srgbClr val="000000"/>
              </a:solidFill>
              <a:prstDash val="solid"/>
              <a:round/>
              <a:headEnd/>
              <a:tailEnd/>
            </a:ln>
            <a:effectLst/>
          </p:spPr>
          <p:txBody>
            <a:bodyPr/>
            <a:lstStyle/>
            <a:p>
              <a:endParaRPr lang="en-US"/>
            </a:p>
          </p:txBody>
        </p:sp>
        <p:sp>
          <p:nvSpPr>
            <p:cNvPr id="941476" name="Freeform 420"/>
            <p:cNvSpPr>
              <a:spLocks/>
            </p:cNvSpPr>
            <p:nvPr/>
          </p:nvSpPr>
          <p:spPr bwMode="auto">
            <a:xfrm>
              <a:off x="4689" y="2208"/>
              <a:ext cx="15" cy="68"/>
            </a:xfrm>
            <a:custGeom>
              <a:avLst/>
              <a:gdLst/>
              <a:ahLst/>
              <a:cxnLst>
                <a:cxn ang="0">
                  <a:pos x="15" y="86"/>
                </a:cxn>
                <a:cxn ang="0">
                  <a:pos x="14" y="80"/>
                </a:cxn>
                <a:cxn ang="0">
                  <a:pos x="12" y="78"/>
                </a:cxn>
                <a:cxn ang="0">
                  <a:pos x="11" y="75"/>
                </a:cxn>
                <a:cxn ang="0">
                  <a:pos x="10" y="72"/>
                </a:cxn>
                <a:cxn ang="0">
                  <a:pos x="9" y="70"/>
                </a:cxn>
                <a:cxn ang="0">
                  <a:pos x="9" y="68"/>
                </a:cxn>
                <a:cxn ang="0">
                  <a:pos x="6" y="65"/>
                </a:cxn>
                <a:cxn ang="0">
                  <a:pos x="5" y="62"/>
                </a:cxn>
                <a:cxn ang="0">
                  <a:pos x="5" y="62"/>
                </a:cxn>
                <a:cxn ang="0">
                  <a:pos x="3" y="62"/>
                </a:cxn>
                <a:cxn ang="0">
                  <a:pos x="2" y="59"/>
                </a:cxn>
                <a:cxn ang="0">
                  <a:pos x="1" y="57"/>
                </a:cxn>
                <a:cxn ang="0">
                  <a:pos x="1" y="54"/>
                </a:cxn>
                <a:cxn ang="0">
                  <a:pos x="0" y="54"/>
                </a:cxn>
                <a:cxn ang="0">
                  <a:pos x="0" y="50"/>
                </a:cxn>
                <a:cxn ang="0">
                  <a:pos x="0" y="48"/>
                </a:cxn>
                <a:cxn ang="0">
                  <a:pos x="0" y="46"/>
                </a:cxn>
                <a:cxn ang="0">
                  <a:pos x="0" y="45"/>
                </a:cxn>
                <a:cxn ang="0">
                  <a:pos x="0" y="41"/>
                </a:cxn>
                <a:cxn ang="0">
                  <a:pos x="0" y="39"/>
                </a:cxn>
                <a:cxn ang="0">
                  <a:pos x="0" y="36"/>
                </a:cxn>
                <a:cxn ang="0">
                  <a:pos x="1" y="33"/>
                </a:cxn>
                <a:cxn ang="0">
                  <a:pos x="1" y="31"/>
                </a:cxn>
                <a:cxn ang="0">
                  <a:pos x="3" y="28"/>
                </a:cxn>
                <a:cxn ang="0">
                  <a:pos x="5" y="25"/>
                </a:cxn>
                <a:cxn ang="0">
                  <a:pos x="6" y="21"/>
                </a:cxn>
                <a:cxn ang="0">
                  <a:pos x="7" y="19"/>
                </a:cxn>
                <a:cxn ang="0">
                  <a:pos x="9" y="15"/>
                </a:cxn>
                <a:cxn ang="0">
                  <a:pos x="10" y="13"/>
                </a:cxn>
                <a:cxn ang="0">
                  <a:pos x="12" y="8"/>
                </a:cxn>
                <a:cxn ang="0">
                  <a:pos x="15" y="2"/>
                </a:cxn>
                <a:cxn ang="0">
                  <a:pos x="18" y="0"/>
                </a:cxn>
              </a:cxnLst>
              <a:rect l="0" t="0" r="r" b="b"/>
              <a:pathLst>
                <a:path w="19" h="87">
                  <a:moveTo>
                    <a:pt x="15" y="86"/>
                  </a:moveTo>
                  <a:lnTo>
                    <a:pt x="14" y="80"/>
                  </a:lnTo>
                  <a:lnTo>
                    <a:pt x="12" y="78"/>
                  </a:lnTo>
                  <a:lnTo>
                    <a:pt x="11" y="75"/>
                  </a:lnTo>
                  <a:lnTo>
                    <a:pt x="10" y="72"/>
                  </a:lnTo>
                  <a:lnTo>
                    <a:pt x="9" y="70"/>
                  </a:lnTo>
                  <a:lnTo>
                    <a:pt x="9" y="68"/>
                  </a:lnTo>
                  <a:lnTo>
                    <a:pt x="6" y="65"/>
                  </a:lnTo>
                  <a:lnTo>
                    <a:pt x="5" y="62"/>
                  </a:lnTo>
                  <a:lnTo>
                    <a:pt x="5" y="62"/>
                  </a:lnTo>
                  <a:lnTo>
                    <a:pt x="3" y="62"/>
                  </a:lnTo>
                  <a:lnTo>
                    <a:pt x="2" y="59"/>
                  </a:lnTo>
                  <a:lnTo>
                    <a:pt x="1" y="57"/>
                  </a:lnTo>
                  <a:lnTo>
                    <a:pt x="1" y="54"/>
                  </a:lnTo>
                  <a:lnTo>
                    <a:pt x="0" y="54"/>
                  </a:lnTo>
                  <a:lnTo>
                    <a:pt x="0" y="50"/>
                  </a:lnTo>
                  <a:lnTo>
                    <a:pt x="0" y="48"/>
                  </a:lnTo>
                  <a:lnTo>
                    <a:pt x="0" y="46"/>
                  </a:lnTo>
                  <a:lnTo>
                    <a:pt x="0" y="45"/>
                  </a:lnTo>
                  <a:lnTo>
                    <a:pt x="0" y="41"/>
                  </a:lnTo>
                  <a:lnTo>
                    <a:pt x="0" y="39"/>
                  </a:lnTo>
                  <a:lnTo>
                    <a:pt x="0" y="36"/>
                  </a:lnTo>
                  <a:lnTo>
                    <a:pt x="1" y="33"/>
                  </a:lnTo>
                  <a:lnTo>
                    <a:pt x="1" y="31"/>
                  </a:lnTo>
                  <a:lnTo>
                    <a:pt x="3" y="28"/>
                  </a:lnTo>
                  <a:lnTo>
                    <a:pt x="5" y="25"/>
                  </a:lnTo>
                  <a:lnTo>
                    <a:pt x="6" y="21"/>
                  </a:lnTo>
                  <a:lnTo>
                    <a:pt x="7" y="19"/>
                  </a:lnTo>
                  <a:lnTo>
                    <a:pt x="9" y="15"/>
                  </a:lnTo>
                  <a:lnTo>
                    <a:pt x="10" y="13"/>
                  </a:lnTo>
                  <a:lnTo>
                    <a:pt x="12" y="8"/>
                  </a:lnTo>
                  <a:lnTo>
                    <a:pt x="15" y="2"/>
                  </a:lnTo>
                  <a:lnTo>
                    <a:pt x="18"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477" name="Freeform 421"/>
            <p:cNvSpPr>
              <a:spLocks/>
            </p:cNvSpPr>
            <p:nvPr/>
          </p:nvSpPr>
          <p:spPr bwMode="auto">
            <a:xfrm>
              <a:off x="4698" y="2196"/>
              <a:ext cx="31" cy="14"/>
            </a:xfrm>
            <a:custGeom>
              <a:avLst/>
              <a:gdLst/>
              <a:ahLst/>
              <a:cxnLst>
                <a:cxn ang="0">
                  <a:pos x="0" y="16"/>
                </a:cxn>
                <a:cxn ang="0">
                  <a:pos x="0" y="0"/>
                </a:cxn>
                <a:cxn ang="0">
                  <a:pos x="38" y="0"/>
                </a:cxn>
                <a:cxn ang="0">
                  <a:pos x="38" y="16"/>
                </a:cxn>
                <a:cxn ang="0">
                  <a:pos x="0" y="16"/>
                </a:cxn>
              </a:cxnLst>
              <a:rect l="0" t="0" r="r" b="b"/>
              <a:pathLst>
                <a:path w="39" h="17">
                  <a:moveTo>
                    <a:pt x="0" y="16"/>
                  </a:moveTo>
                  <a:lnTo>
                    <a:pt x="0" y="0"/>
                  </a:lnTo>
                  <a:lnTo>
                    <a:pt x="38" y="0"/>
                  </a:lnTo>
                  <a:lnTo>
                    <a:pt x="38" y="16"/>
                  </a:lnTo>
                  <a:lnTo>
                    <a:pt x="0" y="16"/>
                  </a:lnTo>
                </a:path>
              </a:pathLst>
            </a:custGeom>
            <a:noFill/>
            <a:ln w="12700" cap="rnd" cmpd="sng">
              <a:solidFill>
                <a:srgbClr val="000000"/>
              </a:solidFill>
              <a:prstDash val="solid"/>
              <a:round/>
              <a:headEnd/>
              <a:tailEnd/>
            </a:ln>
            <a:effectLst/>
          </p:spPr>
          <p:txBody>
            <a:bodyPr/>
            <a:lstStyle/>
            <a:p>
              <a:endParaRPr lang="en-US"/>
            </a:p>
          </p:txBody>
        </p:sp>
        <p:sp>
          <p:nvSpPr>
            <p:cNvPr id="941478" name="Oval 422"/>
            <p:cNvSpPr>
              <a:spLocks noChangeArrowheads="1"/>
            </p:cNvSpPr>
            <p:nvPr/>
          </p:nvSpPr>
          <p:spPr bwMode="auto">
            <a:xfrm>
              <a:off x="4748" y="2203"/>
              <a:ext cx="6" cy="9"/>
            </a:xfrm>
            <a:prstGeom prst="ellipse">
              <a:avLst/>
            </a:prstGeom>
            <a:noFill/>
            <a:ln w="12700">
              <a:solidFill>
                <a:srgbClr val="000000"/>
              </a:solidFill>
              <a:round/>
              <a:headEnd/>
              <a:tailEnd/>
            </a:ln>
            <a:effectLst/>
          </p:spPr>
          <p:txBody>
            <a:bodyPr wrap="none" anchor="ctr"/>
            <a:lstStyle/>
            <a:p>
              <a:endParaRPr lang="en-US"/>
            </a:p>
          </p:txBody>
        </p:sp>
        <p:sp>
          <p:nvSpPr>
            <p:cNvPr id="941479" name="Oval 423"/>
            <p:cNvSpPr>
              <a:spLocks noChangeArrowheads="1"/>
            </p:cNvSpPr>
            <p:nvPr/>
          </p:nvSpPr>
          <p:spPr bwMode="auto">
            <a:xfrm>
              <a:off x="4748" y="2271"/>
              <a:ext cx="6" cy="8"/>
            </a:xfrm>
            <a:prstGeom prst="ellipse">
              <a:avLst/>
            </a:prstGeom>
            <a:noFill/>
            <a:ln w="12700">
              <a:solidFill>
                <a:srgbClr val="000000"/>
              </a:solidFill>
              <a:round/>
              <a:headEnd/>
              <a:tailEnd/>
            </a:ln>
            <a:effectLst/>
          </p:spPr>
          <p:txBody>
            <a:bodyPr wrap="none" anchor="ctr"/>
            <a:lstStyle/>
            <a:p>
              <a:endParaRPr lang="en-US"/>
            </a:p>
          </p:txBody>
        </p:sp>
        <p:sp>
          <p:nvSpPr>
            <p:cNvPr id="941480" name="Line 424"/>
            <p:cNvSpPr>
              <a:spLocks noChangeShapeType="1"/>
            </p:cNvSpPr>
            <p:nvPr/>
          </p:nvSpPr>
          <p:spPr bwMode="auto">
            <a:xfrm>
              <a:off x="4972" y="2550"/>
              <a:ext cx="0"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81" name="Line 425"/>
            <p:cNvSpPr>
              <a:spLocks noChangeShapeType="1"/>
            </p:cNvSpPr>
            <p:nvPr/>
          </p:nvSpPr>
          <p:spPr bwMode="auto">
            <a:xfrm flipV="1">
              <a:off x="4967" y="2550"/>
              <a:ext cx="1"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82" name="Line 426"/>
            <p:cNvSpPr>
              <a:spLocks noChangeShapeType="1"/>
            </p:cNvSpPr>
            <p:nvPr/>
          </p:nvSpPr>
          <p:spPr bwMode="auto">
            <a:xfrm>
              <a:off x="4967" y="2550"/>
              <a:ext cx="0"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83" name="Line 427"/>
            <p:cNvSpPr>
              <a:spLocks noChangeShapeType="1"/>
            </p:cNvSpPr>
            <p:nvPr/>
          </p:nvSpPr>
          <p:spPr bwMode="auto">
            <a:xfrm>
              <a:off x="4960" y="2550"/>
              <a:ext cx="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84" name="Line 428"/>
            <p:cNvSpPr>
              <a:spLocks noChangeShapeType="1"/>
            </p:cNvSpPr>
            <p:nvPr/>
          </p:nvSpPr>
          <p:spPr bwMode="auto">
            <a:xfrm flipV="1">
              <a:off x="4960" y="2550"/>
              <a:ext cx="0"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85" name="Line 429"/>
            <p:cNvSpPr>
              <a:spLocks noChangeShapeType="1"/>
            </p:cNvSpPr>
            <p:nvPr/>
          </p:nvSpPr>
          <p:spPr bwMode="auto">
            <a:xfrm>
              <a:off x="4955" y="2550"/>
              <a:ext cx="0"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86" name="Line 430"/>
            <p:cNvSpPr>
              <a:spLocks noChangeShapeType="1"/>
            </p:cNvSpPr>
            <p:nvPr/>
          </p:nvSpPr>
          <p:spPr bwMode="auto">
            <a:xfrm flipH="1">
              <a:off x="4955" y="2550"/>
              <a:ext cx="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87" name="Line 431"/>
            <p:cNvSpPr>
              <a:spLocks noChangeShapeType="1"/>
            </p:cNvSpPr>
            <p:nvPr/>
          </p:nvSpPr>
          <p:spPr bwMode="auto">
            <a:xfrm flipH="1" flipV="1">
              <a:off x="4958" y="2550"/>
              <a:ext cx="2" cy="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88" name="Line 432"/>
            <p:cNvSpPr>
              <a:spLocks noChangeShapeType="1"/>
            </p:cNvSpPr>
            <p:nvPr/>
          </p:nvSpPr>
          <p:spPr bwMode="auto">
            <a:xfrm>
              <a:off x="4960" y="2552"/>
              <a:ext cx="0" cy="7"/>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89" name="Line 433"/>
            <p:cNvSpPr>
              <a:spLocks noChangeShapeType="1"/>
            </p:cNvSpPr>
            <p:nvPr/>
          </p:nvSpPr>
          <p:spPr bwMode="auto">
            <a:xfrm>
              <a:off x="4967" y="2552"/>
              <a:ext cx="0" cy="7"/>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90" name="Line 434"/>
            <p:cNvSpPr>
              <a:spLocks noChangeShapeType="1"/>
            </p:cNvSpPr>
            <p:nvPr/>
          </p:nvSpPr>
          <p:spPr bwMode="auto">
            <a:xfrm>
              <a:off x="4954" y="2550"/>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91" name="Line 435"/>
            <p:cNvSpPr>
              <a:spLocks noChangeShapeType="1"/>
            </p:cNvSpPr>
            <p:nvPr/>
          </p:nvSpPr>
          <p:spPr bwMode="auto">
            <a:xfrm flipH="1">
              <a:off x="4955" y="2550"/>
              <a:ext cx="18"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92" name="Line 436"/>
            <p:cNvSpPr>
              <a:spLocks noChangeShapeType="1"/>
            </p:cNvSpPr>
            <p:nvPr/>
          </p:nvSpPr>
          <p:spPr bwMode="auto">
            <a:xfrm flipV="1">
              <a:off x="4973" y="2550"/>
              <a:ext cx="0" cy="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93" name="Line 437"/>
            <p:cNvSpPr>
              <a:spLocks noChangeShapeType="1"/>
            </p:cNvSpPr>
            <p:nvPr/>
          </p:nvSpPr>
          <p:spPr bwMode="auto">
            <a:xfrm flipH="1">
              <a:off x="4940" y="2559"/>
              <a:ext cx="4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94" name="Line 438"/>
            <p:cNvSpPr>
              <a:spLocks noChangeShapeType="1"/>
            </p:cNvSpPr>
            <p:nvPr/>
          </p:nvSpPr>
          <p:spPr bwMode="auto">
            <a:xfrm flipH="1">
              <a:off x="4940" y="2589"/>
              <a:ext cx="4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95" name="Line 439"/>
            <p:cNvSpPr>
              <a:spLocks noChangeShapeType="1"/>
            </p:cNvSpPr>
            <p:nvPr/>
          </p:nvSpPr>
          <p:spPr bwMode="auto">
            <a:xfrm>
              <a:off x="4941" y="2530"/>
              <a:ext cx="0" cy="9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96" name="Line 440"/>
            <p:cNvSpPr>
              <a:spLocks noChangeShapeType="1"/>
            </p:cNvSpPr>
            <p:nvPr/>
          </p:nvSpPr>
          <p:spPr bwMode="auto">
            <a:xfrm>
              <a:off x="4874" y="2664"/>
              <a:ext cx="3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97" name="Line 441"/>
            <p:cNvSpPr>
              <a:spLocks noChangeShapeType="1"/>
            </p:cNvSpPr>
            <p:nvPr/>
          </p:nvSpPr>
          <p:spPr bwMode="auto">
            <a:xfrm flipH="1">
              <a:off x="4845" y="2529"/>
              <a:ext cx="28"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98" name="Line 442"/>
            <p:cNvSpPr>
              <a:spLocks noChangeShapeType="1"/>
            </p:cNvSpPr>
            <p:nvPr/>
          </p:nvSpPr>
          <p:spPr bwMode="auto">
            <a:xfrm>
              <a:off x="4756" y="2444"/>
              <a:ext cx="1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499" name="Line 443"/>
            <p:cNvSpPr>
              <a:spLocks noChangeShapeType="1"/>
            </p:cNvSpPr>
            <p:nvPr/>
          </p:nvSpPr>
          <p:spPr bwMode="auto">
            <a:xfrm>
              <a:off x="4713" y="2340"/>
              <a:ext cx="1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00" name="Line 444"/>
            <p:cNvSpPr>
              <a:spLocks noChangeShapeType="1"/>
            </p:cNvSpPr>
            <p:nvPr/>
          </p:nvSpPr>
          <p:spPr bwMode="auto">
            <a:xfrm>
              <a:off x="4756" y="2381"/>
              <a:ext cx="0" cy="63"/>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01" name="Line 445"/>
            <p:cNvSpPr>
              <a:spLocks noChangeShapeType="1"/>
            </p:cNvSpPr>
            <p:nvPr/>
          </p:nvSpPr>
          <p:spPr bwMode="auto">
            <a:xfrm flipH="1">
              <a:off x="4655" y="2444"/>
              <a:ext cx="17"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02" name="Line 446"/>
            <p:cNvSpPr>
              <a:spLocks noChangeShapeType="1"/>
            </p:cNvSpPr>
            <p:nvPr/>
          </p:nvSpPr>
          <p:spPr bwMode="auto">
            <a:xfrm flipH="1">
              <a:off x="4701" y="2340"/>
              <a:ext cx="14"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03" name="Line 447"/>
            <p:cNvSpPr>
              <a:spLocks noChangeShapeType="1"/>
            </p:cNvSpPr>
            <p:nvPr/>
          </p:nvSpPr>
          <p:spPr bwMode="auto">
            <a:xfrm>
              <a:off x="4672" y="2381"/>
              <a:ext cx="0" cy="63"/>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04" name="Line 448"/>
            <p:cNvSpPr>
              <a:spLocks noChangeShapeType="1"/>
            </p:cNvSpPr>
            <p:nvPr/>
          </p:nvSpPr>
          <p:spPr bwMode="auto">
            <a:xfrm>
              <a:off x="4714" y="2340"/>
              <a:ext cx="1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05" name="Line 449"/>
            <p:cNvSpPr>
              <a:spLocks noChangeShapeType="1"/>
            </p:cNvSpPr>
            <p:nvPr/>
          </p:nvSpPr>
          <p:spPr bwMode="auto">
            <a:xfrm flipH="1">
              <a:off x="4701" y="2340"/>
              <a:ext cx="1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06" name="Line 450"/>
            <p:cNvSpPr>
              <a:spLocks noChangeShapeType="1"/>
            </p:cNvSpPr>
            <p:nvPr/>
          </p:nvSpPr>
          <p:spPr bwMode="auto">
            <a:xfrm flipV="1">
              <a:off x="4705" y="2285"/>
              <a:ext cx="0" cy="3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07" name="Line 451"/>
            <p:cNvSpPr>
              <a:spLocks noChangeShapeType="1"/>
            </p:cNvSpPr>
            <p:nvPr/>
          </p:nvSpPr>
          <p:spPr bwMode="auto">
            <a:xfrm flipV="1">
              <a:off x="4723" y="2285"/>
              <a:ext cx="0" cy="3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08" name="Line 452"/>
            <p:cNvSpPr>
              <a:spLocks noChangeShapeType="1"/>
            </p:cNvSpPr>
            <p:nvPr/>
          </p:nvSpPr>
          <p:spPr bwMode="auto">
            <a:xfrm>
              <a:off x="4709" y="2275"/>
              <a:ext cx="0" cy="1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09" name="Line 453"/>
            <p:cNvSpPr>
              <a:spLocks noChangeShapeType="1"/>
            </p:cNvSpPr>
            <p:nvPr/>
          </p:nvSpPr>
          <p:spPr bwMode="auto">
            <a:xfrm>
              <a:off x="4723" y="2276"/>
              <a:ext cx="0" cy="1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10" name="Line 454"/>
            <p:cNvSpPr>
              <a:spLocks noChangeShapeType="1"/>
            </p:cNvSpPr>
            <p:nvPr/>
          </p:nvSpPr>
          <p:spPr bwMode="auto">
            <a:xfrm>
              <a:off x="4709" y="2196"/>
              <a:ext cx="0" cy="1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11" name="Line 455"/>
            <p:cNvSpPr>
              <a:spLocks noChangeShapeType="1"/>
            </p:cNvSpPr>
            <p:nvPr/>
          </p:nvSpPr>
          <p:spPr bwMode="auto">
            <a:xfrm>
              <a:off x="4723" y="2198"/>
              <a:ext cx="0" cy="1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12" name="Line 456"/>
            <p:cNvSpPr>
              <a:spLocks noChangeShapeType="1"/>
            </p:cNvSpPr>
            <p:nvPr/>
          </p:nvSpPr>
          <p:spPr bwMode="auto">
            <a:xfrm>
              <a:off x="4734" y="2222"/>
              <a:ext cx="0" cy="31"/>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13" name="Line 457"/>
            <p:cNvSpPr>
              <a:spLocks noChangeShapeType="1"/>
            </p:cNvSpPr>
            <p:nvPr/>
          </p:nvSpPr>
          <p:spPr bwMode="auto">
            <a:xfrm>
              <a:off x="4726" y="2224"/>
              <a:ext cx="8"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14" name="Line 458"/>
            <p:cNvSpPr>
              <a:spLocks noChangeShapeType="1"/>
            </p:cNvSpPr>
            <p:nvPr/>
          </p:nvSpPr>
          <p:spPr bwMode="auto">
            <a:xfrm>
              <a:off x="4726" y="2256"/>
              <a:ext cx="8"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15" name="Line 459"/>
            <p:cNvSpPr>
              <a:spLocks noChangeShapeType="1"/>
            </p:cNvSpPr>
            <p:nvPr/>
          </p:nvSpPr>
          <p:spPr bwMode="auto">
            <a:xfrm>
              <a:off x="4734" y="2235"/>
              <a:ext cx="1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16" name="Line 460"/>
            <p:cNvSpPr>
              <a:spLocks noChangeShapeType="1"/>
            </p:cNvSpPr>
            <p:nvPr/>
          </p:nvSpPr>
          <p:spPr bwMode="auto">
            <a:xfrm>
              <a:off x="4734" y="2249"/>
              <a:ext cx="1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17" name="Line 461"/>
            <p:cNvSpPr>
              <a:spLocks noChangeShapeType="1"/>
            </p:cNvSpPr>
            <p:nvPr/>
          </p:nvSpPr>
          <p:spPr bwMode="auto">
            <a:xfrm>
              <a:off x="4748" y="2213"/>
              <a:ext cx="0" cy="5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18" name="Line 462"/>
            <p:cNvSpPr>
              <a:spLocks noChangeShapeType="1"/>
            </p:cNvSpPr>
            <p:nvPr/>
          </p:nvSpPr>
          <p:spPr bwMode="auto">
            <a:xfrm>
              <a:off x="4752" y="2213"/>
              <a:ext cx="0" cy="58"/>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19" name="Line 463"/>
            <p:cNvSpPr>
              <a:spLocks noChangeShapeType="1"/>
            </p:cNvSpPr>
            <p:nvPr/>
          </p:nvSpPr>
          <p:spPr bwMode="auto">
            <a:xfrm>
              <a:off x="4726" y="2208"/>
              <a:ext cx="0" cy="14"/>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20" name="Line 464"/>
            <p:cNvSpPr>
              <a:spLocks noChangeShapeType="1"/>
            </p:cNvSpPr>
            <p:nvPr/>
          </p:nvSpPr>
          <p:spPr bwMode="auto">
            <a:xfrm flipV="1">
              <a:off x="4726" y="2256"/>
              <a:ext cx="0" cy="18"/>
            </a:xfrm>
            <a:prstGeom prst="line">
              <a:avLst/>
            </a:prstGeom>
            <a:noFill/>
            <a:ln w="12700">
              <a:solidFill>
                <a:srgbClr val="000000"/>
              </a:solidFill>
              <a:round/>
              <a:headEnd type="none" w="sm" len="sm"/>
              <a:tailEnd type="none" w="sm" len="sm"/>
            </a:ln>
            <a:effectLst/>
          </p:spPr>
          <p:txBody>
            <a:bodyPr wrap="none" anchor="ctr"/>
            <a:lstStyle/>
            <a:p>
              <a:endParaRPr lang="en-US"/>
            </a:p>
          </p:txBody>
        </p:sp>
        <p:grpSp>
          <p:nvGrpSpPr>
            <p:cNvPr id="941521" name="Group 465"/>
            <p:cNvGrpSpPr>
              <a:grpSpLocks/>
            </p:cNvGrpSpPr>
            <p:nvPr/>
          </p:nvGrpSpPr>
          <p:grpSpPr bwMode="auto">
            <a:xfrm>
              <a:off x="3744" y="2400"/>
              <a:ext cx="566" cy="416"/>
              <a:chOff x="3740" y="2402"/>
              <a:chExt cx="566" cy="416"/>
            </a:xfrm>
          </p:grpSpPr>
          <p:grpSp>
            <p:nvGrpSpPr>
              <p:cNvPr id="941522" name="Group 466"/>
              <p:cNvGrpSpPr>
                <a:grpSpLocks/>
              </p:cNvGrpSpPr>
              <p:nvPr/>
            </p:nvGrpSpPr>
            <p:grpSpPr bwMode="auto">
              <a:xfrm>
                <a:off x="3740" y="2402"/>
                <a:ext cx="566" cy="416"/>
                <a:chOff x="3740" y="2402"/>
                <a:chExt cx="566" cy="416"/>
              </a:xfrm>
            </p:grpSpPr>
            <p:sp>
              <p:nvSpPr>
                <p:cNvPr id="941523" name="Freeform 467"/>
                <p:cNvSpPr>
                  <a:spLocks/>
                </p:cNvSpPr>
                <p:nvPr/>
              </p:nvSpPr>
              <p:spPr bwMode="auto">
                <a:xfrm>
                  <a:off x="4277" y="2513"/>
                  <a:ext cx="29" cy="187"/>
                </a:xfrm>
                <a:custGeom>
                  <a:avLst/>
                  <a:gdLst/>
                  <a:ahLst/>
                  <a:cxnLst>
                    <a:cxn ang="0">
                      <a:pos x="0" y="238"/>
                    </a:cxn>
                    <a:cxn ang="0">
                      <a:pos x="0" y="0"/>
                    </a:cxn>
                    <a:cxn ang="0">
                      <a:pos x="36" y="0"/>
                    </a:cxn>
                    <a:cxn ang="0">
                      <a:pos x="36" y="238"/>
                    </a:cxn>
                    <a:cxn ang="0">
                      <a:pos x="0" y="238"/>
                    </a:cxn>
                  </a:cxnLst>
                  <a:rect l="0" t="0" r="r" b="b"/>
                  <a:pathLst>
                    <a:path w="37" h="239">
                      <a:moveTo>
                        <a:pt x="0" y="238"/>
                      </a:moveTo>
                      <a:lnTo>
                        <a:pt x="0" y="0"/>
                      </a:lnTo>
                      <a:lnTo>
                        <a:pt x="36" y="0"/>
                      </a:lnTo>
                      <a:lnTo>
                        <a:pt x="36" y="238"/>
                      </a:lnTo>
                      <a:lnTo>
                        <a:pt x="0" y="238"/>
                      </a:lnTo>
                    </a:path>
                  </a:pathLst>
                </a:custGeom>
                <a:noFill/>
                <a:ln w="12700" cap="rnd" cmpd="sng">
                  <a:solidFill>
                    <a:srgbClr val="000000"/>
                  </a:solidFill>
                  <a:prstDash val="solid"/>
                  <a:round/>
                  <a:headEnd/>
                  <a:tailEnd/>
                </a:ln>
                <a:effectLst/>
              </p:spPr>
              <p:txBody>
                <a:bodyPr/>
                <a:lstStyle/>
                <a:p>
                  <a:endParaRPr lang="en-US"/>
                </a:p>
              </p:txBody>
            </p:sp>
            <p:grpSp>
              <p:nvGrpSpPr>
                <p:cNvPr id="941524" name="Group 468"/>
                <p:cNvGrpSpPr>
                  <a:grpSpLocks/>
                </p:cNvGrpSpPr>
                <p:nvPr/>
              </p:nvGrpSpPr>
              <p:grpSpPr bwMode="auto">
                <a:xfrm>
                  <a:off x="3740" y="2402"/>
                  <a:ext cx="459" cy="416"/>
                  <a:chOff x="3740" y="2402"/>
                  <a:chExt cx="459" cy="416"/>
                </a:xfrm>
              </p:grpSpPr>
              <p:sp>
                <p:nvSpPr>
                  <p:cNvPr id="941525" name="Freeform 469"/>
                  <p:cNvSpPr>
                    <a:spLocks/>
                  </p:cNvSpPr>
                  <p:nvPr/>
                </p:nvSpPr>
                <p:spPr bwMode="auto">
                  <a:xfrm>
                    <a:off x="3872" y="2419"/>
                    <a:ext cx="313" cy="374"/>
                  </a:xfrm>
                  <a:custGeom>
                    <a:avLst/>
                    <a:gdLst/>
                    <a:ahLst/>
                    <a:cxnLst>
                      <a:cxn ang="0">
                        <a:pos x="0" y="477"/>
                      </a:cxn>
                      <a:cxn ang="0">
                        <a:pos x="0" y="0"/>
                      </a:cxn>
                      <a:cxn ang="0">
                        <a:pos x="399" y="0"/>
                      </a:cxn>
                    </a:cxnLst>
                    <a:rect l="0" t="0" r="r" b="b"/>
                    <a:pathLst>
                      <a:path w="400" h="478">
                        <a:moveTo>
                          <a:pt x="0" y="477"/>
                        </a:moveTo>
                        <a:lnTo>
                          <a:pt x="0" y="0"/>
                        </a:lnTo>
                        <a:lnTo>
                          <a:pt x="399"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26" name="Freeform 470"/>
                  <p:cNvSpPr>
                    <a:spLocks/>
                  </p:cNvSpPr>
                  <p:nvPr/>
                </p:nvSpPr>
                <p:spPr bwMode="auto">
                  <a:xfrm>
                    <a:off x="4184" y="2420"/>
                    <a:ext cx="15" cy="21"/>
                  </a:xfrm>
                  <a:custGeom>
                    <a:avLst/>
                    <a:gdLst/>
                    <a:ahLst/>
                    <a:cxnLst>
                      <a:cxn ang="0">
                        <a:pos x="18" y="26"/>
                      </a:cxn>
                      <a:cxn ang="0">
                        <a:pos x="17" y="24"/>
                      </a:cxn>
                      <a:cxn ang="0">
                        <a:pos x="17" y="20"/>
                      </a:cxn>
                      <a:cxn ang="0">
                        <a:pos x="16" y="19"/>
                      </a:cxn>
                      <a:cxn ang="0">
                        <a:pos x="16" y="15"/>
                      </a:cxn>
                      <a:cxn ang="0">
                        <a:pos x="14" y="13"/>
                      </a:cxn>
                      <a:cxn ang="0">
                        <a:pos x="14" y="12"/>
                      </a:cxn>
                      <a:cxn ang="0">
                        <a:pos x="12" y="10"/>
                      </a:cxn>
                      <a:cxn ang="0">
                        <a:pos x="12" y="6"/>
                      </a:cxn>
                      <a:cxn ang="0">
                        <a:pos x="10" y="6"/>
                      </a:cxn>
                      <a:cxn ang="0">
                        <a:pos x="9" y="5"/>
                      </a:cxn>
                      <a:cxn ang="0">
                        <a:pos x="7" y="4"/>
                      </a:cxn>
                      <a:cxn ang="0">
                        <a:pos x="6" y="2"/>
                      </a:cxn>
                      <a:cxn ang="0">
                        <a:pos x="4" y="2"/>
                      </a:cxn>
                      <a:cxn ang="0">
                        <a:pos x="3" y="1"/>
                      </a:cxn>
                      <a:cxn ang="0">
                        <a:pos x="1" y="1"/>
                      </a:cxn>
                      <a:cxn ang="0">
                        <a:pos x="0" y="0"/>
                      </a:cxn>
                    </a:cxnLst>
                    <a:rect l="0" t="0" r="r" b="b"/>
                    <a:pathLst>
                      <a:path w="19" h="27">
                        <a:moveTo>
                          <a:pt x="18" y="26"/>
                        </a:moveTo>
                        <a:lnTo>
                          <a:pt x="17" y="24"/>
                        </a:lnTo>
                        <a:lnTo>
                          <a:pt x="17" y="20"/>
                        </a:lnTo>
                        <a:lnTo>
                          <a:pt x="16" y="19"/>
                        </a:lnTo>
                        <a:lnTo>
                          <a:pt x="16" y="15"/>
                        </a:lnTo>
                        <a:lnTo>
                          <a:pt x="14" y="13"/>
                        </a:lnTo>
                        <a:lnTo>
                          <a:pt x="14" y="12"/>
                        </a:lnTo>
                        <a:lnTo>
                          <a:pt x="12" y="10"/>
                        </a:lnTo>
                        <a:lnTo>
                          <a:pt x="12" y="6"/>
                        </a:lnTo>
                        <a:lnTo>
                          <a:pt x="10" y="6"/>
                        </a:lnTo>
                        <a:lnTo>
                          <a:pt x="9" y="5"/>
                        </a:lnTo>
                        <a:lnTo>
                          <a:pt x="7" y="4"/>
                        </a:lnTo>
                        <a:lnTo>
                          <a:pt x="6" y="2"/>
                        </a:lnTo>
                        <a:lnTo>
                          <a:pt x="4" y="2"/>
                        </a:lnTo>
                        <a:lnTo>
                          <a:pt x="3" y="1"/>
                        </a:lnTo>
                        <a:lnTo>
                          <a:pt x="1" y="1"/>
                        </a:lnTo>
                        <a:lnTo>
                          <a:pt x="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27" name="Line 471"/>
                  <p:cNvSpPr>
                    <a:spLocks noChangeShapeType="1"/>
                  </p:cNvSpPr>
                  <p:nvPr/>
                </p:nvSpPr>
                <p:spPr bwMode="auto">
                  <a:xfrm>
                    <a:off x="4199" y="2440"/>
                    <a:ext cx="0" cy="33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28" name="Freeform 472"/>
                  <p:cNvSpPr>
                    <a:spLocks/>
                  </p:cNvSpPr>
                  <p:nvPr/>
                </p:nvSpPr>
                <p:spPr bwMode="auto">
                  <a:xfrm>
                    <a:off x="4184" y="2772"/>
                    <a:ext cx="15" cy="21"/>
                  </a:xfrm>
                  <a:custGeom>
                    <a:avLst/>
                    <a:gdLst/>
                    <a:ahLst/>
                    <a:cxnLst>
                      <a:cxn ang="0">
                        <a:pos x="0" y="26"/>
                      </a:cxn>
                      <a:cxn ang="0">
                        <a:pos x="1" y="26"/>
                      </a:cxn>
                      <a:cxn ang="0">
                        <a:pos x="3" y="26"/>
                      </a:cxn>
                      <a:cxn ang="0">
                        <a:pos x="4" y="26"/>
                      </a:cxn>
                      <a:cxn ang="0">
                        <a:pos x="6" y="24"/>
                      </a:cxn>
                      <a:cxn ang="0">
                        <a:pos x="7" y="23"/>
                      </a:cxn>
                      <a:cxn ang="0">
                        <a:pos x="9" y="21"/>
                      </a:cxn>
                      <a:cxn ang="0">
                        <a:pos x="10" y="19"/>
                      </a:cxn>
                      <a:cxn ang="0">
                        <a:pos x="12" y="18"/>
                      </a:cxn>
                      <a:cxn ang="0">
                        <a:pos x="12" y="16"/>
                      </a:cxn>
                      <a:cxn ang="0">
                        <a:pos x="14" y="14"/>
                      </a:cxn>
                      <a:cxn ang="0">
                        <a:pos x="14" y="13"/>
                      </a:cxn>
                      <a:cxn ang="0">
                        <a:pos x="16" y="10"/>
                      </a:cxn>
                      <a:cxn ang="0">
                        <a:pos x="16" y="8"/>
                      </a:cxn>
                      <a:cxn ang="0">
                        <a:pos x="17" y="5"/>
                      </a:cxn>
                      <a:cxn ang="0">
                        <a:pos x="17" y="3"/>
                      </a:cxn>
                      <a:cxn ang="0">
                        <a:pos x="18" y="0"/>
                      </a:cxn>
                    </a:cxnLst>
                    <a:rect l="0" t="0" r="r" b="b"/>
                    <a:pathLst>
                      <a:path w="19" h="27">
                        <a:moveTo>
                          <a:pt x="0" y="26"/>
                        </a:moveTo>
                        <a:lnTo>
                          <a:pt x="1" y="26"/>
                        </a:lnTo>
                        <a:lnTo>
                          <a:pt x="3" y="26"/>
                        </a:lnTo>
                        <a:lnTo>
                          <a:pt x="4" y="26"/>
                        </a:lnTo>
                        <a:lnTo>
                          <a:pt x="6" y="24"/>
                        </a:lnTo>
                        <a:lnTo>
                          <a:pt x="7" y="23"/>
                        </a:lnTo>
                        <a:lnTo>
                          <a:pt x="9" y="21"/>
                        </a:lnTo>
                        <a:lnTo>
                          <a:pt x="10" y="19"/>
                        </a:lnTo>
                        <a:lnTo>
                          <a:pt x="12" y="18"/>
                        </a:lnTo>
                        <a:lnTo>
                          <a:pt x="12" y="16"/>
                        </a:lnTo>
                        <a:lnTo>
                          <a:pt x="14" y="14"/>
                        </a:lnTo>
                        <a:lnTo>
                          <a:pt x="14" y="13"/>
                        </a:lnTo>
                        <a:lnTo>
                          <a:pt x="16" y="10"/>
                        </a:lnTo>
                        <a:lnTo>
                          <a:pt x="16" y="8"/>
                        </a:lnTo>
                        <a:lnTo>
                          <a:pt x="17" y="5"/>
                        </a:lnTo>
                        <a:lnTo>
                          <a:pt x="17" y="3"/>
                        </a:lnTo>
                        <a:lnTo>
                          <a:pt x="18"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29" name="Line 473"/>
                  <p:cNvSpPr>
                    <a:spLocks noChangeShapeType="1"/>
                  </p:cNvSpPr>
                  <p:nvPr/>
                </p:nvSpPr>
                <p:spPr bwMode="auto">
                  <a:xfrm flipH="1">
                    <a:off x="3872" y="2793"/>
                    <a:ext cx="31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30" name="Line 474"/>
                  <p:cNvSpPr>
                    <a:spLocks noChangeShapeType="1"/>
                  </p:cNvSpPr>
                  <p:nvPr/>
                </p:nvSpPr>
                <p:spPr bwMode="auto">
                  <a:xfrm flipV="1">
                    <a:off x="3986" y="2570"/>
                    <a:ext cx="0" cy="8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31" name="Freeform 475"/>
                  <p:cNvSpPr>
                    <a:spLocks/>
                  </p:cNvSpPr>
                  <p:nvPr/>
                </p:nvSpPr>
                <p:spPr bwMode="auto">
                  <a:xfrm>
                    <a:off x="3986" y="2550"/>
                    <a:ext cx="17" cy="21"/>
                  </a:xfrm>
                  <a:custGeom>
                    <a:avLst/>
                    <a:gdLst/>
                    <a:ahLst/>
                    <a:cxnLst>
                      <a:cxn ang="0">
                        <a:pos x="20" y="0"/>
                      </a:cxn>
                      <a:cxn ang="0">
                        <a:pos x="16" y="0"/>
                      </a:cxn>
                      <a:cxn ang="0">
                        <a:pos x="14" y="0"/>
                      </a:cxn>
                      <a:cxn ang="0">
                        <a:pos x="12" y="2"/>
                      </a:cxn>
                      <a:cxn ang="0">
                        <a:pos x="10" y="2"/>
                      </a:cxn>
                      <a:cxn ang="0">
                        <a:pos x="10" y="4"/>
                      </a:cxn>
                      <a:cxn ang="0">
                        <a:pos x="8" y="5"/>
                      </a:cxn>
                      <a:cxn ang="0">
                        <a:pos x="6" y="6"/>
                      </a:cxn>
                      <a:cxn ang="0">
                        <a:pos x="5" y="7"/>
                      </a:cxn>
                      <a:cxn ang="0">
                        <a:pos x="3" y="11"/>
                      </a:cxn>
                      <a:cxn ang="0">
                        <a:pos x="2" y="12"/>
                      </a:cxn>
                      <a:cxn ang="0">
                        <a:pos x="0" y="14"/>
                      </a:cxn>
                      <a:cxn ang="0">
                        <a:pos x="0" y="16"/>
                      </a:cxn>
                      <a:cxn ang="0">
                        <a:pos x="0" y="19"/>
                      </a:cxn>
                      <a:cxn ang="0">
                        <a:pos x="0" y="20"/>
                      </a:cxn>
                      <a:cxn ang="0">
                        <a:pos x="0" y="24"/>
                      </a:cxn>
                      <a:cxn ang="0">
                        <a:pos x="0" y="26"/>
                      </a:cxn>
                    </a:cxnLst>
                    <a:rect l="0" t="0" r="r" b="b"/>
                    <a:pathLst>
                      <a:path w="21" h="27">
                        <a:moveTo>
                          <a:pt x="20" y="0"/>
                        </a:moveTo>
                        <a:lnTo>
                          <a:pt x="16" y="0"/>
                        </a:lnTo>
                        <a:lnTo>
                          <a:pt x="14" y="0"/>
                        </a:lnTo>
                        <a:lnTo>
                          <a:pt x="12" y="2"/>
                        </a:lnTo>
                        <a:lnTo>
                          <a:pt x="10" y="2"/>
                        </a:lnTo>
                        <a:lnTo>
                          <a:pt x="10" y="4"/>
                        </a:lnTo>
                        <a:lnTo>
                          <a:pt x="8" y="5"/>
                        </a:lnTo>
                        <a:lnTo>
                          <a:pt x="6" y="6"/>
                        </a:lnTo>
                        <a:lnTo>
                          <a:pt x="5" y="7"/>
                        </a:lnTo>
                        <a:lnTo>
                          <a:pt x="3" y="11"/>
                        </a:lnTo>
                        <a:lnTo>
                          <a:pt x="2" y="12"/>
                        </a:lnTo>
                        <a:lnTo>
                          <a:pt x="0" y="14"/>
                        </a:lnTo>
                        <a:lnTo>
                          <a:pt x="0" y="16"/>
                        </a:lnTo>
                        <a:lnTo>
                          <a:pt x="0" y="19"/>
                        </a:lnTo>
                        <a:lnTo>
                          <a:pt x="0" y="20"/>
                        </a:lnTo>
                        <a:lnTo>
                          <a:pt x="0" y="24"/>
                        </a:lnTo>
                        <a:lnTo>
                          <a:pt x="0" y="26"/>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32" name="Line 476"/>
                  <p:cNvSpPr>
                    <a:spLocks noChangeShapeType="1"/>
                  </p:cNvSpPr>
                  <p:nvPr/>
                </p:nvSpPr>
                <p:spPr bwMode="auto">
                  <a:xfrm>
                    <a:off x="4002" y="2548"/>
                    <a:ext cx="8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33" name="Freeform 477"/>
                  <p:cNvSpPr>
                    <a:spLocks/>
                  </p:cNvSpPr>
                  <p:nvPr/>
                </p:nvSpPr>
                <p:spPr bwMode="auto">
                  <a:xfrm>
                    <a:off x="4087" y="2550"/>
                    <a:ext cx="17" cy="21"/>
                  </a:xfrm>
                  <a:custGeom>
                    <a:avLst/>
                    <a:gdLst/>
                    <a:ahLst/>
                    <a:cxnLst>
                      <a:cxn ang="0">
                        <a:pos x="20" y="26"/>
                      </a:cxn>
                      <a:cxn ang="0">
                        <a:pos x="18" y="24"/>
                      </a:cxn>
                      <a:cxn ang="0">
                        <a:pos x="18" y="20"/>
                      </a:cxn>
                      <a:cxn ang="0">
                        <a:pos x="17" y="19"/>
                      </a:cxn>
                      <a:cxn ang="0">
                        <a:pos x="17" y="16"/>
                      </a:cxn>
                      <a:cxn ang="0">
                        <a:pos x="15" y="14"/>
                      </a:cxn>
                      <a:cxn ang="0">
                        <a:pos x="14" y="12"/>
                      </a:cxn>
                      <a:cxn ang="0">
                        <a:pos x="12" y="11"/>
                      </a:cxn>
                      <a:cxn ang="0">
                        <a:pos x="12" y="7"/>
                      </a:cxn>
                      <a:cxn ang="0">
                        <a:pos x="10" y="6"/>
                      </a:cxn>
                      <a:cxn ang="0">
                        <a:pos x="9" y="5"/>
                      </a:cxn>
                      <a:cxn ang="0">
                        <a:pos x="7" y="4"/>
                      </a:cxn>
                      <a:cxn ang="0">
                        <a:pos x="6" y="2"/>
                      </a:cxn>
                      <a:cxn ang="0">
                        <a:pos x="4" y="2"/>
                      </a:cxn>
                      <a:cxn ang="0">
                        <a:pos x="3" y="0"/>
                      </a:cxn>
                      <a:cxn ang="0">
                        <a:pos x="1" y="0"/>
                      </a:cxn>
                      <a:cxn ang="0">
                        <a:pos x="0" y="0"/>
                      </a:cxn>
                    </a:cxnLst>
                    <a:rect l="0" t="0" r="r" b="b"/>
                    <a:pathLst>
                      <a:path w="21" h="27">
                        <a:moveTo>
                          <a:pt x="20" y="26"/>
                        </a:moveTo>
                        <a:lnTo>
                          <a:pt x="18" y="24"/>
                        </a:lnTo>
                        <a:lnTo>
                          <a:pt x="18" y="20"/>
                        </a:lnTo>
                        <a:lnTo>
                          <a:pt x="17" y="19"/>
                        </a:lnTo>
                        <a:lnTo>
                          <a:pt x="17" y="16"/>
                        </a:lnTo>
                        <a:lnTo>
                          <a:pt x="15" y="14"/>
                        </a:lnTo>
                        <a:lnTo>
                          <a:pt x="14" y="12"/>
                        </a:lnTo>
                        <a:lnTo>
                          <a:pt x="12" y="11"/>
                        </a:lnTo>
                        <a:lnTo>
                          <a:pt x="12" y="7"/>
                        </a:lnTo>
                        <a:lnTo>
                          <a:pt x="10" y="6"/>
                        </a:lnTo>
                        <a:lnTo>
                          <a:pt x="9" y="5"/>
                        </a:lnTo>
                        <a:lnTo>
                          <a:pt x="7" y="4"/>
                        </a:lnTo>
                        <a:lnTo>
                          <a:pt x="6" y="2"/>
                        </a:lnTo>
                        <a:lnTo>
                          <a:pt x="4" y="2"/>
                        </a:lnTo>
                        <a:lnTo>
                          <a:pt x="3" y="0"/>
                        </a:lnTo>
                        <a:lnTo>
                          <a:pt x="1" y="0"/>
                        </a:lnTo>
                        <a:lnTo>
                          <a:pt x="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34" name="Line 478"/>
                  <p:cNvSpPr>
                    <a:spLocks noChangeShapeType="1"/>
                  </p:cNvSpPr>
                  <p:nvPr/>
                </p:nvSpPr>
                <p:spPr bwMode="auto">
                  <a:xfrm>
                    <a:off x="4103" y="2570"/>
                    <a:ext cx="0" cy="8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35" name="Freeform 479"/>
                  <p:cNvSpPr>
                    <a:spLocks/>
                  </p:cNvSpPr>
                  <p:nvPr/>
                </p:nvSpPr>
                <p:spPr bwMode="auto">
                  <a:xfrm>
                    <a:off x="4087" y="2655"/>
                    <a:ext cx="17" cy="22"/>
                  </a:xfrm>
                  <a:custGeom>
                    <a:avLst/>
                    <a:gdLst/>
                    <a:ahLst/>
                    <a:cxnLst>
                      <a:cxn ang="0">
                        <a:pos x="0" y="27"/>
                      </a:cxn>
                      <a:cxn ang="0">
                        <a:pos x="1" y="27"/>
                      </a:cxn>
                      <a:cxn ang="0">
                        <a:pos x="3" y="27"/>
                      </a:cxn>
                      <a:cxn ang="0">
                        <a:pos x="4" y="27"/>
                      </a:cxn>
                      <a:cxn ang="0">
                        <a:pos x="6" y="25"/>
                      </a:cxn>
                      <a:cxn ang="0">
                        <a:pos x="7" y="24"/>
                      </a:cxn>
                      <a:cxn ang="0">
                        <a:pos x="9" y="23"/>
                      </a:cxn>
                      <a:cxn ang="0">
                        <a:pos x="10" y="21"/>
                      </a:cxn>
                      <a:cxn ang="0">
                        <a:pos x="12" y="19"/>
                      </a:cxn>
                      <a:cxn ang="0">
                        <a:pos x="12" y="17"/>
                      </a:cxn>
                      <a:cxn ang="0">
                        <a:pos x="14" y="15"/>
                      </a:cxn>
                      <a:cxn ang="0">
                        <a:pos x="15" y="14"/>
                      </a:cxn>
                      <a:cxn ang="0">
                        <a:pos x="17" y="11"/>
                      </a:cxn>
                      <a:cxn ang="0">
                        <a:pos x="17" y="9"/>
                      </a:cxn>
                      <a:cxn ang="0">
                        <a:pos x="18" y="6"/>
                      </a:cxn>
                      <a:cxn ang="0">
                        <a:pos x="18" y="3"/>
                      </a:cxn>
                      <a:cxn ang="0">
                        <a:pos x="20" y="0"/>
                      </a:cxn>
                    </a:cxnLst>
                    <a:rect l="0" t="0" r="r" b="b"/>
                    <a:pathLst>
                      <a:path w="21" h="28">
                        <a:moveTo>
                          <a:pt x="0" y="27"/>
                        </a:moveTo>
                        <a:lnTo>
                          <a:pt x="1" y="27"/>
                        </a:lnTo>
                        <a:lnTo>
                          <a:pt x="3" y="27"/>
                        </a:lnTo>
                        <a:lnTo>
                          <a:pt x="4" y="27"/>
                        </a:lnTo>
                        <a:lnTo>
                          <a:pt x="6" y="25"/>
                        </a:lnTo>
                        <a:lnTo>
                          <a:pt x="7" y="24"/>
                        </a:lnTo>
                        <a:lnTo>
                          <a:pt x="9" y="23"/>
                        </a:lnTo>
                        <a:lnTo>
                          <a:pt x="10" y="21"/>
                        </a:lnTo>
                        <a:lnTo>
                          <a:pt x="12" y="19"/>
                        </a:lnTo>
                        <a:lnTo>
                          <a:pt x="12" y="17"/>
                        </a:lnTo>
                        <a:lnTo>
                          <a:pt x="14" y="15"/>
                        </a:lnTo>
                        <a:lnTo>
                          <a:pt x="15" y="14"/>
                        </a:lnTo>
                        <a:lnTo>
                          <a:pt x="17" y="11"/>
                        </a:lnTo>
                        <a:lnTo>
                          <a:pt x="17" y="9"/>
                        </a:lnTo>
                        <a:lnTo>
                          <a:pt x="18" y="6"/>
                        </a:lnTo>
                        <a:lnTo>
                          <a:pt x="18" y="3"/>
                        </a:lnTo>
                        <a:lnTo>
                          <a:pt x="2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36" name="Line 480"/>
                  <p:cNvSpPr>
                    <a:spLocks noChangeShapeType="1"/>
                  </p:cNvSpPr>
                  <p:nvPr/>
                </p:nvSpPr>
                <p:spPr bwMode="auto">
                  <a:xfrm flipH="1">
                    <a:off x="4002" y="2676"/>
                    <a:ext cx="8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37" name="Freeform 481"/>
                  <p:cNvSpPr>
                    <a:spLocks/>
                  </p:cNvSpPr>
                  <p:nvPr/>
                </p:nvSpPr>
                <p:spPr bwMode="auto">
                  <a:xfrm>
                    <a:off x="3986" y="2655"/>
                    <a:ext cx="17" cy="22"/>
                  </a:xfrm>
                  <a:custGeom>
                    <a:avLst/>
                    <a:gdLst/>
                    <a:ahLst/>
                    <a:cxnLst>
                      <a:cxn ang="0">
                        <a:pos x="0" y="0"/>
                      </a:cxn>
                      <a:cxn ang="0">
                        <a:pos x="0" y="3"/>
                      </a:cxn>
                      <a:cxn ang="0">
                        <a:pos x="0" y="6"/>
                      </a:cxn>
                      <a:cxn ang="0">
                        <a:pos x="0" y="10"/>
                      </a:cxn>
                      <a:cxn ang="0">
                        <a:pos x="0" y="12"/>
                      </a:cxn>
                      <a:cxn ang="0">
                        <a:pos x="0" y="14"/>
                      </a:cxn>
                      <a:cxn ang="0">
                        <a:pos x="2" y="16"/>
                      </a:cxn>
                      <a:cxn ang="0">
                        <a:pos x="3" y="18"/>
                      </a:cxn>
                      <a:cxn ang="0">
                        <a:pos x="5" y="20"/>
                      </a:cxn>
                      <a:cxn ang="0">
                        <a:pos x="6" y="21"/>
                      </a:cxn>
                      <a:cxn ang="0">
                        <a:pos x="8" y="23"/>
                      </a:cxn>
                      <a:cxn ang="0">
                        <a:pos x="10" y="24"/>
                      </a:cxn>
                      <a:cxn ang="0">
                        <a:pos x="10" y="25"/>
                      </a:cxn>
                      <a:cxn ang="0">
                        <a:pos x="12" y="27"/>
                      </a:cxn>
                      <a:cxn ang="0">
                        <a:pos x="14" y="27"/>
                      </a:cxn>
                      <a:cxn ang="0">
                        <a:pos x="16" y="27"/>
                      </a:cxn>
                      <a:cxn ang="0">
                        <a:pos x="20" y="27"/>
                      </a:cxn>
                    </a:cxnLst>
                    <a:rect l="0" t="0" r="r" b="b"/>
                    <a:pathLst>
                      <a:path w="21" h="28">
                        <a:moveTo>
                          <a:pt x="0" y="0"/>
                        </a:moveTo>
                        <a:lnTo>
                          <a:pt x="0" y="3"/>
                        </a:lnTo>
                        <a:lnTo>
                          <a:pt x="0" y="6"/>
                        </a:lnTo>
                        <a:lnTo>
                          <a:pt x="0" y="10"/>
                        </a:lnTo>
                        <a:lnTo>
                          <a:pt x="0" y="12"/>
                        </a:lnTo>
                        <a:lnTo>
                          <a:pt x="0" y="14"/>
                        </a:lnTo>
                        <a:lnTo>
                          <a:pt x="2" y="16"/>
                        </a:lnTo>
                        <a:lnTo>
                          <a:pt x="3" y="18"/>
                        </a:lnTo>
                        <a:lnTo>
                          <a:pt x="5" y="20"/>
                        </a:lnTo>
                        <a:lnTo>
                          <a:pt x="6" y="21"/>
                        </a:lnTo>
                        <a:lnTo>
                          <a:pt x="8" y="23"/>
                        </a:lnTo>
                        <a:lnTo>
                          <a:pt x="10" y="24"/>
                        </a:lnTo>
                        <a:lnTo>
                          <a:pt x="10" y="25"/>
                        </a:lnTo>
                        <a:lnTo>
                          <a:pt x="12" y="27"/>
                        </a:lnTo>
                        <a:lnTo>
                          <a:pt x="14" y="27"/>
                        </a:lnTo>
                        <a:lnTo>
                          <a:pt x="16" y="27"/>
                        </a:lnTo>
                        <a:lnTo>
                          <a:pt x="20" y="27"/>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38" name="Freeform 482"/>
                  <p:cNvSpPr>
                    <a:spLocks/>
                  </p:cNvSpPr>
                  <p:nvPr/>
                </p:nvSpPr>
                <p:spPr bwMode="auto">
                  <a:xfrm>
                    <a:off x="3740" y="2775"/>
                    <a:ext cx="31" cy="43"/>
                  </a:xfrm>
                  <a:custGeom>
                    <a:avLst/>
                    <a:gdLst/>
                    <a:ahLst/>
                    <a:cxnLst>
                      <a:cxn ang="0">
                        <a:pos x="0" y="0"/>
                      </a:cxn>
                      <a:cxn ang="0">
                        <a:pos x="0" y="6"/>
                      </a:cxn>
                      <a:cxn ang="0">
                        <a:pos x="0" y="11"/>
                      </a:cxn>
                      <a:cxn ang="0">
                        <a:pos x="0" y="16"/>
                      </a:cxn>
                      <a:cxn ang="0">
                        <a:pos x="2" y="20"/>
                      </a:cxn>
                      <a:cxn ang="0">
                        <a:pos x="4" y="26"/>
                      </a:cxn>
                      <a:cxn ang="0">
                        <a:pos x="5" y="30"/>
                      </a:cxn>
                      <a:cxn ang="0">
                        <a:pos x="7" y="34"/>
                      </a:cxn>
                      <a:cxn ang="0">
                        <a:pos x="10" y="38"/>
                      </a:cxn>
                      <a:cxn ang="0">
                        <a:pos x="12" y="41"/>
                      </a:cxn>
                      <a:cxn ang="0">
                        <a:pos x="16" y="45"/>
                      </a:cxn>
                      <a:cxn ang="0">
                        <a:pos x="19" y="48"/>
                      </a:cxn>
                      <a:cxn ang="0">
                        <a:pos x="22" y="50"/>
                      </a:cxn>
                      <a:cxn ang="0">
                        <a:pos x="26" y="52"/>
                      </a:cxn>
                      <a:cxn ang="0">
                        <a:pos x="30" y="53"/>
                      </a:cxn>
                      <a:cxn ang="0">
                        <a:pos x="33" y="54"/>
                      </a:cxn>
                      <a:cxn ang="0">
                        <a:pos x="39" y="54"/>
                      </a:cxn>
                    </a:cxnLst>
                    <a:rect l="0" t="0" r="r" b="b"/>
                    <a:pathLst>
                      <a:path w="40" h="55">
                        <a:moveTo>
                          <a:pt x="0" y="0"/>
                        </a:moveTo>
                        <a:lnTo>
                          <a:pt x="0" y="6"/>
                        </a:lnTo>
                        <a:lnTo>
                          <a:pt x="0" y="11"/>
                        </a:lnTo>
                        <a:lnTo>
                          <a:pt x="0" y="16"/>
                        </a:lnTo>
                        <a:lnTo>
                          <a:pt x="2" y="20"/>
                        </a:lnTo>
                        <a:lnTo>
                          <a:pt x="4" y="26"/>
                        </a:lnTo>
                        <a:lnTo>
                          <a:pt x="5" y="30"/>
                        </a:lnTo>
                        <a:lnTo>
                          <a:pt x="7" y="34"/>
                        </a:lnTo>
                        <a:lnTo>
                          <a:pt x="10" y="38"/>
                        </a:lnTo>
                        <a:lnTo>
                          <a:pt x="12" y="41"/>
                        </a:lnTo>
                        <a:lnTo>
                          <a:pt x="16" y="45"/>
                        </a:lnTo>
                        <a:lnTo>
                          <a:pt x="19" y="48"/>
                        </a:lnTo>
                        <a:lnTo>
                          <a:pt x="22" y="50"/>
                        </a:lnTo>
                        <a:lnTo>
                          <a:pt x="26" y="52"/>
                        </a:lnTo>
                        <a:lnTo>
                          <a:pt x="30" y="53"/>
                        </a:lnTo>
                        <a:lnTo>
                          <a:pt x="33" y="54"/>
                        </a:lnTo>
                        <a:lnTo>
                          <a:pt x="39" y="54"/>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39" name="Freeform 483"/>
                  <p:cNvSpPr>
                    <a:spLocks/>
                  </p:cNvSpPr>
                  <p:nvPr/>
                </p:nvSpPr>
                <p:spPr bwMode="auto">
                  <a:xfrm>
                    <a:off x="3740" y="2404"/>
                    <a:ext cx="31" cy="43"/>
                  </a:xfrm>
                  <a:custGeom>
                    <a:avLst/>
                    <a:gdLst/>
                    <a:ahLst/>
                    <a:cxnLst>
                      <a:cxn ang="0">
                        <a:pos x="39" y="0"/>
                      </a:cxn>
                      <a:cxn ang="0">
                        <a:pos x="33" y="0"/>
                      </a:cxn>
                      <a:cxn ang="0">
                        <a:pos x="30" y="1"/>
                      </a:cxn>
                      <a:cxn ang="0">
                        <a:pos x="27" y="3"/>
                      </a:cxn>
                      <a:cxn ang="0">
                        <a:pos x="23" y="4"/>
                      </a:cxn>
                      <a:cxn ang="0">
                        <a:pos x="19" y="7"/>
                      </a:cxn>
                      <a:cxn ang="0">
                        <a:pos x="16" y="9"/>
                      </a:cxn>
                      <a:cxn ang="0">
                        <a:pos x="13" y="13"/>
                      </a:cxn>
                      <a:cxn ang="0">
                        <a:pos x="11" y="15"/>
                      </a:cxn>
                      <a:cxn ang="0">
                        <a:pos x="8" y="20"/>
                      </a:cxn>
                      <a:cxn ang="0">
                        <a:pos x="6" y="24"/>
                      </a:cxn>
                      <a:cxn ang="0">
                        <a:pos x="4" y="29"/>
                      </a:cxn>
                      <a:cxn ang="0">
                        <a:pos x="3" y="33"/>
                      </a:cxn>
                      <a:cxn ang="0">
                        <a:pos x="1" y="39"/>
                      </a:cxn>
                      <a:cxn ang="0">
                        <a:pos x="0" y="44"/>
                      </a:cxn>
                      <a:cxn ang="0">
                        <a:pos x="0" y="48"/>
                      </a:cxn>
                      <a:cxn ang="0">
                        <a:pos x="0" y="54"/>
                      </a:cxn>
                    </a:cxnLst>
                    <a:rect l="0" t="0" r="r" b="b"/>
                    <a:pathLst>
                      <a:path w="40" h="55">
                        <a:moveTo>
                          <a:pt x="39" y="0"/>
                        </a:moveTo>
                        <a:lnTo>
                          <a:pt x="33" y="0"/>
                        </a:lnTo>
                        <a:lnTo>
                          <a:pt x="30" y="1"/>
                        </a:lnTo>
                        <a:lnTo>
                          <a:pt x="27" y="3"/>
                        </a:lnTo>
                        <a:lnTo>
                          <a:pt x="23" y="4"/>
                        </a:lnTo>
                        <a:lnTo>
                          <a:pt x="19" y="7"/>
                        </a:lnTo>
                        <a:lnTo>
                          <a:pt x="16" y="9"/>
                        </a:lnTo>
                        <a:lnTo>
                          <a:pt x="13" y="13"/>
                        </a:lnTo>
                        <a:lnTo>
                          <a:pt x="11" y="15"/>
                        </a:lnTo>
                        <a:lnTo>
                          <a:pt x="8" y="20"/>
                        </a:lnTo>
                        <a:lnTo>
                          <a:pt x="6" y="24"/>
                        </a:lnTo>
                        <a:lnTo>
                          <a:pt x="4" y="29"/>
                        </a:lnTo>
                        <a:lnTo>
                          <a:pt x="3" y="33"/>
                        </a:lnTo>
                        <a:lnTo>
                          <a:pt x="1" y="39"/>
                        </a:lnTo>
                        <a:lnTo>
                          <a:pt x="0" y="44"/>
                        </a:lnTo>
                        <a:lnTo>
                          <a:pt x="0" y="48"/>
                        </a:lnTo>
                        <a:lnTo>
                          <a:pt x="0" y="54"/>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40" name="Line 484"/>
                  <p:cNvSpPr>
                    <a:spLocks noChangeShapeType="1"/>
                  </p:cNvSpPr>
                  <p:nvPr/>
                </p:nvSpPr>
                <p:spPr bwMode="auto">
                  <a:xfrm>
                    <a:off x="3872" y="2402"/>
                    <a:ext cx="0" cy="41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41" name="Line 485"/>
                  <p:cNvSpPr>
                    <a:spLocks noChangeShapeType="1"/>
                  </p:cNvSpPr>
                  <p:nvPr/>
                </p:nvSpPr>
                <p:spPr bwMode="auto">
                  <a:xfrm>
                    <a:off x="3740" y="2446"/>
                    <a:ext cx="0" cy="32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42" name="Line 486"/>
                  <p:cNvSpPr>
                    <a:spLocks noChangeShapeType="1"/>
                  </p:cNvSpPr>
                  <p:nvPr/>
                </p:nvSpPr>
                <p:spPr bwMode="auto">
                  <a:xfrm flipH="1">
                    <a:off x="3889" y="2750"/>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43" name="Line 487"/>
                  <p:cNvSpPr>
                    <a:spLocks noChangeShapeType="1"/>
                  </p:cNvSpPr>
                  <p:nvPr/>
                </p:nvSpPr>
                <p:spPr bwMode="auto">
                  <a:xfrm flipH="1">
                    <a:off x="3889" y="2771"/>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44" name="Line 488"/>
                  <p:cNvSpPr>
                    <a:spLocks noChangeShapeType="1"/>
                  </p:cNvSpPr>
                  <p:nvPr/>
                </p:nvSpPr>
                <p:spPr bwMode="auto">
                  <a:xfrm flipH="1">
                    <a:off x="3887" y="2788"/>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45" name="Line 489"/>
                  <p:cNvSpPr>
                    <a:spLocks noChangeShapeType="1"/>
                  </p:cNvSpPr>
                  <p:nvPr/>
                </p:nvSpPr>
                <p:spPr bwMode="auto">
                  <a:xfrm flipH="1">
                    <a:off x="3887" y="2728"/>
                    <a:ext cx="28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46" name="Line 490"/>
                  <p:cNvSpPr>
                    <a:spLocks noChangeShapeType="1"/>
                  </p:cNvSpPr>
                  <p:nvPr/>
                </p:nvSpPr>
                <p:spPr bwMode="auto">
                  <a:xfrm flipH="1">
                    <a:off x="3890" y="2691"/>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47" name="Line 491"/>
                  <p:cNvSpPr>
                    <a:spLocks noChangeShapeType="1"/>
                  </p:cNvSpPr>
                  <p:nvPr/>
                </p:nvSpPr>
                <p:spPr bwMode="auto">
                  <a:xfrm flipH="1">
                    <a:off x="3890" y="2520"/>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48" name="Line 492"/>
                  <p:cNvSpPr>
                    <a:spLocks noChangeShapeType="1"/>
                  </p:cNvSpPr>
                  <p:nvPr/>
                </p:nvSpPr>
                <p:spPr bwMode="auto">
                  <a:xfrm>
                    <a:off x="3890" y="2637"/>
                    <a:ext cx="8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49" name="Line 493"/>
                  <p:cNvSpPr>
                    <a:spLocks noChangeShapeType="1"/>
                  </p:cNvSpPr>
                  <p:nvPr/>
                </p:nvSpPr>
                <p:spPr bwMode="auto">
                  <a:xfrm>
                    <a:off x="3890" y="2576"/>
                    <a:ext cx="8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50" name="Line 494"/>
                  <p:cNvSpPr>
                    <a:spLocks noChangeShapeType="1"/>
                  </p:cNvSpPr>
                  <p:nvPr/>
                </p:nvSpPr>
                <p:spPr bwMode="auto">
                  <a:xfrm>
                    <a:off x="4109" y="2637"/>
                    <a:ext cx="6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51" name="Line 495"/>
                  <p:cNvSpPr>
                    <a:spLocks noChangeShapeType="1"/>
                  </p:cNvSpPr>
                  <p:nvPr/>
                </p:nvSpPr>
                <p:spPr bwMode="auto">
                  <a:xfrm>
                    <a:off x="4109" y="2576"/>
                    <a:ext cx="6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52" name="Line 496"/>
                  <p:cNvSpPr>
                    <a:spLocks noChangeShapeType="1"/>
                  </p:cNvSpPr>
                  <p:nvPr/>
                </p:nvSpPr>
                <p:spPr bwMode="auto">
                  <a:xfrm flipH="1">
                    <a:off x="3770" y="2817"/>
                    <a:ext cx="10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53" name="Line 497"/>
                  <p:cNvSpPr>
                    <a:spLocks noChangeShapeType="1"/>
                  </p:cNvSpPr>
                  <p:nvPr/>
                </p:nvSpPr>
                <p:spPr bwMode="auto">
                  <a:xfrm flipH="1">
                    <a:off x="3889" y="2460"/>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54" name="Line 498"/>
                  <p:cNvSpPr>
                    <a:spLocks noChangeShapeType="1"/>
                  </p:cNvSpPr>
                  <p:nvPr/>
                </p:nvSpPr>
                <p:spPr bwMode="auto">
                  <a:xfrm flipH="1">
                    <a:off x="3889" y="2440"/>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55" name="Line 499"/>
                  <p:cNvSpPr>
                    <a:spLocks noChangeShapeType="1"/>
                  </p:cNvSpPr>
                  <p:nvPr/>
                </p:nvSpPr>
                <p:spPr bwMode="auto">
                  <a:xfrm flipH="1">
                    <a:off x="3887" y="2422"/>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56" name="Line 500"/>
                  <p:cNvSpPr>
                    <a:spLocks noChangeShapeType="1"/>
                  </p:cNvSpPr>
                  <p:nvPr/>
                </p:nvSpPr>
                <p:spPr bwMode="auto">
                  <a:xfrm flipH="1">
                    <a:off x="3887" y="2484"/>
                    <a:ext cx="28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57" name="Line 501"/>
                  <p:cNvSpPr>
                    <a:spLocks noChangeShapeType="1"/>
                  </p:cNvSpPr>
                  <p:nvPr/>
                </p:nvSpPr>
                <p:spPr bwMode="auto">
                  <a:xfrm flipH="1">
                    <a:off x="3770" y="2402"/>
                    <a:ext cx="102" cy="0"/>
                  </a:xfrm>
                  <a:prstGeom prst="line">
                    <a:avLst/>
                  </a:prstGeom>
                  <a:noFill/>
                  <a:ln w="12700">
                    <a:solidFill>
                      <a:srgbClr val="000000"/>
                    </a:solidFill>
                    <a:round/>
                    <a:headEnd type="none" w="sm" len="sm"/>
                    <a:tailEnd type="none" w="sm" len="sm"/>
                  </a:ln>
                  <a:effectLst/>
                </p:spPr>
                <p:txBody>
                  <a:bodyPr wrap="none" anchor="ctr"/>
                  <a:lstStyle/>
                  <a:p>
                    <a:endParaRPr lang="en-US"/>
                  </a:p>
                </p:txBody>
              </p:sp>
            </p:grpSp>
            <p:sp>
              <p:nvSpPr>
                <p:cNvPr id="941558" name="Line 502"/>
                <p:cNvSpPr>
                  <a:spLocks noChangeShapeType="1"/>
                </p:cNvSpPr>
                <p:nvPr/>
              </p:nvSpPr>
              <p:spPr bwMode="auto">
                <a:xfrm>
                  <a:off x="4199" y="2570"/>
                  <a:ext cx="4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59" name="Line 503"/>
                <p:cNvSpPr>
                  <a:spLocks noChangeShapeType="1"/>
                </p:cNvSpPr>
                <p:nvPr/>
              </p:nvSpPr>
              <p:spPr bwMode="auto">
                <a:xfrm>
                  <a:off x="4199" y="2641"/>
                  <a:ext cx="4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60" name="Line 504"/>
                <p:cNvSpPr>
                  <a:spLocks noChangeShapeType="1"/>
                </p:cNvSpPr>
                <p:nvPr/>
              </p:nvSpPr>
              <p:spPr bwMode="auto">
                <a:xfrm>
                  <a:off x="4241" y="2657"/>
                  <a:ext cx="3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61" name="Line 505"/>
                <p:cNvSpPr>
                  <a:spLocks noChangeShapeType="1"/>
                </p:cNvSpPr>
                <p:nvPr/>
              </p:nvSpPr>
              <p:spPr bwMode="auto">
                <a:xfrm>
                  <a:off x="4241" y="2557"/>
                  <a:ext cx="3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62" name="Line 506"/>
                <p:cNvSpPr>
                  <a:spLocks noChangeShapeType="1"/>
                </p:cNvSpPr>
                <p:nvPr/>
              </p:nvSpPr>
              <p:spPr bwMode="auto">
                <a:xfrm>
                  <a:off x="4241" y="2557"/>
                  <a:ext cx="0" cy="84"/>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63" name="Line 507"/>
                <p:cNvSpPr>
                  <a:spLocks noChangeShapeType="1"/>
                </p:cNvSpPr>
                <p:nvPr/>
              </p:nvSpPr>
              <p:spPr bwMode="auto">
                <a:xfrm>
                  <a:off x="4241" y="2641"/>
                  <a:ext cx="0" cy="16"/>
                </a:xfrm>
                <a:prstGeom prst="line">
                  <a:avLst/>
                </a:prstGeom>
                <a:noFill/>
                <a:ln w="12700">
                  <a:solidFill>
                    <a:srgbClr val="000000"/>
                  </a:solidFill>
                  <a:round/>
                  <a:headEnd type="none" w="sm" len="sm"/>
                  <a:tailEnd type="none" w="sm" len="sm"/>
                </a:ln>
                <a:effectLst/>
              </p:spPr>
              <p:txBody>
                <a:bodyPr wrap="none" anchor="ctr"/>
                <a:lstStyle/>
                <a:p>
                  <a:endParaRPr lang="en-US"/>
                </a:p>
              </p:txBody>
            </p:sp>
          </p:grpSp>
          <p:sp>
            <p:nvSpPr>
              <p:cNvPr id="941564" name="Line 508"/>
              <p:cNvSpPr>
                <a:spLocks noChangeShapeType="1"/>
              </p:cNvSpPr>
              <p:nvPr/>
            </p:nvSpPr>
            <p:spPr bwMode="auto">
              <a:xfrm>
                <a:off x="3744" y="2610"/>
                <a:ext cx="554" cy="0"/>
              </a:xfrm>
              <a:prstGeom prst="line">
                <a:avLst/>
              </a:prstGeom>
              <a:noFill/>
              <a:ln w="25400">
                <a:solidFill>
                  <a:srgbClr val="FF0000"/>
                </a:solidFill>
                <a:prstDash val="sysDot"/>
                <a:round/>
                <a:headEnd type="none" w="sm" len="sm"/>
                <a:tailEnd type="none" w="sm" len="sm"/>
              </a:ln>
              <a:effectLst/>
            </p:spPr>
            <p:txBody>
              <a:bodyPr wrap="none" anchor="ctr"/>
              <a:lstStyle/>
              <a:p>
                <a:endParaRPr lang="en-US"/>
              </a:p>
            </p:txBody>
          </p:sp>
        </p:grpSp>
        <p:sp>
          <p:nvSpPr>
            <p:cNvPr id="941565" name="Line 509"/>
            <p:cNvSpPr>
              <a:spLocks noChangeShapeType="1"/>
            </p:cNvSpPr>
            <p:nvPr/>
          </p:nvSpPr>
          <p:spPr bwMode="auto">
            <a:xfrm>
              <a:off x="4338" y="2610"/>
              <a:ext cx="642" cy="0"/>
            </a:xfrm>
            <a:prstGeom prst="line">
              <a:avLst/>
            </a:prstGeom>
            <a:noFill/>
            <a:ln w="25400">
              <a:solidFill>
                <a:srgbClr val="FF0000"/>
              </a:solidFill>
              <a:prstDash val="sysDot"/>
              <a:round/>
              <a:headEnd type="none" w="sm" len="sm"/>
              <a:tailEnd type="none" w="sm" len="sm"/>
            </a:ln>
            <a:effectLst/>
          </p:spPr>
          <p:txBody>
            <a:bodyPr wrap="none" anchor="ctr"/>
            <a:lstStyle/>
            <a:p>
              <a:endParaRPr lang="en-US"/>
            </a:p>
          </p:txBody>
        </p:sp>
      </p:grpSp>
      <p:grpSp>
        <p:nvGrpSpPr>
          <p:cNvPr id="941566" name="Group 510"/>
          <p:cNvGrpSpPr>
            <a:grpSpLocks/>
          </p:cNvGrpSpPr>
          <p:nvPr/>
        </p:nvGrpSpPr>
        <p:grpSpPr bwMode="auto">
          <a:xfrm rot="-264600">
            <a:off x="2992438" y="3451225"/>
            <a:ext cx="1833562" cy="1347788"/>
            <a:chOff x="3740" y="2402"/>
            <a:chExt cx="566" cy="416"/>
          </a:xfrm>
        </p:grpSpPr>
        <p:grpSp>
          <p:nvGrpSpPr>
            <p:cNvPr id="941567" name="Group 511"/>
            <p:cNvGrpSpPr>
              <a:grpSpLocks/>
            </p:cNvGrpSpPr>
            <p:nvPr/>
          </p:nvGrpSpPr>
          <p:grpSpPr bwMode="auto">
            <a:xfrm>
              <a:off x="3740" y="2402"/>
              <a:ext cx="566" cy="416"/>
              <a:chOff x="3740" y="2402"/>
              <a:chExt cx="566" cy="416"/>
            </a:xfrm>
          </p:grpSpPr>
          <p:sp>
            <p:nvSpPr>
              <p:cNvPr id="941568" name="Freeform 512"/>
              <p:cNvSpPr>
                <a:spLocks/>
              </p:cNvSpPr>
              <p:nvPr/>
            </p:nvSpPr>
            <p:spPr bwMode="auto">
              <a:xfrm>
                <a:off x="4277" y="2513"/>
                <a:ext cx="29" cy="187"/>
              </a:xfrm>
              <a:custGeom>
                <a:avLst/>
                <a:gdLst/>
                <a:ahLst/>
                <a:cxnLst>
                  <a:cxn ang="0">
                    <a:pos x="0" y="238"/>
                  </a:cxn>
                  <a:cxn ang="0">
                    <a:pos x="0" y="0"/>
                  </a:cxn>
                  <a:cxn ang="0">
                    <a:pos x="36" y="0"/>
                  </a:cxn>
                  <a:cxn ang="0">
                    <a:pos x="36" y="238"/>
                  </a:cxn>
                  <a:cxn ang="0">
                    <a:pos x="0" y="238"/>
                  </a:cxn>
                </a:cxnLst>
                <a:rect l="0" t="0" r="r" b="b"/>
                <a:pathLst>
                  <a:path w="37" h="239">
                    <a:moveTo>
                      <a:pt x="0" y="238"/>
                    </a:moveTo>
                    <a:lnTo>
                      <a:pt x="0" y="0"/>
                    </a:lnTo>
                    <a:lnTo>
                      <a:pt x="36" y="0"/>
                    </a:lnTo>
                    <a:lnTo>
                      <a:pt x="36" y="238"/>
                    </a:lnTo>
                    <a:lnTo>
                      <a:pt x="0" y="238"/>
                    </a:lnTo>
                  </a:path>
                </a:pathLst>
              </a:custGeom>
              <a:noFill/>
              <a:ln w="12700" cap="rnd" cmpd="sng">
                <a:solidFill>
                  <a:srgbClr val="000000"/>
                </a:solidFill>
                <a:prstDash val="solid"/>
                <a:round/>
                <a:headEnd/>
                <a:tailEnd/>
              </a:ln>
              <a:effectLst/>
            </p:spPr>
            <p:txBody>
              <a:bodyPr/>
              <a:lstStyle/>
              <a:p>
                <a:endParaRPr lang="en-US"/>
              </a:p>
            </p:txBody>
          </p:sp>
          <p:grpSp>
            <p:nvGrpSpPr>
              <p:cNvPr id="941569" name="Group 513"/>
              <p:cNvGrpSpPr>
                <a:grpSpLocks/>
              </p:cNvGrpSpPr>
              <p:nvPr/>
            </p:nvGrpSpPr>
            <p:grpSpPr bwMode="auto">
              <a:xfrm>
                <a:off x="3740" y="2402"/>
                <a:ext cx="459" cy="416"/>
                <a:chOff x="3740" y="2402"/>
                <a:chExt cx="459" cy="416"/>
              </a:xfrm>
            </p:grpSpPr>
            <p:sp>
              <p:nvSpPr>
                <p:cNvPr id="941570" name="Freeform 514"/>
                <p:cNvSpPr>
                  <a:spLocks/>
                </p:cNvSpPr>
                <p:nvPr/>
              </p:nvSpPr>
              <p:spPr bwMode="auto">
                <a:xfrm>
                  <a:off x="3872" y="2419"/>
                  <a:ext cx="313" cy="374"/>
                </a:xfrm>
                <a:custGeom>
                  <a:avLst/>
                  <a:gdLst/>
                  <a:ahLst/>
                  <a:cxnLst>
                    <a:cxn ang="0">
                      <a:pos x="0" y="477"/>
                    </a:cxn>
                    <a:cxn ang="0">
                      <a:pos x="0" y="0"/>
                    </a:cxn>
                    <a:cxn ang="0">
                      <a:pos x="399" y="0"/>
                    </a:cxn>
                  </a:cxnLst>
                  <a:rect l="0" t="0" r="r" b="b"/>
                  <a:pathLst>
                    <a:path w="400" h="478">
                      <a:moveTo>
                        <a:pt x="0" y="477"/>
                      </a:moveTo>
                      <a:lnTo>
                        <a:pt x="0" y="0"/>
                      </a:lnTo>
                      <a:lnTo>
                        <a:pt x="399"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71" name="Freeform 515"/>
                <p:cNvSpPr>
                  <a:spLocks/>
                </p:cNvSpPr>
                <p:nvPr/>
              </p:nvSpPr>
              <p:spPr bwMode="auto">
                <a:xfrm>
                  <a:off x="4184" y="2420"/>
                  <a:ext cx="15" cy="21"/>
                </a:xfrm>
                <a:custGeom>
                  <a:avLst/>
                  <a:gdLst/>
                  <a:ahLst/>
                  <a:cxnLst>
                    <a:cxn ang="0">
                      <a:pos x="18" y="26"/>
                    </a:cxn>
                    <a:cxn ang="0">
                      <a:pos x="17" y="24"/>
                    </a:cxn>
                    <a:cxn ang="0">
                      <a:pos x="17" y="20"/>
                    </a:cxn>
                    <a:cxn ang="0">
                      <a:pos x="16" y="19"/>
                    </a:cxn>
                    <a:cxn ang="0">
                      <a:pos x="16" y="15"/>
                    </a:cxn>
                    <a:cxn ang="0">
                      <a:pos x="14" y="13"/>
                    </a:cxn>
                    <a:cxn ang="0">
                      <a:pos x="14" y="12"/>
                    </a:cxn>
                    <a:cxn ang="0">
                      <a:pos x="12" y="10"/>
                    </a:cxn>
                    <a:cxn ang="0">
                      <a:pos x="12" y="6"/>
                    </a:cxn>
                    <a:cxn ang="0">
                      <a:pos x="10" y="6"/>
                    </a:cxn>
                    <a:cxn ang="0">
                      <a:pos x="9" y="5"/>
                    </a:cxn>
                    <a:cxn ang="0">
                      <a:pos x="7" y="4"/>
                    </a:cxn>
                    <a:cxn ang="0">
                      <a:pos x="6" y="2"/>
                    </a:cxn>
                    <a:cxn ang="0">
                      <a:pos x="4" y="2"/>
                    </a:cxn>
                    <a:cxn ang="0">
                      <a:pos x="3" y="1"/>
                    </a:cxn>
                    <a:cxn ang="0">
                      <a:pos x="1" y="1"/>
                    </a:cxn>
                    <a:cxn ang="0">
                      <a:pos x="0" y="0"/>
                    </a:cxn>
                  </a:cxnLst>
                  <a:rect l="0" t="0" r="r" b="b"/>
                  <a:pathLst>
                    <a:path w="19" h="27">
                      <a:moveTo>
                        <a:pt x="18" y="26"/>
                      </a:moveTo>
                      <a:lnTo>
                        <a:pt x="17" y="24"/>
                      </a:lnTo>
                      <a:lnTo>
                        <a:pt x="17" y="20"/>
                      </a:lnTo>
                      <a:lnTo>
                        <a:pt x="16" y="19"/>
                      </a:lnTo>
                      <a:lnTo>
                        <a:pt x="16" y="15"/>
                      </a:lnTo>
                      <a:lnTo>
                        <a:pt x="14" y="13"/>
                      </a:lnTo>
                      <a:lnTo>
                        <a:pt x="14" y="12"/>
                      </a:lnTo>
                      <a:lnTo>
                        <a:pt x="12" y="10"/>
                      </a:lnTo>
                      <a:lnTo>
                        <a:pt x="12" y="6"/>
                      </a:lnTo>
                      <a:lnTo>
                        <a:pt x="10" y="6"/>
                      </a:lnTo>
                      <a:lnTo>
                        <a:pt x="9" y="5"/>
                      </a:lnTo>
                      <a:lnTo>
                        <a:pt x="7" y="4"/>
                      </a:lnTo>
                      <a:lnTo>
                        <a:pt x="6" y="2"/>
                      </a:lnTo>
                      <a:lnTo>
                        <a:pt x="4" y="2"/>
                      </a:lnTo>
                      <a:lnTo>
                        <a:pt x="3" y="1"/>
                      </a:lnTo>
                      <a:lnTo>
                        <a:pt x="1" y="1"/>
                      </a:lnTo>
                      <a:lnTo>
                        <a:pt x="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72" name="Line 516"/>
                <p:cNvSpPr>
                  <a:spLocks noChangeShapeType="1"/>
                </p:cNvSpPr>
                <p:nvPr/>
              </p:nvSpPr>
              <p:spPr bwMode="auto">
                <a:xfrm>
                  <a:off x="4199" y="2440"/>
                  <a:ext cx="0" cy="33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73" name="Freeform 517"/>
                <p:cNvSpPr>
                  <a:spLocks/>
                </p:cNvSpPr>
                <p:nvPr/>
              </p:nvSpPr>
              <p:spPr bwMode="auto">
                <a:xfrm>
                  <a:off x="4184" y="2772"/>
                  <a:ext cx="15" cy="21"/>
                </a:xfrm>
                <a:custGeom>
                  <a:avLst/>
                  <a:gdLst/>
                  <a:ahLst/>
                  <a:cxnLst>
                    <a:cxn ang="0">
                      <a:pos x="0" y="26"/>
                    </a:cxn>
                    <a:cxn ang="0">
                      <a:pos x="1" y="26"/>
                    </a:cxn>
                    <a:cxn ang="0">
                      <a:pos x="3" y="26"/>
                    </a:cxn>
                    <a:cxn ang="0">
                      <a:pos x="4" y="26"/>
                    </a:cxn>
                    <a:cxn ang="0">
                      <a:pos x="6" y="24"/>
                    </a:cxn>
                    <a:cxn ang="0">
                      <a:pos x="7" y="23"/>
                    </a:cxn>
                    <a:cxn ang="0">
                      <a:pos x="9" y="21"/>
                    </a:cxn>
                    <a:cxn ang="0">
                      <a:pos x="10" y="19"/>
                    </a:cxn>
                    <a:cxn ang="0">
                      <a:pos x="12" y="18"/>
                    </a:cxn>
                    <a:cxn ang="0">
                      <a:pos x="12" y="16"/>
                    </a:cxn>
                    <a:cxn ang="0">
                      <a:pos x="14" y="14"/>
                    </a:cxn>
                    <a:cxn ang="0">
                      <a:pos x="14" y="13"/>
                    </a:cxn>
                    <a:cxn ang="0">
                      <a:pos x="16" y="10"/>
                    </a:cxn>
                    <a:cxn ang="0">
                      <a:pos x="16" y="8"/>
                    </a:cxn>
                    <a:cxn ang="0">
                      <a:pos x="17" y="5"/>
                    </a:cxn>
                    <a:cxn ang="0">
                      <a:pos x="17" y="3"/>
                    </a:cxn>
                    <a:cxn ang="0">
                      <a:pos x="18" y="0"/>
                    </a:cxn>
                  </a:cxnLst>
                  <a:rect l="0" t="0" r="r" b="b"/>
                  <a:pathLst>
                    <a:path w="19" h="27">
                      <a:moveTo>
                        <a:pt x="0" y="26"/>
                      </a:moveTo>
                      <a:lnTo>
                        <a:pt x="1" y="26"/>
                      </a:lnTo>
                      <a:lnTo>
                        <a:pt x="3" y="26"/>
                      </a:lnTo>
                      <a:lnTo>
                        <a:pt x="4" y="26"/>
                      </a:lnTo>
                      <a:lnTo>
                        <a:pt x="6" y="24"/>
                      </a:lnTo>
                      <a:lnTo>
                        <a:pt x="7" y="23"/>
                      </a:lnTo>
                      <a:lnTo>
                        <a:pt x="9" y="21"/>
                      </a:lnTo>
                      <a:lnTo>
                        <a:pt x="10" y="19"/>
                      </a:lnTo>
                      <a:lnTo>
                        <a:pt x="12" y="18"/>
                      </a:lnTo>
                      <a:lnTo>
                        <a:pt x="12" y="16"/>
                      </a:lnTo>
                      <a:lnTo>
                        <a:pt x="14" y="14"/>
                      </a:lnTo>
                      <a:lnTo>
                        <a:pt x="14" y="13"/>
                      </a:lnTo>
                      <a:lnTo>
                        <a:pt x="16" y="10"/>
                      </a:lnTo>
                      <a:lnTo>
                        <a:pt x="16" y="8"/>
                      </a:lnTo>
                      <a:lnTo>
                        <a:pt x="17" y="5"/>
                      </a:lnTo>
                      <a:lnTo>
                        <a:pt x="17" y="3"/>
                      </a:lnTo>
                      <a:lnTo>
                        <a:pt x="18"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74" name="Line 518"/>
                <p:cNvSpPr>
                  <a:spLocks noChangeShapeType="1"/>
                </p:cNvSpPr>
                <p:nvPr/>
              </p:nvSpPr>
              <p:spPr bwMode="auto">
                <a:xfrm flipH="1">
                  <a:off x="3872" y="2793"/>
                  <a:ext cx="31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75" name="Line 519"/>
                <p:cNvSpPr>
                  <a:spLocks noChangeShapeType="1"/>
                </p:cNvSpPr>
                <p:nvPr/>
              </p:nvSpPr>
              <p:spPr bwMode="auto">
                <a:xfrm flipV="1">
                  <a:off x="3986" y="2570"/>
                  <a:ext cx="0" cy="8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76" name="Freeform 520"/>
                <p:cNvSpPr>
                  <a:spLocks/>
                </p:cNvSpPr>
                <p:nvPr/>
              </p:nvSpPr>
              <p:spPr bwMode="auto">
                <a:xfrm>
                  <a:off x="3986" y="2550"/>
                  <a:ext cx="17" cy="21"/>
                </a:xfrm>
                <a:custGeom>
                  <a:avLst/>
                  <a:gdLst/>
                  <a:ahLst/>
                  <a:cxnLst>
                    <a:cxn ang="0">
                      <a:pos x="20" y="0"/>
                    </a:cxn>
                    <a:cxn ang="0">
                      <a:pos x="16" y="0"/>
                    </a:cxn>
                    <a:cxn ang="0">
                      <a:pos x="14" y="0"/>
                    </a:cxn>
                    <a:cxn ang="0">
                      <a:pos x="12" y="2"/>
                    </a:cxn>
                    <a:cxn ang="0">
                      <a:pos x="10" y="2"/>
                    </a:cxn>
                    <a:cxn ang="0">
                      <a:pos x="10" y="4"/>
                    </a:cxn>
                    <a:cxn ang="0">
                      <a:pos x="8" y="5"/>
                    </a:cxn>
                    <a:cxn ang="0">
                      <a:pos x="6" y="6"/>
                    </a:cxn>
                    <a:cxn ang="0">
                      <a:pos x="5" y="7"/>
                    </a:cxn>
                    <a:cxn ang="0">
                      <a:pos x="3" y="11"/>
                    </a:cxn>
                    <a:cxn ang="0">
                      <a:pos x="2" y="12"/>
                    </a:cxn>
                    <a:cxn ang="0">
                      <a:pos x="0" y="14"/>
                    </a:cxn>
                    <a:cxn ang="0">
                      <a:pos x="0" y="16"/>
                    </a:cxn>
                    <a:cxn ang="0">
                      <a:pos x="0" y="19"/>
                    </a:cxn>
                    <a:cxn ang="0">
                      <a:pos x="0" y="20"/>
                    </a:cxn>
                    <a:cxn ang="0">
                      <a:pos x="0" y="24"/>
                    </a:cxn>
                    <a:cxn ang="0">
                      <a:pos x="0" y="26"/>
                    </a:cxn>
                  </a:cxnLst>
                  <a:rect l="0" t="0" r="r" b="b"/>
                  <a:pathLst>
                    <a:path w="21" h="27">
                      <a:moveTo>
                        <a:pt x="20" y="0"/>
                      </a:moveTo>
                      <a:lnTo>
                        <a:pt x="16" y="0"/>
                      </a:lnTo>
                      <a:lnTo>
                        <a:pt x="14" y="0"/>
                      </a:lnTo>
                      <a:lnTo>
                        <a:pt x="12" y="2"/>
                      </a:lnTo>
                      <a:lnTo>
                        <a:pt x="10" y="2"/>
                      </a:lnTo>
                      <a:lnTo>
                        <a:pt x="10" y="4"/>
                      </a:lnTo>
                      <a:lnTo>
                        <a:pt x="8" y="5"/>
                      </a:lnTo>
                      <a:lnTo>
                        <a:pt x="6" y="6"/>
                      </a:lnTo>
                      <a:lnTo>
                        <a:pt x="5" y="7"/>
                      </a:lnTo>
                      <a:lnTo>
                        <a:pt x="3" y="11"/>
                      </a:lnTo>
                      <a:lnTo>
                        <a:pt x="2" y="12"/>
                      </a:lnTo>
                      <a:lnTo>
                        <a:pt x="0" y="14"/>
                      </a:lnTo>
                      <a:lnTo>
                        <a:pt x="0" y="16"/>
                      </a:lnTo>
                      <a:lnTo>
                        <a:pt x="0" y="19"/>
                      </a:lnTo>
                      <a:lnTo>
                        <a:pt x="0" y="20"/>
                      </a:lnTo>
                      <a:lnTo>
                        <a:pt x="0" y="24"/>
                      </a:lnTo>
                      <a:lnTo>
                        <a:pt x="0" y="26"/>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77" name="Line 521"/>
                <p:cNvSpPr>
                  <a:spLocks noChangeShapeType="1"/>
                </p:cNvSpPr>
                <p:nvPr/>
              </p:nvSpPr>
              <p:spPr bwMode="auto">
                <a:xfrm>
                  <a:off x="4002" y="2548"/>
                  <a:ext cx="8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78" name="Freeform 522"/>
                <p:cNvSpPr>
                  <a:spLocks/>
                </p:cNvSpPr>
                <p:nvPr/>
              </p:nvSpPr>
              <p:spPr bwMode="auto">
                <a:xfrm>
                  <a:off x="4087" y="2550"/>
                  <a:ext cx="17" cy="21"/>
                </a:xfrm>
                <a:custGeom>
                  <a:avLst/>
                  <a:gdLst/>
                  <a:ahLst/>
                  <a:cxnLst>
                    <a:cxn ang="0">
                      <a:pos x="20" y="26"/>
                    </a:cxn>
                    <a:cxn ang="0">
                      <a:pos x="18" y="24"/>
                    </a:cxn>
                    <a:cxn ang="0">
                      <a:pos x="18" y="20"/>
                    </a:cxn>
                    <a:cxn ang="0">
                      <a:pos x="17" y="19"/>
                    </a:cxn>
                    <a:cxn ang="0">
                      <a:pos x="17" y="16"/>
                    </a:cxn>
                    <a:cxn ang="0">
                      <a:pos x="15" y="14"/>
                    </a:cxn>
                    <a:cxn ang="0">
                      <a:pos x="14" y="12"/>
                    </a:cxn>
                    <a:cxn ang="0">
                      <a:pos x="12" y="11"/>
                    </a:cxn>
                    <a:cxn ang="0">
                      <a:pos x="12" y="7"/>
                    </a:cxn>
                    <a:cxn ang="0">
                      <a:pos x="10" y="6"/>
                    </a:cxn>
                    <a:cxn ang="0">
                      <a:pos x="9" y="5"/>
                    </a:cxn>
                    <a:cxn ang="0">
                      <a:pos x="7" y="4"/>
                    </a:cxn>
                    <a:cxn ang="0">
                      <a:pos x="6" y="2"/>
                    </a:cxn>
                    <a:cxn ang="0">
                      <a:pos x="4" y="2"/>
                    </a:cxn>
                    <a:cxn ang="0">
                      <a:pos x="3" y="0"/>
                    </a:cxn>
                    <a:cxn ang="0">
                      <a:pos x="1" y="0"/>
                    </a:cxn>
                    <a:cxn ang="0">
                      <a:pos x="0" y="0"/>
                    </a:cxn>
                  </a:cxnLst>
                  <a:rect l="0" t="0" r="r" b="b"/>
                  <a:pathLst>
                    <a:path w="21" h="27">
                      <a:moveTo>
                        <a:pt x="20" y="26"/>
                      </a:moveTo>
                      <a:lnTo>
                        <a:pt x="18" y="24"/>
                      </a:lnTo>
                      <a:lnTo>
                        <a:pt x="18" y="20"/>
                      </a:lnTo>
                      <a:lnTo>
                        <a:pt x="17" y="19"/>
                      </a:lnTo>
                      <a:lnTo>
                        <a:pt x="17" y="16"/>
                      </a:lnTo>
                      <a:lnTo>
                        <a:pt x="15" y="14"/>
                      </a:lnTo>
                      <a:lnTo>
                        <a:pt x="14" y="12"/>
                      </a:lnTo>
                      <a:lnTo>
                        <a:pt x="12" y="11"/>
                      </a:lnTo>
                      <a:lnTo>
                        <a:pt x="12" y="7"/>
                      </a:lnTo>
                      <a:lnTo>
                        <a:pt x="10" y="6"/>
                      </a:lnTo>
                      <a:lnTo>
                        <a:pt x="9" y="5"/>
                      </a:lnTo>
                      <a:lnTo>
                        <a:pt x="7" y="4"/>
                      </a:lnTo>
                      <a:lnTo>
                        <a:pt x="6" y="2"/>
                      </a:lnTo>
                      <a:lnTo>
                        <a:pt x="4" y="2"/>
                      </a:lnTo>
                      <a:lnTo>
                        <a:pt x="3" y="0"/>
                      </a:lnTo>
                      <a:lnTo>
                        <a:pt x="1" y="0"/>
                      </a:lnTo>
                      <a:lnTo>
                        <a:pt x="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79" name="Line 523"/>
                <p:cNvSpPr>
                  <a:spLocks noChangeShapeType="1"/>
                </p:cNvSpPr>
                <p:nvPr/>
              </p:nvSpPr>
              <p:spPr bwMode="auto">
                <a:xfrm>
                  <a:off x="4103" y="2570"/>
                  <a:ext cx="0" cy="8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80" name="Freeform 524"/>
                <p:cNvSpPr>
                  <a:spLocks/>
                </p:cNvSpPr>
                <p:nvPr/>
              </p:nvSpPr>
              <p:spPr bwMode="auto">
                <a:xfrm>
                  <a:off x="4087" y="2655"/>
                  <a:ext cx="17" cy="22"/>
                </a:xfrm>
                <a:custGeom>
                  <a:avLst/>
                  <a:gdLst/>
                  <a:ahLst/>
                  <a:cxnLst>
                    <a:cxn ang="0">
                      <a:pos x="0" y="27"/>
                    </a:cxn>
                    <a:cxn ang="0">
                      <a:pos x="1" y="27"/>
                    </a:cxn>
                    <a:cxn ang="0">
                      <a:pos x="3" y="27"/>
                    </a:cxn>
                    <a:cxn ang="0">
                      <a:pos x="4" y="27"/>
                    </a:cxn>
                    <a:cxn ang="0">
                      <a:pos x="6" y="25"/>
                    </a:cxn>
                    <a:cxn ang="0">
                      <a:pos x="7" y="24"/>
                    </a:cxn>
                    <a:cxn ang="0">
                      <a:pos x="9" y="23"/>
                    </a:cxn>
                    <a:cxn ang="0">
                      <a:pos x="10" y="21"/>
                    </a:cxn>
                    <a:cxn ang="0">
                      <a:pos x="12" y="19"/>
                    </a:cxn>
                    <a:cxn ang="0">
                      <a:pos x="12" y="17"/>
                    </a:cxn>
                    <a:cxn ang="0">
                      <a:pos x="14" y="15"/>
                    </a:cxn>
                    <a:cxn ang="0">
                      <a:pos x="15" y="14"/>
                    </a:cxn>
                    <a:cxn ang="0">
                      <a:pos x="17" y="11"/>
                    </a:cxn>
                    <a:cxn ang="0">
                      <a:pos x="17" y="9"/>
                    </a:cxn>
                    <a:cxn ang="0">
                      <a:pos x="18" y="6"/>
                    </a:cxn>
                    <a:cxn ang="0">
                      <a:pos x="18" y="3"/>
                    </a:cxn>
                    <a:cxn ang="0">
                      <a:pos x="20" y="0"/>
                    </a:cxn>
                  </a:cxnLst>
                  <a:rect l="0" t="0" r="r" b="b"/>
                  <a:pathLst>
                    <a:path w="21" h="28">
                      <a:moveTo>
                        <a:pt x="0" y="27"/>
                      </a:moveTo>
                      <a:lnTo>
                        <a:pt x="1" y="27"/>
                      </a:lnTo>
                      <a:lnTo>
                        <a:pt x="3" y="27"/>
                      </a:lnTo>
                      <a:lnTo>
                        <a:pt x="4" y="27"/>
                      </a:lnTo>
                      <a:lnTo>
                        <a:pt x="6" y="25"/>
                      </a:lnTo>
                      <a:lnTo>
                        <a:pt x="7" y="24"/>
                      </a:lnTo>
                      <a:lnTo>
                        <a:pt x="9" y="23"/>
                      </a:lnTo>
                      <a:lnTo>
                        <a:pt x="10" y="21"/>
                      </a:lnTo>
                      <a:lnTo>
                        <a:pt x="12" y="19"/>
                      </a:lnTo>
                      <a:lnTo>
                        <a:pt x="12" y="17"/>
                      </a:lnTo>
                      <a:lnTo>
                        <a:pt x="14" y="15"/>
                      </a:lnTo>
                      <a:lnTo>
                        <a:pt x="15" y="14"/>
                      </a:lnTo>
                      <a:lnTo>
                        <a:pt x="17" y="11"/>
                      </a:lnTo>
                      <a:lnTo>
                        <a:pt x="17" y="9"/>
                      </a:lnTo>
                      <a:lnTo>
                        <a:pt x="18" y="6"/>
                      </a:lnTo>
                      <a:lnTo>
                        <a:pt x="18" y="3"/>
                      </a:lnTo>
                      <a:lnTo>
                        <a:pt x="2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81" name="Line 525"/>
                <p:cNvSpPr>
                  <a:spLocks noChangeShapeType="1"/>
                </p:cNvSpPr>
                <p:nvPr/>
              </p:nvSpPr>
              <p:spPr bwMode="auto">
                <a:xfrm flipH="1">
                  <a:off x="4002" y="2676"/>
                  <a:ext cx="8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82" name="Freeform 526"/>
                <p:cNvSpPr>
                  <a:spLocks/>
                </p:cNvSpPr>
                <p:nvPr/>
              </p:nvSpPr>
              <p:spPr bwMode="auto">
                <a:xfrm>
                  <a:off x="3986" y="2655"/>
                  <a:ext cx="17" cy="22"/>
                </a:xfrm>
                <a:custGeom>
                  <a:avLst/>
                  <a:gdLst/>
                  <a:ahLst/>
                  <a:cxnLst>
                    <a:cxn ang="0">
                      <a:pos x="0" y="0"/>
                    </a:cxn>
                    <a:cxn ang="0">
                      <a:pos x="0" y="3"/>
                    </a:cxn>
                    <a:cxn ang="0">
                      <a:pos x="0" y="6"/>
                    </a:cxn>
                    <a:cxn ang="0">
                      <a:pos x="0" y="10"/>
                    </a:cxn>
                    <a:cxn ang="0">
                      <a:pos x="0" y="12"/>
                    </a:cxn>
                    <a:cxn ang="0">
                      <a:pos x="0" y="14"/>
                    </a:cxn>
                    <a:cxn ang="0">
                      <a:pos x="2" y="16"/>
                    </a:cxn>
                    <a:cxn ang="0">
                      <a:pos x="3" y="18"/>
                    </a:cxn>
                    <a:cxn ang="0">
                      <a:pos x="5" y="20"/>
                    </a:cxn>
                    <a:cxn ang="0">
                      <a:pos x="6" y="21"/>
                    </a:cxn>
                    <a:cxn ang="0">
                      <a:pos x="8" y="23"/>
                    </a:cxn>
                    <a:cxn ang="0">
                      <a:pos x="10" y="24"/>
                    </a:cxn>
                    <a:cxn ang="0">
                      <a:pos x="10" y="25"/>
                    </a:cxn>
                    <a:cxn ang="0">
                      <a:pos x="12" y="27"/>
                    </a:cxn>
                    <a:cxn ang="0">
                      <a:pos x="14" y="27"/>
                    </a:cxn>
                    <a:cxn ang="0">
                      <a:pos x="16" y="27"/>
                    </a:cxn>
                    <a:cxn ang="0">
                      <a:pos x="20" y="27"/>
                    </a:cxn>
                  </a:cxnLst>
                  <a:rect l="0" t="0" r="r" b="b"/>
                  <a:pathLst>
                    <a:path w="21" h="28">
                      <a:moveTo>
                        <a:pt x="0" y="0"/>
                      </a:moveTo>
                      <a:lnTo>
                        <a:pt x="0" y="3"/>
                      </a:lnTo>
                      <a:lnTo>
                        <a:pt x="0" y="6"/>
                      </a:lnTo>
                      <a:lnTo>
                        <a:pt x="0" y="10"/>
                      </a:lnTo>
                      <a:lnTo>
                        <a:pt x="0" y="12"/>
                      </a:lnTo>
                      <a:lnTo>
                        <a:pt x="0" y="14"/>
                      </a:lnTo>
                      <a:lnTo>
                        <a:pt x="2" y="16"/>
                      </a:lnTo>
                      <a:lnTo>
                        <a:pt x="3" y="18"/>
                      </a:lnTo>
                      <a:lnTo>
                        <a:pt x="5" y="20"/>
                      </a:lnTo>
                      <a:lnTo>
                        <a:pt x="6" y="21"/>
                      </a:lnTo>
                      <a:lnTo>
                        <a:pt x="8" y="23"/>
                      </a:lnTo>
                      <a:lnTo>
                        <a:pt x="10" y="24"/>
                      </a:lnTo>
                      <a:lnTo>
                        <a:pt x="10" y="25"/>
                      </a:lnTo>
                      <a:lnTo>
                        <a:pt x="12" y="27"/>
                      </a:lnTo>
                      <a:lnTo>
                        <a:pt x="14" y="27"/>
                      </a:lnTo>
                      <a:lnTo>
                        <a:pt x="16" y="27"/>
                      </a:lnTo>
                      <a:lnTo>
                        <a:pt x="20" y="27"/>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83" name="Freeform 527"/>
                <p:cNvSpPr>
                  <a:spLocks/>
                </p:cNvSpPr>
                <p:nvPr/>
              </p:nvSpPr>
              <p:spPr bwMode="auto">
                <a:xfrm>
                  <a:off x="3740" y="2775"/>
                  <a:ext cx="31" cy="43"/>
                </a:xfrm>
                <a:custGeom>
                  <a:avLst/>
                  <a:gdLst/>
                  <a:ahLst/>
                  <a:cxnLst>
                    <a:cxn ang="0">
                      <a:pos x="0" y="0"/>
                    </a:cxn>
                    <a:cxn ang="0">
                      <a:pos x="0" y="6"/>
                    </a:cxn>
                    <a:cxn ang="0">
                      <a:pos x="0" y="11"/>
                    </a:cxn>
                    <a:cxn ang="0">
                      <a:pos x="0" y="16"/>
                    </a:cxn>
                    <a:cxn ang="0">
                      <a:pos x="2" y="20"/>
                    </a:cxn>
                    <a:cxn ang="0">
                      <a:pos x="4" y="26"/>
                    </a:cxn>
                    <a:cxn ang="0">
                      <a:pos x="5" y="30"/>
                    </a:cxn>
                    <a:cxn ang="0">
                      <a:pos x="7" y="34"/>
                    </a:cxn>
                    <a:cxn ang="0">
                      <a:pos x="10" y="38"/>
                    </a:cxn>
                    <a:cxn ang="0">
                      <a:pos x="12" y="41"/>
                    </a:cxn>
                    <a:cxn ang="0">
                      <a:pos x="16" y="45"/>
                    </a:cxn>
                    <a:cxn ang="0">
                      <a:pos x="19" y="48"/>
                    </a:cxn>
                    <a:cxn ang="0">
                      <a:pos x="22" y="50"/>
                    </a:cxn>
                    <a:cxn ang="0">
                      <a:pos x="26" y="52"/>
                    </a:cxn>
                    <a:cxn ang="0">
                      <a:pos x="30" y="53"/>
                    </a:cxn>
                    <a:cxn ang="0">
                      <a:pos x="33" y="54"/>
                    </a:cxn>
                    <a:cxn ang="0">
                      <a:pos x="39" y="54"/>
                    </a:cxn>
                  </a:cxnLst>
                  <a:rect l="0" t="0" r="r" b="b"/>
                  <a:pathLst>
                    <a:path w="40" h="55">
                      <a:moveTo>
                        <a:pt x="0" y="0"/>
                      </a:moveTo>
                      <a:lnTo>
                        <a:pt x="0" y="6"/>
                      </a:lnTo>
                      <a:lnTo>
                        <a:pt x="0" y="11"/>
                      </a:lnTo>
                      <a:lnTo>
                        <a:pt x="0" y="16"/>
                      </a:lnTo>
                      <a:lnTo>
                        <a:pt x="2" y="20"/>
                      </a:lnTo>
                      <a:lnTo>
                        <a:pt x="4" y="26"/>
                      </a:lnTo>
                      <a:lnTo>
                        <a:pt x="5" y="30"/>
                      </a:lnTo>
                      <a:lnTo>
                        <a:pt x="7" y="34"/>
                      </a:lnTo>
                      <a:lnTo>
                        <a:pt x="10" y="38"/>
                      </a:lnTo>
                      <a:lnTo>
                        <a:pt x="12" y="41"/>
                      </a:lnTo>
                      <a:lnTo>
                        <a:pt x="16" y="45"/>
                      </a:lnTo>
                      <a:lnTo>
                        <a:pt x="19" y="48"/>
                      </a:lnTo>
                      <a:lnTo>
                        <a:pt x="22" y="50"/>
                      </a:lnTo>
                      <a:lnTo>
                        <a:pt x="26" y="52"/>
                      </a:lnTo>
                      <a:lnTo>
                        <a:pt x="30" y="53"/>
                      </a:lnTo>
                      <a:lnTo>
                        <a:pt x="33" y="54"/>
                      </a:lnTo>
                      <a:lnTo>
                        <a:pt x="39" y="54"/>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84" name="Freeform 528"/>
                <p:cNvSpPr>
                  <a:spLocks/>
                </p:cNvSpPr>
                <p:nvPr/>
              </p:nvSpPr>
              <p:spPr bwMode="auto">
                <a:xfrm>
                  <a:off x="3740" y="2404"/>
                  <a:ext cx="31" cy="43"/>
                </a:xfrm>
                <a:custGeom>
                  <a:avLst/>
                  <a:gdLst/>
                  <a:ahLst/>
                  <a:cxnLst>
                    <a:cxn ang="0">
                      <a:pos x="39" y="0"/>
                    </a:cxn>
                    <a:cxn ang="0">
                      <a:pos x="33" y="0"/>
                    </a:cxn>
                    <a:cxn ang="0">
                      <a:pos x="30" y="1"/>
                    </a:cxn>
                    <a:cxn ang="0">
                      <a:pos x="27" y="3"/>
                    </a:cxn>
                    <a:cxn ang="0">
                      <a:pos x="23" y="4"/>
                    </a:cxn>
                    <a:cxn ang="0">
                      <a:pos x="19" y="7"/>
                    </a:cxn>
                    <a:cxn ang="0">
                      <a:pos x="16" y="9"/>
                    </a:cxn>
                    <a:cxn ang="0">
                      <a:pos x="13" y="13"/>
                    </a:cxn>
                    <a:cxn ang="0">
                      <a:pos x="11" y="15"/>
                    </a:cxn>
                    <a:cxn ang="0">
                      <a:pos x="8" y="20"/>
                    </a:cxn>
                    <a:cxn ang="0">
                      <a:pos x="6" y="24"/>
                    </a:cxn>
                    <a:cxn ang="0">
                      <a:pos x="4" y="29"/>
                    </a:cxn>
                    <a:cxn ang="0">
                      <a:pos x="3" y="33"/>
                    </a:cxn>
                    <a:cxn ang="0">
                      <a:pos x="1" y="39"/>
                    </a:cxn>
                    <a:cxn ang="0">
                      <a:pos x="0" y="44"/>
                    </a:cxn>
                    <a:cxn ang="0">
                      <a:pos x="0" y="48"/>
                    </a:cxn>
                    <a:cxn ang="0">
                      <a:pos x="0" y="54"/>
                    </a:cxn>
                  </a:cxnLst>
                  <a:rect l="0" t="0" r="r" b="b"/>
                  <a:pathLst>
                    <a:path w="40" h="55">
                      <a:moveTo>
                        <a:pt x="39" y="0"/>
                      </a:moveTo>
                      <a:lnTo>
                        <a:pt x="33" y="0"/>
                      </a:lnTo>
                      <a:lnTo>
                        <a:pt x="30" y="1"/>
                      </a:lnTo>
                      <a:lnTo>
                        <a:pt x="27" y="3"/>
                      </a:lnTo>
                      <a:lnTo>
                        <a:pt x="23" y="4"/>
                      </a:lnTo>
                      <a:lnTo>
                        <a:pt x="19" y="7"/>
                      </a:lnTo>
                      <a:lnTo>
                        <a:pt x="16" y="9"/>
                      </a:lnTo>
                      <a:lnTo>
                        <a:pt x="13" y="13"/>
                      </a:lnTo>
                      <a:lnTo>
                        <a:pt x="11" y="15"/>
                      </a:lnTo>
                      <a:lnTo>
                        <a:pt x="8" y="20"/>
                      </a:lnTo>
                      <a:lnTo>
                        <a:pt x="6" y="24"/>
                      </a:lnTo>
                      <a:lnTo>
                        <a:pt x="4" y="29"/>
                      </a:lnTo>
                      <a:lnTo>
                        <a:pt x="3" y="33"/>
                      </a:lnTo>
                      <a:lnTo>
                        <a:pt x="1" y="39"/>
                      </a:lnTo>
                      <a:lnTo>
                        <a:pt x="0" y="44"/>
                      </a:lnTo>
                      <a:lnTo>
                        <a:pt x="0" y="48"/>
                      </a:lnTo>
                      <a:lnTo>
                        <a:pt x="0" y="54"/>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585" name="Line 529"/>
                <p:cNvSpPr>
                  <a:spLocks noChangeShapeType="1"/>
                </p:cNvSpPr>
                <p:nvPr/>
              </p:nvSpPr>
              <p:spPr bwMode="auto">
                <a:xfrm>
                  <a:off x="3872" y="2402"/>
                  <a:ext cx="0" cy="41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86" name="Line 530"/>
                <p:cNvSpPr>
                  <a:spLocks noChangeShapeType="1"/>
                </p:cNvSpPr>
                <p:nvPr/>
              </p:nvSpPr>
              <p:spPr bwMode="auto">
                <a:xfrm>
                  <a:off x="3740" y="2446"/>
                  <a:ext cx="0" cy="32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87" name="Line 531"/>
                <p:cNvSpPr>
                  <a:spLocks noChangeShapeType="1"/>
                </p:cNvSpPr>
                <p:nvPr/>
              </p:nvSpPr>
              <p:spPr bwMode="auto">
                <a:xfrm flipH="1">
                  <a:off x="3889" y="2750"/>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88" name="Line 532"/>
                <p:cNvSpPr>
                  <a:spLocks noChangeShapeType="1"/>
                </p:cNvSpPr>
                <p:nvPr/>
              </p:nvSpPr>
              <p:spPr bwMode="auto">
                <a:xfrm flipH="1">
                  <a:off x="3889" y="2771"/>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89" name="Line 533"/>
                <p:cNvSpPr>
                  <a:spLocks noChangeShapeType="1"/>
                </p:cNvSpPr>
                <p:nvPr/>
              </p:nvSpPr>
              <p:spPr bwMode="auto">
                <a:xfrm flipH="1">
                  <a:off x="3887" y="2788"/>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90" name="Line 534"/>
                <p:cNvSpPr>
                  <a:spLocks noChangeShapeType="1"/>
                </p:cNvSpPr>
                <p:nvPr/>
              </p:nvSpPr>
              <p:spPr bwMode="auto">
                <a:xfrm flipH="1">
                  <a:off x="3887" y="2728"/>
                  <a:ext cx="28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91" name="Line 535"/>
                <p:cNvSpPr>
                  <a:spLocks noChangeShapeType="1"/>
                </p:cNvSpPr>
                <p:nvPr/>
              </p:nvSpPr>
              <p:spPr bwMode="auto">
                <a:xfrm flipH="1">
                  <a:off x="3890" y="2691"/>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92" name="Line 536"/>
                <p:cNvSpPr>
                  <a:spLocks noChangeShapeType="1"/>
                </p:cNvSpPr>
                <p:nvPr/>
              </p:nvSpPr>
              <p:spPr bwMode="auto">
                <a:xfrm flipH="1">
                  <a:off x="3890" y="2520"/>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93" name="Line 537"/>
                <p:cNvSpPr>
                  <a:spLocks noChangeShapeType="1"/>
                </p:cNvSpPr>
                <p:nvPr/>
              </p:nvSpPr>
              <p:spPr bwMode="auto">
                <a:xfrm>
                  <a:off x="3890" y="2637"/>
                  <a:ext cx="8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94" name="Line 538"/>
                <p:cNvSpPr>
                  <a:spLocks noChangeShapeType="1"/>
                </p:cNvSpPr>
                <p:nvPr/>
              </p:nvSpPr>
              <p:spPr bwMode="auto">
                <a:xfrm>
                  <a:off x="3890" y="2576"/>
                  <a:ext cx="8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95" name="Line 539"/>
                <p:cNvSpPr>
                  <a:spLocks noChangeShapeType="1"/>
                </p:cNvSpPr>
                <p:nvPr/>
              </p:nvSpPr>
              <p:spPr bwMode="auto">
                <a:xfrm>
                  <a:off x="4109" y="2637"/>
                  <a:ext cx="6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96" name="Line 540"/>
                <p:cNvSpPr>
                  <a:spLocks noChangeShapeType="1"/>
                </p:cNvSpPr>
                <p:nvPr/>
              </p:nvSpPr>
              <p:spPr bwMode="auto">
                <a:xfrm>
                  <a:off x="4109" y="2576"/>
                  <a:ext cx="6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97" name="Line 541"/>
                <p:cNvSpPr>
                  <a:spLocks noChangeShapeType="1"/>
                </p:cNvSpPr>
                <p:nvPr/>
              </p:nvSpPr>
              <p:spPr bwMode="auto">
                <a:xfrm flipH="1">
                  <a:off x="3770" y="2817"/>
                  <a:ext cx="10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98" name="Line 542"/>
                <p:cNvSpPr>
                  <a:spLocks noChangeShapeType="1"/>
                </p:cNvSpPr>
                <p:nvPr/>
              </p:nvSpPr>
              <p:spPr bwMode="auto">
                <a:xfrm flipH="1">
                  <a:off x="3889" y="2460"/>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599" name="Line 543"/>
                <p:cNvSpPr>
                  <a:spLocks noChangeShapeType="1"/>
                </p:cNvSpPr>
                <p:nvPr/>
              </p:nvSpPr>
              <p:spPr bwMode="auto">
                <a:xfrm flipH="1">
                  <a:off x="3889" y="2440"/>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00" name="Line 544"/>
                <p:cNvSpPr>
                  <a:spLocks noChangeShapeType="1"/>
                </p:cNvSpPr>
                <p:nvPr/>
              </p:nvSpPr>
              <p:spPr bwMode="auto">
                <a:xfrm flipH="1">
                  <a:off x="3887" y="2422"/>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01" name="Line 545"/>
                <p:cNvSpPr>
                  <a:spLocks noChangeShapeType="1"/>
                </p:cNvSpPr>
                <p:nvPr/>
              </p:nvSpPr>
              <p:spPr bwMode="auto">
                <a:xfrm flipH="1">
                  <a:off x="3887" y="2484"/>
                  <a:ext cx="28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02" name="Line 546"/>
                <p:cNvSpPr>
                  <a:spLocks noChangeShapeType="1"/>
                </p:cNvSpPr>
                <p:nvPr/>
              </p:nvSpPr>
              <p:spPr bwMode="auto">
                <a:xfrm flipH="1">
                  <a:off x="3770" y="2402"/>
                  <a:ext cx="102" cy="0"/>
                </a:xfrm>
                <a:prstGeom prst="line">
                  <a:avLst/>
                </a:prstGeom>
                <a:noFill/>
                <a:ln w="12700">
                  <a:solidFill>
                    <a:srgbClr val="000000"/>
                  </a:solidFill>
                  <a:round/>
                  <a:headEnd type="none" w="sm" len="sm"/>
                  <a:tailEnd type="none" w="sm" len="sm"/>
                </a:ln>
                <a:effectLst/>
              </p:spPr>
              <p:txBody>
                <a:bodyPr wrap="none" anchor="ctr"/>
                <a:lstStyle/>
                <a:p>
                  <a:endParaRPr lang="en-US"/>
                </a:p>
              </p:txBody>
            </p:sp>
          </p:grpSp>
          <p:sp>
            <p:nvSpPr>
              <p:cNvPr id="941603" name="Line 547"/>
              <p:cNvSpPr>
                <a:spLocks noChangeShapeType="1"/>
              </p:cNvSpPr>
              <p:nvPr/>
            </p:nvSpPr>
            <p:spPr bwMode="auto">
              <a:xfrm>
                <a:off x="4199" y="2570"/>
                <a:ext cx="4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04" name="Line 548"/>
              <p:cNvSpPr>
                <a:spLocks noChangeShapeType="1"/>
              </p:cNvSpPr>
              <p:nvPr/>
            </p:nvSpPr>
            <p:spPr bwMode="auto">
              <a:xfrm>
                <a:off x="4199" y="2641"/>
                <a:ext cx="4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05" name="Line 549"/>
              <p:cNvSpPr>
                <a:spLocks noChangeShapeType="1"/>
              </p:cNvSpPr>
              <p:nvPr/>
            </p:nvSpPr>
            <p:spPr bwMode="auto">
              <a:xfrm>
                <a:off x="4241" y="2657"/>
                <a:ext cx="3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06" name="Line 550"/>
              <p:cNvSpPr>
                <a:spLocks noChangeShapeType="1"/>
              </p:cNvSpPr>
              <p:nvPr/>
            </p:nvSpPr>
            <p:spPr bwMode="auto">
              <a:xfrm>
                <a:off x="4241" y="2557"/>
                <a:ext cx="3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07" name="Line 551"/>
              <p:cNvSpPr>
                <a:spLocks noChangeShapeType="1"/>
              </p:cNvSpPr>
              <p:nvPr/>
            </p:nvSpPr>
            <p:spPr bwMode="auto">
              <a:xfrm>
                <a:off x="4241" y="2557"/>
                <a:ext cx="0" cy="84"/>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08" name="Line 552"/>
              <p:cNvSpPr>
                <a:spLocks noChangeShapeType="1"/>
              </p:cNvSpPr>
              <p:nvPr/>
            </p:nvSpPr>
            <p:spPr bwMode="auto">
              <a:xfrm>
                <a:off x="4241" y="2641"/>
                <a:ext cx="0" cy="16"/>
              </a:xfrm>
              <a:prstGeom prst="line">
                <a:avLst/>
              </a:prstGeom>
              <a:noFill/>
              <a:ln w="12700">
                <a:solidFill>
                  <a:srgbClr val="000000"/>
                </a:solidFill>
                <a:round/>
                <a:headEnd type="none" w="sm" len="sm"/>
                <a:tailEnd type="none" w="sm" len="sm"/>
              </a:ln>
              <a:effectLst/>
            </p:spPr>
            <p:txBody>
              <a:bodyPr wrap="none" anchor="ctr"/>
              <a:lstStyle/>
              <a:p>
                <a:endParaRPr lang="en-US"/>
              </a:p>
            </p:txBody>
          </p:sp>
        </p:grpSp>
        <p:sp>
          <p:nvSpPr>
            <p:cNvPr id="941609" name="Line 553"/>
            <p:cNvSpPr>
              <a:spLocks noChangeShapeType="1"/>
            </p:cNvSpPr>
            <p:nvPr/>
          </p:nvSpPr>
          <p:spPr bwMode="auto">
            <a:xfrm>
              <a:off x="3744" y="2610"/>
              <a:ext cx="554" cy="0"/>
            </a:xfrm>
            <a:prstGeom prst="line">
              <a:avLst/>
            </a:prstGeom>
            <a:noFill/>
            <a:ln w="25400">
              <a:solidFill>
                <a:srgbClr val="FF0000"/>
              </a:solidFill>
              <a:prstDash val="sysDot"/>
              <a:round/>
              <a:headEnd type="none" w="sm" len="sm"/>
              <a:tailEnd type="none" w="sm" len="sm"/>
            </a:ln>
            <a:effectLst/>
          </p:spPr>
          <p:txBody>
            <a:bodyPr wrap="none" anchor="ctr"/>
            <a:lstStyle/>
            <a:p>
              <a:endParaRPr lang="en-US"/>
            </a:p>
          </p:txBody>
        </p:sp>
      </p:grpSp>
      <p:grpSp>
        <p:nvGrpSpPr>
          <p:cNvPr id="941610" name="Group 554"/>
          <p:cNvGrpSpPr>
            <a:grpSpLocks/>
          </p:cNvGrpSpPr>
          <p:nvPr/>
        </p:nvGrpSpPr>
        <p:grpSpPr bwMode="auto">
          <a:xfrm rot="264600" flipV="1">
            <a:off x="2994025" y="3360738"/>
            <a:ext cx="1857375" cy="1365250"/>
            <a:chOff x="3740" y="2402"/>
            <a:chExt cx="566" cy="416"/>
          </a:xfrm>
        </p:grpSpPr>
        <p:grpSp>
          <p:nvGrpSpPr>
            <p:cNvPr id="941611" name="Group 555"/>
            <p:cNvGrpSpPr>
              <a:grpSpLocks/>
            </p:cNvGrpSpPr>
            <p:nvPr/>
          </p:nvGrpSpPr>
          <p:grpSpPr bwMode="auto">
            <a:xfrm>
              <a:off x="3740" y="2402"/>
              <a:ext cx="566" cy="416"/>
              <a:chOff x="3740" y="2402"/>
              <a:chExt cx="566" cy="416"/>
            </a:xfrm>
          </p:grpSpPr>
          <p:sp>
            <p:nvSpPr>
              <p:cNvPr id="941612" name="Freeform 556"/>
              <p:cNvSpPr>
                <a:spLocks/>
              </p:cNvSpPr>
              <p:nvPr/>
            </p:nvSpPr>
            <p:spPr bwMode="auto">
              <a:xfrm>
                <a:off x="4277" y="2513"/>
                <a:ext cx="29" cy="187"/>
              </a:xfrm>
              <a:custGeom>
                <a:avLst/>
                <a:gdLst/>
                <a:ahLst/>
                <a:cxnLst>
                  <a:cxn ang="0">
                    <a:pos x="0" y="238"/>
                  </a:cxn>
                  <a:cxn ang="0">
                    <a:pos x="0" y="0"/>
                  </a:cxn>
                  <a:cxn ang="0">
                    <a:pos x="36" y="0"/>
                  </a:cxn>
                  <a:cxn ang="0">
                    <a:pos x="36" y="238"/>
                  </a:cxn>
                  <a:cxn ang="0">
                    <a:pos x="0" y="238"/>
                  </a:cxn>
                </a:cxnLst>
                <a:rect l="0" t="0" r="r" b="b"/>
                <a:pathLst>
                  <a:path w="37" h="239">
                    <a:moveTo>
                      <a:pt x="0" y="238"/>
                    </a:moveTo>
                    <a:lnTo>
                      <a:pt x="0" y="0"/>
                    </a:lnTo>
                    <a:lnTo>
                      <a:pt x="36" y="0"/>
                    </a:lnTo>
                    <a:lnTo>
                      <a:pt x="36" y="238"/>
                    </a:lnTo>
                    <a:lnTo>
                      <a:pt x="0" y="238"/>
                    </a:lnTo>
                  </a:path>
                </a:pathLst>
              </a:custGeom>
              <a:noFill/>
              <a:ln w="12700" cap="rnd" cmpd="sng">
                <a:solidFill>
                  <a:srgbClr val="000000"/>
                </a:solidFill>
                <a:prstDash val="solid"/>
                <a:round/>
                <a:headEnd/>
                <a:tailEnd/>
              </a:ln>
              <a:effectLst/>
            </p:spPr>
            <p:txBody>
              <a:bodyPr/>
              <a:lstStyle/>
              <a:p>
                <a:endParaRPr lang="en-US"/>
              </a:p>
            </p:txBody>
          </p:sp>
          <p:grpSp>
            <p:nvGrpSpPr>
              <p:cNvPr id="941613" name="Group 557"/>
              <p:cNvGrpSpPr>
                <a:grpSpLocks/>
              </p:cNvGrpSpPr>
              <p:nvPr/>
            </p:nvGrpSpPr>
            <p:grpSpPr bwMode="auto">
              <a:xfrm>
                <a:off x="3740" y="2402"/>
                <a:ext cx="459" cy="416"/>
                <a:chOff x="3740" y="2402"/>
                <a:chExt cx="459" cy="416"/>
              </a:xfrm>
            </p:grpSpPr>
            <p:sp>
              <p:nvSpPr>
                <p:cNvPr id="941614" name="Freeform 558"/>
                <p:cNvSpPr>
                  <a:spLocks/>
                </p:cNvSpPr>
                <p:nvPr/>
              </p:nvSpPr>
              <p:spPr bwMode="auto">
                <a:xfrm>
                  <a:off x="3872" y="2419"/>
                  <a:ext cx="313" cy="374"/>
                </a:xfrm>
                <a:custGeom>
                  <a:avLst/>
                  <a:gdLst/>
                  <a:ahLst/>
                  <a:cxnLst>
                    <a:cxn ang="0">
                      <a:pos x="0" y="477"/>
                    </a:cxn>
                    <a:cxn ang="0">
                      <a:pos x="0" y="0"/>
                    </a:cxn>
                    <a:cxn ang="0">
                      <a:pos x="399" y="0"/>
                    </a:cxn>
                  </a:cxnLst>
                  <a:rect l="0" t="0" r="r" b="b"/>
                  <a:pathLst>
                    <a:path w="400" h="478">
                      <a:moveTo>
                        <a:pt x="0" y="477"/>
                      </a:moveTo>
                      <a:lnTo>
                        <a:pt x="0" y="0"/>
                      </a:lnTo>
                      <a:lnTo>
                        <a:pt x="399"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15" name="Freeform 559"/>
                <p:cNvSpPr>
                  <a:spLocks/>
                </p:cNvSpPr>
                <p:nvPr/>
              </p:nvSpPr>
              <p:spPr bwMode="auto">
                <a:xfrm>
                  <a:off x="4184" y="2420"/>
                  <a:ext cx="15" cy="21"/>
                </a:xfrm>
                <a:custGeom>
                  <a:avLst/>
                  <a:gdLst/>
                  <a:ahLst/>
                  <a:cxnLst>
                    <a:cxn ang="0">
                      <a:pos x="18" y="26"/>
                    </a:cxn>
                    <a:cxn ang="0">
                      <a:pos x="17" y="24"/>
                    </a:cxn>
                    <a:cxn ang="0">
                      <a:pos x="17" y="20"/>
                    </a:cxn>
                    <a:cxn ang="0">
                      <a:pos x="16" y="19"/>
                    </a:cxn>
                    <a:cxn ang="0">
                      <a:pos x="16" y="15"/>
                    </a:cxn>
                    <a:cxn ang="0">
                      <a:pos x="14" y="13"/>
                    </a:cxn>
                    <a:cxn ang="0">
                      <a:pos x="14" y="12"/>
                    </a:cxn>
                    <a:cxn ang="0">
                      <a:pos x="12" y="10"/>
                    </a:cxn>
                    <a:cxn ang="0">
                      <a:pos x="12" y="6"/>
                    </a:cxn>
                    <a:cxn ang="0">
                      <a:pos x="10" y="6"/>
                    </a:cxn>
                    <a:cxn ang="0">
                      <a:pos x="9" y="5"/>
                    </a:cxn>
                    <a:cxn ang="0">
                      <a:pos x="7" y="4"/>
                    </a:cxn>
                    <a:cxn ang="0">
                      <a:pos x="6" y="2"/>
                    </a:cxn>
                    <a:cxn ang="0">
                      <a:pos x="4" y="2"/>
                    </a:cxn>
                    <a:cxn ang="0">
                      <a:pos x="3" y="1"/>
                    </a:cxn>
                    <a:cxn ang="0">
                      <a:pos x="1" y="1"/>
                    </a:cxn>
                    <a:cxn ang="0">
                      <a:pos x="0" y="0"/>
                    </a:cxn>
                  </a:cxnLst>
                  <a:rect l="0" t="0" r="r" b="b"/>
                  <a:pathLst>
                    <a:path w="19" h="27">
                      <a:moveTo>
                        <a:pt x="18" y="26"/>
                      </a:moveTo>
                      <a:lnTo>
                        <a:pt x="17" y="24"/>
                      </a:lnTo>
                      <a:lnTo>
                        <a:pt x="17" y="20"/>
                      </a:lnTo>
                      <a:lnTo>
                        <a:pt x="16" y="19"/>
                      </a:lnTo>
                      <a:lnTo>
                        <a:pt x="16" y="15"/>
                      </a:lnTo>
                      <a:lnTo>
                        <a:pt x="14" y="13"/>
                      </a:lnTo>
                      <a:lnTo>
                        <a:pt x="14" y="12"/>
                      </a:lnTo>
                      <a:lnTo>
                        <a:pt x="12" y="10"/>
                      </a:lnTo>
                      <a:lnTo>
                        <a:pt x="12" y="6"/>
                      </a:lnTo>
                      <a:lnTo>
                        <a:pt x="10" y="6"/>
                      </a:lnTo>
                      <a:lnTo>
                        <a:pt x="9" y="5"/>
                      </a:lnTo>
                      <a:lnTo>
                        <a:pt x="7" y="4"/>
                      </a:lnTo>
                      <a:lnTo>
                        <a:pt x="6" y="2"/>
                      </a:lnTo>
                      <a:lnTo>
                        <a:pt x="4" y="2"/>
                      </a:lnTo>
                      <a:lnTo>
                        <a:pt x="3" y="1"/>
                      </a:lnTo>
                      <a:lnTo>
                        <a:pt x="1" y="1"/>
                      </a:lnTo>
                      <a:lnTo>
                        <a:pt x="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16" name="Line 560"/>
                <p:cNvSpPr>
                  <a:spLocks noChangeShapeType="1"/>
                </p:cNvSpPr>
                <p:nvPr/>
              </p:nvSpPr>
              <p:spPr bwMode="auto">
                <a:xfrm>
                  <a:off x="4199" y="2440"/>
                  <a:ext cx="0" cy="33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17" name="Freeform 561"/>
                <p:cNvSpPr>
                  <a:spLocks/>
                </p:cNvSpPr>
                <p:nvPr/>
              </p:nvSpPr>
              <p:spPr bwMode="auto">
                <a:xfrm>
                  <a:off x="4184" y="2772"/>
                  <a:ext cx="15" cy="21"/>
                </a:xfrm>
                <a:custGeom>
                  <a:avLst/>
                  <a:gdLst/>
                  <a:ahLst/>
                  <a:cxnLst>
                    <a:cxn ang="0">
                      <a:pos x="0" y="26"/>
                    </a:cxn>
                    <a:cxn ang="0">
                      <a:pos x="1" y="26"/>
                    </a:cxn>
                    <a:cxn ang="0">
                      <a:pos x="3" y="26"/>
                    </a:cxn>
                    <a:cxn ang="0">
                      <a:pos x="4" y="26"/>
                    </a:cxn>
                    <a:cxn ang="0">
                      <a:pos x="6" y="24"/>
                    </a:cxn>
                    <a:cxn ang="0">
                      <a:pos x="7" y="23"/>
                    </a:cxn>
                    <a:cxn ang="0">
                      <a:pos x="9" y="21"/>
                    </a:cxn>
                    <a:cxn ang="0">
                      <a:pos x="10" y="19"/>
                    </a:cxn>
                    <a:cxn ang="0">
                      <a:pos x="12" y="18"/>
                    </a:cxn>
                    <a:cxn ang="0">
                      <a:pos x="12" y="16"/>
                    </a:cxn>
                    <a:cxn ang="0">
                      <a:pos x="14" y="14"/>
                    </a:cxn>
                    <a:cxn ang="0">
                      <a:pos x="14" y="13"/>
                    </a:cxn>
                    <a:cxn ang="0">
                      <a:pos x="16" y="10"/>
                    </a:cxn>
                    <a:cxn ang="0">
                      <a:pos x="16" y="8"/>
                    </a:cxn>
                    <a:cxn ang="0">
                      <a:pos x="17" y="5"/>
                    </a:cxn>
                    <a:cxn ang="0">
                      <a:pos x="17" y="3"/>
                    </a:cxn>
                    <a:cxn ang="0">
                      <a:pos x="18" y="0"/>
                    </a:cxn>
                  </a:cxnLst>
                  <a:rect l="0" t="0" r="r" b="b"/>
                  <a:pathLst>
                    <a:path w="19" h="27">
                      <a:moveTo>
                        <a:pt x="0" y="26"/>
                      </a:moveTo>
                      <a:lnTo>
                        <a:pt x="1" y="26"/>
                      </a:lnTo>
                      <a:lnTo>
                        <a:pt x="3" y="26"/>
                      </a:lnTo>
                      <a:lnTo>
                        <a:pt x="4" y="26"/>
                      </a:lnTo>
                      <a:lnTo>
                        <a:pt x="6" y="24"/>
                      </a:lnTo>
                      <a:lnTo>
                        <a:pt x="7" y="23"/>
                      </a:lnTo>
                      <a:lnTo>
                        <a:pt x="9" y="21"/>
                      </a:lnTo>
                      <a:lnTo>
                        <a:pt x="10" y="19"/>
                      </a:lnTo>
                      <a:lnTo>
                        <a:pt x="12" y="18"/>
                      </a:lnTo>
                      <a:lnTo>
                        <a:pt x="12" y="16"/>
                      </a:lnTo>
                      <a:lnTo>
                        <a:pt x="14" y="14"/>
                      </a:lnTo>
                      <a:lnTo>
                        <a:pt x="14" y="13"/>
                      </a:lnTo>
                      <a:lnTo>
                        <a:pt x="16" y="10"/>
                      </a:lnTo>
                      <a:lnTo>
                        <a:pt x="16" y="8"/>
                      </a:lnTo>
                      <a:lnTo>
                        <a:pt x="17" y="5"/>
                      </a:lnTo>
                      <a:lnTo>
                        <a:pt x="17" y="3"/>
                      </a:lnTo>
                      <a:lnTo>
                        <a:pt x="18"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18" name="Line 562"/>
                <p:cNvSpPr>
                  <a:spLocks noChangeShapeType="1"/>
                </p:cNvSpPr>
                <p:nvPr/>
              </p:nvSpPr>
              <p:spPr bwMode="auto">
                <a:xfrm flipH="1">
                  <a:off x="3872" y="2793"/>
                  <a:ext cx="31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19" name="Line 563"/>
                <p:cNvSpPr>
                  <a:spLocks noChangeShapeType="1"/>
                </p:cNvSpPr>
                <p:nvPr/>
              </p:nvSpPr>
              <p:spPr bwMode="auto">
                <a:xfrm flipV="1">
                  <a:off x="3986" y="2570"/>
                  <a:ext cx="0" cy="8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20" name="Freeform 564"/>
                <p:cNvSpPr>
                  <a:spLocks/>
                </p:cNvSpPr>
                <p:nvPr/>
              </p:nvSpPr>
              <p:spPr bwMode="auto">
                <a:xfrm>
                  <a:off x="3986" y="2550"/>
                  <a:ext cx="17" cy="21"/>
                </a:xfrm>
                <a:custGeom>
                  <a:avLst/>
                  <a:gdLst/>
                  <a:ahLst/>
                  <a:cxnLst>
                    <a:cxn ang="0">
                      <a:pos x="20" y="0"/>
                    </a:cxn>
                    <a:cxn ang="0">
                      <a:pos x="16" y="0"/>
                    </a:cxn>
                    <a:cxn ang="0">
                      <a:pos x="14" y="0"/>
                    </a:cxn>
                    <a:cxn ang="0">
                      <a:pos x="12" y="2"/>
                    </a:cxn>
                    <a:cxn ang="0">
                      <a:pos x="10" y="2"/>
                    </a:cxn>
                    <a:cxn ang="0">
                      <a:pos x="10" y="4"/>
                    </a:cxn>
                    <a:cxn ang="0">
                      <a:pos x="8" y="5"/>
                    </a:cxn>
                    <a:cxn ang="0">
                      <a:pos x="6" y="6"/>
                    </a:cxn>
                    <a:cxn ang="0">
                      <a:pos x="5" y="7"/>
                    </a:cxn>
                    <a:cxn ang="0">
                      <a:pos x="3" y="11"/>
                    </a:cxn>
                    <a:cxn ang="0">
                      <a:pos x="2" y="12"/>
                    </a:cxn>
                    <a:cxn ang="0">
                      <a:pos x="0" y="14"/>
                    </a:cxn>
                    <a:cxn ang="0">
                      <a:pos x="0" y="16"/>
                    </a:cxn>
                    <a:cxn ang="0">
                      <a:pos x="0" y="19"/>
                    </a:cxn>
                    <a:cxn ang="0">
                      <a:pos x="0" y="20"/>
                    </a:cxn>
                    <a:cxn ang="0">
                      <a:pos x="0" y="24"/>
                    </a:cxn>
                    <a:cxn ang="0">
                      <a:pos x="0" y="26"/>
                    </a:cxn>
                  </a:cxnLst>
                  <a:rect l="0" t="0" r="r" b="b"/>
                  <a:pathLst>
                    <a:path w="21" h="27">
                      <a:moveTo>
                        <a:pt x="20" y="0"/>
                      </a:moveTo>
                      <a:lnTo>
                        <a:pt x="16" y="0"/>
                      </a:lnTo>
                      <a:lnTo>
                        <a:pt x="14" y="0"/>
                      </a:lnTo>
                      <a:lnTo>
                        <a:pt x="12" y="2"/>
                      </a:lnTo>
                      <a:lnTo>
                        <a:pt x="10" y="2"/>
                      </a:lnTo>
                      <a:lnTo>
                        <a:pt x="10" y="4"/>
                      </a:lnTo>
                      <a:lnTo>
                        <a:pt x="8" y="5"/>
                      </a:lnTo>
                      <a:lnTo>
                        <a:pt x="6" y="6"/>
                      </a:lnTo>
                      <a:lnTo>
                        <a:pt x="5" y="7"/>
                      </a:lnTo>
                      <a:lnTo>
                        <a:pt x="3" y="11"/>
                      </a:lnTo>
                      <a:lnTo>
                        <a:pt x="2" y="12"/>
                      </a:lnTo>
                      <a:lnTo>
                        <a:pt x="0" y="14"/>
                      </a:lnTo>
                      <a:lnTo>
                        <a:pt x="0" y="16"/>
                      </a:lnTo>
                      <a:lnTo>
                        <a:pt x="0" y="19"/>
                      </a:lnTo>
                      <a:lnTo>
                        <a:pt x="0" y="20"/>
                      </a:lnTo>
                      <a:lnTo>
                        <a:pt x="0" y="24"/>
                      </a:lnTo>
                      <a:lnTo>
                        <a:pt x="0" y="26"/>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21" name="Line 565"/>
                <p:cNvSpPr>
                  <a:spLocks noChangeShapeType="1"/>
                </p:cNvSpPr>
                <p:nvPr/>
              </p:nvSpPr>
              <p:spPr bwMode="auto">
                <a:xfrm>
                  <a:off x="4002" y="2548"/>
                  <a:ext cx="8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22" name="Freeform 566"/>
                <p:cNvSpPr>
                  <a:spLocks/>
                </p:cNvSpPr>
                <p:nvPr/>
              </p:nvSpPr>
              <p:spPr bwMode="auto">
                <a:xfrm>
                  <a:off x="4087" y="2550"/>
                  <a:ext cx="17" cy="21"/>
                </a:xfrm>
                <a:custGeom>
                  <a:avLst/>
                  <a:gdLst/>
                  <a:ahLst/>
                  <a:cxnLst>
                    <a:cxn ang="0">
                      <a:pos x="20" y="26"/>
                    </a:cxn>
                    <a:cxn ang="0">
                      <a:pos x="18" y="24"/>
                    </a:cxn>
                    <a:cxn ang="0">
                      <a:pos x="18" y="20"/>
                    </a:cxn>
                    <a:cxn ang="0">
                      <a:pos x="17" y="19"/>
                    </a:cxn>
                    <a:cxn ang="0">
                      <a:pos x="17" y="16"/>
                    </a:cxn>
                    <a:cxn ang="0">
                      <a:pos x="15" y="14"/>
                    </a:cxn>
                    <a:cxn ang="0">
                      <a:pos x="14" y="12"/>
                    </a:cxn>
                    <a:cxn ang="0">
                      <a:pos x="12" y="11"/>
                    </a:cxn>
                    <a:cxn ang="0">
                      <a:pos x="12" y="7"/>
                    </a:cxn>
                    <a:cxn ang="0">
                      <a:pos x="10" y="6"/>
                    </a:cxn>
                    <a:cxn ang="0">
                      <a:pos x="9" y="5"/>
                    </a:cxn>
                    <a:cxn ang="0">
                      <a:pos x="7" y="4"/>
                    </a:cxn>
                    <a:cxn ang="0">
                      <a:pos x="6" y="2"/>
                    </a:cxn>
                    <a:cxn ang="0">
                      <a:pos x="4" y="2"/>
                    </a:cxn>
                    <a:cxn ang="0">
                      <a:pos x="3" y="0"/>
                    </a:cxn>
                    <a:cxn ang="0">
                      <a:pos x="1" y="0"/>
                    </a:cxn>
                    <a:cxn ang="0">
                      <a:pos x="0" y="0"/>
                    </a:cxn>
                  </a:cxnLst>
                  <a:rect l="0" t="0" r="r" b="b"/>
                  <a:pathLst>
                    <a:path w="21" h="27">
                      <a:moveTo>
                        <a:pt x="20" y="26"/>
                      </a:moveTo>
                      <a:lnTo>
                        <a:pt x="18" y="24"/>
                      </a:lnTo>
                      <a:lnTo>
                        <a:pt x="18" y="20"/>
                      </a:lnTo>
                      <a:lnTo>
                        <a:pt x="17" y="19"/>
                      </a:lnTo>
                      <a:lnTo>
                        <a:pt x="17" y="16"/>
                      </a:lnTo>
                      <a:lnTo>
                        <a:pt x="15" y="14"/>
                      </a:lnTo>
                      <a:lnTo>
                        <a:pt x="14" y="12"/>
                      </a:lnTo>
                      <a:lnTo>
                        <a:pt x="12" y="11"/>
                      </a:lnTo>
                      <a:lnTo>
                        <a:pt x="12" y="7"/>
                      </a:lnTo>
                      <a:lnTo>
                        <a:pt x="10" y="6"/>
                      </a:lnTo>
                      <a:lnTo>
                        <a:pt x="9" y="5"/>
                      </a:lnTo>
                      <a:lnTo>
                        <a:pt x="7" y="4"/>
                      </a:lnTo>
                      <a:lnTo>
                        <a:pt x="6" y="2"/>
                      </a:lnTo>
                      <a:lnTo>
                        <a:pt x="4" y="2"/>
                      </a:lnTo>
                      <a:lnTo>
                        <a:pt x="3" y="0"/>
                      </a:lnTo>
                      <a:lnTo>
                        <a:pt x="1" y="0"/>
                      </a:lnTo>
                      <a:lnTo>
                        <a:pt x="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23" name="Line 567"/>
                <p:cNvSpPr>
                  <a:spLocks noChangeShapeType="1"/>
                </p:cNvSpPr>
                <p:nvPr/>
              </p:nvSpPr>
              <p:spPr bwMode="auto">
                <a:xfrm>
                  <a:off x="4103" y="2570"/>
                  <a:ext cx="0" cy="8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24" name="Freeform 568"/>
                <p:cNvSpPr>
                  <a:spLocks/>
                </p:cNvSpPr>
                <p:nvPr/>
              </p:nvSpPr>
              <p:spPr bwMode="auto">
                <a:xfrm>
                  <a:off x="4087" y="2655"/>
                  <a:ext cx="17" cy="22"/>
                </a:xfrm>
                <a:custGeom>
                  <a:avLst/>
                  <a:gdLst/>
                  <a:ahLst/>
                  <a:cxnLst>
                    <a:cxn ang="0">
                      <a:pos x="0" y="27"/>
                    </a:cxn>
                    <a:cxn ang="0">
                      <a:pos x="1" y="27"/>
                    </a:cxn>
                    <a:cxn ang="0">
                      <a:pos x="3" y="27"/>
                    </a:cxn>
                    <a:cxn ang="0">
                      <a:pos x="4" y="27"/>
                    </a:cxn>
                    <a:cxn ang="0">
                      <a:pos x="6" y="25"/>
                    </a:cxn>
                    <a:cxn ang="0">
                      <a:pos x="7" y="24"/>
                    </a:cxn>
                    <a:cxn ang="0">
                      <a:pos x="9" y="23"/>
                    </a:cxn>
                    <a:cxn ang="0">
                      <a:pos x="10" y="21"/>
                    </a:cxn>
                    <a:cxn ang="0">
                      <a:pos x="12" y="19"/>
                    </a:cxn>
                    <a:cxn ang="0">
                      <a:pos x="12" y="17"/>
                    </a:cxn>
                    <a:cxn ang="0">
                      <a:pos x="14" y="15"/>
                    </a:cxn>
                    <a:cxn ang="0">
                      <a:pos x="15" y="14"/>
                    </a:cxn>
                    <a:cxn ang="0">
                      <a:pos x="17" y="11"/>
                    </a:cxn>
                    <a:cxn ang="0">
                      <a:pos x="17" y="9"/>
                    </a:cxn>
                    <a:cxn ang="0">
                      <a:pos x="18" y="6"/>
                    </a:cxn>
                    <a:cxn ang="0">
                      <a:pos x="18" y="3"/>
                    </a:cxn>
                    <a:cxn ang="0">
                      <a:pos x="20" y="0"/>
                    </a:cxn>
                  </a:cxnLst>
                  <a:rect l="0" t="0" r="r" b="b"/>
                  <a:pathLst>
                    <a:path w="21" h="28">
                      <a:moveTo>
                        <a:pt x="0" y="27"/>
                      </a:moveTo>
                      <a:lnTo>
                        <a:pt x="1" y="27"/>
                      </a:lnTo>
                      <a:lnTo>
                        <a:pt x="3" y="27"/>
                      </a:lnTo>
                      <a:lnTo>
                        <a:pt x="4" y="27"/>
                      </a:lnTo>
                      <a:lnTo>
                        <a:pt x="6" y="25"/>
                      </a:lnTo>
                      <a:lnTo>
                        <a:pt x="7" y="24"/>
                      </a:lnTo>
                      <a:lnTo>
                        <a:pt x="9" y="23"/>
                      </a:lnTo>
                      <a:lnTo>
                        <a:pt x="10" y="21"/>
                      </a:lnTo>
                      <a:lnTo>
                        <a:pt x="12" y="19"/>
                      </a:lnTo>
                      <a:lnTo>
                        <a:pt x="12" y="17"/>
                      </a:lnTo>
                      <a:lnTo>
                        <a:pt x="14" y="15"/>
                      </a:lnTo>
                      <a:lnTo>
                        <a:pt x="15" y="14"/>
                      </a:lnTo>
                      <a:lnTo>
                        <a:pt x="17" y="11"/>
                      </a:lnTo>
                      <a:lnTo>
                        <a:pt x="17" y="9"/>
                      </a:lnTo>
                      <a:lnTo>
                        <a:pt x="18" y="6"/>
                      </a:lnTo>
                      <a:lnTo>
                        <a:pt x="18" y="3"/>
                      </a:lnTo>
                      <a:lnTo>
                        <a:pt x="2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25" name="Line 569"/>
                <p:cNvSpPr>
                  <a:spLocks noChangeShapeType="1"/>
                </p:cNvSpPr>
                <p:nvPr/>
              </p:nvSpPr>
              <p:spPr bwMode="auto">
                <a:xfrm flipH="1">
                  <a:off x="4002" y="2676"/>
                  <a:ext cx="8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26" name="Freeform 570"/>
                <p:cNvSpPr>
                  <a:spLocks/>
                </p:cNvSpPr>
                <p:nvPr/>
              </p:nvSpPr>
              <p:spPr bwMode="auto">
                <a:xfrm>
                  <a:off x="3986" y="2655"/>
                  <a:ext cx="17" cy="22"/>
                </a:xfrm>
                <a:custGeom>
                  <a:avLst/>
                  <a:gdLst/>
                  <a:ahLst/>
                  <a:cxnLst>
                    <a:cxn ang="0">
                      <a:pos x="0" y="0"/>
                    </a:cxn>
                    <a:cxn ang="0">
                      <a:pos x="0" y="3"/>
                    </a:cxn>
                    <a:cxn ang="0">
                      <a:pos x="0" y="6"/>
                    </a:cxn>
                    <a:cxn ang="0">
                      <a:pos x="0" y="10"/>
                    </a:cxn>
                    <a:cxn ang="0">
                      <a:pos x="0" y="12"/>
                    </a:cxn>
                    <a:cxn ang="0">
                      <a:pos x="0" y="14"/>
                    </a:cxn>
                    <a:cxn ang="0">
                      <a:pos x="2" y="16"/>
                    </a:cxn>
                    <a:cxn ang="0">
                      <a:pos x="3" y="18"/>
                    </a:cxn>
                    <a:cxn ang="0">
                      <a:pos x="5" y="20"/>
                    </a:cxn>
                    <a:cxn ang="0">
                      <a:pos x="6" y="21"/>
                    </a:cxn>
                    <a:cxn ang="0">
                      <a:pos x="8" y="23"/>
                    </a:cxn>
                    <a:cxn ang="0">
                      <a:pos x="10" y="24"/>
                    </a:cxn>
                    <a:cxn ang="0">
                      <a:pos x="10" y="25"/>
                    </a:cxn>
                    <a:cxn ang="0">
                      <a:pos x="12" y="27"/>
                    </a:cxn>
                    <a:cxn ang="0">
                      <a:pos x="14" y="27"/>
                    </a:cxn>
                    <a:cxn ang="0">
                      <a:pos x="16" y="27"/>
                    </a:cxn>
                    <a:cxn ang="0">
                      <a:pos x="20" y="27"/>
                    </a:cxn>
                  </a:cxnLst>
                  <a:rect l="0" t="0" r="r" b="b"/>
                  <a:pathLst>
                    <a:path w="21" h="28">
                      <a:moveTo>
                        <a:pt x="0" y="0"/>
                      </a:moveTo>
                      <a:lnTo>
                        <a:pt x="0" y="3"/>
                      </a:lnTo>
                      <a:lnTo>
                        <a:pt x="0" y="6"/>
                      </a:lnTo>
                      <a:lnTo>
                        <a:pt x="0" y="10"/>
                      </a:lnTo>
                      <a:lnTo>
                        <a:pt x="0" y="12"/>
                      </a:lnTo>
                      <a:lnTo>
                        <a:pt x="0" y="14"/>
                      </a:lnTo>
                      <a:lnTo>
                        <a:pt x="2" y="16"/>
                      </a:lnTo>
                      <a:lnTo>
                        <a:pt x="3" y="18"/>
                      </a:lnTo>
                      <a:lnTo>
                        <a:pt x="5" y="20"/>
                      </a:lnTo>
                      <a:lnTo>
                        <a:pt x="6" y="21"/>
                      </a:lnTo>
                      <a:lnTo>
                        <a:pt x="8" y="23"/>
                      </a:lnTo>
                      <a:lnTo>
                        <a:pt x="10" y="24"/>
                      </a:lnTo>
                      <a:lnTo>
                        <a:pt x="10" y="25"/>
                      </a:lnTo>
                      <a:lnTo>
                        <a:pt x="12" y="27"/>
                      </a:lnTo>
                      <a:lnTo>
                        <a:pt x="14" y="27"/>
                      </a:lnTo>
                      <a:lnTo>
                        <a:pt x="16" y="27"/>
                      </a:lnTo>
                      <a:lnTo>
                        <a:pt x="20" y="27"/>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27" name="Freeform 571"/>
                <p:cNvSpPr>
                  <a:spLocks/>
                </p:cNvSpPr>
                <p:nvPr/>
              </p:nvSpPr>
              <p:spPr bwMode="auto">
                <a:xfrm>
                  <a:off x="3740" y="2775"/>
                  <a:ext cx="31" cy="43"/>
                </a:xfrm>
                <a:custGeom>
                  <a:avLst/>
                  <a:gdLst/>
                  <a:ahLst/>
                  <a:cxnLst>
                    <a:cxn ang="0">
                      <a:pos x="0" y="0"/>
                    </a:cxn>
                    <a:cxn ang="0">
                      <a:pos x="0" y="6"/>
                    </a:cxn>
                    <a:cxn ang="0">
                      <a:pos x="0" y="11"/>
                    </a:cxn>
                    <a:cxn ang="0">
                      <a:pos x="0" y="16"/>
                    </a:cxn>
                    <a:cxn ang="0">
                      <a:pos x="2" y="20"/>
                    </a:cxn>
                    <a:cxn ang="0">
                      <a:pos x="4" y="26"/>
                    </a:cxn>
                    <a:cxn ang="0">
                      <a:pos x="5" y="30"/>
                    </a:cxn>
                    <a:cxn ang="0">
                      <a:pos x="7" y="34"/>
                    </a:cxn>
                    <a:cxn ang="0">
                      <a:pos x="10" y="38"/>
                    </a:cxn>
                    <a:cxn ang="0">
                      <a:pos x="12" y="41"/>
                    </a:cxn>
                    <a:cxn ang="0">
                      <a:pos x="16" y="45"/>
                    </a:cxn>
                    <a:cxn ang="0">
                      <a:pos x="19" y="48"/>
                    </a:cxn>
                    <a:cxn ang="0">
                      <a:pos x="22" y="50"/>
                    </a:cxn>
                    <a:cxn ang="0">
                      <a:pos x="26" y="52"/>
                    </a:cxn>
                    <a:cxn ang="0">
                      <a:pos x="30" y="53"/>
                    </a:cxn>
                    <a:cxn ang="0">
                      <a:pos x="33" y="54"/>
                    </a:cxn>
                    <a:cxn ang="0">
                      <a:pos x="39" y="54"/>
                    </a:cxn>
                  </a:cxnLst>
                  <a:rect l="0" t="0" r="r" b="b"/>
                  <a:pathLst>
                    <a:path w="40" h="55">
                      <a:moveTo>
                        <a:pt x="0" y="0"/>
                      </a:moveTo>
                      <a:lnTo>
                        <a:pt x="0" y="6"/>
                      </a:lnTo>
                      <a:lnTo>
                        <a:pt x="0" y="11"/>
                      </a:lnTo>
                      <a:lnTo>
                        <a:pt x="0" y="16"/>
                      </a:lnTo>
                      <a:lnTo>
                        <a:pt x="2" y="20"/>
                      </a:lnTo>
                      <a:lnTo>
                        <a:pt x="4" y="26"/>
                      </a:lnTo>
                      <a:lnTo>
                        <a:pt x="5" y="30"/>
                      </a:lnTo>
                      <a:lnTo>
                        <a:pt x="7" y="34"/>
                      </a:lnTo>
                      <a:lnTo>
                        <a:pt x="10" y="38"/>
                      </a:lnTo>
                      <a:lnTo>
                        <a:pt x="12" y="41"/>
                      </a:lnTo>
                      <a:lnTo>
                        <a:pt x="16" y="45"/>
                      </a:lnTo>
                      <a:lnTo>
                        <a:pt x="19" y="48"/>
                      </a:lnTo>
                      <a:lnTo>
                        <a:pt x="22" y="50"/>
                      </a:lnTo>
                      <a:lnTo>
                        <a:pt x="26" y="52"/>
                      </a:lnTo>
                      <a:lnTo>
                        <a:pt x="30" y="53"/>
                      </a:lnTo>
                      <a:lnTo>
                        <a:pt x="33" y="54"/>
                      </a:lnTo>
                      <a:lnTo>
                        <a:pt x="39" y="54"/>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28" name="Freeform 572"/>
                <p:cNvSpPr>
                  <a:spLocks/>
                </p:cNvSpPr>
                <p:nvPr/>
              </p:nvSpPr>
              <p:spPr bwMode="auto">
                <a:xfrm>
                  <a:off x="3740" y="2404"/>
                  <a:ext cx="31" cy="43"/>
                </a:xfrm>
                <a:custGeom>
                  <a:avLst/>
                  <a:gdLst/>
                  <a:ahLst/>
                  <a:cxnLst>
                    <a:cxn ang="0">
                      <a:pos x="39" y="0"/>
                    </a:cxn>
                    <a:cxn ang="0">
                      <a:pos x="33" y="0"/>
                    </a:cxn>
                    <a:cxn ang="0">
                      <a:pos x="30" y="1"/>
                    </a:cxn>
                    <a:cxn ang="0">
                      <a:pos x="27" y="3"/>
                    </a:cxn>
                    <a:cxn ang="0">
                      <a:pos x="23" y="4"/>
                    </a:cxn>
                    <a:cxn ang="0">
                      <a:pos x="19" y="7"/>
                    </a:cxn>
                    <a:cxn ang="0">
                      <a:pos x="16" y="9"/>
                    </a:cxn>
                    <a:cxn ang="0">
                      <a:pos x="13" y="13"/>
                    </a:cxn>
                    <a:cxn ang="0">
                      <a:pos x="11" y="15"/>
                    </a:cxn>
                    <a:cxn ang="0">
                      <a:pos x="8" y="20"/>
                    </a:cxn>
                    <a:cxn ang="0">
                      <a:pos x="6" y="24"/>
                    </a:cxn>
                    <a:cxn ang="0">
                      <a:pos x="4" y="29"/>
                    </a:cxn>
                    <a:cxn ang="0">
                      <a:pos x="3" y="33"/>
                    </a:cxn>
                    <a:cxn ang="0">
                      <a:pos x="1" y="39"/>
                    </a:cxn>
                    <a:cxn ang="0">
                      <a:pos x="0" y="44"/>
                    </a:cxn>
                    <a:cxn ang="0">
                      <a:pos x="0" y="48"/>
                    </a:cxn>
                    <a:cxn ang="0">
                      <a:pos x="0" y="54"/>
                    </a:cxn>
                  </a:cxnLst>
                  <a:rect l="0" t="0" r="r" b="b"/>
                  <a:pathLst>
                    <a:path w="40" h="55">
                      <a:moveTo>
                        <a:pt x="39" y="0"/>
                      </a:moveTo>
                      <a:lnTo>
                        <a:pt x="33" y="0"/>
                      </a:lnTo>
                      <a:lnTo>
                        <a:pt x="30" y="1"/>
                      </a:lnTo>
                      <a:lnTo>
                        <a:pt x="27" y="3"/>
                      </a:lnTo>
                      <a:lnTo>
                        <a:pt x="23" y="4"/>
                      </a:lnTo>
                      <a:lnTo>
                        <a:pt x="19" y="7"/>
                      </a:lnTo>
                      <a:lnTo>
                        <a:pt x="16" y="9"/>
                      </a:lnTo>
                      <a:lnTo>
                        <a:pt x="13" y="13"/>
                      </a:lnTo>
                      <a:lnTo>
                        <a:pt x="11" y="15"/>
                      </a:lnTo>
                      <a:lnTo>
                        <a:pt x="8" y="20"/>
                      </a:lnTo>
                      <a:lnTo>
                        <a:pt x="6" y="24"/>
                      </a:lnTo>
                      <a:lnTo>
                        <a:pt x="4" y="29"/>
                      </a:lnTo>
                      <a:lnTo>
                        <a:pt x="3" y="33"/>
                      </a:lnTo>
                      <a:lnTo>
                        <a:pt x="1" y="39"/>
                      </a:lnTo>
                      <a:lnTo>
                        <a:pt x="0" y="44"/>
                      </a:lnTo>
                      <a:lnTo>
                        <a:pt x="0" y="48"/>
                      </a:lnTo>
                      <a:lnTo>
                        <a:pt x="0" y="54"/>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29" name="Line 573"/>
                <p:cNvSpPr>
                  <a:spLocks noChangeShapeType="1"/>
                </p:cNvSpPr>
                <p:nvPr/>
              </p:nvSpPr>
              <p:spPr bwMode="auto">
                <a:xfrm>
                  <a:off x="3872" y="2402"/>
                  <a:ext cx="0" cy="41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30" name="Line 574"/>
                <p:cNvSpPr>
                  <a:spLocks noChangeShapeType="1"/>
                </p:cNvSpPr>
                <p:nvPr/>
              </p:nvSpPr>
              <p:spPr bwMode="auto">
                <a:xfrm>
                  <a:off x="3740" y="2446"/>
                  <a:ext cx="0" cy="32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31" name="Line 575"/>
                <p:cNvSpPr>
                  <a:spLocks noChangeShapeType="1"/>
                </p:cNvSpPr>
                <p:nvPr/>
              </p:nvSpPr>
              <p:spPr bwMode="auto">
                <a:xfrm flipH="1">
                  <a:off x="3889" y="2750"/>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32" name="Line 576"/>
                <p:cNvSpPr>
                  <a:spLocks noChangeShapeType="1"/>
                </p:cNvSpPr>
                <p:nvPr/>
              </p:nvSpPr>
              <p:spPr bwMode="auto">
                <a:xfrm flipH="1">
                  <a:off x="3889" y="2771"/>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33" name="Line 577"/>
                <p:cNvSpPr>
                  <a:spLocks noChangeShapeType="1"/>
                </p:cNvSpPr>
                <p:nvPr/>
              </p:nvSpPr>
              <p:spPr bwMode="auto">
                <a:xfrm flipH="1">
                  <a:off x="3887" y="2788"/>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34" name="Line 578"/>
                <p:cNvSpPr>
                  <a:spLocks noChangeShapeType="1"/>
                </p:cNvSpPr>
                <p:nvPr/>
              </p:nvSpPr>
              <p:spPr bwMode="auto">
                <a:xfrm flipH="1">
                  <a:off x="3887" y="2728"/>
                  <a:ext cx="28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35" name="Line 579"/>
                <p:cNvSpPr>
                  <a:spLocks noChangeShapeType="1"/>
                </p:cNvSpPr>
                <p:nvPr/>
              </p:nvSpPr>
              <p:spPr bwMode="auto">
                <a:xfrm flipH="1">
                  <a:off x="3890" y="2691"/>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36" name="Line 580"/>
                <p:cNvSpPr>
                  <a:spLocks noChangeShapeType="1"/>
                </p:cNvSpPr>
                <p:nvPr/>
              </p:nvSpPr>
              <p:spPr bwMode="auto">
                <a:xfrm flipH="1">
                  <a:off x="3890" y="2520"/>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37" name="Line 581"/>
                <p:cNvSpPr>
                  <a:spLocks noChangeShapeType="1"/>
                </p:cNvSpPr>
                <p:nvPr/>
              </p:nvSpPr>
              <p:spPr bwMode="auto">
                <a:xfrm>
                  <a:off x="3890" y="2637"/>
                  <a:ext cx="8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38" name="Line 582"/>
                <p:cNvSpPr>
                  <a:spLocks noChangeShapeType="1"/>
                </p:cNvSpPr>
                <p:nvPr/>
              </p:nvSpPr>
              <p:spPr bwMode="auto">
                <a:xfrm>
                  <a:off x="3890" y="2576"/>
                  <a:ext cx="8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39" name="Line 583"/>
                <p:cNvSpPr>
                  <a:spLocks noChangeShapeType="1"/>
                </p:cNvSpPr>
                <p:nvPr/>
              </p:nvSpPr>
              <p:spPr bwMode="auto">
                <a:xfrm>
                  <a:off x="4109" y="2637"/>
                  <a:ext cx="6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40" name="Line 584"/>
                <p:cNvSpPr>
                  <a:spLocks noChangeShapeType="1"/>
                </p:cNvSpPr>
                <p:nvPr/>
              </p:nvSpPr>
              <p:spPr bwMode="auto">
                <a:xfrm>
                  <a:off x="4109" y="2576"/>
                  <a:ext cx="6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41" name="Line 585"/>
                <p:cNvSpPr>
                  <a:spLocks noChangeShapeType="1"/>
                </p:cNvSpPr>
                <p:nvPr/>
              </p:nvSpPr>
              <p:spPr bwMode="auto">
                <a:xfrm flipH="1">
                  <a:off x="3770" y="2817"/>
                  <a:ext cx="10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42" name="Line 586"/>
                <p:cNvSpPr>
                  <a:spLocks noChangeShapeType="1"/>
                </p:cNvSpPr>
                <p:nvPr/>
              </p:nvSpPr>
              <p:spPr bwMode="auto">
                <a:xfrm flipH="1">
                  <a:off x="3889" y="2460"/>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43" name="Line 587"/>
                <p:cNvSpPr>
                  <a:spLocks noChangeShapeType="1"/>
                </p:cNvSpPr>
                <p:nvPr/>
              </p:nvSpPr>
              <p:spPr bwMode="auto">
                <a:xfrm flipH="1">
                  <a:off x="3889" y="2440"/>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44" name="Line 588"/>
                <p:cNvSpPr>
                  <a:spLocks noChangeShapeType="1"/>
                </p:cNvSpPr>
                <p:nvPr/>
              </p:nvSpPr>
              <p:spPr bwMode="auto">
                <a:xfrm flipH="1">
                  <a:off x="3887" y="2422"/>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45" name="Line 589"/>
                <p:cNvSpPr>
                  <a:spLocks noChangeShapeType="1"/>
                </p:cNvSpPr>
                <p:nvPr/>
              </p:nvSpPr>
              <p:spPr bwMode="auto">
                <a:xfrm flipH="1">
                  <a:off x="3887" y="2484"/>
                  <a:ext cx="28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46" name="Line 590"/>
                <p:cNvSpPr>
                  <a:spLocks noChangeShapeType="1"/>
                </p:cNvSpPr>
                <p:nvPr/>
              </p:nvSpPr>
              <p:spPr bwMode="auto">
                <a:xfrm flipH="1">
                  <a:off x="3770" y="2402"/>
                  <a:ext cx="102" cy="0"/>
                </a:xfrm>
                <a:prstGeom prst="line">
                  <a:avLst/>
                </a:prstGeom>
                <a:noFill/>
                <a:ln w="12700">
                  <a:solidFill>
                    <a:srgbClr val="000000"/>
                  </a:solidFill>
                  <a:round/>
                  <a:headEnd type="none" w="sm" len="sm"/>
                  <a:tailEnd type="none" w="sm" len="sm"/>
                </a:ln>
                <a:effectLst/>
              </p:spPr>
              <p:txBody>
                <a:bodyPr wrap="none" anchor="ctr"/>
                <a:lstStyle/>
                <a:p>
                  <a:endParaRPr lang="en-US"/>
                </a:p>
              </p:txBody>
            </p:sp>
          </p:grpSp>
          <p:sp>
            <p:nvSpPr>
              <p:cNvPr id="941647" name="Line 591"/>
              <p:cNvSpPr>
                <a:spLocks noChangeShapeType="1"/>
              </p:cNvSpPr>
              <p:nvPr/>
            </p:nvSpPr>
            <p:spPr bwMode="auto">
              <a:xfrm>
                <a:off x="4199" y="2570"/>
                <a:ext cx="4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48" name="Line 592"/>
              <p:cNvSpPr>
                <a:spLocks noChangeShapeType="1"/>
              </p:cNvSpPr>
              <p:nvPr/>
            </p:nvSpPr>
            <p:spPr bwMode="auto">
              <a:xfrm>
                <a:off x="4199" y="2641"/>
                <a:ext cx="4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49" name="Line 593"/>
              <p:cNvSpPr>
                <a:spLocks noChangeShapeType="1"/>
              </p:cNvSpPr>
              <p:nvPr/>
            </p:nvSpPr>
            <p:spPr bwMode="auto">
              <a:xfrm>
                <a:off x="4241" y="2657"/>
                <a:ext cx="3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50" name="Line 594"/>
              <p:cNvSpPr>
                <a:spLocks noChangeShapeType="1"/>
              </p:cNvSpPr>
              <p:nvPr/>
            </p:nvSpPr>
            <p:spPr bwMode="auto">
              <a:xfrm>
                <a:off x="4241" y="2557"/>
                <a:ext cx="3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51" name="Line 595"/>
              <p:cNvSpPr>
                <a:spLocks noChangeShapeType="1"/>
              </p:cNvSpPr>
              <p:nvPr/>
            </p:nvSpPr>
            <p:spPr bwMode="auto">
              <a:xfrm>
                <a:off x="4241" y="2557"/>
                <a:ext cx="0" cy="84"/>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52" name="Line 596"/>
              <p:cNvSpPr>
                <a:spLocks noChangeShapeType="1"/>
              </p:cNvSpPr>
              <p:nvPr/>
            </p:nvSpPr>
            <p:spPr bwMode="auto">
              <a:xfrm>
                <a:off x="4241" y="2641"/>
                <a:ext cx="0" cy="16"/>
              </a:xfrm>
              <a:prstGeom prst="line">
                <a:avLst/>
              </a:prstGeom>
              <a:noFill/>
              <a:ln w="12700">
                <a:solidFill>
                  <a:srgbClr val="000000"/>
                </a:solidFill>
                <a:round/>
                <a:headEnd type="none" w="sm" len="sm"/>
                <a:tailEnd type="none" w="sm" len="sm"/>
              </a:ln>
              <a:effectLst/>
            </p:spPr>
            <p:txBody>
              <a:bodyPr wrap="none" anchor="ctr"/>
              <a:lstStyle/>
              <a:p>
                <a:endParaRPr lang="en-US"/>
              </a:p>
            </p:txBody>
          </p:sp>
        </p:grpSp>
        <p:sp>
          <p:nvSpPr>
            <p:cNvPr id="941653" name="Line 597"/>
            <p:cNvSpPr>
              <a:spLocks noChangeShapeType="1"/>
            </p:cNvSpPr>
            <p:nvPr/>
          </p:nvSpPr>
          <p:spPr bwMode="auto">
            <a:xfrm>
              <a:off x="3744" y="2610"/>
              <a:ext cx="554" cy="0"/>
            </a:xfrm>
            <a:prstGeom prst="line">
              <a:avLst/>
            </a:prstGeom>
            <a:noFill/>
            <a:ln w="25400">
              <a:solidFill>
                <a:srgbClr val="FF0000"/>
              </a:solidFill>
              <a:prstDash val="sysDot"/>
              <a:round/>
              <a:headEnd type="none" w="sm" len="sm"/>
              <a:tailEnd type="none" w="sm" len="sm"/>
            </a:ln>
            <a:effectLst/>
          </p:spPr>
          <p:txBody>
            <a:bodyPr wrap="none" anchor="ctr"/>
            <a:lstStyle/>
            <a:p>
              <a:endParaRPr lang="en-US"/>
            </a:p>
          </p:txBody>
        </p:sp>
      </p:grpSp>
      <p:grpSp>
        <p:nvGrpSpPr>
          <p:cNvPr id="941654" name="Group 598"/>
          <p:cNvGrpSpPr>
            <a:grpSpLocks/>
          </p:cNvGrpSpPr>
          <p:nvPr/>
        </p:nvGrpSpPr>
        <p:grpSpPr bwMode="auto">
          <a:xfrm rot="264600" flipV="1">
            <a:off x="2994025" y="3360738"/>
            <a:ext cx="1857375" cy="1365250"/>
            <a:chOff x="3740" y="2402"/>
            <a:chExt cx="566" cy="416"/>
          </a:xfrm>
        </p:grpSpPr>
        <p:grpSp>
          <p:nvGrpSpPr>
            <p:cNvPr id="941655" name="Group 599"/>
            <p:cNvGrpSpPr>
              <a:grpSpLocks/>
            </p:cNvGrpSpPr>
            <p:nvPr/>
          </p:nvGrpSpPr>
          <p:grpSpPr bwMode="auto">
            <a:xfrm>
              <a:off x="3740" y="2402"/>
              <a:ext cx="566" cy="416"/>
              <a:chOff x="3740" y="2402"/>
              <a:chExt cx="566" cy="416"/>
            </a:xfrm>
          </p:grpSpPr>
          <p:sp>
            <p:nvSpPr>
              <p:cNvPr id="941656" name="Freeform 600"/>
              <p:cNvSpPr>
                <a:spLocks/>
              </p:cNvSpPr>
              <p:nvPr/>
            </p:nvSpPr>
            <p:spPr bwMode="auto">
              <a:xfrm>
                <a:off x="4277" y="2513"/>
                <a:ext cx="29" cy="187"/>
              </a:xfrm>
              <a:custGeom>
                <a:avLst/>
                <a:gdLst/>
                <a:ahLst/>
                <a:cxnLst>
                  <a:cxn ang="0">
                    <a:pos x="0" y="238"/>
                  </a:cxn>
                  <a:cxn ang="0">
                    <a:pos x="0" y="0"/>
                  </a:cxn>
                  <a:cxn ang="0">
                    <a:pos x="36" y="0"/>
                  </a:cxn>
                  <a:cxn ang="0">
                    <a:pos x="36" y="238"/>
                  </a:cxn>
                  <a:cxn ang="0">
                    <a:pos x="0" y="238"/>
                  </a:cxn>
                </a:cxnLst>
                <a:rect l="0" t="0" r="r" b="b"/>
                <a:pathLst>
                  <a:path w="37" h="239">
                    <a:moveTo>
                      <a:pt x="0" y="238"/>
                    </a:moveTo>
                    <a:lnTo>
                      <a:pt x="0" y="0"/>
                    </a:lnTo>
                    <a:lnTo>
                      <a:pt x="36" y="0"/>
                    </a:lnTo>
                    <a:lnTo>
                      <a:pt x="36" y="238"/>
                    </a:lnTo>
                    <a:lnTo>
                      <a:pt x="0" y="238"/>
                    </a:lnTo>
                  </a:path>
                </a:pathLst>
              </a:custGeom>
              <a:noFill/>
              <a:ln w="12700" cap="rnd" cmpd="sng">
                <a:solidFill>
                  <a:srgbClr val="000000"/>
                </a:solidFill>
                <a:prstDash val="solid"/>
                <a:round/>
                <a:headEnd/>
                <a:tailEnd/>
              </a:ln>
              <a:effectLst/>
            </p:spPr>
            <p:txBody>
              <a:bodyPr/>
              <a:lstStyle/>
              <a:p>
                <a:endParaRPr lang="en-US"/>
              </a:p>
            </p:txBody>
          </p:sp>
          <p:grpSp>
            <p:nvGrpSpPr>
              <p:cNvPr id="941657" name="Group 601"/>
              <p:cNvGrpSpPr>
                <a:grpSpLocks/>
              </p:cNvGrpSpPr>
              <p:nvPr/>
            </p:nvGrpSpPr>
            <p:grpSpPr bwMode="auto">
              <a:xfrm>
                <a:off x="3740" y="2402"/>
                <a:ext cx="459" cy="416"/>
                <a:chOff x="3740" y="2402"/>
                <a:chExt cx="459" cy="416"/>
              </a:xfrm>
            </p:grpSpPr>
            <p:sp>
              <p:nvSpPr>
                <p:cNvPr id="941658" name="Freeform 602"/>
                <p:cNvSpPr>
                  <a:spLocks/>
                </p:cNvSpPr>
                <p:nvPr/>
              </p:nvSpPr>
              <p:spPr bwMode="auto">
                <a:xfrm>
                  <a:off x="3872" y="2419"/>
                  <a:ext cx="313" cy="374"/>
                </a:xfrm>
                <a:custGeom>
                  <a:avLst/>
                  <a:gdLst/>
                  <a:ahLst/>
                  <a:cxnLst>
                    <a:cxn ang="0">
                      <a:pos x="0" y="477"/>
                    </a:cxn>
                    <a:cxn ang="0">
                      <a:pos x="0" y="0"/>
                    </a:cxn>
                    <a:cxn ang="0">
                      <a:pos x="399" y="0"/>
                    </a:cxn>
                  </a:cxnLst>
                  <a:rect l="0" t="0" r="r" b="b"/>
                  <a:pathLst>
                    <a:path w="400" h="478">
                      <a:moveTo>
                        <a:pt x="0" y="477"/>
                      </a:moveTo>
                      <a:lnTo>
                        <a:pt x="0" y="0"/>
                      </a:lnTo>
                      <a:lnTo>
                        <a:pt x="399"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59" name="Freeform 603"/>
                <p:cNvSpPr>
                  <a:spLocks/>
                </p:cNvSpPr>
                <p:nvPr/>
              </p:nvSpPr>
              <p:spPr bwMode="auto">
                <a:xfrm>
                  <a:off x="4184" y="2420"/>
                  <a:ext cx="15" cy="21"/>
                </a:xfrm>
                <a:custGeom>
                  <a:avLst/>
                  <a:gdLst/>
                  <a:ahLst/>
                  <a:cxnLst>
                    <a:cxn ang="0">
                      <a:pos x="18" y="26"/>
                    </a:cxn>
                    <a:cxn ang="0">
                      <a:pos x="17" y="24"/>
                    </a:cxn>
                    <a:cxn ang="0">
                      <a:pos x="17" y="20"/>
                    </a:cxn>
                    <a:cxn ang="0">
                      <a:pos x="16" y="19"/>
                    </a:cxn>
                    <a:cxn ang="0">
                      <a:pos x="16" y="15"/>
                    </a:cxn>
                    <a:cxn ang="0">
                      <a:pos x="14" y="13"/>
                    </a:cxn>
                    <a:cxn ang="0">
                      <a:pos x="14" y="12"/>
                    </a:cxn>
                    <a:cxn ang="0">
                      <a:pos x="12" y="10"/>
                    </a:cxn>
                    <a:cxn ang="0">
                      <a:pos x="12" y="6"/>
                    </a:cxn>
                    <a:cxn ang="0">
                      <a:pos x="10" y="6"/>
                    </a:cxn>
                    <a:cxn ang="0">
                      <a:pos x="9" y="5"/>
                    </a:cxn>
                    <a:cxn ang="0">
                      <a:pos x="7" y="4"/>
                    </a:cxn>
                    <a:cxn ang="0">
                      <a:pos x="6" y="2"/>
                    </a:cxn>
                    <a:cxn ang="0">
                      <a:pos x="4" y="2"/>
                    </a:cxn>
                    <a:cxn ang="0">
                      <a:pos x="3" y="1"/>
                    </a:cxn>
                    <a:cxn ang="0">
                      <a:pos x="1" y="1"/>
                    </a:cxn>
                    <a:cxn ang="0">
                      <a:pos x="0" y="0"/>
                    </a:cxn>
                  </a:cxnLst>
                  <a:rect l="0" t="0" r="r" b="b"/>
                  <a:pathLst>
                    <a:path w="19" h="27">
                      <a:moveTo>
                        <a:pt x="18" y="26"/>
                      </a:moveTo>
                      <a:lnTo>
                        <a:pt x="17" y="24"/>
                      </a:lnTo>
                      <a:lnTo>
                        <a:pt x="17" y="20"/>
                      </a:lnTo>
                      <a:lnTo>
                        <a:pt x="16" y="19"/>
                      </a:lnTo>
                      <a:lnTo>
                        <a:pt x="16" y="15"/>
                      </a:lnTo>
                      <a:lnTo>
                        <a:pt x="14" y="13"/>
                      </a:lnTo>
                      <a:lnTo>
                        <a:pt x="14" y="12"/>
                      </a:lnTo>
                      <a:lnTo>
                        <a:pt x="12" y="10"/>
                      </a:lnTo>
                      <a:lnTo>
                        <a:pt x="12" y="6"/>
                      </a:lnTo>
                      <a:lnTo>
                        <a:pt x="10" y="6"/>
                      </a:lnTo>
                      <a:lnTo>
                        <a:pt x="9" y="5"/>
                      </a:lnTo>
                      <a:lnTo>
                        <a:pt x="7" y="4"/>
                      </a:lnTo>
                      <a:lnTo>
                        <a:pt x="6" y="2"/>
                      </a:lnTo>
                      <a:lnTo>
                        <a:pt x="4" y="2"/>
                      </a:lnTo>
                      <a:lnTo>
                        <a:pt x="3" y="1"/>
                      </a:lnTo>
                      <a:lnTo>
                        <a:pt x="1" y="1"/>
                      </a:lnTo>
                      <a:lnTo>
                        <a:pt x="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60" name="Line 604"/>
                <p:cNvSpPr>
                  <a:spLocks noChangeShapeType="1"/>
                </p:cNvSpPr>
                <p:nvPr/>
              </p:nvSpPr>
              <p:spPr bwMode="auto">
                <a:xfrm>
                  <a:off x="4199" y="2440"/>
                  <a:ext cx="0" cy="33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61" name="Freeform 605"/>
                <p:cNvSpPr>
                  <a:spLocks/>
                </p:cNvSpPr>
                <p:nvPr/>
              </p:nvSpPr>
              <p:spPr bwMode="auto">
                <a:xfrm>
                  <a:off x="4184" y="2772"/>
                  <a:ext cx="15" cy="21"/>
                </a:xfrm>
                <a:custGeom>
                  <a:avLst/>
                  <a:gdLst/>
                  <a:ahLst/>
                  <a:cxnLst>
                    <a:cxn ang="0">
                      <a:pos x="0" y="26"/>
                    </a:cxn>
                    <a:cxn ang="0">
                      <a:pos x="1" y="26"/>
                    </a:cxn>
                    <a:cxn ang="0">
                      <a:pos x="3" y="26"/>
                    </a:cxn>
                    <a:cxn ang="0">
                      <a:pos x="4" y="26"/>
                    </a:cxn>
                    <a:cxn ang="0">
                      <a:pos x="6" y="24"/>
                    </a:cxn>
                    <a:cxn ang="0">
                      <a:pos x="7" y="23"/>
                    </a:cxn>
                    <a:cxn ang="0">
                      <a:pos x="9" y="21"/>
                    </a:cxn>
                    <a:cxn ang="0">
                      <a:pos x="10" y="19"/>
                    </a:cxn>
                    <a:cxn ang="0">
                      <a:pos x="12" y="18"/>
                    </a:cxn>
                    <a:cxn ang="0">
                      <a:pos x="12" y="16"/>
                    </a:cxn>
                    <a:cxn ang="0">
                      <a:pos x="14" y="14"/>
                    </a:cxn>
                    <a:cxn ang="0">
                      <a:pos x="14" y="13"/>
                    </a:cxn>
                    <a:cxn ang="0">
                      <a:pos x="16" y="10"/>
                    </a:cxn>
                    <a:cxn ang="0">
                      <a:pos x="16" y="8"/>
                    </a:cxn>
                    <a:cxn ang="0">
                      <a:pos x="17" y="5"/>
                    </a:cxn>
                    <a:cxn ang="0">
                      <a:pos x="17" y="3"/>
                    </a:cxn>
                    <a:cxn ang="0">
                      <a:pos x="18" y="0"/>
                    </a:cxn>
                  </a:cxnLst>
                  <a:rect l="0" t="0" r="r" b="b"/>
                  <a:pathLst>
                    <a:path w="19" h="27">
                      <a:moveTo>
                        <a:pt x="0" y="26"/>
                      </a:moveTo>
                      <a:lnTo>
                        <a:pt x="1" y="26"/>
                      </a:lnTo>
                      <a:lnTo>
                        <a:pt x="3" y="26"/>
                      </a:lnTo>
                      <a:lnTo>
                        <a:pt x="4" y="26"/>
                      </a:lnTo>
                      <a:lnTo>
                        <a:pt x="6" y="24"/>
                      </a:lnTo>
                      <a:lnTo>
                        <a:pt x="7" y="23"/>
                      </a:lnTo>
                      <a:lnTo>
                        <a:pt x="9" y="21"/>
                      </a:lnTo>
                      <a:lnTo>
                        <a:pt x="10" y="19"/>
                      </a:lnTo>
                      <a:lnTo>
                        <a:pt x="12" y="18"/>
                      </a:lnTo>
                      <a:lnTo>
                        <a:pt x="12" y="16"/>
                      </a:lnTo>
                      <a:lnTo>
                        <a:pt x="14" y="14"/>
                      </a:lnTo>
                      <a:lnTo>
                        <a:pt x="14" y="13"/>
                      </a:lnTo>
                      <a:lnTo>
                        <a:pt x="16" y="10"/>
                      </a:lnTo>
                      <a:lnTo>
                        <a:pt x="16" y="8"/>
                      </a:lnTo>
                      <a:lnTo>
                        <a:pt x="17" y="5"/>
                      </a:lnTo>
                      <a:lnTo>
                        <a:pt x="17" y="3"/>
                      </a:lnTo>
                      <a:lnTo>
                        <a:pt x="18"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62" name="Line 606"/>
                <p:cNvSpPr>
                  <a:spLocks noChangeShapeType="1"/>
                </p:cNvSpPr>
                <p:nvPr/>
              </p:nvSpPr>
              <p:spPr bwMode="auto">
                <a:xfrm flipH="1">
                  <a:off x="3872" y="2793"/>
                  <a:ext cx="31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63" name="Line 607"/>
                <p:cNvSpPr>
                  <a:spLocks noChangeShapeType="1"/>
                </p:cNvSpPr>
                <p:nvPr/>
              </p:nvSpPr>
              <p:spPr bwMode="auto">
                <a:xfrm flipV="1">
                  <a:off x="3986" y="2570"/>
                  <a:ext cx="0" cy="8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64" name="Freeform 608"/>
                <p:cNvSpPr>
                  <a:spLocks/>
                </p:cNvSpPr>
                <p:nvPr/>
              </p:nvSpPr>
              <p:spPr bwMode="auto">
                <a:xfrm>
                  <a:off x="3986" y="2550"/>
                  <a:ext cx="17" cy="21"/>
                </a:xfrm>
                <a:custGeom>
                  <a:avLst/>
                  <a:gdLst/>
                  <a:ahLst/>
                  <a:cxnLst>
                    <a:cxn ang="0">
                      <a:pos x="20" y="0"/>
                    </a:cxn>
                    <a:cxn ang="0">
                      <a:pos x="16" y="0"/>
                    </a:cxn>
                    <a:cxn ang="0">
                      <a:pos x="14" y="0"/>
                    </a:cxn>
                    <a:cxn ang="0">
                      <a:pos x="12" y="2"/>
                    </a:cxn>
                    <a:cxn ang="0">
                      <a:pos x="10" y="2"/>
                    </a:cxn>
                    <a:cxn ang="0">
                      <a:pos x="10" y="4"/>
                    </a:cxn>
                    <a:cxn ang="0">
                      <a:pos x="8" y="5"/>
                    </a:cxn>
                    <a:cxn ang="0">
                      <a:pos x="6" y="6"/>
                    </a:cxn>
                    <a:cxn ang="0">
                      <a:pos x="5" y="7"/>
                    </a:cxn>
                    <a:cxn ang="0">
                      <a:pos x="3" y="11"/>
                    </a:cxn>
                    <a:cxn ang="0">
                      <a:pos x="2" y="12"/>
                    </a:cxn>
                    <a:cxn ang="0">
                      <a:pos x="0" y="14"/>
                    </a:cxn>
                    <a:cxn ang="0">
                      <a:pos x="0" y="16"/>
                    </a:cxn>
                    <a:cxn ang="0">
                      <a:pos x="0" y="19"/>
                    </a:cxn>
                    <a:cxn ang="0">
                      <a:pos x="0" y="20"/>
                    </a:cxn>
                    <a:cxn ang="0">
                      <a:pos x="0" y="24"/>
                    </a:cxn>
                    <a:cxn ang="0">
                      <a:pos x="0" y="26"/>
                    </a:cxn>
                  </a:cxnLst>
                  <a:rect l="0" t="0" r="r" b="b"/>
                  <a:pathLst>
                    <a:path w="21" h="27">
                      <a:moveTo>
                        <a:pt x="20" y="0"/>
                      </a:moveTo>
                      <a:lnTo>
                        <a:pt x="16" y="0"/>
                      </a:lnTo>
                      <a:lnTo>
                        <a:pt x="14" y="0"/>
                      </a:lnTo>
                      <a:lnTo>
                        <a:pt x="12" y="2"/>
                      </a:lnTo>
                      <a:lnTo>
                        <a:pt x="10" y="2"/>
                      </a:lnTo>
                      <a:lnTo>
                        <a:pt x="10" y="4"/>
                      </a:lnTo>
                      <a:lnTo>
                        <a:pt x="8" y="5"/>
                      </a:lnTo>
                      <a:lnTo>
                        <a:pt x="6" y="6"/>
                      </a:lnTo>
                      <a:lnTo>
                        <a:pt x="5" y="7"/>
                      </a:lnTo>
                      <a:lnTo>
                        <a:pt x="3" y="11"/>
                      </a:lnTo>
                      <a:lnTo>
                        <a:pt x="2" y="12"/>
                      </a:lnTo>
                      <a:lnTo>
                        <a:pt x="0" y="14"/>
                      </a:lnTo>
                      <a:lnTo>
                        <a:pt x="0" y="16"/>
                      </a:lnTo>
                      <a:lnTo>
                        <a:pt x="0" y="19"/>
                      </a:lnTo>
                      <a:lnTo>
                        <a:pt x="0" y="20"/>
                      </a:lnTo>
                      <a:lnTo>
                        <a:pt x="0" y="24"/>
                      </a:lnTo>
                      <a:lnTo>
                        <a:pt x="0" y="26"/>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65" name="Line 609"/>
                <p:cNvSpPr>
                  <a:spLocks noChangeShapeType="1"/>
                </p:cNvSpPr>
                <p:nvPr/>
              </p:nvSpPr>
              <p:spPr bwMode="auto">
                <a:xfrm>
                  <a:off x="4002" y="2548"/>
                  <a:ext cx="8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66" name="Freeform 610"/>
                <p:cNvSpPr>
                  <a:spLocks/>
                </p:cNvSpPr>
                <p:nvPr/>
              </p:nvSpPr>
              <p:spPr bwMode="auto">
                <a:xfrm>
                  <a:off x="4087" y="2550"/>
                  <a:ext cx="17" cy="21"/>
                </a:xfrm>
                <a:custGeom>
                  <a:avLst/>
                  <a:gdLst/>
                  <a:ahLst/>
                  <a:cxnLst>
                    <a:cxn ang="0">
                      <a:pos x="20" y="26"/>
                    </a:cxn>
                    <a:cxn ang="0">
                      <a:pos x="18" y="24"/>
                    </a:cxn>
                    <a:cxn ang="0">
                      <a:pos x="18" y="20"/>
                    </a:cxn>
                    <a:cxn ang="0">
                      <a:pos x="17" y="19"/>
                    </a:cxn>
                    <a:cxn ang="0">
                      <a:pos x="17" y="16"/>
                    </a:cxn>
                    <a:cxn ang="0">
                      <a:pos x="15" y="14"/>
                    </a:cxn>
                    <a:cxn ang="0">
                      <a:pos x="14" y="12"/>
                    </a:cxn>
                    <a:cxn ang="0">
                      <a:pos x="12" y="11"/>
                    </a:cxn>
                    <a:cxn ang="0">
                      <a:pos x="12" y="7"/>
                    </a:cxn>
                    <a:cxn ang="0">
                      <a:pos x="10" y="6"/>
                    </a:cxn>
                    <a:cxn ang="0">
                      <a:pos x="9" y="5"/>
                    </a:cxn>
                    <a:cxn ang="0">
                      <a:pos x="7" y="4"/>
                    </a:cxn>
                    <a:cxn ang="0">
                      <a:pos x="6" y="2"/>
                    </a:cxn>
                    <a:cxn ang="0">
                      <a:pos x="4" y="2"/>
                    </a:cxn>
                    <a:cxn ang="0">
                      <a:pos x="3" y="0"/>
                    </a:cxn>
                    <a:cxn ang="0">
                      <a:pos x="1" y="0"/>
                    </a:cxn>
                    <a:cxn ang="0">
                      <a:pos x="0" y="0"/>
                    </a:cxn>
                  </a:cxnLst>
                  <a:rect l="0" t="0" r="r" b="b"/>
                  <a:pathLst>
                    <a:path w="21" h="27">
                      <a:moveTo>
                        <a:pt x="20" y="26"/>
                      </a:moveTo>
                      <a:lnTo>
                        <a:pt x="18" y="24"/>
                      </a:lnTo>
                      <a:lnTo>
                        <a:pt x="18" y="20"/>
                      </a:lnTo>
                      <a:lnTo>
                        <a:pt x="17" y="19"/>
                      </a:lnTo>
                      <a:lnTo>
                        <a:pt x="17" y="16"/>
                      </a:lnTo>
                      <a:lnTo>
                        <a:pt x="15" y="14"/>
                      </a:lnTo>
                      <a:lnTo>
                        <a:pt x="14" y="12"/>
                      </a:lnTo>
                      <a:lnTo>
                        <a:pt x="12" y="11"/>
                      </a:lnTo>
                      <a:lnTo>
                        <a:pt x="12" y="7"/>
                      </a:lnTo>
                      <a:lnTo>
                        <a:pt x="10" y="6"/>
                      </a:lnTo>
                      <a:lnTo>
                        <a:pt x="9" y="5"/>
                      </a:lnTo>
                      <a:lnTo>
                        <a:pt x="7" y="4"/>
                      </a:lnTo>
                      <a:lnTo>
                        <a:pt x="6" y="2"/>
                      </a:lnTo>
                      <a:lnTo>
                        <a:pt x="4" y="2"/>
                      </a:lnTo>
                      <a:lnTo>
                        <a:pt x="3" y="0"/>
                      </a:lnTo>
                      <a:lnTo>
                        <a:pt x="1" y="0"/>
                      </a:lnTo>
                      <a:lnTo>
                        <a:pt x="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67" name="Line 611"/>
                <p:cNvSpPr>
                  <a:spLocks noChangeShapeType="1"/>
                </p:cNvSpPr>
                <p:nvPr/>
              </p:nvSpPr>
              <p:spPr bwMode="auto">
                <a:xfrm>
                  <a:off x="4103" y="2570"/>
                  <a:ext cx="0" cy="8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68" name="Freeform 612"/>
                <p:cNvSpPr>
                  <a:spLocks/>
                </p:cNvSpPr>
                <p:nvPr/>
              </p:nvSpPr>
              <p:spPr bwMode="auto">
                <a:xfrm>
                  <a:off x="4087" y="2655"/>
                  <a:ext cx="17" cy="22"/>
                </a:xfrm>
                <a:custGeom>
                  <a:avLst/>
                  <a:gdLst/>
                  <a:ahLst/>
                  <a:cxnLst>
                    <a:cxn ang="0">
                      <a:pos x="0" y="27"/>
                    </a:cxn>
                    <a:cxn ang="0">
                      <a:pos x="1" y="27"/>
                    </a:cxn>
                    <a:cxn ang="0">
                      <a:pos x="3" y="27"/>
                    </a:cxn>
                    <a:cxn ang="0">
                      <a:pos x="4" y="27"/>
                    </a:cxn>
                    <a:cxn ang="0">
                      <a:pos x="6" y="25"/>
                    </a:cxn>
                    <a:cxn ang="0">
                      <a:pos x="7" y="24"/>
                    </a:cxn>
                    <a:cxn ang="0">
                      <a:pos x="9" y="23"/>
                    </a:cxn>
                    <a:cxn ang="0">
                      <a:pos x="10" y="21"/>
                    </a:cxn>
                    <a:cxn ang="0">
                      <a:pos x="12" y="19"/>
                    </a:cxn>
                    <a:cxn ang="0">
                      <a:pos x="12" y="17"/>
                    </a:cxn>
                    <a:cxn ang="0">
                      <a:pos x="14" y="15"/>
                    </a:cxn>
                    <a:cxn ang="0">
                      <a:pos x="15" y="14"/>
                    </a:cxn>
                    <a:cxn ang="0">
                      <a:pos x="17" y="11"/>
                    </a:cxn>
                    <a:cxn ang="0">
                      <a:pos x="17" y="9"/>
                    </a:cxn>
                    <a:cxn ang="0">
                      <a:pos x="18" y="6"/>
                    </a:cxn>
                    <a:cxn ang="0">
                      <a:pos x="18" y="3"/>
                    </a:cxn>
                    <a:cxn ang="0">
                      <a:pos x="20" y="0"/>
                    </a:cxn>
                  </a:cxnLst>
                  <a:rect l="0" t="0" r="r" b="b"/>
                  <a:pathLst>
                    <a:path w="21" h="28">
                      <a:moveTo>
                        <a:pt x="0" y="27"/>
                      </a:moveTo>
                      <a:lnTo>
                        <a:pt x="1" y="27"/>
                      </a:lnTo>
                      <a:lnTo>
                        <a:pt x="3" y="27"/>
                      </a:lnTo>
                      <a:lnTo>
                        <a:pt x="4" y="27"/>
                      </a:lnTo>
                      <a:lnTo>
                        <a:pt x="6" y="25"/>
                      </a:lnTo>
                      <a:lnTo>
                        <a:pt x="7" y="24"/>
                      </a:lnTo>
                      <a:lnTo>
                        <a:pt x="9" y="23"/>
                      </a:lnTo>
                      <a:lnTo>
                        <a:pt x="10" y="21"/>
                      </a:lnTo>
                      <a:lnTo>
                        <a:pt x="12" y="19"/>
                      </a:lnTo>
                      <a:lnTo>
                        <a:pt x="12" y="17"/>
                      </a:lnTo>
                      <a:lnTo>
                        <a:pt x="14" y="15"/>
                      </a:lnTo>
                      <a:lnTo>
                        <a:pt x="15" y="14"/>
                      </a:lnTo>
                      <a:lnTo>
                        <a:pt x="17" y="11"/>
                      </a:lnTo>
                      <a:lnTo>
                        <a:pt x="17" y="9"/>
                      </a:lnTo>
                      <a:lnTo>
                        <a:pt x="18" y="6"/>
                      </a:lnTo>
                      <a:lnTo>
                        <a:pt x="18" y="3"/>
                      </a:lnTo>
                      <a:lnTo>
                        <a:pt x="2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69" name="Line 613"/>
                <p:cNvSpPr>
                  <a:spLocks noChangeShapeType="1"/>
                </p:cNvSpPr>
                <p:nvPr/>
              </p:nvSpPr>
              <p:spPr bwMode="auto">
                <a:xfrm flipH="1">
                  <a:off x="4002" y="2676"/>
                  <a:ext cx="8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70" name="Freeform 614"/>
                <p:cNvSpPr>
                  <a:spLocks/>
                </p:cNvSpPr>
                <p:nvPr/>
              </p:nvSpPr>
              <p:spPr bwMode="auto">
                <a:xfrm>
                  <a:off x="3986" y="2655"/>
                  <a:ext cx="17" cy="22"/>
                </a:xfrm>
                <a:custGeom>
                  <a:avLst/>
                  <a:gdLst/>
                  <a:ahLst/>
                  <a:cxnLst>
                    <a:cxn ang="0">
                      <a:pos x="0" y="0"/>
                    </a:cxn>
                    <a:cxn ang="0">
                      <a:pos x="0" y="3"/>
                    </a:cxn>
                    <a:cxn ang="0">
                      <a:pos x="0" y="6"/>
                    </a:cxn>
                    <a:cxn ang="0">
                      <a:pos x="0" y="10"/>
                    </a:cxn>
                    <a:cxn ang="0">
                      <a:pos x="0" y="12"/>
                    </a:cxn>
                    <a:cxn ang="0">
                      <a:pos x="0" y="14"/>
                    </a:cxn>
                    <a:cxn ang="0">
                      <a:pos x="2" y="16"/>
                    </a:cxn>
                    <a:cxn ang="0">
                      <a:pos x="3" y="18"/>
                    </a:cxn>
                    <a:cxn ang="0">
                      <a:pos x="5" y="20"/>
                    </a:cxn>
                    <a:cxn ang="0">
                      <a:pos x="6" y="21"/>
                    </a:cxn>
                    <a:cxn ang="0">
                      <a:pos x="8" y="23"/>
                    </a:cxn>
                    <a:cxn ang="0">
                      <a:pos x="10" y="24"/>
                    </a:cxn>
                    <a:cxn ang="0">
                      <a:pos x="10" y="25"/>
                    </a:cxn>
                    <a:cxn ang="0">
                      <a:pos x="12" y="27"/>
                    </a:cxn>
                    <a:cxn ang="0">
                      <a:pos x="14" y="27"/>
                    </a:cxn>
                    <a:cxn ang="0">
                      <a:pos x="16" y="27"/>
                    </a:cxn>
                    <a:cxn ang="0">
                      <a:pos x="20" y="27"/>
                    </a:cxn>
                  </a:cxnLst>
                  <a:rect l="0" t="0" r="r" b="b"/>
                  <a:pathLst>
                    <a:path w="21" h="28">
                      <a:moveTo>
                        <a:pt x="0" y="0"/>
                      </a:moveTo>
                      <a:lnTo>
                        <a:pt x="0" y="3"/>
                      </a:lnTo>
                      <a:lnTo>
                        <a:pt x="0" y="6"/>
                      </a:lnTo>
                      <a:lnTo>
                        <a:pt x="0" y="10"/>
                      </a:lnTo>
                      <a:lnTo>
                        <a:pt x="0" y="12"/>
                      </a:lnTo>
                      <a:lnTo>
                        <a:pt x="0" y="14"/>
                      </a:lnTo>
                      <a:lnTo>
                        <a:pt x="2" y="16"/>
                      </a:lnTo>
                      <a:lnTo>
                        <a:pt x="3" y="18"/>
                      </a:lnTo>
                      <a:lnTo>
                        <a:pt x="5" y="20"/>
                      </a:lnTo>
                      <a:lnTo>
                        <a:pt x="6" y="21"/>
                      </a:lnTo>
                      <a:lnTo>
                        <a:pt x="8" y="23"/>
                      </a:lnTo>
                      <a:lnTo>
                        <a:pt x="10" y="24"/>
                      </a:lnTo>
                      <a:lnTo>
                        <a:pt x="10" y="25"/>
                      </a:lnTo>
                      <a:lnTo>
                        <a:pt x="12" y="27"/>
                      </a:lnTo>
                      <a:lnTo>
                        <a:pt x="14" y="27"/>
                      </a:lnTo>
                      <a:lnTo>
                        <a:pt x="16" y="27"/>
                      </a:lnTo>
                      <a:lnTo>
                        <a:pt x="20" y="27"/>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71" name="Freeform 615"/>
                <p:cNvSpPr>
                  <a:spLocks/>
                </p:cNvSpPr>
                <p:nvPr/>
              </p:nvSpPr>
              <p:spPr bwMode="auto">
                <a:xfrm>
                  <a:off x="3740" y="2775"/>
                  <a:ext cx="31" cy="43"/>
                </a:xfrm>
                <a:custGeom>
                  <a:avLst/>
                  <a:gdLst/>
                  <a:ahLst/>
                  <a:cxnLst>
                    <a:cxn ang="0">
                      <a:pos x="0" y="0"/>
                    </a:cxn>
                    <a:cxn ang="0">
                      <a:pos x="0" y="6"/>
                    </a:cxn>
                    <a:cxn ang="0">
                      <a:pos x="0" y="11"/>
                    </a:cxn>
                    <a:cxn ang="0">
                      <a:pos x="0" y="16"/>
                    </a:cxn>
                    <a:cxn ang="0">
                      <a:pos x="2" y="20"/>
                    </a:cxn>
                    <a:cxn ang="0">
                      <a:pos x="4" y="26"/>
                    </a:cxn>
                    <a:cxn ang="0">
                      <a:pos x="5" y="30"/>
                    </a:cxn>
                    <a:cxn ang="0">
                      <a:pos x="7" y="34"/>
                    </a:cxn>
                    <a:cxn ang="0">
                      <a:pos x="10" y="38"/>
                    </a:cxn>
                    <a:cxn ang="0">
                      <a:pos x="12" y="41"/>
                    </a:cxn>
                    <a:cxn ang="0">
                      <a:pos x="16" y="45"/>
                    </a:cxn>
                    <a:cxn ang="0">
                      <a:pos x="19" y="48"/>
                    </a:cxn>
                    <a:cxn ang="0">
                      <a:pos x="22" y="50"/>
                    </a:cxn>
                    <a:cxn ang="0">
                      <a:pos x="26" y="52"/>
                    </a:cxn>
                    <a:cxn ang="0">
                      <a:pos x="30" y="53"/>
                    </a:cxn>
                    <a:cxn ang="0">
                      <a:pos x="33" y="54"/>
                    </a:cxn>
                    <a:cxn ang="0">
                      <a:pos x="39" y="54"/>
                    </a:cxn>
                  </a:cxnLst>
                  <a:rect l="0" t="0" r="r" b="b"/>
                  <a:pathLst>
                    <a:path w="40" h="55">
                      <a:moveTo>
                        <a:pt x="0" y="0"/>
                      </a:moveTo>
                      <a:lnTo>
                        <a:pt x="0" y="6"/>
                      </a:lnTo>
                      <a:lnTo>
                        <a:pt x="0" y="11"/>
                      </a:lnTo>
                      <a:lnTo>
                        <a:pt x="0" y="16"/>
                      </a:lnTo>
                      <a:lnTo>
                        <a:pt x="2" y="20"/>
                      </a:lnTo>
                      <a:lnTo>
                        <a:pt x="4" y="26"/>
                      </a:lnTo>
                      <a:lnTo>
                        <a:pt x="5" y="30"/>
                      </a:lnTo>
                      <a:lnTo>
                        <a:pt x="7" y="34"/>
                      </a:lnTo>
                      <a:lnTo>
                        <a:pt x="10" y="38"/>
                      </a:lnTo>
                      <a:lnTo>
                        <a:pt x="12" y="41"/>
                      </a:lnTo>
                      <a:lnTo>
                        <a:pt x="16" y="45"/>
                      </a:lnTo>
                      <a:lnTo>
                        <a:pt x="19" y="48"/>
                      </a:lnTo>
                      <a:lnTo>
                        <a:pt x="22" y="50"/>
                      </a:lnTo>
                      <a:lnTo>
                        <a:pt x="26" y="52"/>
                      </a:lnTo>
                      <a:lnTo>
                        <a:pt x="30" y="53"/>
                      </a:lnTo>
                      <a:lnTo>
                        <a:pt x="33" y="54"/>
                      </a:lnTo>
                      <a:lnTo>
                        <a:pt x="39" y="54"/>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72" name="Freeform 616"/>
                <p:cNvSpPr>
                  <a:spLocks/>
                </p:cNvSpPr>
                <p:nvPr/>
              </p:nvSpPr>
              <p:spPr bwMode="auto">
                <a:xfrm>
                  <a:off x="3740" y="2404"/>
                  <a:ext cx="31" cy="43"/>
                </a:xfrm>
                <a:custGeom>
                  <a:avLst/>
                  <a:gdLst/>
                  <a:ahLst/>
                  <a:cxnLst>
                    <a:cxn ang="0">
                      <a:pos x="39" y="0"/>
                    </a:cxn>
                    <a:cxn ang="0">
                      <a:pos x="33" y="0"/>
                    </a:cxn>
                    <a:cxn ang="0">
                      <a:pos x="30" y="1"/>
                    </a:cxn>
                    <a:cxn ang="0">
                      <a:pos x="27" y="3"/>
                    </a:cxn>
                    <a:cxn ang="0">
                      <a:pos x="23" y="4"/>
                    </a:cxn>
                    <a:cxn ang="0">
                      <a:pos x="19" y="7"/>
                    </a:cxn>
                    <a:cxn ang="0">
                      <a:pos x="16" y="9"/>
                    </a:cxn>
                    <a:cxn ang="0">
                      <a:pos x="13" y="13"/>
                    </a:cxn>
                    <a:cxn ang="0">
                      <a:pos x="11" y="15"/>
                    </a:cxn>
                    <a:cxn ang="0">
                      <a:pos x="8" y="20"/>
                    </a:cxn>
                    <a:cxn ang="0">
                      <a:pos x="6" y="24"/>
                    </a:cxn>
                    <a:cxn ang="0">
                      <a:pos x="4" y="29"/>
                    </a:cxn>
                    <a:cxn ang="0">
                      <a:pos x="3" y="33"/>
                    </a:cxn>
                    <a:cxn ang="0">
                      <a:pos x="1" y="39"/>
                    </a:cxn>
                    <a:cxn ang="0">
                      <a:pos x="0" y="44"/>
                    </a:cxn>
                    <a:cxn ang="0">
                      <a:pos x="0" y="48"/>
                    </a:cxn>
                    <a:cxn ang="0">
                      <a:pos x="0" y="54"/>
                    </a:cxn>
                  </a:cxnLst>
                  <a:rect l="0" t="0" r="r" b="b"/>
                  <a:pathLst>
                    <a:path w="40" h="55">
                      <a:moveTo>
                        <a:pt x="39" y="0"/>
                      </a:moveTo>
                      <a:lnTo>
                        <a:pt x="33" y="0"/>
                      </a:lnTo>
                      <a:lnTo>
                        <a:pt x="30" y="1"/>
                      </a:lnTo>
                      <a:lnTo>
                        <a:pt x="27" y="3"/>
                      </a:lnTo>
                      <a:lnTo>
                        <a:pt x="23" y="4"/>
                      </a:lnTo>
                      <a:lnTo>
                        <a:pt x="19" y="7"/>
                      </a:lnTo>
                      <a:lnTo>
                        <a:pt x="16" y="9"/>
                      </a:lnTo>
                      <a:lnTo>
                        <a:pt x="13" y="13"/>
                      </a:lnTo>
                      <a:lnTo>
                        <a:pt x="11" y="15"/>
                      </a:lnTo>
                      <a:lnTo>
                        <a:pt x="8" y="20"/>
                      </a:lnTo>
                      <a:lnTo>
                        <a:pt x="6" y="24"/>
                      </a:lnTo>
                      <a:lnTo>
                        <a:pt x="4" y="29"/>
                      </a:lnTo>
                      <a:lnTo>
                        <a:pt x="3" y="33"/>
                      </a:lnTo>
                      <a:lnTo>
                        <a:pt x="1" y="39"/>
                      </a:lnTo>
                      <a:lnTo>
                        <a:pt x="0" y="44"/>
                      </a:lnTo>
                      <a:lnTo>
                        <a:pt x="0" y="48"/>
                      </a:lnTo>
                      <a:lnTo>
                        <a:pt x="0" y="54"/>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673" name="Line 617"/>
                <p:cNvSpPr>
                  <a:spLocks noChangeShapeType="1"/>
                </p:cNvSpPr>
                <p:nvPr/>
              </p:nvSpPr>
              <p:spPr bwMode="auto">
                <a:xfrm>
                  <a:off x="3872" y="2402"/>
                  <a:ext cx="0" cy="41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74" name="Line 618"/>
                <p:cNvSpPr>
                  <a:spLocks noChangeShapeType="1"/>
                </p:cNvSpPr>
                <p:nvPr/>
              </p:nvSpPr>
              <p:spPr bwMode="auto">
                <a:xfrm>
                  <a:off x="3740" y="2446"/>
                  <a:ext cx="0" cy="32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75" name="Line 619"/>
                <p:cNvSpPr>
                  <a:spLocks noChangeShapeType="1"/>
                </p:cNvSpPr>
                <p:nvPr/>
              </p:nvSpPr>
              <p:spPr bwMode="auto">
                <a:xfrm flipH="1">
                  <a:off x="3889" y="2750"/>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76" name="Line 620"/>
                <p:cNvSpPr>
                  <a:spLocks noChangeShapeType="1"/>
                </p:cNvSpPr>
                <p:nvPr/>
              </p:nvSpPr>
              <p:spPr bwMode="auto">
                <a:xfrm flipH="1">
                  <a:off x="3889" y="2771"/>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77" name="Line 621"/>
                <p:cNvSpPr>
                  <a:spLocks noChangeShapeType="1"/>
                </p:cNvSpPr>
                <p:nvPr/>
              </p:nvSpPr>
              <p:spPr bwMode="auto">
                <a:xfrm flipH="1">
                  <a:off x="3887" y="2788"/>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78" name="Line 622"/>
                <p:cNvSpPr>
                  <a:spLocks noChangeShapeType="1"/>
                </p:cNvSpPr>
                <p:nvPr/>
              </p:nvSpPr>
              <p:spPr bwMode="auto">
                <a:xfrm flipH="1">
                  <a:off x="3887" y="2728"/>
                  <a:ext cx="28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79" name="Line 623"/>
                <p:cNvSpPr>
                  <a:spLocks noChangeShapeType="1"/>
                </p:cNvSpPr>
                <p:nvPr/>
              </p:nvSpPr>
              <p:spPr bwMode="auto">
                <a:xfrm flipH="1">
                  <a:off x="3890" y="2691"/>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80" name="Line 624"/>
                <p:cNvSpPr>
                  <a:spLocks noChangeShapeType="1"/>
                </p:cNvSpPr>
                <p:nvPr/>
              </p:nvSpPr>
              <p:spPr bwMode="auto">
                <a:xfrm flipH="1">
                  <a:off x="3890" y="2520"/>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81" name="Line 625"/>
                <p:cNvSpPr>
                  <a:spLocks noChangeShapeType="1"/>
                </p:cNvSpPr>
                <p:nvPr/>
              </p:nvSpPr>
              <p:spPr bwMode="auto">
                <a:xfrm>
                  <a:off x="3890" y="2637"/>
                  <a:ext cx="8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82" name="Line 626"/>
                <p:cNvSpPr>
                  <a:spLocks noChangeShapeType="1"/>
                </p:cNvSpPr>
                <p:nvPr/>
              </p:nvSpPr>
              <p:spPr bwMode="auto">
                <a:xfrm>
                  <a:off x="3890" y="2576"/>
                  <a:ext cx="8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83" name="Line 627"/>
                <p:cNvSpPr>
                  <a:spLocks noChangeShapeType="1"/>
                </p:cNvSpPr>
                <p:nvPr/>
              </p:nvSpPr>
              <p:spPr bwMode="auto">
                <a:xfrm>
                  <a:off x="4109" y="2637"/>
                  <a:ext cx="6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84" name="Line 628"/>
                <p:cNvSpPr>
                  <a:spLocks noChangeShapeType="1"/>
                </p:cNvSpPr>
                <p:nvPr/>
              </p:nvSpPr>
              <p:spPr bwMode="auto">
                <a:xfrm>
                  <a:off x="4109" y="2576"/>
                  <a:ext cx="6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85" name="Line 629"/>
                <p:cNvSpPr>
                  <a:spLocks noChangeShapeType="1"/>
                </p:cNvSpPr>
                <p:nvPr/>
              </p:nvSpPr>
              <p:spPr bwMode="auto">
                <a:xfrm flipH="1">
                  <a:off x="3770" y="2817"/>
                  <a:ext cx="10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86" name="Line 630"/>
                <p:cNvSpPr>
                  <a:spLocks noChangeShapeType="1"/>
                </p:cNvSpPr>
                <p:nvPr/>
              </p:nvSpPr>
              <p:spPr bwMode="auto">
                <a:xfrm flipH="1">
                  <a:off x="3889" y="2460"/>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87" name="Line 631"/>
                <p:cNvSpPr>
                  <a:spLocks noChangeShapeType="1"/>
                </p:cNvSpPr>
                <p:nvPr/>
              </p:nvSpPr>
              <p:spPr bwMode="auto">
                <a:xfrm flipH="1">
                  <a:off x="3889" y="2440"/>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88" name="Line 632"/>
                <p:cNvSpPr>
                  <a:spLocks noChangeShapeType="1"/>
                </p:cNvSpPr>
                <p:nvPr/>
              </p:nvSpPr>
              <p:spPr bwMode="auto">
                <a:xfrm flipH="1">
                  <a:off x="3887" y="2422"/>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89" name="Line 633"/>
                <p:cNvSpPr>
                  <a:spLocks noChangeShapeType="1"/>
                </p:cNvSpPr>
                <p:nvPr/>
              </p:nvSpPr>
              <p:spPr bwMode="auto">
                <a:xfrm flipH="1">
                  <a:off x="3887" y="2484"/>
                  <a:ext cx="28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90" name="Line 634"/>
                <p:cNvSpPr>
                  <a:spLocks noChangeShapeType="1"/>
                </p:cNvSpPr>
                <p:nvPr/>
              </p:nvSpPr>
              <p:spPr bwMode="auto">
                <a:xfrm flipH="1">
                  <a:off x="3770" y="2402"/>
                  <a:ext cx="102" cy="0"/>
                </a:xfrm>
                <a:prstGeom prst="line">
                  <a:avLst/>
                </a:prstGeom>
                <a:noFill/>
                <a:ln w="12700">
                  <a:solidFill>
                    <a:srgbClr val="000000"/>
                  </a:solidFill>
                  <a:round/>
                  <a:headEnd type="none" w="sm" len="sm"/>
                  <a:tailEnd type="none" w="sm" len="sm"/>
                </a:ln>
                <a:effectLst/>
              </p:spPr>
              <p:txBody>
                <a:bodyPr wrap="none" anchor="ctr"/>
                <a:lstStyle/>
                <a:p>
                  <a:endParaRPr lang="en-US"/>
                </a:p>
              </p:txBody>
            </p:sp>
          </p:grpSp>
          <p:sp>
            <p:nvSpPr>
              <p:cNvPr id="941691" name="Line 635"/>
              <p:cNvSpPr>
                <a:spLocks noChangeShapeType="1"/>
              </p:cNvSpPr>
              <p:nvPr/>
            </p:nvSpPr>
            <p:spPr bwMode="auto">
              <a:xfrm>
                <a:off x="4199" y="2570"/>
                <a:ext cx="4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92" name="Line 636"/>
              <p:cNvSpPr>
                <a:spLocks noChangeShapeType="1"/>
              </p:cNvSpPr>
              <p:nvPr/>
            </p:nvSpPr>
            <p:spPr bwMode="auto">
              <a:xfrm>
                <a:off x="4199" y="2641"/>
                <a:ext cx="4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93" name="Line 637"/>
              <p:cNvSpPr>
                <a:spLocks noChangeShapeType="1"/>
              </p:cNvSpPr>
              <p:nvPr/>
            </p:nvSpPr>
            <p:spPr bwMode="auto">
              <a:xfrm>
                <a:off x="4241" y="2657"/>
                <a:ext cx="3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94" name="Line 638"/>
              <p:cNvSpPr>
                <a:spLocks noChangeShapeType="1"/>
              </p:cNvSpPr>
              <p:nvPr/>
            </p:nvSpPr>
            <p:spPr bwMode="auto">
              <a:xfrm>
                <a:off x="4241" y="2557"/>
                <a:ext cx="3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95" name="Line 639"/>
              <p:cNvSpPr>
                <a:spLocks noChangeShapeType="1"/>
              </p:cNvSpPr>
              <p:nvPr/>
            </p:nvSpPr>
            <p:spPr bwMode="auto">
              <a:xfrm>
                <a:off x="4241" y="2557"/>
                <a:ext cx="0" cy="84"/>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696" name="Line 640"/>
              <p:cNvSpPr>
                <a:spLocks noChangeShapeType="1"/>
              </p:cNvSpPr>
              <p:nvPr/>
            </p:nvSpPr>
            <p:spPr bwMode="auto">
              <a:xfrm>
                <a:off x="4241" y="2641"/>
                <a:ext cx="0" cy="16"/>
              </a:xfrm>
              <a:prstGeom prst="line">
                <a:avLst/>
              </a:prstGeom>
              <a:noFill/>
              <a:ln w="12700">
                <a:solidFill>
                  <a:srgbClr val="000000"/>
                </a:solidFill>
                <a:round/>
                <a:headEnd type="none" w="sm" len="sm"/>
                <a:tailEnd type="none" w="sm" len="sm"/>
              </a:ln>
              <a:effectLst/>
            </p:spPr>
            <p:txBody>
              <a:bodyPr wrap="none" anchor="ctr"/>
              <a:lstStyle/>
              <a:p>
                <a:endParaRPr lang="en-US"/>
              </a:p>
            </p:txBody>
          </p:sp>
        </p:grpSp>
        <p:sp>
          <p:nvSpPr>
            <p:cNvPr id="941697" name="Line 641"/>
            <p:cNvSpPr>
              <a:spLocks noChangeShapeType="1"/>
            </p:cNvSpPr>
            <p:nvPr/>
          </p:nvSpPr>
          <p:spPr bwMode="auto">
            <a:xfrm>
              <a:off x="3744" y="2610"/>
              <a:ext cx="554" cy="0"/>
            </a:xfrm>
            <a:prstGeom prst="line">
              <a:avLst/>
            </a:prstGeom>
            <a:noFill/>
            <a:ln w="25400">
              <a:solidFill>
                <a:srgbClr val="FF0000"/>
              </a:solidFill>
              <a:prstDash val="sysDot"/>
              <a:round/>
              <a:headEnd type="none" w="sm" len="sm"/>
              <a:tailEnd type="none" w="sm" len="sm"/>
            </a:ln>
            <a:effectLst/>
          </p:spPr>
          <p:txBody>
            <a:bodyPr wrap="none" anchor="ctr"/>
            <a:lstStyle/>
            <a:p>
              <a:endParaRPr lang="en-US"/>
            </a:p>
          </p:txBody>
        </p:sp>
      </p:grpSp>
      <p:grpSp>
        <p:nvGrpSpPr>
          <p:cNvPr id="941698" name="Group 642"/>
          <p:cNvGrpSpPr>
            <a:grpSpLocks/>
          </p:cNvGrpSpPr>
          <p:nvPr/>
        </p:nvGrpSpPr>
        <p:grpSpPr bwMode="auto">
          <a:xfrm rot="-264600">
            <a:off x="2992438" y="3451225"/>
            <a:ext cx="1833562" cy="1347788"/>
            <a:chOff x="3740" y="2402"/>
            <a:chExt cx="566" cy="416"/>
          </a:xfrm>
        </p:grpSpPr>
        <p:grpSp>
          <p:nvGrpSpPr>
            <p:cNvPr id="941699" name="Group 643"/>
            <p:cNvGrpSpPr>
              <a:grpSpLocks/>
            </p:cNvGrpSpPr>
            <p:nvPr/>
          </p:nvGrpSpPr>
          <p:grpSpPr bwMode="auto">
            <a:xfrm>
              <a:off x="3740" y="2402"/>
              <a:ext cx="566" cy="416"/>
              <a:chOff x="3740" y="2402"/>
              <a:chExt cx="566" cy="416"/>
            </a:xfrm>
          </p:grpSpPr>
          <p:sp>
            <p:nvSpPr>
              <p:cNvPr id="941700" name="Freeform 644"/>
              <p:cNvSpPr>
                <a:spLocks/>
              </p:cNvSpPr>
              <p:nvPr/>
            </p:nvSpPr>
            <p:spPr bwMode="auto">
              <a:xfrm>
                <a:off x="4277" y="2513"/>
                <a:ext cx="29" cy="187"/>
              </a:xfrm>
              <a:custGeom>
                <a:avLst/>
                <a:gdLst/>
                <a:ahLst/>
                <a:cxnLst>
                  <a:cxn ang="0">
                    <a:pos x="0" y="238"/>
                  </a:cxn>
                  <a:cxn ang="0">
                    <a:pos x="0" y="0"/>
                  </a:cxn>
                  <a:cxn ang="0">
                    <a:pos x="36" y="0"/>
                  </a:cxn>
                  <a:cxn ang="0">
                    <a:pos x="36" y="238"/>
                  </a:cxn>
                  <a:cxn ang="0">
                    <a:pos x="0" y="238"/>
                  </a:cxn>
                </a:cxnLst>
                <a:rect l="0" t="0" r="r" b="b"/>
                <a:pathLst>
                  <a:path w="37" h="239">
                    <a:moveTo>
                      <a:pt x="0" y="238"/>
                    </a:moveTo>
                    <a:lnTo>
                      <a:pt x="0" y="0"/>
                    </a:lnTo>
                    <a:lnTo>
                      <a:pt x="36" y="0"/>
                    </a:lnTo>
                    <a:lnTo>
                      <a:pt x="36" y="238"/>
                    </a:lnTo>
                    <a:lnTo>
                      <a:pt x="0" y="238"/>
                    </a:lnTo>
                  </a:path>
                </a:pathLst>
              </a:custGeom>
              <a:noFill/>
              <a:ln w="12700" cap="rnd" cmpd="sng">
                <a:solidFill>
                  <a:srgbClr val="000000"/>
                </a:solidFill>
                <a:prstDash val="solid"/>
                <a:round/>
                <a:headEnd/>
                <a:tailEnd/>
              </a:ln>
              <a:effectLst/>
            </p:spPr>
            <p:txBody>
              <a:bodyPr/>
              <a:lstStyle/>
              <a:p>
                <a:endParaRPr lang="en-US"/>
              </a:p>
            </p:txBody>
          </p:sp>
          <p:grpSp>
            <p:nvGrpSpPr>
              <p:cNvPr id="941701" name="Group 645"/>
              <p:cNvGrpSpPr>
                <a:grpSpLocks/>
              </p:cNvGrpSpPr>
              <p:nvPr/>
            </p:nvGrpSpPr>
            <p:grpSpPr bwMode="auto">
              <a:xfrm>
                <a:off x="3740" y="2402"/>
                <a:ext cx="459" cy="416"/>
                <a:chOff x="3740" y="2402"/>
                <a:chExt cx="459" cy="416"/>
              </a:xfrm>
            </p:grpSpPr>
            <p:sp>
              <p:nvSpPr>
                <p:cNvPr id="941702" name="Freeform 646"/>
                <p:cNvSpPr>
                  <a:spLocks/>
                </p:cNvSpPr>
                <p:nvPr/>
              </p:nvSpPr>
              <p:spPr bwMode="auto">
                <a:xfrm>
                  <a:off x="3872" y="2419"/>
                  <a:ext cx="313" cy="374"/>
                </a:xfrm>
                <a:custGeom>
                  <a:avLst/>
                  <a:gdLst/>
                  <a:ahLst/>
                  <a:cxnLst>
                    <a:cxn ang="0">
                      <a:pos x="0" y="477"/>
                    </a:cxn>
                    <a:cxn ang="0">
                      <a:pos x="0" y="0"/>
                    </a:cxn>
                    <a:cxn ang="0">
                      <a:pos x="399" y="0"/>
                    </a:cxn>
                  </a:cxnLst>
                  <a:rect l="0" t="0" r="r" b="b"/>
                  <a:pathLst>
                    <a:path w="400" h="478">
                      <a:moveTo>
                        <a:pt x="0" y="477"/>
                      </a:moveTo>
                      <a:lnTo>
                        <a:pt x="0" y="0"/>
                      </a:lnTo>
                      <a:lnTo>
                        <a:pt x="399"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703" name="Freeform 647"/>
                <p:cNvSpPr>
                  <a:spLocks/>
                </p:cNvSpPr>
                <p:nvPr/>
              </p:nvSpPr>
              <p:spPr bwMode="auto">
                <a:xfrm>
                  <a:off x="4184" y="2420"/>
                  <a:ext cx="15" cy="21"/>
                </a:xfrm>
                <a:custGeom>
                  <a:avLst/>
                  <a:gdLst/>
                  <a:ahLst/>
                  <a:cxnLst>
                    <a:cxn ang="0">
                      <a:pos x="18" y="26"/>
                    </a:cxn>
                    <a:cxn ang="0">
                      <a:pos x="17" y="24"/>
                    </a:cxn>
                    <a:cxn ang="0">
                      <a:pos x="17" y="20"/>
                    </a:cxn>
                    <a:cxn ang="0">
                      <a:pos x="16" y="19"/>
                    </a:cxn>
                    <a:cxn ang="0">
                      <a:pos x="16" y="15"/>
                    </a:cxn>
                    <a:cxn ang="0">
                      <a:pos x="14" y="13"/>
                    </a:cxn>
                    <a:cxn ang="0">
                      <a:pos x="14" y="12"/>
                    </a:cxn>
                    <a:cxn ang="0">
                      <a:pos x="12" y="10"/>
                    </a:cxn>
                    <a:cxn ang="0">
                      <a:pos x="12" y="6"/>
                    </a:cxn>
                    <a:cxn ang="0">
                      <a:pos x="10" y="6"/>
                    </a:cxn>
                    <a:cxn ang="0">
                      <a:pos x="9" y="5"/>
                    </a:cxn>
                    <a:cxn ang="0">
                      <a:pos x="7" y="4"/>
                    </a:cxn>
                    <a:cxn ang="0">
                      <a:pos x="6" y="2"/>
                    </a:cxn>
                    <a:cxn ang="0">
                      <a:pos x="4" y="2"/>
                    </a:cxn>
                    <a:cxn ang="0">
                      <a:pos x="3" y="1"/>
                    </a:cxn>
                    <a:cxn ang="0">
                      <a:pos x="1" y="1"/>
                    </a:cxn>
                    <a:cxn ang="0">
                      <a:pos x="0" y="0"/>
                    </a:cxn>
                  </a:cxnLst>
                  <a:rect l="0" t="0" r="r" b="b"/>
                  <a:pathLst>
                    <a:path w="19" h="27">
                      <a:moveTo>
                        <a:pt x="18" y="26"/>
                      </a:moveTo>
                      <a:lnTo>
                        <a:pt x="17" y="24"/>
                      </a:lnTo>
                      <a:lnTo>
                        <a:pt x="17" y="20"/>
                      </a:lnTo>
                      <a:lnTo>
                        <a:pt x="16" y="19"/>
                      </a:lnTo>
                      <a:lnTo>
                        <a:pt x="16" y="15"/>
                      </a:lnTo>
                      <a:lnTo>
                        <a:pt x="14" y="13"/>
                      </a:lnTo>
                      <a:lnTo>
                        <a:pt x="14" y="12"/>
                      </a:lnTo>
                      <a:lnTo>
                        <a:pt x="12" y="10"/>
                      </a:lnTo>
                      <a:lnTo>
                        <a:pt x="12" y="6"/>
                      </a:lnTo>
                      <a:lnTo>
                        <a:pt x="10" y="6"/>
                      </a:lnTo>
                      <a:lnTo>
                        <a:pt x="9" y="5"/>
                      </a:lnTo>
                      <a:lnTo>
                        <a:pt x="7" y="4"/>
                      </a:lnTo>
                      <a:lnTo>
                        <a:pt x="6" y="2"/>
                      </a:lnTo>
                      <a:lnTo>
                        <a:pt x="4" y="2"/>
                      </a:lnTo>
                      <a:lnTo>
                        <a:pt x="3" y="1"/>
                      </a:lnTo>
                      <a:lnTo>
                        <a:pt x="1" y="1"/>
                      </a:lnTo>
                      <a:lnTo>
                        <a:pt x="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704" name="Line 648"/>
                <p:cNvSpPr>
                  <a:spLocks noChangeShapeType="1"/>
                </p:cNvSpPr>
                <p:nvPr/>
              </p:nvSpPr>
              <p:spPr bwMode="auto">
                <a:xfrm>
                  <a:off x="4199" y="2440"/>
                  <a:ext cx="0" cy="332"/>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05" name="Freeform 649"/>
                <p:cNvSpPr>
                  <a:spLocks/>
                </p:cNvSpPr>
                <p:nvPr/>
              </p:nvSpPr>
              <p:spPr bwMode="auto">
                <a:xfrm>
                  <a:off x="4184" y="2772"/>
                  <a:ext cx="15" cy="21"/>
                </a:xfrm>
                <a:custGeom>
                  <a:avLst/>
                  <a:gdLst/>
                  <a:ahLst/>
                  <a:cxnLst>
                    <a:cxn ang="0">
                      <a:pos x="0" y="26"/>
                    </a:cxn>
                    <a:cxn ang="0">
                      <a:pos x="1" y="26"/>
                    </a:cxn>
                    <a:cxn ang="0">
                      <a:pos x="3" y="26"/>
                    </a:cxn>
                    <a:cxn ang="0">
                      <a:pos x="4" y="26"/>
                    </a:cxn>
                    <a:cxn ang="0">
                      <a:pos x="6" y="24"/>
                    </a:cxn>
                    <a:cxn ang="0">
                      <a:pos x="7" y="23"/>
                    </a:cxn>
                    <a:cxn ang="0">
                      <a:pos x="9" y="21"/>
                    </a:cxn>
                    <a:cxn ang="0">
                      <a:pos x="10" y="19"/>
                    </a:cxn>
                    <a:cxn ang="0">
                      <a:pos x="12" y="18"/>
                    </a:cxn>
                    <a:cxn ang="0">
                      <a:pos x="12" y="16"/>
                    </a:cxn>
                    <a:cxn ang="0">
                      <a:pos x="14" y="14"/>
                    </a:cxn>
                    <a:cxn ang="0">
                      <a:pos x="14" y="13"/>
                    </a:cxn>
                    <a:cxn ang="0">
                      <a:pos x="16" y="10"/>
                    </a:cxn>
                    <a:cxn ang="0">
                      <a:pos x="16" y="8"/>
                    </a:cxn>
                    <a:cxn ang="0">
                      <a:pos x="17" y="5"/>
                    </a:cxn>
                    <a:cxn ang="0">
                      <a:pos x="17" y="3"/>
                    </a:cxn>
                    <a:cxn ang="0">
                      <a:pos x="18" y="0"/>
                    </a:cxn>
                  </a:cxnLst>
                  <a:rect l="0" t="0" r="r" b="b"/>
                  <a:pathLst>
                    <a:path w="19" h="27">
                      <a:moveTo>
                        <a:pt x="0" y="26"/>
                      </a:moveTo>
                      <a:lnTo>
                        <a:pt x="1" y="26"/>
                      </a:lnTo>
                      <a:lnTo>
                        <a:pt x="3" y="26"/>
                      </a:lnTo>
                      <a:lnTo>
                        <a:pt x="4" y="26"/>
                      </a:lnTo>
                      <a:lnTo>
                        <a:pt x="6" y="24"/>
                      </a:lnTo>
                      <a:lnTo>
                        <a:pt x="7" y="23"/>
                      </a:lnTo>
                      <a:lnTo>
                        <a:pt x="9" y="21"/>
                      </a:lnTo>
                      <a:lnTo>
                        <a:pt x="10" y="19"/>
                      </a:lnTo>
                      <a:lnTo>
                        <a:pt x="12" y="18"/>
                      </a:lnTo>
                      <a:lnTo>
                        <a:pt x="12" y="16"/>
                      </a:lnTo>
                      <a:lnTo>
                        <a:pt x="14" y="14"/>
                      </a:lnTo>
                      <a:lnTo>
                        <a:pt x="14" y="13"/>
                      </a:lnTo>
                      <a:lnTo>
                        <a:pt x="16" y="10"/>
                      </a:lnTo>
                      <a:lnTo>
                        <a:pt x="16" y="8"/>
                      </a:lnTo>
                      <a:lnTo>
                        <a:pt x="17" y="5"/>
                      </a:lnTo>
                      <a:lnTo>
                        <a:pt x="17" y="3"/>
                      </a:lnTo>
                      <a:lnTo>
                        <a:pt x="18"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706" name="Line 650"/>
                <p:cNvSpPr>
                  <a:spLocks noChangeShapeType="1"/>
                </p:cNvSpPr>
                <p:nvPr/>
              </p:nvSpPr>
              <p:spPr bwMode="auto">
                <a:xfrm flipH="1">
                  <a:off x="3872" y="2793"/>
                  <a:ext cx="31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07" name="Line 651"/>
                <p:cNvSpPr>
                  <a:spLocks noChangeShapeType="1"/>
                </p:cNvSpPr>
                <p:nvPr/>
              </p:nvSpPr>
              <p:spPr bwMode="auto">
                <a:xfrm flipV="1">
                  <a:off x="3986" y="2570"/>
                  <a:ext cx="0" cy="8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08" name="Freeform 652"/>
                <p:cNvSpPr>
                  <a:spLocks/>
                </p:cNvSpPr>
                <p:nvPr/>
              </p:nvSpPr>
              <p:spPr bwMode="auto">
                <a:xfrm>
                  <a:off x="3986" y="2550"/>
                  <a:ext cx="17" cy="21"/>
                </a:xfrm>
                <a:custGeom>
                  <a:avLst/>
                  <a:gdLst/>
                  <a:ahLst/>
                  <a:cxnLst>
                    <a:cxn ang="0">
                      <a:pos x="20" y="0"/>
                    </a:cxn>
                    <a:cxn ang="0">
                      <a:pos x="16" y="0"/>
                    </a:cxn>
                    <a:cxn ang="0">
                      <a:pos x="14" y="0"/>
                    </a:cxn>
                    <a:cxn ang="0">
                      <a:pos x="12" y="2"/>
                    </a:cxn>
                    <a:cxn ang="0">
                      <a:pos x="10" y="2"/>
                    </a:cxn>
                    <a:cxn ang="0">
                      <a:pos x="10" y="4"/>
                    </a:cxn>
                    <a:cxn ang="0">
                      <a:pos x="8" y="5"/>
                    </a:cxn>
                    <a:cxn ang="0">
                      <a:pos x="6" y="6"/>
                    </a:cxn>
                    <a:cxn ang="0">
                      <a:pos x="5" y="7"/>
                    </a:cxn>
                    <a:cxn ang="0">
                      <a:pos x="3" y="11"/>
                    </a:cxn>
                    <a:cxn ang="0">
                      <a:pos x="2" y="12"/>
                    </a:cxn>
                    <a:cxn ang="0">
                      <a:pos x="0" y="14"/>
                    </a:cxn>
                    <a:cxn ang="0">
                      <a:pos x="0" y="16"/>
                    </a:cxn>
                    <a:cxn ang="0">
                      <a:pos x="0" y="19"/>
                    </a:cxn>
                    <a:cxn ang="0">
                      <a:pos x="0" y="20"/>
                    </a:cxn>
                    <a:cxn ang="0">
                      <a:pos x="0" y="24"/>
                    </a:cxn>
                    <a:cxn ang="0">
                      <a:pos x="0" y="26"/>
                    </a:cxn>
                  </a:cxnLst>
                  <a:rect l="0" t="0" r="r" b="b"/>
                  <a:pathLst>
                    <a:path w="21" h="27">
                      <a:moveTo>
                        <a:pt x="20" y="0"/>
                      </a:moveTo>
                      <a:lnTo>
                        <a:pt x="16" y="0"/>
                      </a:lnTo>
                      <a:lnTo>
                        <a:pt x="14" y="0"/>
                      </a:lnTo>
                      <a:lnTo>
                        <a:pt x="12" y="2"/>
                      </a:lnTo>
                      <a:lnTo>
                        <a:pt x="10" y="2"/>
                      </a:lnTo>
                      <a:lnTo>
                        <a:pt x="10" y="4"/>
                      </a:lnTo>
                      <a:lnTo>
                        <a:pt x="8" y="5"/>
                      </a:lnTo>
                      <a:lnTo>
                        <a:pt x="6" y="6"/>
                      </a:lnTo>
                      <a:lnTo>
                        <a:pt x="5" y="7"/>
                      </a:lnTo>
                      <a:lnTo>
                        <a:pt x="3" y="11"/>
                      </a:lnTo>
                      <a:lnTo>
                        <a:pt x="2" y="12"/>
                      </a:lnTo>
                      <a:lnTo>
                        <a:pt x="0" y="14"/>
                      </a:lnTo>
                      <a:lnTo>
                        <a:pt x="0" y="16"/>
                      </a:lnTo>
                      <a:lnTo>
                        <a:pt x="0" y="19"/>
                      </a:lnTo>
                      <a:lnTo>
                        <a:pt x="0" y="20"/>
                      </a:lnTo>
                      <a:lnTo>
                        <a:pt x="0" y="24"/>
                      </a:lnTo>
                      <a:lnTo>
                        <a:pt x="0" y="26"/>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709" name="Line 653"/>
                <p:cNvSpPr>
                  <a:spLocks noChangeShapeType="1"/>
                </p:cNvSpPr>
                <p:nvPr/>
              </p:nvSpPr>
              <p:spPr bwMode="auto">
                <a:xfrm>
                  <a:off x="4002" y="2548"/>
                  <a:ext cx="8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10" name="Freeform 654"/>
                <p:cNvSpPr>
                  <a:spLocks/>
                </p:cNvSpPr>
                <p:nvPr/>
              </p:nvSpPr>
              <p:spPr bwMode="auto">
                <a:xfrm>
                  <a:off x="4087" y="2550"/>
                  <a:ext cx="17" cy="21"/>
                </a:xfrm>
                <a:custGeom>
                  <a:avLst/>
                  <a:gdLst/>
                  <a:ahLst/>
                  <a:cxnLst>
                    <a:cxn ang="0">
                      <a:pos x="20" y="26"/>
                    </a:cxn>
                    <a:cxn ang="0">
                      <a:pos x="18" y="24"/>
                    </a:cxn>
                    <a:cxn ang="0">
                      <a:pos x="18" y="20"/>
                    </a:cxn>
                    <a:cxn ang="0">
                      <a:pos x="17" y="19"/>
                    </a:cxn>
                    <a:cxn ang="0">
                      <a:pos x="17" y="16"/>
                    </a:cxn>
                    <a:cxn ang="0">
                      <a:pos x="15" y="14"/>
                    </a:cxn>
                    <a:cxn ang="0">
                      <a:pos x="14" y="12"/>
                    </a:cxn>
                    <a:cxn ang="0">
                      <a:pos x="12" y="11"/>
                    </a:cxn>
                    <a:cxn ang="0">
                      <a:pos x="12" y="7"/>
                    </a:cxn>
                    <a:cxn ang="0">
                      <a:pos x="10" y="6"/>
                    </a:cxn>
                    <a:cxn ang="0">
                      <a:pos x="9" y="5"/>
                    </a:cxn>
                    <a:cxn ang="0">
                      <a:pos x="7" y="4"/>
                    </a:cxn>
                    <a:cxn ang="0">
                      <a:pos x="6" y="2"/>
                    </a:cxn>
                    <a:cxn ang="0">
                      <a:pos x="4" y="2"/>
                    </a:cxn>
                    <a:cxn ang="0">
                      <a:pos x="3" y="0"/>
                    </a:cxn>
                    <a:cxn ang="0">
                      <a:pos x="1" y="0"/>
                    </a:cxn>
                    <a:cxn ang="0">
                      <a:pos x="0" y="0"/>
                    </a:cxn>
                  </a:cxnLst>
                  <a:rect l="0" t="0" r="r" b="b"/>
                  <a:pathLst>
                    <a:path w="21" h="27">
                      <a:moveTo>
                        <a:pt x="20" y="26"/>
                      </a:moveTo>
                      <a:lnTo>
                        <a:pt x="18" y="24"/>
                      </a:lnTo>
                      <a:lnTo>
                        <a:pt x="18" y="20"/>
                      </a:lnTo>
                      <a:lnTo>
                        <a:pt x="17" y="19"/>
                      </a:lnTo>
                      <a:lnTo>
                        <a:pt x="17" y="16"/>
                      </a:lnTo>
                      <a:lnTo>
                        <a:pt x="15" y="14"/>
                      </a:lnTo>
                      <a:lnTo>
                        <a:pt x="14" y="12"/>
                      </a:lnTo>
                      <a:lnTo>
                        <a:pt x="12" y="11"/>
                      </a:lnTo>
                      <a:lnTo>
                        <a:pt x="12" y="7"/>
                      </a:lnTo>
                      <a:lnTo>
                        <a:pt x="10" y="6"/>
                      </a:lnTo>
                      <a:lnTo>
                        <a:pt x="9" y="5"/>
                      </a:lnTo>
                      <a:lnTo>
                        <a:pt x="7" y="4"/>
                      </a:lnTo>
                      <a:lnTo>
                        <a:pt x="6" y="2"/>
                      </a:lnTo>
                      <a:lnTo>
                        <a:pt x="4" y="2"/>
                      </a:lnTo>
                      <a:lnTo>
                        <a:pt x="3" y="0"/>
                      </a:lnTo>
                      <a:lnTo>
                        <a:pt x="1" y="0"/>
                      </a:lnTo>
                      <a:lnTo>
                        <a:pt x="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711" name="Line 655"/>
                <p:cNvSpPr>
                  <a:spLocks noChangeShapeType="1"/>
                </p:cNvSpPr>
                <p:nvPr/>
              </p:nvSpPr>
              <p:spPr bwMode="auto">
                <a:xfrm>
                  <a:off x="4103" y="2570"/>
                  <a:ext cx="0" cy="8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12" name="Freeform 656"/>
                <p:cNvSpPr>
                  <a:spLocks/>
                </p:cNvSpPr>
                <p:nvPr/>
              </p:nvSpPr>
              <p:spPr bwMode="auto">
                <a:xfrm>
                  <a:off x="4087" y="2655"/>
                  <a:ext cx="17" cy="22"/>
                </a:xfrm>
                <a:custGeom>
                  <a:avLst/>
                  <a:gdLst/>
                  <a:ahLst/>
                  <a:cxnLst>
                    <a:cxn ang="0">
                      <a:pos x="0" y="27"/>
                    </a:cxn>
                    <a:cxn ang="0">
                      <a:pos x="1" y="27"/>
                    </a:cxn>
                    <a:cxn ang="0">
                      <a:pos x="3" y="27"/>
                    </a:cxn>
                    <a:cxn ang="0">
                      <a:pos x="4" y="27"/>
                    </a:cxn>
                    <a:cxn ang="0">
                      <a:pos x="6" y="25"/>
                    </a:cxn>
                    <a:cxn ang="0">
                      <a:pos x="7" y="24"/>
                    </a:cxn>
                    <a:cxn ang="0">
                      <a:pos x="9" y="23"/>
                    </a:cxn>
                    <a:cxn ang="0">
                      <a:pos x="10" y="21"/>
                    </a:cxn>
                    <a:cxn ang="0">
                      <a:pos x="12" y="19"/>
                    </a:cxn>
                    <a:cxn ang="0">
                      <a:pos x="12" y="17"/>
                    </a:cxn>
                    <a:cxn ang="0">
                      <a:pos x="14" y="15"/>
                    </a:cxn>
                    <a:cxn ang="0">
                      <a:pos x="15" y="14"/>
                    </a:cxn>
                    <a:cxn ang="0">
                      <a:pos x="17" y="11"/>
                    </a:cxn>
                    <a:cxn ang="0">
                      <a:pos x="17" y="9"/>
                    </a:cxn>
                    <a:cxn ang="0">
                      <a:pos x="18" y="6"/>
                    </a:cxn>
                    <a:cxn ang="0">
                      <a:pos x="18" y="3"/>
                    </a:cxn>
                    <a:cxn ang="0">
                      <a:pos x="20" y="0"/>
                    </a:cxn>
                  </a:cxnLst>
                  <a:rect l="0" t="0" r="r" b="b"/>
                  <a:pathLst>
                    <a:path w="21" h="28">
                      <a:moveTo>
                        <a:pt x="0" y="27"/>
                      </a:moveTo>
                      <a:lnTo>
                        <a:pt x="1" y="27"/>
                      </a:lnTo>
                      <a:lnTo>
                        <a:pt x="3" y="27"/>
                      </a:lnTo>
                      <a:lnTo>
                        <a:pt x="4" y="27"/>
                      </a:lnTo>
                      <a:lnTo>
                        <a:pt x="6" y="25"/>
                      </a:lnTo>
                      <a:lnTo>
                        <a:pt x="7" y="24"/>
                      </a:lnTo>
                      <a:lnTo>
                        <a:pt x="9" y="23"/>
                      </a:lnTo>
                      <a:lnTo>
                        <a:pt x="10" y="21"/>
                      </a:lnTo>
                      <a:lnTo>
                        <a:pt x="12" y="19"/>
                      </a:lnTo>
                      <a:lnTo>
                        <a:pt x="12" y="17"/>
                      </a:lnTo>
                      <a:lnTo>
                        <a:pt x="14" y="15"/>
                      </a:lnTo>
                      <a:lnTo>
                        <a:pt x="15" y="14"/>
                      </a:lnTo>
                      <a:lnTo>
                        <a:pt x="17" y="11"/>
                      </a:lnTo>
                      <a:lnTo>
                        <a:pt x="17" y="9"/>
                      </a:lnTo>
                      <a:lnTo>
                        <a:pt x="18" y="6"/>
                      </a:lnTo>
                      <a:lnTo>
                        <a:pt x="18" y="3"/>
                      </a:lnTo>
                      <a:lnTo>
                        <a:pt x="20" y="0"/>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713" name="Line 657"/>
                <p:cNvSpPr>
                  <a:spLocks noChangeShapeType="1"/>
                </p:cNvSpPr>
                <p:nvPr/>
              </p:nvSpPr>
              <p:spPr bwMode="auto">
                <a:xfrm flipH="1">
                  <a:off x="4002" y="2676"/>
                  <a:ext cx="85"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14" name="Freeform 658"/>
                <p:cNvSpPr>
                  <a:spLocks/>
                </p:cNvSpPr>
                <p:nvPr/>
              </p:nvSpPr>
              <p:spPr bwMode="auto">
                <a:xfrm>
                  <a:off x="3986" y="2655"/>
                  <a:ext cx="17" cy="22"/>
                </a:xfrm>
                <a:custGeom>
                  <a:avLst/>
                  <a:gdLst/>
                  <a:ahLst/>
                  <a:cxnLst>
                    <a:cxn ang="0">
                      <a:pos x="0" y="0"/>
                    </a:cxn>
                    <a:cxn ang="0">
                      <a:pos x="0" y="3"/>
                    </a:cxn>
                    <a:cxn ang="0">
                      <a:pos x="0" y="6"/>
                    </a:cxn>
                    <a:cxn ang="0">
                      <a:pos x="0" y="10"/>
                    </a:cxn>
                    <a:cxn ang="0">
                      <a:pos x="0" y="12"/>
                    </a:cxn>
                    <a:cxn ang="0">
                      <a:pos x="0" y="14"/>
                    </a:cxn>
                    <a:cxn ang="0">
                      <a:pos x="2" y="16"/>
                    </a:cxn>
                    <a:cxn ang="0">
                      <a:pos x="3" y="18"/>
                    </a:cxn>
                    <a:cxn ang="0">
                      <a:pos x="5" y="20"/>
                    </a:cxn>
                    <a:cxn ang="0">
                      <a:pos x="6" y="21"/>
                    </a:cxn>
                    <a:cxn ang="0">
                      <a:pos x="8" y="23"/>
                    </a:cxn>
                    <a:cxn ang="0">
                      <a:pos x="10" y="24"/>
                    </a:cxn>
                    <a:cxn ang="0">
                      <a:pos x="10" y="25"/>
                    </a:cxn>
                    <a:cxn ang="0">
                      <a:pos x="12" y="27"/>
                    </a:cxn>
                    <a:cxn ang="0">
                      <a:pos x="14" y="27"/>
                    </a:cxn>
                    <a:cxn ang="0">
                      <a:pos x="16" y="27"/>
                    </a:cxn>
                    <a:cxn ang="0">
                      <a:pos x="20" y="27"/>
                    </a:cxn>
                  </a:cxnLst>
                  <a:rect l="0" t="0" r="r" b="b"/>
                  <a:pathLst>
                    <a:path w="21" h="28">
                      <a:moveTo>
                        <a:pt x="0" y="0"/>
                      </a:moveTo>
                      <a:lnTo>
                        <a:pt x="0" y="3"/>
                      </a:lnTo>
                      <a:lnTo>
                        <a:pt x="0" y="6"/>
                      </a:lnTo>
                      <a:lnTo>
                        <a:pt x="0" y="10"/>
                      </a:lnTo>
                      <a:lnTo>
                        <a:pt x="0" y="12"/>
                      </a:lnTo>
                      <a:lnTo>
                        <a:pt x="0" y="14"/>
                      </a:lnTo>
                      <a:lnTo>
                        <a:pt x="2" y="16"/>
                      </a:lnTo>
                      <a:lnTo>
                        <a:pt x="3" y="18"/>
                      </a:lnTo>
                      <a:lnTo>
                        <a:pt x="5" y="20"/>
                      </a:lnTo>
                      <a:lnTo>
                        <a:pt x="6" y="21"/>
                      </a:lnTo>
                      <a:lnTo>
                        <a:pt x="8" y="23"/>
                      </a:lnTo>
                      <a:lnTo>
                        <a:pt x="10" y="24"/>
                      </a:lnTo>
                      <a:lnTo>
                        <a:pt x="10" y="25"/>
                      </a:lnTo>
                      <a:lnTo>
                        <a:pt x="12" y="27"/>
                      </a:lnTo>
                      <a:lnTo>
                        <a:pt x="14" y="27"/>
                      </a:lnTo>
                      <a:lnTo>
                        <a:pt x="16" y="27"/>
                      </a:lnTo>
                      <a:lnTo>
                        <a:pt x="20" y="27"/>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715" name="Freeform 659"/>
                <p:cNvSpPr>
                  <a:spLocks/>
                </p:cNvSpPr>
                <p:nvPr/>
              </p:nvSpPr>
              <p:spPr bwMode="auto">
                <a:xfrm>
                  <a:off x="3740" y="2775"/>
                  <a:ext cx="31" cy="43"/>
                </a:xfrm>
                <a:custGeom>
                  <a:avLst/>
                  <a:gdLst/>
                  <a:ahLst/>
                  <a:cxnLst>
                    <a:cxn ang="0">
                      <a:pos x="0" y="0"/>
                    </a:cxn>
                    <a:cxn ang="0">
                      <a:pos x="0" y="6"/>
                    </a:cxn>
                    <a:cxn ang="0">
                      <a:pos x="0" y="11"/>
                    </a:cxn>
                    <a:cxn ang="0">
                      <a:pos x="0" y="16"/>
                    </a:cxn>
                    <a:cxn ang="0">
                      <a:pos x="2" y="20"/>
                    </a:cxn>
                    <a:cxn ang="0">
                      <a:pos x="4" y="26"/>
                    </a:cxn>
                    <a:cxn ang="0">
                      <a:pos x="5" y="30"/>
                    </a:cxn>
                    <a:cxn ang="0">
                      <a:pos x="7" y="34"/>
                    </a:cxn>
                    <a:cxn ang="0">
                      <a:pos x="10" y="38"/>
                    </a:cxn>
                    <a:cxn ang="0">
                      <a:pos x="12" y="41"/>
                    </a:cxn>
                    <a:cxn ang="0">
                      <a:pos x="16" y="45"/>
                    </a:cxn>
                    <a:cxn ang="0">
                      <a:pos x="19" y="48"/>
                    </a:cxn>
                    <a:cxn ang="0">
                      <a:pos x="22" y="50"/>
                    </a:cxn>
                    <a:cxn ang="0">
                      <a:pos x="26" y="52"/>
                    </a:cxn>
                    <a:cxn ang="0">
                      <a:pos x="30" y="53"/>
                    </a:cxn>
                    <a:cxn ang="0">
                      <a:pos x="33" y="54"/>
                    </a:cxn>
                    <a:cxn ang="0">
                      <a:pos x="39" y="54"/>
                    </a:cxn>
                  </a:cxnLst>
                  <a:rect l="0" t="0" r="r" b="b"/>
                  <a:pathLst>
                    <a:path w="40" h="55">
                      <a:moveTo>
                        <a:pt x="0" y="0"/>
                      </a:moveTo>
                      <a:lnTo>
                        <a:pt x="0" y="6"/>
                      </a:lnTo>
                      <a:lnTo>
                        <a:pt x="0" y="11"/>
                      </a:lnTo>
                      <a:lnTo>
                        <a:pt x="0" y="16"/>
                      </a:lnTo>
                      <a:lnTo>
                        <a:pt x="2" y="20"/>
                      </a:lnTo>
                      <a:lnTo>
                        <a:pt x="4" y="26"/>
                      </a:lnTo>
                      <a:lnTo>
                        <a:pt x="5" y="30"/>
                      </a:lnTo>
                      <a:lnTo>
                        <a:pt x="7" y="34"/>
                      </a:lnTo>
                      <a:lnTo>
                        <a:pt x="10" y="38"/>
                      </a:lnTo>
                      <a:lnTo>
                        <a:pt x="12" y="41"/>
                      </a:lnTo>
                      <a:lnTo>
                        <a:pt x="16" y="45"/>
                      </a:lnTo>
                      <a:lnTo>
                        <a:pt x="19" y="48"/>
                      </a:lnTo>
                      <a:lnTo>
                        <a:pt x="22" y="50"/>
                      </a:lnTo>
                      <a:lnTo>
                        <a:pt x="26" y="52"/>
                      </a:lnTo>
                      <a:lnTo>
                        <a:pt x="30" y="53"/>
                      </a:lnTo>
                      <a:lnTo>
                        <a:pt x="33" y="54"/>
                      </a:lnTo>
                      <a:lnTo>
                        <a:pt x="39" y="54"/>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716" name="Freeform 660"/>
                <p:cNvSpPr>
                  <a:spLocks/>
                </p:cNvSpPr>
                <p:nvPr/>
              </p:nvSpPr>
              <p:spPr bwMode="auto">
                <a:xfrm>
                  <a:off x="3740" y="2404"/>
                  <a:ext cx="31" cy="43"/>
                </a:xfrm>
                <a:custGeom>
                  <a:avLst/>
                  <a:gdLst/>
                  <a:ahLst/>
                  <a:cxnLst>
                    <a:cxn ang="0">
                      <a:pos x="39" y="0"/>
                    </a:cxn>
                    <a:cxn ang="0">
                      <a:pos x="33" y="0"/>
                    </a:cxn>
                    <a:cxn ang="0">
                      <a:pos x="30" y="1"/>
                    </a:cxn>
                    <a:cxn ang="0">
                      <a:pos x="27" y="3"/>
                    </a:cxn>
                    <a:cxn ang="0">
                      <a:pos x="23" y="4"/>
                    </a:cxn>
                    <a:cxn ang="0">
                      <a:pos x="19" y="7"/>
                    </a:cxn>
                    <a:cxn ang="0">
                      <a:pos x="16" y="9"/>
                    </a:cxn>
                    <a:cxn ang="0">
                      <a:pos x="13" y="13"/>
                    </a:cxn>
                    <a:cxn ang="0">
                      <a:pos x="11" y="15"/>
                    </a:cxn>
                    <a:cxn ang="0">
                      <a:pos x="8" y="20"/>
                    </a:cxn>
                    <a:cxn ang="0">
                      <a:pos x="6" y="24"/>
                    </a:cxn>
                    <a:cxn ang="0">
                      <a:pos x="4" y="29"/>
                    </a:cxn>
                    <a:cxn ang="0">
                      <a:pos x="3" y="33"/>
                    </a:cxn>
                    <a:cxn ang="0">
                      <a:pos x="1" y="39"/>
                    </a:cxn>
                    <a:cxn ang="0">
                      <a:pos x="0" y="44"/>
                    </a:cxn>
                    <a:cxn ang="0">
                      <a:pos x="0" y="48"/>
                    </a:cxn>
                    <a:cxn ang="0">
                      <a:pos x="0" y="54"/>
                    </a:cxn>
                  </a:cxnLst>
                  <a:rect l="0" t="0" r="r" b="b"/>
                  <a:pathLst>
                    <a:path w="40" h="55">
                      <a:moveTo>
                        <a:pt x="39" y="0"/>
                      </a:moveTo>
                      <a:lnTo>
                        <a:pt x="33" y="0"/>
                      </a:lnTo>
                      <a:lnTo>
                        <a:pt x="30" y="1"/>
                      </a:lnTo>
                      <a:lnTo>
                        <a:pt x="27" y="3"/>
                      </a:lnTo>
                      <a:lnTo>
                        <a:pt x="23" y="4"/>
                      </a:lnTo>
                      <a:lnTo>
                        <a:pt x="19" y="7"/>
                      </a:lnTo>
                      <a:lnTo>
                        <a:pt x="16" y="9"/>
                      </a:lnTo>
                      <a:lnTo>
                        <a:pt x="13" y="13"/>
                      </a:lnTo>
                      <a:lnTo>
                        <a:pt x="11" y="15"/>
                      </a:lnTo>
                      <a:lnTo>
                        <a:pt x="8" y="20"/>
                      </a:lnTo>
                      <a:lnTo>
                        <a:pt x="6" y="24"/>
                      </a:lnTo>
                      <a:lnTo>
                        <a:pt x="4" y="29"/>
                      </a:lnTo>
                      <a:lnTo>
                        <a:pt x="3" y="33"/>
                      </a:lnTo>
                      <a:lnTo>
                        <a:pt x="1" y="39"/>
                      </a:lnTo>
                      <a:lnTo>
                        <a:pt x="0" y="44"/>
                      </a:lnTo>
                      <a:lnTo>
                        <a:pt x="0" y="48"/>
                      </a:lnTo>
                      <a:lnTo>
                        <a:pt x="0" y="54"/>
                      </a:lnTo>
                    </a:path>
                  </a:pathLst>
                </a:custGeom>
                <a:noFill/>
                <a:ln w="12700" cap="rnd" cmpd="sng">
                  <a:solidFill>
                    <a:srgbClr val="000000"/>
                  </a:solidFill>
                  <a:prstDash val="solid"/>
                  <a:round/>
                  <a:headEnd type="none" w="sm" len="sm"/>
                  <a:tailEnd type="none" w="sm" len="sm"/>
                </a:ln>
                <a:effectLst/>
              </p:spPr>
              <p:txBody>
                <a:bodyPr/>
                <a:lstStyle/>
                <a:p>
                  <a:endParaRPr lang="en-US"/>
                </a:p>
              </p:txBody>
            </p:sp>
            <p:sp>
              <p:nvSpPr>
                <p:cNvPr id="941717" name="Line 661"/>
                <p:cNvSpPr>
                  <a:spLocks noChangeShapeType="1"/>
                </p:cNvSpPr>
                <p:nvPr/>
              </p:nvSpPr>
              <p:spPr bwMode="auto">
                <a:xfrm>
                  <a:off x="3872" y="2402"/>
                  <a:ext cx="0" cy="415"/>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18" name="Line 662"/>
                <p:cNvSpPr>
                  <a:spLocks noChangeShapeType="1"/>
                </p:cNvSpPr>
                <p:nvPr/>
              </p:nvSpPr>
              <p:spPr bwMode="auto">
                <a:xfrm>
                  <a:off x="3740" y="2446"/>
                  <a:ext cx="0" cy="329"/>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19" name="Line 663"/>
                <p:cNvSpPr>
                  <a:spLocks noChangeShapeType="1"/>
                </p:cNvSpPr>
                <p:nvPr/>
              </p:nvSpPr>
              <p:spPr bwMode="auto">
                <a:xfrm flipH="1">
                  <a:off x="3889" y="2750"/>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20" name="Line 664"/>
                <p:cNvSpPr>
                  <a:spLocks noChangeShapeType="1"/>
                </p:cNvSpPr>
                <p:nvPr/>
              </p:nvSpPr>
              <p:spPr bwMode="auto">
                <a:xfrm flipH="1">
                  <a:off x="3889" y="2771"/>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21" name="Line 665"/>
                <p:cNvSpPr>
                  <a:spLocks noChangeShapeType="1"/>
                </p:cNvSpPr>
                <p:nvPr/>
              </p:nvSpPr>
              <p:spPr bwMode="auto">
                <a:xfrm flipH="1">
                  <a:off x="3887" y="2788"/>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22" name="Line 666"/>
                <p:cNvSpPr>
                  <a:spLocks noChangeShapeType="1"/>
                </p:cNvSpPr>
                <p:nvPr/>
              </p:nvSpPr>
              <p:spPr bwMode="auto">
                <a:xfrm flipH="1">
                  <a:off x="3887" y="2728"/>
                  <a:ext cx="28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23" name="Line 667"/>
                <p:cNvSpPr>
                  <a:spLocks noChangeShapeType="1"/>
                </p:cNvSpPr>
                <p:nvPr/>
              </p:nvSpPr>
              <p:spPr bwMode="auto">
                <a:xfrm flipH="1">
                  <a:off x="3890" y="2691"/>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24" name="Line 668"/>
                <p:cNvSpPr>
                  <a:spLocks noChangeShapeType="1"/>
                </p:cNvSpPr>
                <p:nvPr/>
              </p:nvSpPr>
              <p:spPr bwMode="auto">
                <a:xfrm flipH="1">
                  <a:off x="3890" y="2520"/>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25" name="Line 669"/>
                <p:cNvSpPr>
                  <a:spLocks noChangeShapeType="1"/>
                </p:cNvSpPr>
                <p:nvPr/>
              </p:nvSpPr>
              <p:spPr bwMode="auto">
                <a:xfrm>
                  <a:off x="3890" y="2637"/>
                  <a:ext cx="8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26" name="Line 670"/>
                <p:cNvSpPr>
                  <a:spLocks noChangeShapeType="1"/>
                </p:cNvSpPr>
                <p:nvPr/>
              </p:nvSpPr>
              <p:spPr bwMode="auto">
                <a:xfrm>
                  <a:off x="3890" y="2576"/>
                  <a:ext cx="8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27" name="Line 671"/>
                <p:cNvSpPr>
                  <a:spLocks noChangeShapeType="1"/>
                </p:cNvSpPr>
                <p:nvPr/>
              </p:nvSpPr>
              <p:spPr bwMode="auto">
                <a:xfrm>
                  <a:off x="4109" y="2637"/>
                  <a:ext cx="6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28" name="Line 672"/>
                <p:cNvSpPr>
                  <a:spLocks noChangeShapeType="1"/>
                </p:cNvSpPr>
                <p:nvPr/>
              </p:nvSpPr>
              <p:spPr bwMode="auto">
                <a:xfrm>
                  <a:off x="4109" y="2576"/>
                  <a:ext cx="63"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29" name="Line 673"/>
                <p:cNvSpPr>
                  <a:spLocks noChangeShapeType="1"/>
                </p:cNvSpPr>
                <p:nvPr/>
              </p:nvSpPr>
              <p:spPr bwMode="auto">
                <a:xfrm flipH="1">
                  <a:off x="3770" y="2817"/>
                  <a:ext cx="10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30" name="Line 674"/>
                <p:cNvSpPr>
                  <a:spLocks noChangeShapeType="1"/>
                </p:cNvSpPr>
                <p:nvPr/>
              </p:nvSpPr>
              <p:spPr bwMode="auto">
                <a:xfrm flipH="1">
                  <a:off x="3889" y="2460"/>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31" name="Line 675"/>
                <p:cNvSpPr>
                  <a:spLocks noChangeShapeType="1"/>
                </p:cNvSpPr>
                <p:nvPr/>
              </p:nvSpPr>
              <p:spPr bwMode="auto">
                <a:xfrm flipH="1">
                  <a:off x="3889" y="2440"/>
                  <a:ext cx="279"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32" name="Line 676"/>
                <p:cNvSpPr>
                  <a:spLocks noChangeShapeType="1"/>
                </p:cNvSpPr>
                <p:nvPr/>
              </p:nvSpPr>
              <p:spPr bwMode="auto">
                <a:xfrm flipH="1">
                  <a:off x="3887" y="2422"/>
                  <a:ext cx="280"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33" name="Line 677"/>
                <p:cNvSpPr>
                  <a:spLocks noChangeShapeType="1"/>
                </p:cNvSpPr>
                <p:nvPr/>
              </p:nvSpPr>
              <p:spPr bwMode="auto">
                <a:xfrm flipH="1">
                  <a:off x="3887" y="2484"/>
                  <a:ext cx="28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34" name="Line 678"/>
                <p:cNvSpPr>
                  <a:spLocks noChangeShapeType="1"/>
                </p:cNvSpPr>
                <p:nvPr/>
              </p:nvSpPr>
              <p:spPr bwMode="auto">
                <a:xfrm flipH="1">
                  <a:off x="3770" y="2402"/>
                  <a:ext cx="102" cy="0"/>
                </a:xfrm>
                <a:prstGeom prst="line">
                  <a:avLst/>
                </a:prstGeom>
                <a:noFill/>
                <a:ln w="12700">
                  <a:solidFill>
                    <a:srgbClr val="000000"/>
                  </a:solidFill>
                  <a:round/>
                  <a:headEnd type="none" w="sm" len="sm"/>
                  <a:tailEnd type="none" w="sm" len="sm"/>
                </a:ln>
                <a:effectLst/>
              </p:spPr>
              <p:txBody>
                <a:bodyPr wrap="none" anchor="ctr"/>
                <a:lstStyle/>
                <a:p>
                  <a:endParaRPr lang="en-US"/>
                </a:p>
              </p:txBody>
            </p:sp>
          </p:grpSp>
          <p:sp>
            <p:nvSpPr>
              <p:cNvPr id="941735" name="Line 679"/>
              <p:cNvSpPr>
                <a:spLocks noChangeShapeType="1"/>
              </p:cNvSpPr>
              <p:nvPr/>
            </p:nvSpPr>
            <p:spPr bwMode="auto">
              <a:xfrm>
                <a:off x="4199" y="2570"/>
                <a:ext cx="4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36" name="Line 680"/>
              <p:cNvSpPr>
                <a:spLocks noChangeShapeType="1"/>
              </p:cNvSpPr>
              <p:nvPr/>
            </p:nvSpPr>
            <p:spPr bwMode="auto">
              <a:xfrm>
                <a:off x="4199" y="2641"/>
                <a:ext cx="42"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37" name="Line 681"/>
              <p:cNvSpPr>
                <a:spLocks noChangeShapeType="1"/>
              </p:cNvSpPr>
              <p:nvPr/>
            </p:nvSpPr>
            <p:spPr bwMode="auto">
              <a:xfrm>
                <a:off x="4241" y="2657"/>
                <a:ext cx="3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38" name="Line 682"/>
              <p:cNvSpPr>
                <a:spLocks noChangeShapeType="1"/>
              </p:cNvSpPr>
              <p:nvPr/>
            </p:nvSpPr>
            <p:spPr bwMode="auto">
              <a:xfrm>
                <a:off x="4241" y="2557"/>
                <a:ext cx="36" cy="0"/>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39" name="Line 683"/>
              <p:cNvSpPr>
                <a:spLocks noChangeShapeType="1"/>
              </p:cNvSpPr>
              <p:nvPr/>
            </p:nvSpPr>
            <p:spPr bwMode="auto">
              <a:xfrm>
                <a:off x="4241" y="2557"/>
                <a:ext cx="0" cy="84"/>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41740" name="Line 684"/>
              <p:cNvSpPr>
                <a:spLocks noChangeShapeType="1"/>
              </p:cNvSpPr>
              <p:nvPr/>
            </p:nvSpPr>
            <p:spPr bwMode="auto">
              <a:xfrm>
                <a:off x="4241" y="2641"/>
                <a:ext cx="0" cy="16"/>
              </a:xfrm>
              <a:prstGeom prst="line">
                <a:avLst/>
              </a:prstGeom>
              <a:noFill/>
              <a:ln w="12700">
                <a:solidFill>
                  <a:srgbClr val="000000"/>
                </a:solidFill>
                <a:round/>
                <a:headEnd type="none" w="sm" len="sm"/>
                <a:tailEnd type="none" w="sm" len="sm"/>
              </a:ln>
              <a:effectLst/>
            </p:spPr>
            <p:txBody>
              <a:bodyPr wrap="none" anchor="ctr"/>
              <a:lstStyle/>
              <a:p>
                <a:endParaRPr lang="en-US"/>
              </a:p>
            </p:txBody>
          </p:sp>
        </p:grpSp>
        <p:sp>
          <p:nvSpPr>
            <p:cNvPr id="941741" name="Line 685"/>
            <p:cNvSpPr>
              <a:spLocks noChangeShapeType="1"/>
            </p:cNvSpPr>
            <p:nvPr/>
          </p:nvSpPr>
          <p:spPr bwMode="auto">
            <a:xfrm>
              <a:off x="3744" y="2610"/>
              <a:ext cx="554" cy="0"/>
            </a:xfrm>
            <a:prstGeom prst="line">
              <a:avLst/>
            </a:prstGeom>
            <a:noFill/>
            <a:ln w="25400">
              <a:solidFill>
                <a:srgbClr val="FF0000"/>
              </a:solidFill>
              <a:prstDash val="sysDot"/>
              <a:round/>
              <a:headEnd type="none" w="sm" len="sm"/>
              <a:tailEnd type="none" w="sm" len="sm"/>
            </a:ln>
            <a:effectLst/>
          </p:spPr>
          <p:txBody>
            <a:bodyPr wrap="none" anchor="ctr"/>
            <a:lstStyle/>
            <a:p>
              <a:endParaRPr lang="en-US"/>
            </a:p>
          </p:txBody>
        </p:sp>
      </p:grpSp>
      <p:sp>
        <p:nvSpPr>
          <p:cNvPr id="941742" name="Rectangle 686"/>
          <p:cNvSpPr>
            <a:spLocks noGrp="1" noChangeArrowheads="1"/>
          </p:cNvSpPr>
          <p:nvPr>
            <p:ph type="title"/>
          </p:nvPr>
        </p:nvSpPr>
        <p:spPr/>
        <p:txBody>
          <a:bodyPr/>
          <a:lstStyle/>
          <a:p>
            <a:r>
              <a:rPr lang="en-US"/>
              <a:t>What is Misalignment?</a:t>
            </a:r>
          </a:p>
        </p:txBody>
      </p:sp>
      <p:sp>
        <p:nvSpPr>
          <p:cNvPr id="941743" name="Rectangle 687"/>
          <p:cNvSpPr>
            <a:spLocks noGrp="1" noChangeArrowheads="1"/>
          </p:cNvSpPr>
          <p:nvPr>
            <p:ph type="body" idx="1"/>
          </p:nvPr>
        </p:nvSpPr>
        <p:spPr/>
        <p:txBody>
          <a:bodyPr/>
          <a:lstStyle/>
          <a:p>
            <a:r>
              <a:rPr lang="en-US"/>
              <a:t>Deviation from a common centerline during operation.  </a:t>
            </a: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43458" name="Picture 2" descr="misalign"/>
          <p:cNvPicPr>
            <a:picLocks noChangeAspect="1" noChangeArrowheads="1"/>
          </p:cNvPicPr>
          <p:nvPr/>
        </p:nvPicPr>
        <p:blipFill>
          <a:blip r:embed="rId2" cstate="print"/>
          <a:srcRect/>
          <a:stretch>
            <a:fillRect/>
          </a:stretch>
        </p:blipFill>
        <p:spPr bwMode="auto">
          <a:xfrm>
            <a:off x="-304800" y="-120650"/>
            <a:ext cx="9448800" cy="7043738"/>
          </a:xfrm>
          <a:prstGeom prst="rect">
            <a:avLst/>
          </a:prstGeom>
          <a:noFill/>
        </p:spPr>
      </p:pic>
      <p:sp>
        <p:nvSpPr>
          <p:cNvPr id="1043459" name="AutoShape 3">
            <a:hlinkClick r:id="rId3" action="ppaction://program" highlightClick="1"/>
          </p:cNvPr>
          <p:cNvSpPr>
            <a:spLocks noChangeArrowheads="1"/>
          </p:cNvSpPr>
          <p:nvPr/>
        </p:nvSpPr>
        <p:spPr bwMode="auto">
          <a:xfrm>
            <a:off x="8305800" y="6477000"/>
            <a:ext cx="533400" cy="381000"/>
          </a:xfrm>
          <a:prstGeom prst="actionButtonBlank">
            <a:avLst/>
          </a:prstGeom>
          <a:solidFill>
            <a:schemeClr val="bg1"/>
          </a:solidFill>
          <a:ln w="9525">
            <a:noFill/>
            <a:miter lim="800000"/>
            <a:headEnd/>
            <a:tailEnd/>
          </a:ln>
          <a:effectLst/>
        </p:spPr>
        <p:txBody>
          <a:bodyPr wrap="none" anchor="ctr"/>
          <a:lstStyle/>
          <a:p>
            <a:endParaRPr lang="en-US"/>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3106" name="Group 2"/>
          <p:cNvGrpSpPr>
            <a:grpSpLocks/>
          </p:cNvGrpSpPr>
          <p:nvPr/>
        </p:nvGrpSpPr>
        <p:grpSpPr bwMode="auto">
          <a:xfrm>
            <a:off x="2081213" y="3395663"/>
            <a:ext cx="5472112" cy="1112837"/>
            <a:chOff x="1311" y="2139"/>
            <a:chExt cx="3447" cy="701"/>
          </a:xfrm>
        </p:grpSpPr>
        <p:sp>
          <p:nvSpPr>
            <p:cNvPr id="943107" name="Rectangle 3"/>
            <p:cNvSpPr>
              <a:spLocks noChangeArrowheads="1"/>
            </p:cNvSpPr>
            <p:nvPr/>
          </p:nvSpPr>
          <p:spPr bwMode="auto">
            <a:xfrm>
              <a:off x="1311" y="2287"/>
              <a:ext cx="849" cy="248"/>
            </a:xfrm>
            <a:prstGeom prst="rect">
              <a:avLst/>
            </a:prstGeom>
            <a:noFill/>
            <a:ln w="9525">
              <a:noFill/>
              <a:miter lim="800000"/>
              <a:headEnd/>
              <a:tailEnd/>
            </a:ln>
            <a:effectLst/>
          </p:spPr>
          <p:txBody>
            <a:bodyPr lIns="0" tIns="0" rIns="0" bIns="0" anchor="b"/>
            <a:lstStyle/>
            <a:p>
              <a:pPr defTabSz="377825"/>
              <a:r>
                <a:rPr lang="en-US">
                  <a:solidFill>
                    <a:srgbClr val="000000"/>
                  </a:solidFill>
                </a:rPr>
                <a:t>Angular</a:t>
              </a:r>
            </a:p>
          </p:txBody>
        </p:sp>
        <p:grpSp>
          <p:nvGrpSpPr>
            <p:cNvPr id="943108" name="Group 4"/>
            <p:cNvGrpSpPr>
              <a:grpSpLocks/>
            </p:cNvGrpSpPr>
            <p:nvPr/>
          </p:nvGrpSpPr>
          <p:grpSpPr bwMode="auto">
            <a:xfrm>
              <a:off x="2583" y="2139"/>
              <a:ext cx="2175" cy="701"/>
              <a:chOff x="1704" y="2220"/>
              <a:chExt cx="2175" cy="701"/>
            </a:xfrm>
          </p:grpSpPr>
          <p:grpSp>
            <p:nvGrpSpPr>
              <p:cNvPr id="943109" name="Group 5"/>
              <p:cNvGrpSpPr>
                <a:grpSpLocks/>
              </p:cNvGrpSpPr>
              <p:nvPr/>
            </p:nvGrpSpPr>
            <p:grpSpPr bwMode="auto">
              <a:xfrm>
                <a:off x="1966" y="2388"/>
                <a:ext cx="774" cy="533"/>
                <a:chOff x="1966" y="2388"/>
                <a:chExt cx="774" cy="533"/>
              </a:xfrm>
            </p:grpSpPr>
            <p:sp>
              <p:nvSpPr>
                <p:cNvPr id="943110" name="AutoShape 6"/>
                <p:cNvSpPr>
                  <a:spLocks noChangeArrowheads="1"/>
                </p:cNvSpPr>
                <p:nvPr/>
              </p:nvSpPr>
              <p:spPr bwMode="auto">
                <a:xfrm>
                  <a:off x="2650" y="2388"/>
                  <a:ext cx="90" cy="533"/>
                </a:xfrm>
                <a:prstGeom prst="roundRect">
                  <a:avLst>
                    <a:gd name="adj" fmla="val 0"/>
                  </a:avLst>
                </a:prstGeom>
                <a:solidFill>
                  <a:srgbClr val="E1E1E1"/>
                </a:solidFill>
                <a:ln w="12700">
                  <a:solidFill>
                    <a:srgbClr val="000000"/>
                  </a:solidFill>
                  <a:round/>
                  <a:headEnd/>
                  <a:tailEnd/>
                </a:ln>
                <a:effectLst/>
              </p:spPr>
              <p:txBody>
                <a:bodyPr wrap="none" anchor="ctr"/>
                <a:lstStyle/>
                <a:p>
                  <a:endParaRPr lang="en-US"/>
                </a:p>
              </p:txBody>
            </p:sp>
            <p:sp>
              <p:nvSpPr>
                <p:cNvPr id="943111" name="AutoShape 7"/>
                <p:cNvSpPr>
                  <a:spLocks noChangeArrowheads="1"/>
                </p:cNvSpPr>
                <p:nvPr/>
              </p:nvSpPr>
              <p:spPr bwMode="auto">
                <a:xfrm>
                  <a:off x="2533" y="2510"/>
                  <a:ext cx="120" cy="258"/>
                </a:xfrm>
                <a:prstGeom prst="roundRect">
                  <a:avLst>
                    <a:gd name="adj" fmla="val 0"/>
                  </a:avLst>
                </a:prstGeom>
                <a:solidFill>
                  <a:srgbClr val="E1E1E1"/>
                </a:solidFill>
                <a:ln w="12700">
                  <a:solidFill>
                    <a:srgbClr val="000000"/>
                  </a:solidFill>
                  <a:round/>
                  <a:headEnd/>
                  <a:tailEnd/>
                </a:ln>
                <a:effectLst/>
              </p:spPr>
              <p:txBody>
                <a:bodyPr wrap="none" anchor="ctr"/>
                <a:lstStyle/>
                <a:p>
                  <a:endParaRPr lang="en-US"/>
                </a:p>
              </p:txBody>
            </p:sp>
            <p:sp>
              <p:nvSpPr>
                <p:cNvPr id="943112" name="AutoShape 8"/>
                <p:cNvSpPr>
                  <a:spLocks noChangeArrowheads="1"/>
                </p:cNvSpPr>
                <p:nvPr/>
              </p:nvSpPr>
              <p:spPr bwMode="auto">
                <a:xfrm>
                  <a:off x="1966" y="2592"/>
                  <a:ext cx="568" cy="95"/>
                </a:xfrm>
                <a:prstGeom prst="roundRect">
                  <a:avLst>
                    <a:gd name="adj" fmla="val 0"/>
                  </a:avLst>
                </a:prstGeom>
                <a:solidFill>
                  <a:srgbClr val="E1E1E1"/>
                </a:solidFill>
                <a:ln w="12700">
                  <a:solidFill>
                    <a:srgbClr val="000000"/>
                  </a:solidFill>
                  <a:round/>
                  <a:headEnd/>
                  <a:tailEnd/>
                </a:ln>
                <a:effectLst/>
              </p:spPr>
              <p:txBody>
                <a:bodyPr wrap="none" anchor="ctr"/>
                <a:lstStyle/>
                <a:p>
                  <a:endParaRPr lang="en-US"/>
                </a:p>
              </p:txBody>
            </p:sp>
          </p:grpSp>
          <p:sp>
            <p:nvSpPr>
              <p:cNvPr id="943113" name="Freeform 9"/>
              <p:cNvSpPr>
                <a:spLocks/>
              </p:cNvSpPr>
              <p:nvPr/>
            </p:nvSpPr>
            <p:spPr bwMode="auto">
              <a:xfrm>
                <a:off x="2934" y="2364"/>
                <a:ext cx="354" cy="521"/>
              </a:xfrm>
              <a:custGeom>
                <a:avLst/>
                <a:gdLst/>
                <a:ahLst/>
                <a:cxnLst>
                  <a:cxn ang="0">
                    <a:pos x="268" y="520"/>
                  </a:cxn>
                  <a:cxn ang="0">
                    <a:pos x="268" y="520"/>
                  </a:cxn>
                  <a:cxn ang="0">
                    <a:pos x="353" y="476"/>
                  </a:cxn>
                  <a:cxn ang="0">
                    <a:pos x="85" y="0"/>
                  </a:cxn>
                  <a:cxn ang="0">
                    <a:pos x="0" y="43"/>
                  </a:cxn>
                  <a:cxn ang="0">
                    <a:pos x="268" y="520"/>
                  </a:cxn>
                  <a:cxn ang="0">
                    <a:pos x="268" y="520"/>
                  </a:cxn>
                </a:cxnLst>
                <a:rect l="0" t="0" r="r" b="b"/>
                <a:pathLst>
                  <a:path w="354" h="521">
                    <a:moveTo>
                      <a:pt x="268" y="520"/>
                    </a:moveTo>
                    <a:lnTo>
                      <a:pt x="268" y="520"/>
                    </a:lnTo>
                    <a:lnTo>
                      <a:pt x="353" y="476"/>
                    </a:lnTo>
                    <a:lnTo>
                      <a:pt x="85" y="0"/>
                    </a:lnTo>
                    <a:lnTo>
                      <a:pt x="0" y="43"/>
                    </a:lnTo>
                    <a:lnTo>
                      <a:pt x="268" y="520"/>
                    </a:lnTo>
                    <a:lnTo>
                      <a:pt x="268" y="520"/>
                    </a:lnTo>
                  </a:path>
                </a:pathLst>
              </a:custGeom>
              <a:solidFill>
                <a:srgbClr val="E1E1E1"/>
              </a:solidFill>
              <a:ln w="12700" cap="rnd" cmpd="sng">
                <a:solidFill>
                  <a:srgbClr val="000000"/>
                </a:solidFill>
                <a:prstDash val="solid"/>
                <a:round/>
                <a:headEnd/>
                <a:tailEnd/>
              </a:ln>
              <a:effectLst/>
            </p:spPr>
            <p:txBody>
              <a:bodyPr/>
              <a:lstStyle/>
              <a:p>
                <a:endParaRPr lang="en-US"/>
              </a:p>
            </p:txBody>
          </p:sp>
          <p:sp>
            <p:nvSpPr>
              <p:cNvPr id="943114" name="Freeform 10"/>
              <p:cNvSpPr>
                <a:spLocks/>
              </p:cNvSpPr>
              <p:nvPr/>
            </p:nvSpPr>
            <p:spPr bwMode="auto">
              <a:xfrm>
                <a:off x="3070" y="2419"/>
                <a:ext cx="246" cy="292"/>
              </a:xfrm>
              <a:custGeom>
                <a:avLst/>
                <a:gdLst/>
                <a:ahLst/>
                <a:cxnLst>
                  <a:cxn ang="0">
                    <a:pos x="132" y="291"/>
                  </a:cxn>
                  <a:cxn ang="0">
                    <a:pos x="132" y="291"/>
                  </a:cxn>
                  <a:cxn ang="0">
                    <a:pos x="245" y="234"/>
                  </a:cxn>
                  <a:cxn ang="0">
                    <a:pos x="113" y="0"/>
                  </a:cxn>
                  <a:cxn ang="0">
                    <a:pos x="0" y="57"/>
                  </a:cxn>
                  <a:cxn ang="0">
                    <a:pos x="132" y="291"/>
                  </a:cxn>
                  <a:cxn ang="0">
                    <a:pos x="132" y="291"/>
                  </a:cxn>
                </a:cxnLst>
                <a:rect l="0" t="0" r="r" b="b"/>
                <a:pathLst>
                  <a:path w="246" h="292">
                    <a:moveTo>
                      <a:pt x="132" y="291"/>
                    </a:moveTo>
                    <a:lnTo>
                      <a:pt x="132" y="291"/>
                    </a:lnTo>
                    <a:lnTo>
                      <a:pt x="245" y="234"/>
                    </a:lnTo>
                    <a:lnTo>
                      <a:pt x="113" y="0"/>
                    </a:lnTo>
                    <a:lnTo>
                      <a:pt x="0" y="57"/>
                    </a:lnTo>
                    <a:lnTo>
                      <a:pt x="132" y="291"/>
                    </a:lnTo>
                    <a:lnTo>
                      <a:pt x="132" y="291"/>
                    </a:lnTo>
                  </a:path>
                </a:pathLst>
              </a:custGeom>
              <a:solidFill>
                <a:srgbClr val="E1E1E1"/>
              </a:solidFill>
              <a:ln w="12700" cap="rnd" cmpd="sng">
                <a:solidFill>
                  <a:srgbClr val="000000"/>
                </a:solidFill>
                <a:prstDash val="solid"/>
                <a:round/>
                <a:headEnd/>
                <a:tailEnd/>
              </a:ln>
              <a:effectLst/>
            </p:spPr>
            <p:txBody>
              <a:bodyPr/>
              <a:lstStyle/>
              <a:p>
                <a:endParaRPr lang="en-US"/>
              </a:p>
            </p:txBody>
          </p:sp>
          <p:sp>
            <p:nvSpPr>
              <p:cNvPr id="943115" name="Freeform 11"/>
              <p:cNvSpPr>
                <a:spLocks/>
              </p:cNvSpPr>
              <p:nvPr/>
            </p:nvSpPr>
            <p:spPr bwMode="auto">
              <a:xfrm>
                <a:off x="3215" y="2236"/>
                <a:ext cx="561" cy="350"/>
              </a:xfrm>
              <a:custGeom>
                <a:avLst/>
                <a:gdLst/>
                <a:ahLst/>
                <a:cxnLst>
                  <a:cxn ang="0">
                    <a:pos x="50" y="349"/>
                  </a:cxn>
                  <a:cxn ang="0">
                    <a:pos x="50" y="349"/>
                  </a:cxn>
                  <a:cxn ang="0">
                    <a:pos x="560" y="89"/>
                  </a:cxn>
                  <a:cxn ang="0">
                    <a:pos x="509" y="0"/>
                  </a:cxn>
                  <a:cxn ang="0">
                    <a:pos x="0" y="258"/>
                  </a:cxn>
                  <a:cxn ang="0">
                    <a:pos x="50" y="349"/>
                  </a:cxn>
                  <a:cxn ang="0">
                    <a:pos x="50" y="349"/>
                  </a:cxn>
                </a:cxnLst>
                <a:rect l="0" t="0" r="r" b="b"/>
                <a:pathLst>
                  <a:path w="561" h="350">
                    <a:moveTo>
                      <a:pt x="50" y="349"/>
                    </a:moveTo>
                    <a:lnTo>
                      <a:pt x="50" y="349"/>
                    </a:lnTo>
                    <a:lnTo>
                      <a:pt x="560" y="89"/>
                    </a:lnTo>
                    <a:lnTo>
                      <a:pt x="509" y="0"/>
                    </a:lnTo>
                    <a:lnTo>
                      <a:pt x="0" y="258"/>
                    </a:lnTo>
                    <a:lnTo>
                      <a:pt x="50" y="349"/>
                    </a:lnTo>
                    <a:lnTo>
                      <a:pt x="50" y="349"/>
                    </a:lnTo>
                  </a:path>
                </a:pathLst>
              </a:custGeom>
              <a:solidFill>
                <a:srgbClr val="E1E1E1"/>
              </a:solidFill>
              <a:ln w="12700" cap="rnd" cmpd="sng">
                <a:solidFill>
                  <a:srgbClr val="000000"/>
                </a:solidFill>
                <a:prstDash val="solid"/>
                <a:round/>
                <a:headEnd/>
                <a:tailEnd/>
              </a:ln>
              <a:effectLst/>
            </p:spPr>
            <p:txBody>
              <a:bodyPr/>
              <a:lstStyle/>
              <a:p>
                <a:endParaRPr lang="en-US"/>
              </a:p>
            </p:txBody>
          </p:sp>
          <p:sp>
            <p:nvSpPr>
              <p:cNvPr id="943116" name="Line 12"/>
              <p:cNvSpPr>
                <a:spLocks noChangeShapeType="1"/>
              </p:cNvSpPr>
              <p:nvPr/>
            </p:nvSpPr>
            <p:spPr bwMode="auto">
              <a:xfrm>
                <a:off x="1704" y="2630"/>
                <a:ext cx="1601" cy="0"/>
              </a:xfrm>
              <a:prstGeom prst="line">
                <a:avLst/>
              </a:prstGeom>
              <a:noFill/>
              <a:ln w="25400">
                <a:solidFill>
                  <a:srgbClr val="000000"/>
                </a:solidFill>
                <a:prstDash val="sysDot"/>
                <a:round/>
                <a:headEnd type="none" w="sm" len="sm"/>
                <a:tailEnd type="none" w="sm" len="sm"/>
              </a:ln>
              <a:effectLst/>
            </p:spPr>
            <p:txBody>
              <a:bodyPr wrap="none" anchor="ctr"/>
              <a:lstStyle/>
              <a:p>
                <a:endParaRPr lang="en-US"/>
              </a:p>
            </p:txBody>
          </p:sp>
          <p:sp>
            <p:nvSpPr>
              <p:cNvPr id="943117" name="Line 13"/>
              <p:cNvSpPr>
                <a:spLocks noChangeShapeType="1"/>
              </p:cNvSpPr>
              <p:nvPr/>
            </p:nvSpPr>
            <p:spPr bwMode="auto">
              <a:xfrm flipH="1">
                <a:off x="2872" y="2220"/>
                <a:ext cx="1007" cy="520"/>
              </a:xfrm>
              <a:prstGeom prst="line">
                <a:avLst/>
              </a:prstGeom>
              <a:noFill/>
              <a:ln w="25400">
                <a:solidFill>
                  <a:srgbClr val="000000"/>
                </a:solidFill>
                <a:prstDash val="sysDot"/>
                <a:round/>
                <a:headEnd type="none" w="sm" len="sm"/>
                <a:tailEnd type="none" w="sm" len="sm"/>
              </a:ln>
              <a:effectLst/>
            </p:spPr>
            <p:txBody>
              <a:bodyPr wrap="none" anchor="ctr"/>
              <a:lstStyle/>
              <a:p>
                <a:endParaRPr lang="en-US"/>
              </a:p>
            </p:txBody>
          </p:sp>
        </p:grpSp>
      </p:grpSp>
      <p:grpSp>
        <p:nvGrpSpPr>
          <p:cNvPr id="943118" name="Group 14"/>
          <p:cNvGrpSpPr>
            <a:grpSpLocks/>
          </p:cNvGrpSpPr>
          <p:nvPr/>
        </p:nvGrpSpPr>
        <p:grpSpPr bwMode="auto">
          <a:xfrm>
            <a:off x="2081213" y="4987925"/>
            <a:ext cx="5843587" cy="1184275"/>
            <a:chOff x="1311" y="3142"/>
            <a:chExt cx="3681" cy="746"/>
          </a:xfrm>
        </p:grpSpPr>
        <p:sp>
          <p:nvSpPr>
            <p:cNvPr id="943119" name="Rectangle 15"/>
            <p:cNvSpPr>
              <a:spLocks noChangeArrowheads="1"/>
            </p:cNvSpPr>
            <p:nvPr/>
          </p:nvSpPr>
          <p:spPr bwMode="auto">
            <a:xfrm>
              <a:off x="1311" y="3399"/>
              <a:ext cx="512" cy="249"/>
            </a:xfrm>
            <a:prstGeom prst="rect">
              <a:avLst/>
            </a:prstGeom>
            <a:noFill/>
            <a:ln w="9525">
              <a:noFill/>
              <a:miter lim="800000"/>
              <a:headEnd/>
              <a:tailEnd/>
            </a:ln>
            <a:effectLst/>
          </p:spPr>
          <p:txBody>
            <a:bodyPr lIns="0" tIns="0" rIns="0" bIns="0" anchor="b"/>
            <a:lstStyle/>
            <a:p>
              <a:pPr defTabSz="377825"/>
              <a:r>
                <a:rPr lang="en-US">
                  <a:solidFill>
                    <a:srgbClr val="000000"/>
                  </a:solidFill>
                </a:rPr>
                <a:t>Both</a:t>
              </a:r>
            </a:p>
          </p:txBody>
        </p:sp>
        <p:grpSp>
          <p:nvGrpSpPr>
            <p:cNvPr id="943120" name="Group 16"/>
            <p:cNvGrpSpPr>
              <a:grpSpLocks/>
            </p:cNvGrpSpPr>
            <p:nvPr/>
          </p:nvGrpSpPr>
          <p:grpSpPr bwMode="auto">
            <a:xfrm>
              <a:off x="2590" y="3142"/>
              <a:ext cx="2402" cy="746"/>
              <a:chOff x="1711" y="3223"/>
              <a:chExt cx="2402" cy="746"/>
            </a:xfrm>
          </p:grpSpPr>
          <p:grpSp>
            <p:nvGrpSpPr>
              <p:cNvPr id="943121" name="Group 17"/>
              <p:cNvGrpSpPr>
                <a:grpSpLocks/>
              </p:cNvGrpSpPr>
              <p:nvPr/>
            </p:nvGrpSpPr>
            <p:grpSpPr bwMode="auto">
              <a:xfrm>
                <a:off x="1979" y="3474"/>
                <a:ext cx="785" cy="495"/>
                <a:chOff x="1979" y="3474"/>
                <a:chExt cx="785" cy="495"/>
              </a:xfrm>
            </p:grpSpPr>
            <p:sp>
              <p:nvSpPr>
                <p:cNvPr id="943122" name="AutoShape 18"/>
                <p:cNvSpPr>
                  <a:spLocks noChangeArrowheads="1"/>
                </p:cNvSpPr>
                <p:nvPr/>
              </p:nvSpPr>
              <p:spPr bwMode="auto">
                <a:xfrm>
                  <a:off x="2674" y="3474"/>
                  <a:ext cx="90" cy="495"/>
                </a:xfrm>
                <a:prstGeom prst="roundRect">
                  <a:avLst>
                    <a:gd name="adj" fmla="val 0"/>
                  </a:avLst>
                </a:prstGeom>
                <a:solidFill>
                  <a:srgbClr val="E1E1E1"/>
                </a:solidFill>
                <a:ln w="12700">
                  <a:solidFill>
                    <a:srgbClr val="000000"/>
                  </a:solidFill>
                  <a:round/>
                  <a:headEnd/>
                  <a:tailEnd/>
                </a:ln>
                <a:effectLst/>
              </p:spPr>
              <p:txBody>
                <a:bodyPr wrap="none" anchor="ctr"/>
                <a:lstStyle/>
                <a:p>
                  <a:endParaRPr lang="en-US"/>
                </a:p>
              </p:txBody>
            </p:sp>
            <p:sp>
              <p:nvSpPr>
                <p:cNvPr id="943123" name="AutoShape 19"/>
                <p:cNvSpPr>
                  <a:spLocks noChangeArrowheads="1"/>
                </p:cNvSpPr>
                <p:nvPr/>
              </p:nvSpPr>
              <p:spPr bwMode="auto">
                <a:xfrm>
                  <a:off x="2555" y="3587"/>
                  <a:ext cx="122" cy="239"/>
                </a:xfrm>
                <a:prstGeom prst="roundRect">
                  <a:avLst>
                    <a:gd name="adj" fmla="val 0"/>
                  </a:avLst>
                </a:prstGeom>
                <a:solidFill>
                  <a:srgbClr val="E1E1E1"/>
                </a:solidFill>
                <a:ln w="12700">
                  <a:solidFill>
                    <a:srgbClr val="000000"/>
                  </a:solidFill>
                  <a:round/>
                  <a:headEnd/>
                  <a:tailEnd/>
                </a:ln>
                <a:effectLst/>
              </p:spPr>
              <p:txBody>
                <a:bodyPr wrap="none" anchor="ctr"/>
                <a:lstStyle/>
                <a:p>
                  <a:endParaRPr lang="en-US"/>
                </a:p>
              </p:txBody>
            </p:sp>
            <p:sp>
              <p:nvSpPr>
                <p:cNvPr id="943124" name="AutoShape 20"/>
                <p:cNvSpPr>
                  <a:spLocks noChangeArrowheads="1"/>
                </p:cNvSpPr>
                <p:nvPr/>
              </p:nvSpPr>
              <p:spPr bwMode="auto">
                <a:xfrm>
                  <a:off x="1979" y="3663"/>
                  <a:ext cx="577" cy="88"/>
                </a:xfrm>
                <a:prstGeom prst="roundRect">
                  <a:avLst>
                    <a:gd name="adj" fmla="val 0"/>
                  </a:avLst>
                </a:prstGeom>
                <a:solidFill>
                  <a:srgbClr val="E1E1E1"/>
                </a:solidFill>
                <a:ln w="12700">
                  <a:solidFill>
                    <a:srgbClr val="000000"/>
                  </a:solidFill>
                  <a:round/>
                  <a:headEnd/>
                  <a:tailEnd/>
                </a:ln>
                <a:effectLst/>
              </p:spPr>
              <p:txBody>
                <a:bodyPr wrap="none" anchor="ctr"/>
                <a:lstStyle/>
                <a:p>
                  <a:endParaRPr lang="en-US"/>
                </a:p>
              </p:txBody>
            </p:sp>
          </p:grpSp>
          <p:sp>
            <p:nvSpPr>
              <p:cNvPr id="943125" name="Freeform 21"/>
              <p:cNvSpPr>
                <a:spLocks/>
              </p:cNvSpPr>
              <p:nvPr/>
            </p:nvSpPr>
            <p:spPr bwMode="auto">
              <a:xfrm>
                <a:off x="2962" y="3358"/>
                <a:ext cx="360" cy="484"/>
              </a:xfrm>
              <a:custGeom>
                <a:avLst/>
                <a:gdLst/>
                <a:ahLst/>
                <a:cxnLst>
                  <a:cxn ang="0">
                    <a:pos x="272" y="483"/>
                  </a:cxn>
                  <a:cxn ang="0">
                    <a:pos x="272" y="483"/>
                  </a:cxn>
                  <a:cxn ang="0">
                    <a:pos x="359" y="442"/>
                  </a:cxn>
                  <a:cxn ang="0">
                    <a:pos x="87" y="0"/>
                  </a:cxn>
                  <a:cxn ang="0">
                    <a:pos x="0" y="39"/>
                  </a:cxn>
                  <a:cxn ang="0">
                    <a:pos x="272" y="483"/>
                  </a:cxn>
                  <a:cxn ang="0">
                    <a:pos x="272" y="483"/>
                  </a:cxn>
                </a:cxnLst>
                <a:rect l="0" t="0" r="r" b="b"/>
                <a:pathLst>
                  <a:path w="360" h="484">
                    <a:moveTo>
                      <a:pt x="272" y="483"/>
                    </a:moveTo>
                    <a:lnTo>
                      <a:pt x="272" y="483"/>
                    </a:lnTo>
                    <a:lnTo>
                      <a:pt x="359" y="442"/>
                    </a:lnTo>
                    <a:lnTo>
                      <a:pt x="87" y="0"/>
                    </a:lnTo>
                    <a:lnTo>
                      <a:pt x="0" y="39"/>
                    </a:lnTo>
                    <a:lnTo>
                      <a:pt x="272" y="483"/>
                    </a:lnTo>
                    <a:lnTo>
                      <a:pt x="272" y="483"/>
                    </a:lnTo>
                  </a:path>
                </a:pathLst>
              </a:custGeom>
              <a:solidFill>
                <a:srgbClr val="E1E1E1"/>
              </a:solidFill>
              <a:ln w="12700" cap="rnd" cmpd="sng">
                <a:solidFill>
                  <a:srgbClr val="000000"/>
                </a:solidFill>
                <a:prstDash val="solid"/>
                <a:round/>
                <a:headEnd/>
                <a:tailEnd/>
              </a:ln>
              <a:effectLst/>
            </p:spPr>
            <p:txBody>
              <a:bodyPr/>
              <a:lstStyle/>
              <a:p>
                <a:endParaRPr lang="en-US"/>
              </a:p>
            </p:txBody>
          </p:sp>
          <p:sp>
            <p:nvSpPr>
              <p:cNvPr id="943126" name="Freeform 22"/>
              <p:cNvSpPr>
                <a:spLocks/>
              </p:cNvSpPr>
              <p:nvPr/>
            </p:nvSpPr>
            <p:spPr bwMode="auto">
              <a:xfrm>
                <a:off x="3100" y="3408"/>
                <a:ext cx="250" cy="273"/>
              </a:xfrm>
              <a:custGeom>
                <a:avLst/>
                <a:gdLst/>
                <a:ahLst/>
                <a:cxnLst>
                  <a:cxn ang="0">
                    <a:pos x="134" y="272"/>
                  </a:cxn>
                  <a:cxn ang="0">
                    <a:pos x="134" y="272"/>
                  </a:cxn>
                  <a:cxn ang="0">
                    <a:pos x="249" y="218"/>
                  </a:cxn>
                  <a:cxn ang="0">
                    <a:pos x="115" y="0"/>
                  </a:cxn>
                  <a:cxn ang="0">
                    <a:pos x="0" y="53"/>
                  </a:cxn>
                  <a:cxn ang="0">
                    <a:pos x="134" y="272"/>
                  </a:cxn>
                  <a:cxn ang="0">
                    <a:pos x="134" y="272"/>
                  </a:cxn>
                </a:cxnLst>
                <a:rect l="0" t="0" r="r" b="b"/>
                <a:pathLst>
                  <a:path w="250" h="273">
                    <a:moveTo>
                      <a:pt x="134" y="272"/>
                    </a:moveTo>
                    <a:lnTo>
                      <a:pt x="134" y="272"/>
                    </a:lnTo>
                    <a:lnTo>
                      <a:pt x="249" y="218"/>
                    </a:lnTo>
                    <a:lnTo>
                      <a:pt x="115" y="0"/>
                    </a:lnTo>
                    <a:lnTo>
                      <a:pt x="0" y="53"/>
                    </a:lnTo>
                    <a:lnTo>
                      <a:pt x="134" y="272"/>
                    </a:lnTo>
                    <a:lnTo>
                      <a:pt x="134" y="272"/>
                    </a:lnTo>
                  </a:path>
                </a:pathLst>
              </a:custGeom>
              <a:solidFill>
                <a:srgbClr val="E1E1E1"/>
              </a:solidFill>
              <a:ln w="12700" cap="rnd" cmpd="sng">
                <a:solidFill>
                  <a:srgbClr val="000000"/>
                </a:solidFill>
                <a:prstDash val="solid"/>
                <a:round/>
                <a:headEnd/>
                <a:tailEnd/>
              </a:ln>
              <a:effectLst/>
            </p:spPr>
            <p:txBody>
              <a:bodyPr/>
              <a:lstStyle/>
              <a:p>
                <a:endParaRPr lang="en-US"/>
              </a:p>
            </p:txBody>
          </p:sp>
          <p:sp>
            <p:nvSpPr>
              <p:cNvPr id="943127" name="Freeform 23"/>
              <p:cNvSpPr>
                <a:spLocks/>
              </p:cNvSpPr>
              <p:nvPr/>
            </p:nvSpPr>
            <p:spPr bwMode="auto">
              <a:xfrm>
                <a:off x="3249" y="3238"/>
                <a:ext cx="568" cy="325"/>
              </a:xfrm>
              <a:custGeom>
                <a:avLst/>
                <a:gdLst/>
                <a:ahLst/>
                <a:cxnLst>
                  <a:cxn ang="0">
                    <a:pos x="50" y="324"/>
                  </a:cxn>
                  <a:cxn ang="0">
                    <a:pos x="50" y="324"/>
                  </a:cxn>
                  <a:cxn ang="0">
                    <a:pos x="567" y="82"/>
                  </a:cxn>
                  <a:cxn ang="0">
                    <a:pos x="514" y="0"/>
                  </a:cxn>
                  <a:cxn ang="0">
                    <a:pos x="0" y="239"/>
                  </a:cxn>
                  <a:cxn ang="0">
                    <a:pos x="50" y="324"/>
                  </a:cxn>
                  <a:cxn ang="0">
                    <a:pos x="50" y="324"/>
                  </a:cxn>
                </a:cxnLst>
                <a:rect l="0" t="0" r="r" b="b"/>
                <a:pathLst>
                  <a:path w="568" h="325">
                    <a:moveTo>
                      <a:pt x="50" y="324"/>
                    </a:moveTo>
                    <a:lnTo>
                      <a:pt x="50" y="324"/>
                    </a:lnTo>
                    <a:lnTo>
                      <a:pt x="567" y="82"/>
                    </a:lnTo>
                    <a:lnTo>
                      <a:pt x="514" y="0"/>
                    </a:lnTo>
                    <a:lnTo>
                      <a:pt x="0" y="239"/>
                    </a:lnTo>
                    <a:lnTo>
                      <a:pt x="50" y="324"/>
                    </a:lnTo>
                    <a:lnTo>
                      <a:pt x="50" y="324"/>
                    </a:lnTo>
                  </a:path>
                </a:pathLst>
              </a:custGeom>
              <a:solidFill>
                <a:srgbClr val="E1E1E1"/>
              </a:solidFill>
              <a:ln w="12700" cap="rnd" cmpd="sng">
                <a:solidFill>
                  <a:srgbClr val="000000"/>
                </a:solidFill>
                <a:prstDash val="solid"/>
                <a:round/>
                <a:headEnd/>
                <a:tailEnd/>
              </a:ln>
              <a:effectLst/>
            </p:spPr>
            <p:txBody>
              <a:bodyPr/>
              <a:lstStyle/>
              <a:p>
                <a:endParaRPr lang="en-US"/>
              </a:p>
            </p:txBody>
          </p:sp>
          <p:sp>
            <p:nvSpPr>
              <p:cNvPr id="943128" name="Line 24"/>
              <p:cNvSpPr>
                <a:spLocks noChangeShapeType="1"/>
              </p:cNvSpPr>
              <p:nvPr/>
            </p:nvSpPr>
            <p:spPr bwMode="auto">
              <a:xfrm flipH="1">
                <a:off x="2899" y="3223"/>
                <a:ext cx="1024" cy="484"/>
              </a:xfrm>
              <a:prstGeom prst="line">
                <a:avLst/>
              </a:prstGeom>
              <a:noFill/>
              <a:ln w="25400">
                <a:solidFill>
                  <a:srgbClr val="000000"/>
                </a:solidFill>
                <a:prstDash val="sysDot"/>
                <a:round/>
                <a:headEnd type="none" w="sm" len="sm"/>
                <a:tailEnd type="none" w="sm" len="sm"/>
              </a:ln>
              <a:effectLst/>
            </p:spPr>
            <p:txBody>
              <a:bodyPr wrap="none" anchor="ctr"/>
              <a:lstStyle/>
              <a:p>
                <a:endParaRPr lang="en-US"/>
              </a:p>
            </p:txBody>
          </p:sp>
          <p:sp>
            <p:nvSpPr>
              <p:cNvPr id="943129" name="Line 25"/>
              <p:cNvSpPr>
                <a:spLocks noChangeShapeType="1"/>
              </p:cNvSpPr>
              <p:nvPr/>
            </p:nvSpPr>
            <p:spPr bwMode="auto">
              <a:xfrm>
                <a:off x="2438" y="3610"/>
                <a:ext cx="1675" cy="0"/>
              </a:xfrm>
              <a:prstGeom prst="line">
                <a:avLst/>
              </a:prstGeom>
              <a:noFill/>
              <a:ln w="25400">
                <a:solidFill>
                  <a:srgbClr val="000000"/>
                </a:solidFill>
                <a:prstDash val="sysDot"/>
                <a:round/>
                <a:headEnd type="none" w="sm" len="sm"/>
                <a:tailEnd type="none" w="sm" len="sm"/>
              </a:ln>
              <a:effectLst/>
            </p:spPr>
            <p:txBody>
              <a:bodyPr wrap="none" anchor="ctr"/>
              <a:lstStyle/>
              <a:p>
                <a:endParaRPr lang="en-US"/>
              </a:p>
            </p:txBody>
          </p:sp>
          <p:sp>
            <p:nvSpPr>
              <p:cNvPr id="943130" name="Line 26"/>
              <p:cNvSpPr>
                <a:spLocks noChangeShapeType="1"/>
              </p:cNvSpPr>
              <p:nvPr/>
            </p:nvSpPr>
            <p:spPr bwMode="auto">
              <a:xfrm>
                <a:off x="1711" y="3707"/>
                <a:ext cx="1627" cy="0"/>
              </a:xfrm>
              <a:prstGeom prst="line">
                <a:avLst/>
              </a:prstGeom>
              <a:noFill/>
              <a:ln w="25400">
                <a:solidFill>
                  <a:srgbClr val="000000"/>
                </a:solidFill>
                <a:prstDash val="sysDot"/>
                <a:round/>
                <a:headEnd type="none" w="sm" len="sm"/>
                <a:tailEnd type="none" w="sm" len="sm"/>
              </a:ln>
              <a:effectLst/>
            </p:spPr>
            <p:txBody>
              <a:bodyPr wrap="none" anchor="ctr"/>
              <a:lstStyle/>
              <a:p>
                <a:endParaRPr lang="en-US"/>
              </a:p>
            </p:txBody>
          </p:sp>
        </p:grpSp>
      </p:grpSp>
      <p:grpSp>
        <p:nvGrpSpPr>
          <p:cNvPr id="943131" name="Group 27"/>
          <p:cNvGrpSpPr>
            <a:grpSpLocks/>
          </p:cNvGrpSpPr>
          <p:nvPr/>
        </p:nvGrpSpPr>
        <p:grpSpPr bwMode="auto">
          <a:xfrm>
            <a:off x="2057400" y="1752600"/>
            <a:ext cx="5791200" cy="1047750"/>
            <a:chOff x="1311" y="1120"/>
            <a:chExt cx="3648" cy="660"/>
          </a:xfrm>
        </p:grpSpPr>
        <p:grpSp>
          <p:nvGrpSpPr>
            <p:cNvPr id="943132" name="Group 28"/>
            <p:cNvGrpSpPr>
              <a:grpSpLocks/>
            </p:cNvGrpSpPr>
            <p:nvPr/>
          </p:nvGrpSpPr>
          <p:grpSpPr bwMode="auto">
            <a:xfrm>
              <a:off x="2583" y="1120"/>
              <a:ext cx="2376" cy="660"/>
              <a:chOff x="1704" y="1201"/>
              <a:chExt cx="2376" cy="660"/>
            </a:xfrm>
          </p:grpSpPr>
          <p:grpSp>
            <p:nvGrpSpPr>
              <p:cNvPr id="943133" name="Group 29"/>
              <p:cNvGrpSpPr>
                <a:grpSpLocks/>
              </p:cNvGrpSpPr>
              <p:nvPr/>
            </p:nvGrpSpPr>
            <p:grpSpPr bwMode="auto">
              <a:xfrm>
                <a:off x="1968" y="1201"/>
                <a:ext cx="777" cy="528"/>
                <a:chOff x="1968" y="1201"/>
                <a:chExt cx="777" cy="528"/>
              </a:xfrm>
            </p:grpSpPr>
            <p:sp>
              <p:nvSpPr>
                <p:cNvPr id="943134" name="AutoShape 30"/>
                <p:cNvSpPr>
                  <a:spLocks noChangeArrowheads="1"/>
                </p:cNvSpPr>
                <p:nvPr/>
              </p:nvSpPr>
              <p:spPr bwMode="auto">
                <a:xfrm>
                  <a:off x="2656" y="1201"/>
                  <a:ext cx="89" cy="528"/>
                </a:xfrm>
                <a:prstGeom prst="roundRect">
                  <a:avLst>
                    <a:gd name="adj" fmla="val 0"/>
                  </a:avLst>
                </a:prstGeom>
                <a:solidFill>
                  <a:srgbClr val="E1E1E1"/>
                </a:solidFill>
                <a:ln w="12700">
                  <a:solidFill>
                    <a:srgbClr val="000000"/>
                  </a:solidFill>
                  <a:round/>
                  <a:headEnd/>
                  <a:tailEnd/>
                </a:ln>
                <a:effectLst/>
              </p:spPr>
              <p:txBody>
                <a:bodyPr wrap="none" anchor="ctr"/>
                <a:lstStyle/>
                <a:p>
                  <a:endParaRPr lang="en-US"/>
                </a:p>
              </p:txBody>
            </p:sp>
            <p:sp>
              <p:nvSpPr>
                <p:cNvPr id="943135" name="AutoShape 31"/>
                <p:cNvSpPr>
                  <a:spLocks noChangeArrowheads="1"/>
                </p:cNvSpPr>
                <p:nvPr/>
              </p:nvSpPr>
              <p:spPr bwMode="auto">
                <a:xfrm>
                  <a:off x="2538" y="1322"/>
                  <a:ext cx="121" cy="255"/>
                </a:xfrm>
                <a:prstGeom prst="roundRect">
                  <a:avLst>
                    <a:gd name="adj" fmla="val 0"/>
                  </a:avLst>
                </a:prstGeom>
                <a:solidFill>
                  <a:srgbClr val="E1E1E1"/>
                </a:solidFill>
                <a:ln w="12700">
                  <a:solidFill>
                    <a:srgbClr val="000000"/>
                  </a:solidFill>
                  <a:round/>
                  <a:headEnd/>
                  <a:tailEnd/>
                </a:ln>
                <a:effectLst/>
              </p:spPr>
              <p:txBody>
                <a:bodyPr wrap="none" anchor="ctr"/>
                <a:lstStyle/>
                <a:p>
                  <a:endParaRPr lang="en-US"/>
                </a:p>
              </p:txBody>
            </p:sp>
            <p:sp>
              <p:nvSpPr>
                <p:cNvPr id="943136" name="AutoShape 32"/>
                <p:cNvSpPr>
                  <a:spLocks noChangeArrowheads="1"/>
                </p:cNvSpPr>
                <p:nvPr/>
              </p:nvSpPr>
              <p:spPr bwMode="auto">
                <a:xfrm>
                  <a:off x="1968" y="1403"/>
                  <a:ext cx="571" cy="94"/>
                </a:xfrm>
                <a:prstGeom prst="roundRect">
                  <a:avLst>
                    <a:gd name="adj" fmla="val 0"/>
                  </a:avLst>
                </a:prstGeom>
                <a:solidFill>
                  <a:srgbClr val="E1E1E1"/>
                </a:solidFill>
                <a:ln w="12700">
                  <a:solidFill>
                    <a:srgbClr val="000000"/>
                  </a:solidFill>
                  <a:round/>
                  <a:headEnd/>
                  <a:tailEnd/>
                </a:ln>
                <a:effectLst/>
              </p:spPr>
              <p:txBody>
                <a:bodyPr wrap="none" anchor="ctr"/>
                <a:lstStyle/>
                <a:p>
                  <a:endParaRPr lang="en-US"/>
                </a:p>
              </p:txBody>
            </p:sp>
          </p:grpSp>
          <p:grpSp>
            <p:nvGrpSpPr>
              <p:cNvPr id="943137" name="Group 33"/>
              <p:cNvGrpSpPr>
                <a:grpSpLocks/>
              </p:cNvGrpSpPr>
              <p:nvPr/>
            </p:nvGrpSpPr>
            <p:grpSpPr bwMode="auto">
              <a:xfrm>
                <a:off x="3033" y="1332"/>
                <a:ext cx="778" cy="529"/>
                <a:chOff x="3033" y="1332"/>
                <a:chExt cx="778" cy="529"/>
              </a:xfrm>
            </p:grpSpPr>
            <p:sp>
              <p:nvSpPr>
                <p:cNvPr id="943138" name="AutoShape 34"/>
                <p:cNvSpPr>
                  <a:spLocks noChangeArrowheads="1"/>
                </p:cNvSpPr>
                <p:nvPr/>
              </p:nvSpPr>
              <p:spPr bwMode="auto">
                <a:xfrm>
                  <a:off x="3033" y="1332"/>
                  <a:ext cx="89" cy="529"/>
                </a:xfrm>
                <a:prstGeom prst="roundRect">
                  <a:avLst>
                    <a:gd name="adj" fmla="val 0"/>
                  </a:avLst>
                </a:prstGeom>
                <a:solidFill>
                  <a:srgbClr val="E1E1E1"/>
                </a:solidFill>
                <a:ln w="12700">
                  <a:solidFill>
                    <a:srgbClr val="000000"/>
                  </a:solidFill>
                  <a:round/>
                  <a:headEnd/>
                  <a:tailEnd/>
                </a:ln>
                <a:effectLst/>
              </p:spPr>
              <p:txBody>
                <a:bodyPr wrap="none" anchor="ctr"/>
                <a:lstStyle/>
                <a:p>
                  <a:endParaRPr lang="en-US"/>
                </a:p>
              </p:txBody>
            </p:sp>
            <p:sp>
              <p:nvSpPr>
                <p:cNvPr id="943139" name="AutoShape 35"/>
                <p:cNvSpPr>
                  <a:spLocks noChangeArrowheads="1"/>
                </p:cNvSpPr>
                <p:nvPr/>
              </p:nvSpPr>
              <p:spPr bwMode="auto">
                <a:xfrm>
                  <a:off x="3119" y="1454"/>
                  <a:ext cx="121" cy="255"/>
                </a:xfrm>
                <a:prstGeom prst="roundRect">
                  <a:avLst>
                    <a:gd name="adj" fmla="val 0"/>
                  </a:avLst>
                </a:prstGeom>
                <a:solidFill>
                  <a:srgbClr val="E1E1E1"/>
                </a:solidFill>
                <a:ln w="12700">
                  <a:solidFill>
                    <a:srgbClr val="000000"/>
                  </a:solidFill>
                  <a:round/>
                  <a:headEnd/>
                  <a:tailEnd/>
                </a:ln>
                <a:effectLst/>
              </p:spPr>
              <p:txBody>
                <a:bodyPr wrap="none" anchor="ctr"/>
                <a:lstStyle/>
                <a:p>
                  <a:endParaRPr lang="en-US"/>
                </a:p>
              </p:txBody>
            </p:sp>
            <p:sp>
              <p:nvSpPr>
                <p:cNvPr id="943140" name="AutoShape 36"/>
                <p:cNvSpPr>
                  <a:spLocks noChangeArrowheads="1"/>
                </p:cNvSpPr>
                <p:nvPr/>
              </p:nvSpPr>
              <p:spPr bwMode="auto">
                <a:xfrm>
                  <a:off x="3239" y="1535"/>
                  <a:ext cx="572" cy="93"/>
                </a:xfrm>
                <a:prstGeom prst="roundRect">
                  <a:avLst>
                    <a:gd name="adj" fmla="val 0"/>
                  </a:avLst>
                </a:prstGeom>
                <a:solidFill>
                  <a:srgbClr val="E1E1E1"/>
                </a:solidFill>
                <a:ln w="12700">
                  <a:solidFill>
                    <a:srgbClr val="000000"/>
                  </a:solidFill>
                  <a:round/>
                  <a:headEnd/>
                  <a:tailEnd/>
                </a:ln>
                <a:effectLst/>
              </p:spPr>
              <p:txBody>
                <a:bodyPr wrap="none" anchor="ctr"/>
                <a:lstStyle/>
                <a:p>
                  <a:endParaRPr lang="en-US"/>
                </a:p>
              </p:txBody>
            </p:sp>
          </p:grpSp>
          <p:sp>
            <p:nvSpPr>
              <p:cNvPr id="943141" name="Line 37"/>
              <p:cNvSpPr>
                <a:spLocks noChangeShapeType="1"/>
              </p:cNvSpPr>
              <p:nvPr/>
            </p:nvSpPr>
            <p:spPr bwMode="auto">
              <a:xfrm>
                <a:off x="1704" y="1440"/>
                <a:ext cx="1598" cy="0"/>
              </a:xfrm>
              <a:prstGeom prst="line">
                <a:avLst/>
              </a:prstGeom>
              <a:noFill/>
              <a:ln w="25400">
                <a:solidFill>
                  <a:srgbClr val="000000"/>
                </a:solidFill>
                <a:prstDash val="sysDot"/>
                <a:round/>
                <a:headEnd type="none" w="sm" len="sm"/>
                <a:tailEnd type="none" w="sm" len="sm"/>
              </a:ln>
              <a:effectLst/>
            </p:spPr>
            <p:txBody>
              <a:bodyPr wrap="none" anchor="ctr"/>
              <a:lstStyle/>
              <a:p>
                <a:endParaRPr lang="en-US"/>
              </a:p>
            </p:txBody>
          </p:sp>
          <p:sp>
            <p:nvSpPr>
              <p:cNvPr id="943142" name="Line 38"/>
              <p:cNvSpPr>
                <a:spLocks noChangeShapeType="1"/>
              </p:cNvSpPr>
              <p:nvPr/>
            </p:nvSpPr>
            <p:spPr bwMode="auto">
              <a:xfrm>
                <a:off x="2458" y="1581"/>
                <a:ext cx="1622" cy="0"/>
              </a:xfrm>
              <a:prstGeom prst="line">
                <a:avLst/>
              </a:prstGeom>
              <a:noFill/>
              <a:ln w="25400">
                <a:solidFill>
                  <a:srgbClr val="000000"/>
                </a:solidFill>
                <a:prstDash val="sysDot"/>
                <a:round/>
                <a:headEnd type="none" w="sm" len="sm"/>
                <a:tailEnd type="none" w="sm" len="sm"/>
              </a:ln>
              <a:effectLst/>
            </p:spPr>
            <p:txBody>
              <a:bodyPr wrap="none" anchor="ctr"/>
              <a:lstStyle/>
              <a:p>
                <a:endParaRPr lang="en-US"/>
              </a:p>
            </p:txBody>
          </p:sp>
        </p:grpSp>
        <p:sp>
          <p:nvSpPr>
            <p:cNvPr id="943143" name="Rectangle 39"/>
            <p:cNvSpPr>
              <a:spLocks noChangeArrowheads="1"/>
            </p:cNvSpPr>
            <p:nvPr/>
          </p:nvSpPr>
          <p:spPr bwMode="auto">
            <a:xfrm>
              <a:off x="1311" y="1200"/>
              <a:ext cx="849" cy="248"/>
            </a:xfrm>
            <a:prstGeom prst="rect">
              <a:avLst/>
            </a:prstGeom>
            <a:noFill/>
            <a:ln w="9525">
              <a:noFill/>
              <a:miter lim="800000"/>
              <a:headEnd/>
              <a:tailEnd/>
            </a:ln>
            <a:effectLst/>
          </p:spPr>
          <p:txBody>
            <a:bodyPr lIns="0" tIns="0" rIns="0" bIns="0" anchor="b"/>
            <a:lstStyle/>
            <a:p>
              <a:pPr defTabSz="377825"/>
              <a:r>
                <a:rPr lang="en-US">
                  <a:solidFill>
                    <a:srgbClr val="000000"/>
                  </a:solidFill>
                </a:rPr>
                <a:t>Offset</a:t>
              </a:r>
            </a:p>
          </p:txBody>
        </p:sp>
      </p:grpSp>
      <p:sp>
        <p:nvSpPr>
          <p:cNvPr id="943144" name="Rectangle 40"/>
          <p:cNvSpPr>
            <a:spLocks noGrp="1" noChangeArrowheads="1"/>
          </p:cNvSpPr>
          <p:nvPr>
            <p:ph type="title" idx="4294967295"/>
          </p:nvPr>
        </p:nvSpPr>
        <p:spPr>
          <a:xfrm>
            <a:off x="685800" y="390525"/>
            <a:ext cx="7772400" cy="828675"/>
          </a:xfrm>
        </p:spPr>
        <p:txBody>
          <a:bodyPr/>
          <a:lstStyle/>
          <a:p>
            <a:r>
              <a:rPr lang="en-US"/>
              <a:t>Types of Misalignment</a:t>
            </a: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5154" name="Text Box 2"/>
          <p:cNvSpPr txBox="1">
            <a:spLocks noChangeArrowheads="1"/>
          </p:cNvSpPr>
          <p:nvPr/>
        </p:nvSpPr>
        <p:spPr bwMode="auto">
          <a:xfrm>
            <a:off x="722313" y="1824038"/>
            <a:ext cx="8112125" cy="3521075"/>
          </a:xfrm>
          <a:prstGeom prst="rect">
            <a:avLst/>
          </a:prstGeom>
          <a:noFill/>
          <a:ln w="9525">
            <a:noFill/>
            <a:miter lim="800000"/>
            <a:headEnd/>
            <a:tailEnd/>
          </a:ln>
          <a:effectLst/>
        </p:spPr>
        <p:txBody>
          <a:bodyPr lIns="0" tIns="0" rIns="0" bIns="0"/>
          <a:lstStyle/>
          <a:p>
            <a:pPr marL="187325" indent="-187325" defTabSz="409575">
              <a:buClr>
                <a:srgbClr val="C0C0C0"/>
              </a:buClr>
              <a:buSzPct val="46000"/>
              <a:buFont typeface="Monotype Sorts" pitchFamily="2" charset="2"/>
              <a:buChar char="n"/>
            </a:pPr>
            <a:endParaRPr lang="en-US" sz="2200"/>
          </a:p>
        </p:txBody>
      </p:sp>
      <p:sp>
        <p:nvSpPr>
          <p:cNvPr id="945155" name="Rectangle 3"/>
          <p:cNvSpPr>
            <a:spLocks noGrp="1" noChangeArrowheads="1"/>
          </p:cNvSpPr>
          <p:nvPr>
            <p:ph type="title"/>
          </p:nvPr>
        </p:nvSpPr>
        <p:spPr/>
        <p:txBody>
          <a:bodyPr/>
          <a:lstStyle/>
          <a:p>
            <a:r>
              <a:rPr lang="en-US"/>
              <a:t>Misalignment</a:t>
            </a:r>
          </a:p>
        </p:txBody>
      </p:sp>
      <p:sp>
        <p:nvSpPr>
          <p:cNvPr id="945156" name="Rectangle 4"/>
          <p:cNvSpPr>
            <a:spLocks noGrp="1" noChangeArrowheads="1"/>
          </p:cNvSpPr>
          <p:nvPr>
            <p:ph type="body" idx="1"/>
          </p:nvPr>
        </p:nvSpPr>
        <p:spPr/>
        <p:txBody>
          <a:bodyPr/>
          <a:lstStyle/>
          <a:p>
            <a:r>
              <a:rPr lang="en-US"/>
              <a:t>Characteristics:</a:t>
            </a:r>
          </a:p>
          <a:p>
            <a:pPr lvl="1"/>
            <a:r>
              <a:rPr lang="en-US"/>
              <a:t>High axial levels</a:t>
            </a:r>
          </a:p>
          <a:p>
            <a:pPr lvl="1"/>
            <a:r>
              <a:rPr lang="en-US"/>
              <a:t>High axial at 1, 2 and 3X shaft RPM</a:t>
            </a:r>
          </a:p>
          <a:p>
            <a:pPr lvl="1"/>
            <a:r>
              <a:rPr lang="en-US"/>
              <a:t>High radial at 1, 2 and 3X shaft RPM </a:t>
            </a:r>
          </a:p>
          <a:p>
            <a:pPr lvl="1"/>
            <a:r>
              <a:rPr lang="en-US"/>
              <a:t>Repeatable periodic waveform with one or two clear peaks per revolution</a:t>
            </a:r>
          </a:p>
          <a:p>
            <a:pPr lvl="1"/>
            <a:r>
              <a:rPr lang="en-US"/>
              <a:t>Phase readings show a 180</a:t>
            </a:r>
            <a:r>
              <a:rPr lang="en-US" baseline="40000"/>
              <a:t>o</a:t>
            </a:r>
            <a:r>
              <a:rPr lang="en-US"/>
              <a:t> shift across the coupling</a:t>
            </a: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78" name="Rectangle 2"/>
          <p:cNvSpPr>
            <a:spLocks noChangeArrowheads="1"/>
          </p:cNvSpPr>
          <p:nvPr/>
        </p:nvSpPr>
        <p:spPr bwMode="auto">
          <a:xfrm>
            <a:off x="898525" y="334963"/>
            <a:ext cx="7805738" cy="701675"/>
          </a:xfrm>
          <a:prstGeom prst="rect">
            <a:avLst/>
          </a:prstGeom>
          <a:noFill/>
          <a:ln w="12700">
            <a:noFill/>
            <a:miter lim="800000"/>
            <a:headEnd/>
            <a:tailEnd/>
          </a:ln>
          <a:effectLst/>
        </p:spPr>
        <p:txBody>
          <a:bodyPr wrap="none" anchor="ctr"/>
          <a:lstStyle/>
          <a:p>
            <a:endParaRPr lang="en-US"/>
          </a:p>
        </p:txBody>
      </p:sp>
      <p:sp>
        <p:nvSpPr>
          <p:cNvPr id="946179" name="Rectangle 3"/>
          <p:cNvSpPr>
            <a:spLocks noChangeArrowheads="1"/>
          </p:cNvSpPr>
          <p:nvPr/>
        </p:nvSpPr>
        <p:spPr bwMode="auto">
          <a:xfrm>
            <a:off x="822325" y="334963"/>
            <a:ext cx="7805738" cy="701675"/>
          </a:xfrm>
          <a:prstGeom prst="rect">
            <a:avLst/>
          </a:prstGeom>
          <a:noFill/>
          <a:ln w="12700">
            <a:noFill/>
            <a:miter lim="800000"/>
            <a:headEnd/>
            <a:tailEnd/>
          </a:ln>
          <a:effectLst/>
        </p:spPr>
        <p:txBody>
          <a:bodyPr wrap="none" anchor="ctr"/>
          <a:lstStyle/>
          <a:p>
            <a:endParaRPr lang="en-US"/>
          </a:p>
        </p:txBody>
      </p:sp>
      <p:sp>
        <p:nvSpPr>
          <p:cNvPr id="946180" name="Rectangle 4"/>
          <p:cNvSpPr>
            <a:spLocks noChangeArrowheads="1"/>
          </p:cNvSpPr>
          <p:nvPr/>
        </p:nvSpPr>
        <p:spPr bwMode="auto">
          <a:xfrm>
            <a:off x="609600" y="2667000"/>
            <a:ext cx="7954963" cy="3594100"/>
          </a:xfrm>
          <a:prstGeom prst="rect">
            <a:avLst/>
          </a:prstGeom>
          <a:noFill/>
          <a:ln w="12700">
            <a:noFill/>
            <a:miter lim="800000"/>
            <a:headEnd/>
            <a:tailEnd/>
          </a:ln>
          <a:effectLst/>
        </p:spPr>
        <p:txBody>
          <a:bodyPr lIns="90488" tIns="44450" rIns="90488" bIns="44450">
            <a:spAutoFit/>
          </a:bodyPr>
          <a:lstStyle/>
          <a:p>
            <a:r>
              <a:rPr lang="en-US" sz="2500" b="1">
                <a:solidFill>
                  <a:schemeClr val="tx2"/>
                </a:solidFill>
                <a:latin typeface="Courier New" pitchFamily="49" charset="0"/>
              </a:rPr>
              <a:t>Angular</a:t>
            </a:r>
            <a:r>
              <a:rPr lang="en-US" sz="2000" b="1">
                <a:solidFill>
                  <a:schemeClr val="tx2"/>
                </a:solidFill>
                <a:latin typeface="Courier New" pitchFamily="49" charset="0"/>
              </a:rPr>
              <a:t> - Axial vibration at  1X RPM</a:t>
            </a:r>
          </a:p>
          <a:p>
            <a:r>
              <a:rPr lang="en-US" sz="2000" b="1">
                <a:solidFill>
                  <a:schemeClr val="tx2"/>
                </a:solidFill>
                <a:latin typeface="Courier New" pitchFamily="49" charset="0"/>
              </a:rPr>
              <a:t>	</a:t>
            </a:r>
          </a:p>
          <a:p>
            <a:r>
              <a:rPr lang="en-US" sz="2500" b="1">
                <a:solidFill>
                  <a:schemeClr val="tx2"/>
                </a:solidFill>
                <a:latin typeface="Courier New" pitchFamily="49" charset="0"/>
              </a:rPr>
              <a:t>Offset </a:t>
            </a:r>
            <a:r>
              <a:rPr lang="en-US" sz="2000" b="1">
                <a:solidFill>
                  <a:schemeClr val="tx2"/>
                </a:solidFill>
                <a:latin typeface="Courier New" pitchFamily="49" charset="0"/>
              </a:rPr>
              <a:t> - Radial vibration at 2X or 3X RPM </a:t>
            </a:r>
          </a:p>
          <a:p>
            <a:endParaRPr lang="en-US" sz="2000" b="1">
              <a:solidFill>
                <a:schemeClr val="tx2"/>
              </a:solidFill>
              <a:latin typeface="Courier New" pitchFamily="49" charset="0"/>
            </a:endParaRPr>
          </a:p>
          <a:p>
            <a:r>
              <a:rPr lang="en-US" sz="2000" b="1">
                <a:solidFill>
                  <a:schemeClr val="tx2"/>
                </a:solidFill>
                <a:latin typeface="Courier New" pitchFamily="49" charset="0"/>
              </a:rPr>
              <a:t>Harmonics (3X-10X) generates as severity increases.</a:t>
            </a:r>
          </a:p>
          <a:p>
            <a:r>
              <a:rPr lang="en-US" sz="2000" b="1">
                <a:solidFill>
                  <a:schemeClr val="tx2"/>
                </a:solidFill>
                <a:latin typeface="Courier New" pitchFamily="49" charset="0"/>
              </a:rPr>
              <a:t>   </a:t>
            </a:r>
          </a:p>
          <a:p>
            <a:r>
              <a:rPr lang="en-US" sz="2000" b="1">
                <a:solidFill>
                  <a:schemeClr val="tx2"/>
                </a:solidFill>
                <a:latin typeface="Courier New" pitchFamily="49" charset="0"/>
              </a:rPr>
              <a:t>If the 2X amplitude more than 50% of 1X then </a:t>
            </a:r>
          </a:p>
          <a:p>
            <a:r>
              <a:rPr lang="en-US" sz="2000" b="1">
                <a:solidFill>
                  <a:schemeClr val="tx2"/>
                </a:solidFill>
                <a:latin typeface="Courier New" pitchFamily="49" charset="0"/>
              </a:rPr>
              <a:t>coupling damage starts.</a:t>
            </a:r>
          </a:p>
          <a:p>
            <a:r>
              <a:rPr lang="en-US" sz="2000" b="1">
                <a:solidFill>
                  <a:schemeClr val="tx2"/>
                </a:solidFill>
                <a:latin typeface="Courier New" pitchFamily="49" charset="0"/>
              </a:rPr>
              <a:t>   </a:t>
            </a:r>
          </a:p>
          <a:p>
            <a:r>
              <a:rPr lang="en-US" sz="2000" b="1">
                <a:solidFill>
                  <a:schemeClr val="tx2"/>
                </a:solidFill>
                <a:latin typeface="Courier New" pitchFamily="49" charset="0"/>
              </a:rPr>
              <a:t>If the 2X amplitude more than 150% of 1X then </a:t>
            </a:r>
          </a:p>
          <a:p>
            <a:r>
              <a:rPr lang="en-US" sz="2000" b="1">
                <a:solidFill>
                  <a:schemeClr val="tx2"/>
                </a:solidFill>
                <a:latin typeface="Courier New" pitchFamily="49" charset="0"/>
              </a:rPr>
              <a:t>machine should be stopped for correction.</a:t>
            </a:r>
          </a:p>
        </p:txBody>
      </p:sp>
      <p:sp>
        <p:nvSpPr>
          <p:cNvPr id="946181" name="Rectangle 5"/>
          <p:cNvSpPr>
            <a:spLocks noChangeArrowheads="1"/>
          </p:cNvSpPr>
          <p:nvPr/>
        </p:nvSpPr>
        <p:spPr bwMode="auto">
          <a:xfrm>
            <a:off x="976313" y="374650"/>
            <a:ext cx="7175500" cy="638175"/>
          </a:xfrm>
          <a:prstGeom prst="rect">
            <a:avLst/>
          </a:prstGeom>
          <a:noFill/>
          <a:ln w="12700">
            <a:noFill/>
            <a:miter lim="800000"/>
            <a:headEnd/>
            <a:tailEnd/>
          </a:ln>
          <a:effectLst/>
        </p:spPr>
        <p:txBody>
          <a:bodyPr lIns="90488" tIns="44450" rIns="90488" bIns="44450">
            <a:spAutoFit/>
          </a:bodyPr>
          <a:lstStyle/>
          <a:p>
            <a:r>
              <a:rPr lang="en-US" sz="3600" b="1">
                <a:solidFill>
                  <a:schemeClr val="tx2"/>
                </a:solidFill>
              </a:rPr>
              <a:t>Misalignment: Characteristics</a:t>
            </a:r>
          </a:p>
        </p:txBody>
      </p:sp>
      <p:sp>
        <p:nvSpPr>
          <p:cNvPr id="946182" name="Text Box 6"/>
          <p:cNvSpPr txBox="1">
            <a:spLocks noChangeArrowheads="1"/>
          </p:cNvSpPr>
          <p:nvPr/>
        </p:nvSpPr>
        <p:spPr bwMode="auto">
          <a:xfrm>
            <a:off x="1660525" y="1336675"/>
            <a:ext cx="184150" cy="366713"/>
          </a:xfrm>
          <a:prstGeom prst="rect">
            <a:avLst/>
          </a:prstGeom>
          <a:noFill/>
          <a:ln w="12700">
            <a:noFill/>
            <a:miter lim="800000"/>
            <a:headEnd/>
            <a:tailEnd/>
          </a:ln>
          <a:effectLst/>
        </p:spPr>
        <p:txBody>
          <a:bodyPr wrap="none">
            <a:spAutoFit/>
          </a:bodyPr>
          <a:lstStyle/>
          <a:p>
            <a:endParaRPr lang="en-US" sz="1800">
              <a:latin typeface="Avenir 35" pitchFamily="2" charset="0"/>
            </a:endParaRPr>
          </a:p>
        </p:txBody>
      </p:sp>
      <p:graphicFrame>
        <p:nvGraphicFramePr>
          <p:cNvPr id="946183" name="Object 7"/>
          <p:cNvGraphicFramePr>
            <a:graphicFrameLocks noChangeAspect="1"/>
          </p:cNvGraphicFramePr>
          <p:nvPr/>
        </p:nvGraphicFramePr>
        <p:xfrm>
          <a:off x="2590800" y="1219200"/>
          <a:ext cx="3657600" cy="1447800"/>
        </p:xfrm>
        <a:graphic>
          <a:graphicData uri="http://schemas.openxmlformats.org/presentationml/2006/ole">
            <mc:AlternateContent xmlns:mc="http://schemas.openxmlformats.org/markup-compatibility/2006">
              <mc:Choice xmlns:v="urn:schemas-microsoft-com:vml" Requires="v">
                <p:oleObj spid="_x0000_s946185" name="Bitmap Image" r:id="rId3" imgW="1657581" imgH="838095" progId="Paint.Picture">
                  <p:embed/>
                </p:oleObj>
              </mc:Choice>
              <mc:Fallback>
                <p:oleObj name="Bitmap Image" r:id="rId3" imgW="1657581" imgH="838095" progId="Paint.Picture">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1219200"/>
                        <a:ext cx="36576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202" name="Rectangle 2"/>
          <p:cNvSpPr>
            <a:spLocks noGrp="1" noChangeArrowheads="1"/>
          </p:cNvSpPr>
          <p:nvPr>
            <p:ph type="title" idx="4294967295"/>
          </p:nvPr>
        </p:nvSpPr>
        <p:spPr>
          <a:xfrm>
            <a:off x="685800" y="390525"/>
            <a:ext cx="7772400" cy="828675"/>
          </a:xfrm>
        </p:spPr>
        <p:txBody>
          <a:bodyPr/>
          <a:lstStyle/>
          <a:p>
            <a:r>
              <a:rPr lang="en-US"/>
              <a:t>Misalignment</a:t>
            </a:r>
          </a:p>
        </p:txBody>
      </p:sp>
      <p:graphicFrame>
        <p:nvGraphicFramePr>
          <p:cNvPr id="947203" name="Object 3"/>
          <p:cNvGraphicFramePr>
            <a:graphicFrameLocks noChangeAspect="1"/>
          </p:cNvGraphicFramePr>
          <p:nvPr/>
        </p:nvGraphicFramePr>
        <p:xfrm>
          <a:off x="2516188" y="1600200"/>
          <a:ext cx="5408612" cy="4473575"/>
        </p:xfrm>
        <a:graphic>
          <a:graphicData uri="http://schemas.openxmlformats.org/presentationml/2006/ole">
            <mc:AlternateContent xmlns:mc="http://schemas.openxmlformats.org/markup-compatibility/2006">
              <mc:Choice xmlns:v="urn:schemas-microsoft-com:vml" Requires="v">
                <p:oleObj spid="_x0000_s947205" name="Paint Shop Pro Image" r:id="rId4" imgW="5639024" imgH="4663415" progId="PaintShopPro">
                  <p:embed/>
                </p:oleObj>
              </mc:Choice>
              <mc:Fallback>
                <p:oleObj name="Paint Shop Pro Image" r:id="rId4" imgW="5639024" imgH="4663415" progId="PaintShopPro">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6188" y="1600200"/>
                        <a:ext cx="5408612"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47204" name="Group 4"/>
          <p:cNvGrpSpPr>
            <a:grpSpLocks/>
          </p:cNvGrpSpPr>
          <p:nvPr/>
        </p:nvGrpSpPr>
        <p:grpSpPr bwMode="auto">
          <a:xfrm>
            <a:off x="6324600" y="4038600"/>
            <a:ext cx="2514600" cy="2209800"/>
            <a:chOff x="3888" y="2688"/>
            <a:chExt cx="1584" cy="1392"/>
          </a:xfrm>
        </p:grpSpPr>
        <p:sp>
          <p:nvSpPr>
            <p:cNvPr id="947205" name="Rectangle 5"/>
            <p:cNvSpPr>
              <a:spLocks noChangeArrowheads="1"/>
            </p:cNvSpPr>
            <p:nvPr/>
          </p:nvSpPr>
          <p:spPr bwMode="auto">
            <a:xfrm>
              <a:off x="3888" y="2688"/>
              <a:ext cx="1584" cy="1392"/>
            </a:xfrm>
            <a:prstGeom prst="rect">
              <a:avLst/>
            </a:prstGeom>
            <a:solidFill>
              <a:schemeClr val="bg1"/>
            </a:solidFill>
            <a:ln w="15875">
              <a:solidFill>
                <a:srgbClr val="000000"/>
              </a:solidFill>
              <a:miter lim="800000"/>
              <a:headEnd type="none" w="sm" len="sm"/>
              <a:tailEnd type="none" w="sm" len="sm"/>
            </a:ln>
            <a:effectLst/>
          </p:spPr>
          <p:txBody>
            <a:bodyPr wrap="none" anchor="ctr"/>
            <a:lstStyle/>
            <a:p>
              <a:pPr algn="ctr"/>
              <a:endParaRPr lang="en-US">
                <a:latin typeface="Arial" pitchFamily="34" charset="0"/>
              </a:endParaRPr>
            </a:p>
          </p:txBody>
        </p:sp>
        <p:grpSp>
          <p:nvGrpSpPr>
            <p:cNvPr id="947206" name="Group 6"/>
            <p:cNvGrpSpPr>
              <a:grpSpLocks/>
            </p:cNvGrpSpPr>
            <p:nvPr/>
          </p:nvGrpSpPr>
          <p:grpSpPr bwMode="auto">
            <a:xfrm>
              <a:off x="3984" y="3360"/>
              <a:ext cx="1425" cy="443"/>
              <a:chOff x="1711" y="3223"/>
              <a:chExt cx="2402" cy="746"/>
            </a:xfrm>
          </p:grpSpPr>
          <p:grpSp>
            <p:nvGrpSpPr>
              <p:cNvPr id="947207" name="Group 7"/>
              <p:cNvGrpSpPr>
                <a:grpSpLocks/>
              </p:cNvGrpSpPr>
              <p:nvPr/>
            </p:nvGrpSpPr>
            <p:grpSpPr bwMode="auto">
              <a:xfrm>
                <a:off x="1979" y="3474"/>
                <a:ext cx="785" cy="495"/>
                <a:chOff x="1979" y="3474"/>
                <a:chExt cx="785" cy="495"/>
              </a:xfrm>
            </p:grpSpPr>
            <p:sp>
              <p:nvSpPr>
                <p:cNvPr id="947208" name="AutoShape 8"/>
                <p:cNvSpPr>
                  <a:spLocks noChangeArrowheads="1"/>
                </p:cNvSpPr>
                <p:nvPr/>
              </p:nvSpPr>
              <p:spPr bwMode="auto">
                <a:xfrm>
                  <a:off x="2674" y="3474"/>
                  <a:ext cx="90" cy="495"/>
                </a:xfrm>
                <a:prstGeom prst="roundRect">
                  <a:avLst>
                    <a:gd name="adj" fmla="val 0"/>
                  </a:avLst>
                </a:prstGeom>
                <a:solidFill>
                  <a:srgbClr val="E1E1E1"/>
                </a:solidFill>
                <a:ln w="12700">
                  <a:solidFill>
                    <a:srgbClr val="000000"/>
                  </a:solidFill>
                  <a:round/>
                  <a:headEnd/>
                  <a:tailEnd/>
                </a:ln>
                <a:effectLst/>
              </p:spPr>
              <p:txBody>
                <a:bodyPr wrap="none" anchor="ctr"/>
                <a:lstStyle/>
                <a:p>
                  <a:endParaRPr lang="en-US"/>
                </a:p>
              </p:txBody>
            </p:sp>
            <p:sp>
              <p:nvSpPr>
                <p:cNvPr id="947209" name="AutoShape 9"/>
                <p:cNvSpPr>
                  <a:spLocks noChangeArrowheads="1"/>
                </p:cNvSpPr>
                <p:nvPr/>
              </p:nvSpPr>
              <p:spPr bwMode="auto">
                <a:xfrm>
                  <a:off x="2555" y="3587"/>
                  <a:ext cx="122" cy="239"/>
                </a:xfrm>
                <a:prstGeom prst="roundRect">
                  <a:avLst>
                    <a:gd name="adj" fmla="val 0"/>
                  </a:avLst>
                </a:prstGeom>
                <a:solidFill>
                  <a:srgbClr val="E1E1E1"/>
                </a:solidFill>
                <a:ln w="12700">
                  <a:solidFill>
                    <a:srgbClr val="000000"/>
                  </a:solidFill>
                  <a:round/>
                  <a:headEnd/>
                  <a:tailEnd/>
                </a:ln>
                <a:effectLst/>
              </p:spPr>
              <p:txBody>
                <a:bodyPr wrap="none" anchor="ctr"/>
                <a:lstStyle/>
                <a:p>
                  <a:endParaRPr lang="en-US"/>
                </a:p>
              </p:txBody>
            </p:sp>
            <p:sp>
              <p:nvSpPr>
                <p:cNvPr id="947210" name="AutoShape 10"/>
                <p:cNvSpPr>
                  <a:spLocks noChangeArrowheads="1"/>
                </p:cNvSpPr>
                <p:nvPr/>
              </p:nvSpPr>
              <p:spPr bwMode="auto">
                <a:xfrm>
                  <a:off x="1979" y="3663"/>
                  <a:ext cx="577" cy="88"/>
                </a:xfrm>
                <a:prstGeom prst="roundRect">
                  <a:avLst>
                    <a:gd name="adj" fmla="val 0"/>
                  </a:avLst>
                </a:prstGeom>
                <a:solidFill>
                  <a:srgbClr val="E1E1E1"/>
                </a:solidFill>
                <a:ln w="12700">
                  <a:solidFill>
                    <a:srgbClr val="000000"/>
                  </a:solidFill>
                  <a:round/>
                  <a:headEnd/>
                  <a:tailEnd/>
                </a:ln>
                <a:effectLst/>
              </p:spPr>
              <p:txBody>
                <a:bodyPr wrap="none" anchor="ctr"/>
                <a:lstStyle/>
                <a:p>
                  <a:endParaRPr lang="en-US"/>
                </a:p>
              </p:txBody>
            </p:sp>
          </p:grpSp>
          <p:sp>
            <p:nvSpPr>
              <p:cNvPr id="947211" name="Freeform 11"/>
              <p:cNvSpPr>
                <a:spLocks/>
              </p:cNvSpPr>
              <p:nvPr/>
            </p:nvSpPr>
            <p:spPr bwMode="auto">
              <a:xfrm>
                <a:off x="2962" y="3358"/>
                <a:ext cx="360" cy="484"/>
              </a:xfrm>
              <a:custGeom>
                <a:avLst/>
                <a:gdLst/>
                <a:ahLst/>
                <a:cxnLst>
                  <a:cxn ang="0">
                    <a:pos x="272" y="483"/>
                  </a:cxn>
                  <a:cxn ang="0">
                    <a:pos x="272" y="483"/>
                  </a:cxn>
                  <a:cxn ang="0">
                    <a:pos x="359" y="442"/>
                  </a:cxn>
                  <a:cxn ang="0">
                    <a:pos x="87" y="0"/>
                  </a:cxn>
                  <a:cxn ang="0">
                    <a:pos x="0" y="39"/>
                  </a:cxn>
                  <a:cxn ang="0">
                    <a:pos x="272" y="483"/>
                  </a:cxn>
                  <a:cxn ang="0">
                    <a:pos x="272" y="483"/>
                  </a:cxn>
                </a:cxnLst>
                <a:rect l="0" t="0" r="r" b="b"/>
                <a:pathLst>
                  <a:path w="360" h="484">
                    <a:moveTo>
                      <a:pt x="272" y="483"/>
                    </a:moveTo>
                    <a:lnTo>
                      <a:pt x="272" y="483"/>
                    </a:lnTo>
                    <a:lnTo>
                      <a:pt x="359" y="442"/>
                    </a:lnTo>
                    <a:lnTo>
                      <a:pt x="87" y="0"/>
                    </a:lnTo>
                    <a:lnTo>
                      <a:pt x="0" y="39"/>
                    </a:lnTo>
                    <a:lnTo>
                      <a:pt x="272" y="483"/>
                    </a:lnTo>
                    <a:lnTo>
                      <a:pt x="272" y="483"/>
                    </a:lnTo>
                  </a:path>
                </a:pathLst>
              </a:custGeom>
              <a:solidFill>
                <a:srgbClr val="E1E1E1"/>
              </a:solidFill>
              <a:ln w="12700" cap="rnd" cmpd="sng">
                <a:solidFill>
                  <a:srgbClr val="000000"/>
                </a:solidFill>
                <a:prstDash val="solid"/>
                <a:round/>
                <a:headEnd/>
                <a:tailEnd/>
              </a:ln>
              <a:effectLst/>
            </p:spPr>
            <p:txBody>
              <a:bodyPr/>
              <a:lstStyle/>
              <a:p>
                <a:endParaRPr lang="en-US"/>
              </a:p>
            </p:txBody>
          </p:sp>
          <p:sp>
            <p:nvSpPr>
              <p:cNvPr id="947212" name="Freeform 12"/>
              <p:cNvSpPr>
                <a:spLocks/>
              </p:cNvSpPr>
              <p:nvPr/>
            </p:nvSpPr>
            <p:spPr bwMode="auto">
              <a:xfrm>
                <a:off x="3100" y="3408"/>
                <a:ext cx="250" cy="273"/>
              </a:xfrm>
              <a:custGeom>
                <a:avLst/>
                <a:gdLst/>
                <a:ahLst/>
                <a:cxnLst>
                  <a:cxn ang="0">
                    <a:pos x="134" y="272"/>
                  </a:cxn>
                  <a:cxn ang="0">
                    <a:pos x="134" y="272"/>
                  </a:cxn>
                  <a:cxn ang="0">
                    <a:pos x="249" y="218"/>
                  </a:cxn>
                  <a:cxn ang="0">
                    <a:pos x="115" y="0"/>
                  </a:cxn>
                  <a:cxn ang="0">
                    <a:pos x="0" y="53"/>
                  </a:cxn>
                  <a:cxn ang="0">
                    <a:pos x="134" y="272"/>
                  </a:cxn>
                  <a:cxn ang="0">
                    <a:pos x="134" y="272"/>
                  </a:cxn>
                </a:cxnLst>
                <a:rect l="0" t="0" r="r" b="b"/>
                <a:pathLst>
                  <a:path w="250" h="273">
                    <a:moveTo>
                      <a:pt x="134" y="272"/>
                    </a:moveTo>
                    <a:lnTo>
                      <a:pt x="134" y="272"/>
                    </a:lnTo>
                    <a:lnTo>
                      <a:pt x="249" y="218"/>
                    </a:lnTo>
                    <a:lnTo>
                      <a:pt x="115" y="0"/>
                    </a:lnTo>
                    <a:lnTo>
                      <a:pt x="0" y="53"/>
                    </a:lnTo>
                    <a:lnTo>
                      <a:pt x="134" y="272"/>
                    </a:lnTo>
                    <a:lnTo>
                      <a:pt x="134" y="272"/>
                    </a:lnTo>
                  </a:path>
                </a:pathLst>
              </a:custGeom>
              <a:solidFill>
                <a:srgbClr val="E1E1E1"/>
              </a:solidFill>
              <a:ln w="12700" cap="rnd" cmpd="sng">
                <a:solidFill>
                  <a:srgbClr val="000000"/>
                </a:solidFill>
                <a:prstDash val="solid"/>
                <a:round/>
                <a:headEnd/>
                <a:tailEnd/>
              </a:ln>
              <a:effectLst/>
            </p:spPr>
            <p:txBody>
              <a:bodyPr/>
              <a:lstStyle/>
              <a:p>
                <a:endParaRPr lang="en-US"/>
              </a:p>
            </p:txBody>
          </p:sp>
          <p:sp>
            <p:nvSpPr>
              <p:cNvPr id="947213" name="Freeform 13"/>
              <p:cNvSpPr>
                <a:spLocks/>
              </p:cNvSpPr>
              <p:nvPr/>
            </p:nvSpPr>
            <p:spPr bwMode="auto">
              <a:xfrm>
                <a:off x="3249" y="3238"/>
                <a:ext cx="568" cy="325"/>
              </a:xfrm>
              <a:custGeom>
                <a:avLst/>
                <a:gdLst/>
                <a:ahLst/>
                <a:cxnLst>
                  <a:cxn ang="0">
                    <a:pos x="50" y="324"/>
                  </a:cxn>
                  <a:cxn ang="0">
                    <a:pos x="50" y="324"/>
                  </a:cxn>
                  <a:cxn ang="0">
                    <a:pos x="567" y="82"/>
                  </a:cxn>
                  <a:cxn ang="0">
                    <a:pos x="514" y="0"/>
                  </a:cxn>
                  <a:cxn ang="0">
                    <a:pos x="0" y="239"/>
                  </a:cxn>
                  <a:cxn ang="0">
                    <a:pos x="50" y="324"/>
                  </a:cxn>
                  <a:cxn ang="0">
                    <a:pos x="50" y="324"/>
                  </a:cxn>
                </a:cxnLst>
                <a:rect l="0" t="0" r="r" b="b"/>
                <a:pathLst>
                  <a:path w="568" h="325">
                    <a:moveTo>
                      <a:pt x="50" y="324"/>
                    </a:moveTo>
                    <a:lnTo>
                      <a:pt x="50" y="324"/>
                    </a:lnTo>
                    <a:lnTo>
                      <a:pt x="567" y="82"/>
                    </a:lnTo>
                    <a:lnTo>
                      <a:pt x="514" y="0"/>
                    </a:lnTo>
                    <a:lnTo>
                      <a:pt x="0" y="239"/>
                    </a:lnTo>
                    <a:lnTo>
                      <a:pt x="50" y="324"/>
                    </a:lnTo>
                    <a:lnTo>
                      <a:pt x="50" y="324"/>
                    </a:lnTo>
                  </a:path>
                </a:pathLst>
              </a:custGeom>
              <a:solidFill>
                <a:srgbClr val="E1E1E1"/>
              </a:solidFill>
              <a:ln w="12700" cap="rnd" cmpd="sng">
                <a:solidFill>
                  <a:srgbClr val="000000"/>
                </a:solidFill>
                <a:prstDash val="solid"/>
                <a:round/>
                <a:headEnd/>
                <a:tailEnd/>
              </a:ln>
              <a:effectLst/>
            </p:spPr>
            <p:txBody>
              <a:bodyPr/>
              <a:lstStyle/>
              <a:p>
                <a:endParaRPr lang="en-US"/>
              </a:p>
            </p:txBody>
          </p:sp>
          <p:sp>
            <p:nvSpPr>
              <p:cNvPr id="947214" name="Line 14"/>
              <p:cNvSpPr>
                <a:spLocks noChangeShapeType="1"/>
              </p:cNvSpPr>
              <p:nvPr/>
            </p:nvSpPr>
            <p:spPr bwMode="auto">
              <a:xfrm flipH="1">
                <a:off x="2899" y="3223"/>
                <a:ext cx="1024" cy="484"/>
              </a:xfrm>
              <a:prstGeom prst="line">
                <a:avLst/>
              </a:prstGeom>
              <a:noFill/>
              <a:ln w="25400">
                <a:solidFill>
                  <a:srgbClr val="000000"/>
                </a:solidFill>
                <a:prstDash val="sysDot"/>
                <a:round/>
                <a:headEnd type="none" w="sm" len="sm"/>
                <a:tailEnd type="none" w="sm" len="sm"/>
              </a:ln>
              <a:effectLst/>
            </p:spPr>
            <p:txBody>
              <a:bodyPr wrap="none" anchor="ctr"/>
              <a:lstStyle/>
              <a:p>
                <a:endParaRPr lang="en-US"/>
              </a:p>
            </p:txBody>
          </p:sp>
          <p:sp>
            <p:nvSpPr>
              <p:cNvPr id="947215" name="Line 15"/>
              <p:cNvSpPr>
                <a:spLocks noChangeShapeType="1"/>
              </p:cNvSpPr>
              <p:nvPr/>
            </p:nvSpPr>
            <p:spPr bwMode="auto">
              <a:xfrm>
                <a:off x="2438" y="3610"/>
                <a:ext cx="1675" cy="0"/>
              </a:xfrm>
              <a:prstGeom prst="line">
                <a:avLst/>
              </a:prstGeom>
              <a:noFill/>
              <a:ln w="25400">
                <a:solidFill>
                  <a:srgbClr val="000000"/>
                </a:solidFill>
                <a:prstDash val="sysDot"/>
                <a:round/>
                <a:headEnd type="none" w="sm" len="sm"/>
                <a:tailEnd type="none" w="sm" len="sm"/>
              </a:ln>
              <a:effectLst/>
            </p:spPr>
            <p:txBody>
              <a:bodyPr wrap="none" anchor="ctr"/>
              <a:lstStyle/>
              <a:p>
                <a:endParaRPr lang="en-US"/>
              </a:p>
            </p:txBody>
          </p:sp>
          <p:sp>
            <p:nvSpPr>
              <p:cNvPr id="947216" name="Line 16"/>
              <p:cNvSpPr>
                <a:spLocks noChangeShapeType="1"/>
              </p:cNvSpPr>
              <p:nvPr/>
            </p:nvSpPr>
            <p:spPr bwMode="auto">
              <a:xfrm>
                <a:off x="1711" y="3707"/>
                <a:ext cx="1627" cy="0"/>
              </a:xfrm>
              <a:prstGeom prst="line">
                <a:avLst/>
              </a:prstGeom>
              <a:noFill/>
              <a:ln w="25400">
                <a:solidFill>
                  <a:srgbClr val="000000"/>
                </a:solidFill>
                <a:prstDash val="sysDot"/>
                <a:round/>
                <a:headEnd type="none" w="sm" len="sm"/>
                <a:tailEnd type="none" w="sm" len="sm"/>
              </a:ln>
              <a:effectLst/>
            </p:spPr>
            <p:txBody>
              <a:bodyPr wrap="none" anchor="ctr"/>
              <a:lstStyle/>
              <a:p>
                <a:endParaRPr lang="en-US"/>
              </a:p>
            </p:txBody>
          </p:sp>
        </p:grpSp>
        <p:sp>
          <p:nvSpPr>
            <p:cNvPr id="947217" name="Rectangle 17"/>
            <p:cNvSpPr>
              <a:spLocks noChangeArrowheads="1"/>
            </p:cNvSpPr>
            <p:nvPr/>
          </p:nvSpPr>
          <p:spPr bwMode="auto">
            <a:xfrm>
              <a:off x="4094" y="2784"/>
              <a:ext cx="1249" cy="288"/>
            </a:xfrm>
            <a:prstGeom prst="rect">
              <a:avLst/>
            </a:prstGeom>
            <a:noFill/>
            <a:ln w="25400">
              <a:noFill/>
              <a:prstDash val="dash"/>
              <a:miter lim="800000"/>
              <a:headEnd type="none" w="sm" len="sm"/>
              <a:tailEnd type="none" w="sm" len="sm"/>
            </a:ln>
            <a:effectLst/>
          </p:spPr>
          <p:txBody>
            <a:bodyPr wrap="none" anchor="ctr">
              <a:spAutoFit/>
            </a:bodyPr>
            <a:lstStyle/>
            <a:p>
              <a:pPr algn="ctr"/>
              <a:r>
                <a:rPr lang="en-US">
                  <a:latin typeface="Arial" pitchFamily="34" charset="0"/>
                </a:rPr>
                <a:t>Misalignment</a:t>
              </a:r>
            </a:p>
          </p:txBody>
        </p:sp>
        <p:sp>
          <p:nvSpPr>
            <p:cNvPr id="947218" name="Line 18"/>
            <p:cNvSpPr>
              <a:spLocks noChangeShapeType="1"/>
            </p:cNvSpPr>
            <p:nvPr/>
          </p:nvSpPr>
          <p:spPr bwMode="auto">
            <a:xfrm>
              <a:off x="4560" y="3024"/>
              <a:ext cx="144" cy="528"/>
            </a:xfrm>
            <a:prstGeom prst="line">
              <a:avLst/>
            </a:prstGeom>
            <a:noFill/>
            <a:ln w="25400">
              <a:solidFill>
                <a:srgbClr val="FF0033"/>
              </a:solidFill>
              <a:round/>
              <a:headEnd type="none" w="sm" len="sm"/>
              <a:tailEnd type="triangle" w="sm" len="sm"/>
            </a:ln>
            <a:effectLst/>
          </p:spPr>
          <p:txBody>
            <a:bodyPr wrap="none" anchor="ctr"/>
            <a:lstStyle/>
            <a:p>
              <a:endParaRPr lang="en-US"/>
            </a:p>
          </p:txBody>
        </p:sp>
      </p:grpSp>
      <p:sp>
        <p:nvSpPr>
          <p:cNvPr id="947219" name="Text Box 19"/>
          <p:cNvSpPr txBox="1">
            <a:spLocks noChangeArrowheads="1"/>
          </p:cNvSpPr>
          <p:nvPr/>
        </p:nvSpPr>
        <p:spPr bwMode="auto">
          <a:xfrm>
            <a:off x="4114800" y="2209800"/>
            <a:ext cx="3524250" cy="666750"/>
          </a:xfrm>
          <a:prstGeom prst="rect">
            <a:avLst/>
          </a:prstGeom>
          <a:solidFill>
            <a:schemeClr val="bg1"/>
          </a:solidFill>
          <a:ln w="25400">
            <a:solidFill>
              <a:schemeClr val="tx1"/>
            </a:solidFill>
            <a:miter lim="800000"/>
            <a:headEnd type="none" w="sm" len="sm"/>
            <a:tailEnd type="none" w="sm" len="sm"/>
          </a:ln>
          <a:effectLst/>
        </p:spPr>
        <p:txBody>
          <a:bodyPr wrap="none" anchor="ctr">
            <a:spAutoFit/>
          </a:bodyPr>
          <a:lstStyle/>
          <a:p>
            <a:pPr algn="ctr"/>
            <a:r>
              <a:rPr lang="en-US" sz="1800">
                <a:solidFill>
                  <a:schemeClr val="accent2"/>
                </a:solidFill>
                <a:latin typeface="Arial" pitchFamily="34" charset="0"/>
              </a:rPr>
              <a:t>Misalignment typically shows up </a:t>
            </a:r>
          </a:p>
          <a:p>
            <a:pPr algn="ctr"/>
            <a:r>
              <a:rPr lang="en-US" sz="1800">
                <a:solidFill>
                  <a:schemeClr val="accent2"/>
                </a:solidFill>
                <a:latin typeface="Arial" pitchFamily="34" charset="0"/>
              </a:rPr>
              <a:t>at either 1 or 2 x turning speeds</a:t>
            </a:r>
          </a:p>
        </p:txBody>
      </p:sp>
      <p:sp>
        <p:nvSpPr>
          <p:cNvPr id="947220" name="Line 20"/>
          <p:cNvSpPr>
            <a:spLocks noChangeShapeType="1"/>
          </p:cNvSpPr>
          <p:nvPr/>
        </p:nvSpPr>
        <p:spPr bwMode="auto">
          <a:xfrm flipV="1">
            <a:off x="3556000" y="1879600"/>
            <a:ext cx="0" cy="1143000"/>
          </a:xfrm>
          <a:prstGeom prst="line">
            <a:avLst/>
          </a:prstGeom>
          <a:noFill/>
          <a:ln w="25400">
            <a:solidFill>
              <a:srgbClr val="FF0033"/>
            </a:solidFill>
            <a:prstDash val="dash"/>
            <a:round/>
            <a:headEnd type="none" w="sm" len="sm"/>
            <a:tailEnd type="none" w="sm" len="sm"/>
          </a:ln>
          <a:effectLst/>
        </p:spPr>
        <p:txBody>
          <a:bodyPr wrap="none" anchor="ctr"/>
          <a:lstStyle/>
          <a:p>
            <a:endParaRPr lang="en-US"/>
          </a:p>
        </p:txBody>
      </p:sp>
      <p:sp>
        <p:nvSpPr>
          <p:cNvPr id="947221" name="Line 21"/>
          <p:cNvSpPr>
            <a:spLocks noChangeShapeType="1"/>
          </p:cNvSpPr>
          <p:nvPr/>
        </p:nvSpPr>
        <p:spPr bwMode="auto">
          <a:xfrm flipV="1">
            <a:off x="3689350" y="1898650"/>
            <a:ext cx="0" cy="1860550"/>
          </a:xfrm>
          <a:prstGeom prst="line">
            <a:avLst/>
          </a:prstGeom>
          <a:noFill/>
          <a:ln w="25400">
            <a:solidFill>
              <a:srgbClr val="FF0033"/>
            </a:solidFill>
            <a:prstDash val="dash"/>
            <a:round/>
            <a:headEnd type="none" w="sm" len="sm"/>
            <a:tailEnd type="none" w="sm" len="sm"/>
          </a:ln>
          <a:effectLst/>
        </p:spPr>
        <p:txBody>
          <a:bodyPr wrap="none" anchor="ctr"/>
          <a:lstStyle/>
          <a:p>
            <a:endParaRPr lang="en-US"/>
          </a:p>
        </p:txBody>
      </p:sp>
      <p:sp>
        <p:nvSpPr>
          <p:cNvPr id="947222" name="Line 22"/>
          <p:cNvSpPr>
            <a:spLocks noChangeShapeType="1"/>
          </p:cNvSpPr>
          <p:nvPr/>
        </p:nvSpPr>
        <p:spPr bwMode="auto">
          <a:xfrm flipH="1">
            <a:off x="3810000" y="2971800"/>
            <a:ext cx="838200" cy="838200"/>
          </a:xfrm>
          <a:prstGeom prst="line">
            <a:avLst/>
          </a:prstGeom>
          <a:noFill/>
          <a:ln w="19050">
            <a:solidFill>
              <a:schemeClr val="accent2"/>
            </a:solidFill>
            <a:round/>
            <a:headEnd/>
            <a:tailEnd type="triangle" w="med" len="med"/>
          </a:ln>
          <a:effectLst/>
        </p:spPr>
        <p:txBody>
          <a:bodyPr wrap="none" anchor="ctr">
            <a:spAutoFit/>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3000"/>
                                  </p:stCondLst>
                                  <p:childTnLst>
                                    <p:set>
                                      <p:cBhvr>
                                        <p:cTn id="6" dur="1" fill="hold">
                                          <p:stCondLst>
                                            <p:cond delay="0"/>
                                          </p:stCondLst>
                                        </p:cTn>
                                        <p:tgtEl>
                                          <p:spTgt spid="947204"/>
                                        </p:tgtEl>
                                        <p:attrNameLst>
                                          <p:attrName>style.visibility</p:attrName>
                                        </p:attrNameLst>
                                      </p:cBhvr>
                                      <p:to>
                                        <p:strVal val="visible"/>
                                      </p:to>
                                    </p:set>
                                    <p:anim calcmode="lin" valueType="num">
                                      <p:cBhvr>
                                        <p:cTn id="7" dur="500" fill="hold"/>
                                        <p:tgtEl>
                                          <p:spTgt spid="947204"/>
                                        </p:tgtEl>
                                        <p:attrNameLst>
                                          <p:attrName>ppt_w</p:attrName>
                                        </p:attrNameLst>
                                      </p:cBhvr>
                                      <p:tavLst>
                                        <p:tav tm="0">
                                          <p:val>
                                            <p:fltVal val="0"/>
                                          </p:val>
                                        </p:tav>
                                        <p:tav tm="100000">
                                          <p:val>
                                            <p:strVal val="#ppt_w"/>
                                          </p:val>
                                        </p:tav>
                                      </p:tavLst>
                                    </p:anim>
                                    <p:anim calcmode="lin" valueType="num">
                                      <p:cBhvr>
                                        <p:cTn id="8" dur="500" fill="hold"/>
                                        <p:tgtEl>
                                          <p:spTgt spid="947204"/>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IR_END.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8226" name="Group 2"/>
          <p:cNvGrpSpPr>
            <a:grpSpLocks/>
          </p:cNvGrpSpPr>
          <p:nvPr/>
        </p:nvGrpSpPr>
        <p:grpSpPr bwMode="auto">
          <a:xfrm>
            <a:off x="1295400" y="1535113"/>
            <a:ext cx="5611813" cy="4648200"/>
            <a:chOff x="816" y="967"/>
            <a:chExt cx="3535" cy="2928"/>
          </a:xfrm>
        </p:grpSpPr>
        <p:pic>
          <p:nvPicPr>
            <p:cNvPr id="948227" name="Picture 3"/>
            <p:cNvPicPr>
              <a:picLocks noChangeArrowheads="1"/>
            </p:cNvPicPr>
            <p:nvPr/>
          </p:nvPicPr>
          <p:blipFill>
            <a:blip r:embed="rId3" cstate="print"/>
            <a:srcRect/>
            <a:stretch>
              <a:fillRect/>
            </a:stretch>
          </p:blipFill>
          <p:spPr bwMode="auto">
            <a:xfrm>
              <a:off x="816" y="967"/>
              <a:ext cx="2490" cy="2928"/>
            </a:xfrm>
            <a:prstGeom prst="rect">
              <a:avLst/>
            </a:prstGeom>
            <a:noFill/>
            <a:ln w="9525">
              <a:noFill/>
              <a:miter lim="800000"/>
              <a:headEnd/>
              <a:tailEnd/>
            </a:ln>
            <a:effectLst/>
          </p:spPr>
        </p:pic>
        <p:grpSp>
          <p:nvGrpSpPr>
            <p:cNvPr id="948228" name="Group 4"/>
            <p:cNvGrpSpPr>
              <a:grpSpLocks/>
            </p:cNvGrpSpPr>
            <p:nvPr/>
          </p:nvGrpSpPr>
          <p:grpSpPr bwMode="auto">
            <a:xfrm>
              <a:off x="1008" y="3120"/>
              <a:ext cx="3343" cy="565"/>
              <a:chOff x="1008" y="3120"/>
              <a:chExt cx="3343" cy="565"/>
            </a:xfrm>
          </p:grpSpPr>
          <p:sp>
            <p:nvSpPr>
              <p:cNvPr id="948229" name="Line 5"/>
              <p:cNvSpPr>
                <a:spLocks noChangeShapeType="1"/>
              </p:cNvSpPr>
              <p:nvPr/>
            </p:nvSpPr>
            <p:spPr bwMode="auto">
              <a:xfrm>
                <a:off x="1152" y="3216"/>
                <a:ext cx="2352" cy="0"/>
              </a:xfrm>
              <a:prstGeom prst="line">
                <a:avLst/>
              </a:prstGeom>
              <a:noFill/>
              <a:ln w="19050">
                <a:solidFill>
                  <a:srgbClr val="FF0000"/>
                </a:solidFill>
                <a:round/>
                <a:headEnd type="none" w="sm" len="sm"/>
                <a:tailEnd type="none" w="sm" len="sm"/>
              </a:ln>
              <a:effectLst/>
            </p:spPr>
            <p:txBody>
              <a:bodyPr wrap="none" anchor="ctr"/>
              <a:lstStyle/>
              <a:p>
                <a:endParaRPr lang="en-US"/>
              </a:p>
            </p:txBody>
          </p:sp>
          <p:sp>
            <p:nvSpPr>
              <p:cNvPr id="948230" name="Rectangle 6"/>
              <p:cNvSpPr>
                <a:spLocks noChangeArrowheads="1"/>
              </p:cNvSpPr>
              <p:nvPr/>
            </p:nvSpPr>
            <p:spPr bwMode="auto">
              <a:xfrm>
                <a:off x="3456" y="3168"/>
                <a:ext cx="895" cy="517"/>
              </a:xfrm>
              <a:prstGeom prst="rect">
                <a:avLst/>
              </a:prstGeom>
              <a:noFill/>
              <a:ln w="9525">
                <a:noFill/>
                <a:miter lim="800000"/>
                <a:headEnd/>
                <a:tailEnd/>
              </a:ln>
              <a:effectLst/>
            </p:spPr>
            <p:txBody>
              <a:bodyPr lIns="0" tIns="0" rIns="0" bIns="0"/>
              <a:lstStyle/>
              <a:p>
                <a:pPr algn="ctr" defTabSz="409575"/>
                <a:r>
                  <a:rPr lang="en-US" sz="1600">
                    <a:solidFill>
                      <a:srgbClr val="FF0000"/>
                    </a:solidFill>
                    <a:latin typeface="Arial" pitchFamily="34" charset="0"/>
                  </a:rPr>
                  <a:t>Freq: 59.50</a:t>
                </a:r>
              </a:p>
              <a:p>
                <a:pPr algn="ctr" defTabSz="409575"/>
                <a:r>
                  <a:rPr lang="en-US" sz="1600">
                    <a:solidFill>
                      <a:srgbClr val="FF0000"/>
                    </a:solidFill>
                    <a:latin typeface="Arial" pitchFamily="34" charset="0"/>
                  </a:rPr>
                  <a:t>Order: 2.010</a:t>
                </a:r>
              </a:p>
              <a:p>
                <a:pPr algn="ctr" defTabSz="409575"/>
                <a:r>
                  <a:rPr lang="en-US" sz="1600">
                    <a:solidFill>
                      <a:srgbClr val="FF0000"/>
                    </a:solidFill>
                    <a:latin typeface="Arial" pitchFamily="34" charset="0"/>
                  </a:rPr>
                  <a:t>Spec: .640</a:t>
                </a:r>
              </a:p>
            </p:txBody>
          </p:sp>
          <p:sp>
            <p:nvSpPr>
              <p:cNvPr id="948231" name="Oval 7"/>
              <p:cNvSpPr>
                <a:spLocks noChangeArrowheads="1"/>
              </p:cNvSpPr>
              <p:nvPr/>
            </p:nvSpPr>
            <p:spPr bwMode="auto">
              <a:xfrm>
                <a:off x="1008" y="3120"/>
                <a:ext cx="144" cy="144"/>
              </a:xfrm>
              <a:prstGeom prst="ellipse">
                <a:avLst/>
              </a:prstGeom>
              <a:noFill/>
              <a:ln w="38100">
                <a:solidFill>
                  <a:srgbClr val="FF0000"/>
                </a:solidFill>
                <a:round/>
                <a:headEnd type="none" w="sm" len="sm"/>
                <a:tailEnd type="none" w="sm" len="sm"/>
              </a:ln>
              <a:effectLst/>
            </p:spPr>
            <p:txBody>
              <a:bodyPr wrap="none" anchor="ctr"/>
              <a:lstStyle/>
              <a:p>
                <a:endParaRPr lang="en-US"/>
              </a:p>
            </p:txBody>
          </p:sp>
        </p:grpSp>
        <p:grpSp>
          <p:nvGrpSpPr>
            <p:cNvPr id="948232" name="Group 8"/>
            <p:cNvGrpSpPr>
              <a:grpSpLocks/>
            </p:cNvGrpSpPr>
            <p:nvPr/>
          </p:nvGrpSpPr>
          <p:grpSpPr bwMode="auto">
            <a:xfrm>
              <a:off x="2105" y="2832"/>
              <a:ext cx="2081" cy="212"/>
              <a:chOff x="2105" y="2832"/>
              <a:chExt cx="2081" cy="212"/>
            </a:xfrm>
          </p:grpSpPr>
          <p:sp>
            <p:nvSpPr>
              <p:cNvPr id="948233" name="Text Box 9"/>
              <p:cNvSpPr txBox="1">
                <a:spLocks noChangeArrowheads="1"/>
              </p:cNvSpPr>
              <p:nvPr/>
            </p:nvSpPr>
            <p:spPr bwMode="auto">
              <a:xfrm>
                <a:off x="3408" y="2832"/>
                <a:ext cx="778" cy="212"/>
              </a:xfrm>
              <a:prstGeom prst="rect">
                <a:avLst/>
              </a:prstGeom>
              <a:noFill/>
              <a:ln w="12700">
                <a:noFill/>
                <a:miter lim="800000"/>
                <a:headEnd type="none" w="sm" len="sm"/>
                <a:tailEnd type="none" w="sm" len="sm"/>
              </a:ln>
              <a:effectLst/>
            </p:spPr>
            <p:txBody>
              <a:bodyPr>
                <a:spAutoFit/>
              </a:bodyPr>
              <a:lstStyle/>
              <a:p>
                <a:r>
                  <a:rPr lang="en-US" sz="1600">
                    <a:solidFill>
                      <a:srgbClr val="009999"/>
                    </a:solidFill>
                    <a:latin typeface="Arial" pitchFamily="34" charset="0"/>
                  </a:rPr>
                  <a:t>Vane Pass</a:t>
                </a:r>
              </a:p>
            </p:txBody>
          </p:sp>
          <p:sp>
            <p:nvSpPr>
              <p:cNvPr id="948234" name="Oval 10"/>
              <p:cNvSpPr>
                <a:spLocks noChangeArrowheads="1"/>
              </p:cNvSpPr>
              <p:nvPr/>
            </p:nvSpPr>
            <p:spPr bwMode="auto">
              <a:xfrm>
                <a:off x="2105" y="2880"/>
                <a:ext cx="144" cy="144"/>
              </a:xfrm>
              <a:prstGeom prst="ellipse">
                <a:avLst/>
              </a:prstGeom>
              <a:noFill/>
              <a:ln w="38100">
                <a:solidFill>
                  <a:srgbClr val="009999"/>
                </a:solidFill>
                <a:round/>
                <a:headEnd type="none" w="sm" len="sm"/>
                <a:tailEnd type="none" w="sm" len="sm"/>
              </a:ln>
              <a:effectLst/>
            </p:spPr>
            <p:txBody>
              <a:bodyPr wrap="none" anchor="ctr"/>
              <a:lstStyle/>
              <a:p>
                <a:endParaRPr lang="en-US"/>
              </a:p>
            </p:txBody>
          </p:sp>
          <p:sp>
            <p:nvSpPr>
              <p:cNvPr id="948235" name="Line 11"/>
              <p:cNvSpPr>
                <a:spLocks noChangeShapeType="1"/>
              </p:cNvSpPr>
              <p:nvPr/>
            </p:nvSpPr>
            <p:spPr bwMode="auto">
              <a:xfrm flipH="1">
                <a:off x="2260" y="2928"/>
                <a:ext cx="1148" cy="0"/>
              </a:xfrm>
              <a:prstGeom prst="line">
                <a:avLst/>
              </a:prstGeom>
              <a:noFill/>
              <a:ln w="28575">
                <a:solidFill>
                  <a:srgbClr val="009999"/>
                </a:solidFill>
                <a:round/>
                <a:headEnd type="none" w="sm" len="sm"/>
                <a:tailEnd type="none" w="sm" len="sm"/>
              </a:ln>
              <a:effectLst/>
            </p:spPr>
            <p:txBody>
              <a:bodyPr wrap="none" anchor="ctr"/>
              <a:lstStyle/>
              <a:p>
                <a:endParaRPr lang="en-US"/>
              </a:p>
            </p:txBody>
          </p:sp>
        </p:grpSp>
      </p:grpSp>
      <p:sp>
        <p:nvSpPr>
          <p:cNvPr id="948236" name="Rectangle 12"/>
          <p:cNvSpPr>
            <a:spLocks noGrp="1" noChangeArrowheads="1"/>
          </p:cNvSpPr>
          <p:nvPr>
            <p:ph type="title"/>
          </p:nvPr>
        </p:nvSpPr>
        <p:spPr/>
        <p:txBody>
          <a:bodyPr/>
          <a:lstStyle/>
          <a:p>
            <a:r>
              <a:rPr lang="en-US"/>
              <a:t>Misalignment</a:t>
            </a:r>
          </a:p>
        </p:txBody>
      </p:sp>
      <p:sp>
        <p:nvSpPr>
          <p:cNvPr id="948237" name="Rectangle 13"/>
          <p:cNvSpPr>
            <a:spLocks noGrp="1" noChangeArrowheads="1"/>
          </p:cNvSpPr>
          <p:nvPr>
            <p:ph type="body" sz="half" idx="2"/>
          </p:nvPr>
        </p:nvSpPr>
        <p:spPr>
          <a:xfrm>
            <a:off x="5486400" y="1447800"/>
            <a:ext cx="2971800" cy="4648200"/>
          </a:xfrm>
        </p:spPr>
        <p:txBody>
          <a:bodyPr/>
          <a:lstStyle/>
          <a:p>
            <a:r>
              <a:rPr lang="en-US" sz="1800"/>
              <a:t>2X shaft RPM is dominant location of vibration</a:t>
            </a:r>
          </a:p>
          <a:p>
            <a:r>
              <a:rPr lang="en-US" sz="1800"/>
              <a:t>Vane pass is due to 11 blade pump impeller</a:t>
            </a:r>
          </a:p>
          <a:p>
            <a:endParaRPr lang="en-US" sz="1800"/>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274" name="Rectangle 2"/>
          <p:cNvSpPr>
            <a:spLocks noGrp="1" noChangeArrowheads="1"/>
          </p:cNvSpPr>
          <p:nvPr>
            <p:ph type="title" idx="4294967295"/>
          </p:nvPr>
        </p:nvSpPr>
        <p:spPr>
          <a:xfrm>
            <a:off x="762000" y="1981200"/>
            <a:ext cx="7772400" cy="3048000"/>
          </a:xfrm>
          <a:noFill/>
          <a:ln/>
        </p:spPr>
        <p:txBody>
          <a:bodyPr lIns="90488" tIns="44450" rIns="90488" bIns="44450" anchor="ctr"/>
          <a:lstStyle/>
          <a:p>
            <a:r>
              <a:rPr lang="en-US" sz="8000" b="0"/>
              <a:t>Mechanical  </a:t>
            </a:r>
            <a:br>
              <a:rPr lang="en-US" sz="8000" b="0"/>
            </a:br>
            <a:r>
              <a:rPr lang="en-US" sz="8000" b="0"/>
              <a:t>Looseness</a:t>
            </a:r>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1298" name="Rectangle 2"/>
          <p:cNvSpPr>
            <a:spLocks noGrp="1" noChangeArrowheads="1"/>
          </p:cNvSpPr>
          <p:nvPr>
            <p:ph type="title"/>
          </p:nvPr>
        </p:nvSpPr>
        <p:spPr>
          <a:noFill/>
          <a:ln/>
        </p:spPr>
        <p:txBody>
          <a:bodyPr/>
          <a:lstStyle/>
          <a:p>
            <a:r>
              <a:rPr lang="en-US" b="0"/>
              <a:t>Causes</a:t>
            </a:r>
          </a:p>
        </p:txBody>
      </p:sp>
      <p:sp>
        <p:nvSpPr>
          <p:cNvPr id="951299" name="Rectangle 3"/>
          <p:cNvSpPr>
            <a:spLocks noGrp="1" noChangeArrowheads="1"/>
          </p:cNvSpPr>
          <p:nvPr>
            <p:ph type="body" idx="1"/>
          </p:nvPr>
        </p:nvSpPr>
        <p:spPr>
          <a:xfrm>
            <a:off x="685800" y="1447800"/>
            <a:ext cx="7772400" cy="3098800"/>
          </a:xfrm>
          <a:noFill/>
          <a:ln/>
        </p:spPr>
        <p:txBody>
          <a:bodyPr/>
          <a:lstStyle/>
          <a:p>
            <a:r>
              <a:rPr lang="en-US" b="1"/>
              <a:t>It alone can not create vibration but in the influence of Unbalance, Misalignment, Bearing problems it amplify the amplitude.</a:t>
            </a:r>
          </a:p>
          <a:p>
            <a:r>
              <a:rPr lang="en-US" b="1"/>
              <a:t>It should be corrected first.</a:t>
            </a:r>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22" name="Rectangle 2"/>
          <p:cNvSpPr>
            <a:spLocks noGrp="1" noChangeArrowheads="1"/>
          </p:cNvSpPr>
          <p:nvPr>
            <p:ph type="title"/>
          </p:nvPr>
        </p:nvSpPr>
        <p:spPr>
          <a:xfrm>
            <a:off x="685800" y="390525"/>
            <a:ext cx="7772400" cy="717550"/>
          </a:xfrm>
        </p:spPr>
        <p:txBody>
          <a:bodyPr/>
          <a:lstStyle/>
          <a:p>
            <a:r>
              <a:rPr lang="en-US"/>
              <a:t>Types </a:t>
            </a:r>
            <a:r>
              <a:rPr lang="en-US" sz="2800"/>
              <a:t>of</a:t>
            </a:r>
            <a:r>
              <a:rPr lang="en-US"/>
              <a:t> Looseness</a:t>
            </a:r>
          </a:p>
        </p:txBody>
      </p:sp>
      <p:sp>
        <p:nvSpPr>
          <p:cNvPr id="952323" name="Rectangle 3"/>
          <p:cNvSpPr>
            <a:spLocks noGrp="1" noChangeArrowheads="1"/>
          </p:cNvSpPr>
          <p:nvPr>
            <p:ph type="body" idx="1"/>
          </p:nvPr>
        </p:nvSpPr>
        <p:spPr>
          <a:xfrm>
            <a:off x="685800" y="1752600"/>
            <a:ext cx="7772400" cy="4343400"/>
          </a:xfrm>
        </p:spPr>
        <p:txBody>
          <a:bodyPr/>
          <a:lstStyle/>
          <a:p>
            <a:pPr>
              <a:lnSpc>
                <a:spcPct val="90000"/>
              </a:lnSpc>
            </a:pPr>
            <a:r>
              <a:rPr lang="en-US" sz="2400"/>
              <a:t>Structural Looseness</a:t>
            </a:r>
          </a:p>
          <a:p>
            <a:pPr>
              <a:lnSpc>
                <a:spcPct val="90000"/>
              </a:lnSpc>
              <a:buFontTx/>
              <a:buNone/>
            </a:pPr>
            <a:r>
              <a:rPr lang="en-US" sz="2400"/>
              <a:t>		</a:t>
            </a:r>
            <a:r>
              <a:rPr lang="en-US" sz="1800"/>
              <a:t>- Base mount</a:t>
            </a:r>
          </a:p>
          <a:p>
            <a:pPr>
              <a:lnSpc>
                <a:spcPct val="90000"/>
              </a:lnSpc>
              <a:buFontTx/>
              <a:buNone/>
            </a:pPr>
            <a:r>
              <a:rPr lang="en-US" sz="1800"/>
              <a:t>		- Split Casings</a:t>
            </a:r>
          </a:p>
          <a:p>
            <a:pPr>
              <a:lnSpc>
                <a:spcPct val="90000"/>
              </a:lnSpc>
              <a:buFontTx/>
              <a:buNone/>
            </a:pPr>
            <a:r>
              <a:rPr lang="en-US" sz="1800"/>
              <a:t>		- Bearing caps</a:t>
            </a:r>
          </a:p>
          <a:p>
            <a:pPr>
              <a:lnSpc>
                <a:spcPct val="90000"/>
              </a:lnSpc>
              <a:buFontTx/>
              <a:buNone/>
            </a:pPr>
            <a:r>
              <a:rPr lang="en-US" sz="1800"/>
              <a:t>		- Bearing supports</a:t>
            </a:r>
          </a:p>
          <a:p>
            <a:pPr>
              <a:lnSpc>
                <a:spcPct val="90000"/>
              </a:lnSpc>
            </a:pPr>
            <a:r>
              <a:rPr lang="en-US" sz="2400"/>
              <a:t>Rotating Element Looseness</a:t>
            </a:r>
          </a:p>
          <a:p>
            <a:pPr>
              <a:lnSpc>
                <a:spcPct val="90000"/>
              </a:lnSpc>
              <a:buFontTx/>
              <a:buNone/>
            </a:pPr>
            <a:r>
              <a:rPr lang="en-US" sz="2400"/>
              <a:t>		</a:t>
            </a:r>
            <a:r>
              <a:rPr lang="en-US" sz="2000"/>
              <a:t>- Impellers</a:t>
            </a:r>
          </a:p>
          <a:p>
            <a:pPr>
              <a:lnSpc>
                <a:spcPct val="90000"/>
              </a:lnSpc>
              <a:buFontTx/>
              <a:buNone/>
            </a:pPr>
            <a:r>
              <a:rPr lang="en-US" sz="2000"/>
              <a:t>		- Fans</a:t>
            </a:r>
          </a:p>
          <a:p>
            <a:pPr>
              <a:lnSpc>
                <a:spcPct val="90000"/>
              </a:lnSpc>
              <a:buFontTx/>
              <a:buNone/>
            </a:pPr>
            <a:r>
              <a:rPr lang="en-US" sz="2000"/>
              <a:t>		- Bearings</a:t>
            </a:r>
          </a:p>
          <a:p>
            <a:pPr>
              <a:lnSpc>
                <a:spcPct val="90000"/>
              </a:lnSpc>
              <a:buFontTx/>
              <a:buNone/>
            </a:pPr>
            <a:r>
              <a:rPr lang="en-US" sz="2000"/>
              <a:t>		- Couplings</a:t>
            </a:r>
          </a:p>
          <a:p>
            <a:pPr>
              <a:lnSpc>
                <a:spcPct val="90000"/>
              </a:lnSpc>
            </a:pPr>
            <a:endParaRPr lang="en-US" sz="1800"/>
          </a:p>
          <a:p>
            <a:pPr>
              <a:lnSpc>
                <a:spcPct val="90000"/>
              </a:lnSpc>
              <a:buFontTx/>
              <a:buNone/>
            </a:pPr>
            <a:r>
              <a:rPr lang="en-US" sz="2400"/>
              <a:t>	</a:t>
            </a:r>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3346" name="Rectangle 2"/>
          <p:cNvSpPr>
            <a:spLocks noGrp="1" noChangeArrowheads="1"/>
          </p:cNvSpPr>
          <p:nvPr>
            <p:ph type="title"/>
          </p:nvPr>
        </p:nvSpPr>
        <p:spPr/>
        <p:txBody>
          <a:bodyPr/>
          <a:lstStyle/>
          <a:p>
            <a:r>
              <a:rPr lang="en-US" sz="2800"/>
              <a:t>Characteristics of Looseness</a:t>
            </a:r>
          </a:p>
        </p:txBody>
      </p:sp>
      <p:sp>
        <p:nvSpPr>
          <p:cNvPr id="953347" name="Rectangle 3"/>
          <p:cNvSpPr>
            <a:spLocks noGrp="1" noChangeArrowheads="1"/>
          </p:cNvSpPr>
          <p:nvPr>
            <p:ph type="body" idx="1"/>
          </p:nvPr>
        </p:nvSpPr>
        <p:spPr/>
        <p:txBody>
          <a:bodyPr/>
          <a:lstStyle/>
          <a:p>
            <a:r>
              <a:rPr lang="en-US"/>
              <a:t>Many Harmonics of running speed</a:t>
            </a:r>
          </a:p>
          <a:p>
            <a:r>
              <a:rPr lang="en-US"/>
              <a:t>Directional in nature; horizontal and vertical amplitudes may differ greatly</a:t>
            </a:r>
          </a:p>
          <a:p>
            <a:r>
              <a:rPr lang="en-US"/>
              <a:t>Occasional half-harmonics</a:t>
            </a:r>
          </a:p>
          <a:p>
            <a:r>
              <a:rPr lang="en-US"/>
              <a:t>Random, non-periodic time waveform</a:t>
            </a:r>
          </a:p>
          <a:p>
            <a:r>
              <a:rPr lang="en-US"/>
              <a:t>Broad based skirts on peaks in the Spectrum, possible elevated floor also</a:t>
            </a:r>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4370" name="Text Box 2"/>
          <p:cNvSpPr txBox="1">
            <a:spLocks noChangeArrowheads="1"/>
          </p:cNvSpPr>
          <p:nvPr/>
        </p:nvSpPr>
        <p:spPr bwMode="auto">
          <a:xfrm>
            <a:off x="722313" y="1824038"/>
            <a:ext cx="8112125" cy="1087437"/>
          </a:xfrm>
          <a:prstGeom prst="rect">
            <a:avLst/>
          </a:prstGeom>
          <a:noFill/>
          <a:ln w="9525">
            <a:noFill/>
            <a:miter lim="800000"/>
            <a:headEnd/>
            <a:tailEnd/>
          </a:ln>
          <a:effectLst/>
        </p:spPr>
        <p:txBody>
          <a:bodyPr lIns="0" tIns="0" rIns="0" bIns="0"/>
          <a:lstStyle/>
          <a:p>
            <a:pPr marL="187325" indent="-187325" defTabSz="409575">
              <a:buClr>
                <a:srgbClr val="C20000"/>
              </a:buClr>
              <a:buSzPct val="46000"/>
              <a:buFont typeface="Monotype Sorts" pitchFamily="2" charset="2"/>
              <a:buChar char="n"/>
            </a:pPr>
            <a:endParaRPr lang="en-US" sz="2200"/>
          </a:p>
        </p:txBody>
      </p:sp>
      <p:grpSp>
        <p:nvGrpSpPr>
          <p:cNvPr id="954371" name="Group 3"/>
          <p:cNvGrpSpPr>
            <a:grpSpLocks/>
          </p:cNvGrpSpPr>
          <p:nvPr/>
        </p:nvGrpSpPr>
        <p:grpSpPr bwMode="auto">
          <a:xfrm>
            <a:off x="1792288" y="2519363"/>
            <a:ext cx="6405562" cy="3084512"/>
            <a:chOff x="1129" y="1587"/>
            <a:chExt cx="4035" cy="1943"/>
          </a:xfrm>
        </p:grpSpPr>
        <p:pic>
          <p:nvPicPr>
            <p:cNvPr id="954372" name="Picture 4"/>
            <p:cNvPicPr>
              <a:picLocks noChangeArrowheads="1"/>
            </p:cNvPicPr>
            <p:nvPr/>
          </p:nvPicPr>
          <p:blipFill>
            <a:blip r:embed="rId3" cstate="print"/>
            <a:srcRect/>
            <a:stretch>
              <a:fillRect/>
            </a:stretch>
          </p:blipFill>
          <p:spPr bwMode="auto">
            <a:xfrm>
              <a:off x="1129" y="1587"/>
              <a:ext cx="4035" cy="1943"/>
            </a:xfrm>
            <a:prstGeom prst="rect">
              <a:avLst/>
            </a:prstGeom>
            <a:noFill/>
            <a:ln w="9525">
              <a:noFill/>
              <a:miter lim="800000"/>
              <a:headEnd/>
              <a:tailEnd/>
            </a:ln>
            <a:effectLst/>
          </p:spPr>
        </p:pic>
        <p:grpSp>
          <p:nvGrpSpPr>
            <p:cNvPr id="954373" name="Group 5"/>
            <p:cNvGrpSpPr>
              <a:grpSpLocks/>
            </p:cNvGrpSpPr>
            <p:nvPr/>
          </p:nvGrpSpPr>
          <p:grpSpPr bwMode="auto">
            <a:xfrm>
              <a:off x="2055" y="2056"/>
              <a:ext cx="1487" cy="946"/>
              <a:chOff x="1885" y="2596"/>
              <a:chExt cx="1486" cy="974"/>
            </a:xfrm>
          </p:grpSpPr>
          <p:sp>
            <p:nvSpPr>
              <p:cNvPr id="954374" name="Line 6"/>
              <p:cNvSpPr>
                <a:spLocks noChangeShapeType="1"/>
              </p:cNvSpPr>
              <p:nvPr/>
            </p:nvSpPr>
            <p:spPr bwMode="auto">
              <a:xfrm flipH="1">
                <a:off x="1885" y="2618"/>
                <a:ext cx="1486" cy="118"/>
              </a:xfrm>
              <a:prstGeom prst="line">
                <a:avLst/>
              </a:prstGeom>
              <a:noFill/>
              <a:ln w="19050">
                <a:solidFill>
                  <a:srgbClr val="000000"/>
                </a:solidFill>
                <a:round/>
                <a:headEnd/>
                <a:tailEnd type="triangle" w="med" len="med"/>
              </a:ln>
              <a:effectLst/>
            </p:spPr>
            <p:txBody>
              <a:bodyPr lIns="0" tIns="0" rIns="0" bIns="0"/>
              <a:lstStyle/>
              <a:p>
                <a:endParaRPr lang="en-US"/>
              </a:p>
            </p:txBody>
          </p:sp>
          <p:sp>
            <p:nvSpPr>
              <p:cNvPr id="954375" name="Line 7"/>
              <p:cNvSpPr>
                <a:spLocks noChangeShapeType="1"/>
              </p:cNvSpPr>
              <p:nvPr/>
            </p:nvSpPr>
            <p:spPr bwMode="auto">
              <a:xfrm flipH="1">
                <a:off x="2060" y="2611"/>
                <a:ext cx="1297" cy="425"/>
              </a:xfrm>
              <a:prstGeom prst="line">
                <a:avLst/>
              </a:prstGeom>
              <a:noFill/>
              <a:ln w="19050">
                <a:solidFill>
                  <a:srgbClr val="000000"/>
                </a:solidFill>
                <a:round/>
                <a:headEnd/>
                <a:tailEnd type="triangle" w="med" len="med"/>
              </a:ln>
              <a:effectLst/>
            </p:spPr>
            <p:txBody>
              <a:bodyPr lIns="0" tIns="0" rIns="0" bIns="0"/>
              <a:lstStyle/>
              <a:p>
                <a:endParaRPr lang="en-US"/>
              </a:p>
            </p:txBody>
          </p:sp>
          <p:sp>
            <p:nvSpPr>
              <p:cNvPr id="954376" name="Line 8"/>
              <p:cNvSpPr>
                <a:spLocks noChangeShapeType="1"/>
              </p:cNvSpPr>
              <p:nvPr/>
            </p:nvSpPr>
            <p:spPr bwMode="auto">
              <a:xfrm flipH="1">
                <a:off x="2346" y="2604"/>
                <a:ext cx="1011" cy="659"/>
              </a:xfrm>
              <a:prstGeom prst="line">
                <a:avLst/>
              </a:prstGeom>
              <a:noFill/>
              <a:ln w="19050">
                <a:solidFill>
                  <a:srgbClr val="000000"/>
                </a:solidFill>
                <a:round/>
                <a:headEnd/>
                <a:tailEnd type="triangle" w="med" len="med"/>
              </a:ln>
              <a:effectLst/>
            </p:spPr>
            <p:txBody>
              <a:bodyPr lIns="0" tIns="0" rIns="0" bIns="0"/>
              <a:lstStyle/>
              <a:p>
                <a:endParaRPr lang="en-US"/>
              </a:p>
            </p:txBody>
          </p:sp>
          <p:sp>
            <p:nvSpPr>
              <p:cNvPr id="954377" name="Line 9"/>
              <p:cNvSpPr>
                <a:spLocks noChangeShapeType="1"/>
              </p:cNvSpPr>
              <p:nvPr/>
            </p:nvSpPr>
            <p:spPr bwMode="auto">
              <a:xfrm flipH="1">
                <a:off x="2551" y="2604"/>
                <a:ext cx="813" cy="695"/>
              </a:xfrm>
              <a:prstGeom prst="line">
                <a:avLst/>
              </a:prstGeom>
              <a:noFill/>
              <a:ln w="19050">
                <a:solidFill>
                  <a:srgbClr val="000000"/>
                </a:solidFill>
                <a:round/>
                <a:headEnd/>
                <a:tailEnd type="triangle" w="med" len="med"/>
              </a:ln>
              <a:effectLst/>
            </p:spPr>
            <p:txBody>
              <a:bodyPr lIns="0" tIns="0" rIns="0" bIns="0"/>
              <a:lstStyle/>
              <a:p>
                <a:endParaRPr lang="en-US"/>
              </a:p>
            </p:txBody>
          </p:sp>
          <p:sp>
            <p:nvSpPr>
              <p:cNvPr id="954378" name="Line 10"/>
              <p:cNvSpPr>
                <a:spLocks noChangeShapeType="1"/>
              </p:cNvSpPr>
              <p:nvPr/>
            </p:nvSpPr>
            <p:spPr bwMode="auto">
              <a:xfrm flipH="1">
                <a:off x="2690" y="2611"/>
                <a:ext cx="674" cy="959"/>
              </a:xfrm>
              <a:prstGeom prst="line">
                <a:avLst/>
              </a:prstGeom>
              <a:noFill/>
              <a:ln w="19050">
                <a:solidFill>
                  <a:srgbClr val="000000"/>
                </a:solidFill>
                <a:round/>
                <a:headEnd/>
                <a:tailEnd type="triangle" w="med" len="med"/>
              </a:ln>
              <a:effectLst/>
            </p:spPr>
            <p:txBody>
              <a:bodyPr lIns="0" tIns="0" rIns="0" bIns="0"/>
              <a:lstStyle/>
              <a:p>
                <a:endParaRPr lang="en-US"/>
              </a:p>
            </p:txBody>
          </p:sp>
          <p:sp>
            <p:nvSpPr>
              <p:cNvPr id="954379" name="Line 11"/>
              <p:cNvSpPr>
                <a:spLocks noChangeShapeType="1"/>
              </p:cNvSpPr>
              <p:nvPr/>
            </p:nvSpPr>
            <p:spPr bwMode="auto">
              <a:xfrm flipH="1">
                <a:off x="2881" y="2596"/>
                <a:ext cx="483" cy="850"/>
              </a:xfrm>
              <a:prstGeom prst="line">
                <a:avLst/>
              </a:prstGeom>
              <a:noFill/>
              <a:ln w="19050">
                <a:solidFill>
                  <a:srgbClr val="000000"/>
                </a:solidFill>
                <a:round/>
                <a:headEnd/>
                <a:tailEnd type="triangle" w="med" len="med"/>
              </a:ln>
              <a:effectLst/>
            </p:spPr>
            <p:txBody>
              <a:bodyPr lIns="0" tIns="0" rIns="0" bIns="0"/>
              <a:lstStyle/>
              <a:p>
                <a:endParaRPr lang="en-US"/>
              </a:p>
            </p:txBody>
          </p:sp>
        </p:grpSp>
        <p:sp>
          <p:nvSpPr>
            <p:cNvPr id="954380" name="Text Box 12"/>
            <p:cNvSpPr txBox="1">
              <a:spLocks noChangeArrowheads="1"/>
            </p:cNvSpPr>
            <p:nvPr/>
          </p:nvSpPr>
          <p:spPr bwMode="auto">
            <a:xfrm>
              <a:off x="3584" y="1987"/>
              <a:ext cx="1005" cy="281"/>
            </a:xfrm>
            <a:prstGeom prst="rect">
              <a:avLst/>
            </a:prstGeom>
            <a:noFill/>
            <a:ln w="9525">
              <a:noFill/>
              <a:miter lim="800000"/>
              <a:headEnd/>
              <a:tailEnd/>
            </a:ln>
            <a:effectLst/>
          </p:spPr>
          <p:txBody>
            <a:bodyPr lIns="0" tIns="0" rIns="0" bIns="0"/>
            <a:lstStyle/>
            <a:p>
              <a:pPr defTabSz="409575">
                <a:buClr>
                  <a:srgbClr val="008280"/>
                </a:buClr>
                <a:buSzPct val="90000"/>
                <a:buFont typeface="Monotype Sorts" pitchFamily="2" charset="2"/>
                <a:buNone/>
              </a:pPr>
              <a:r>
                <a:rPr lang="en-US" sz="1400" b="1">
                  <a:solidFill>
                    <a:srgbClr val="000000"/>
                  </a:solidFill>
                  <a:latin typeface="Arial" pitchFamily="34" charset="0"/>
                </a:rPr>
                <a:t>Running speed harmonics</a:t>
              </a:r>
              <a:endParaRPr lang="en-US" sz="1200" b="1">
                <a:solidFill>
                  <a:srgbClr val="000000"/>
                </a:solidFill>
                <a:latin typeface="Arial" pitchFamily="34" charset="0"/>
              </a:endParaRPr>
            </a:p>
          </p:txBody>
        </p:sp>
        <p:sp>
          <p:nvSpPr>
            <p:cNvPr id="954381" name="Text Box 13"/>
            <p:cNvSpPr txBox="1">
              <a:spLocks noChangeArrowheads="1"/>
            </p:cNvSpPr>
            <p:nvPr/>
          </p:nvSpPr>
          <p:spPr bwMode="auto">
            <a:xfrm>
              <a:off x="1700" y="2446"/>
              <a:ext cx="191" cy="174"/>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500">
                  <a:solidFill>
                    <a:srgbClr val="000000"/>
                  </a:solidFill>
                  <a:latin typeface="Arial" pitchFamily="34" charset="0"/>
                </a:rPr>
                <a:t>1X</a:t>
              </a:r>
              <a:endParaRPr lang="en-US" sz="2200"/>
            </a:p>
          </p:txBody>
        </p:sp>
        <p:sp>
          <p:nvSpPr>
            <p:cNvPr id="954382" name="Text Box 14"/>
            <p:cNvSpPr txBox="1">
              <a:spLocks noChangeArrowheads="1"/>
            </p:cNvSpPr>
            <p:nvPr/>
          </p:nvSpPr>
          <p:spPr bwMode="auto">
            <a:xfrm>
              <a:off x="1882" y="2050"/>
              <a:ext cx="191" cy="173"/>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500">
                  <a:solidFill>
                    <a:srgbClr val="000000"/>
                  </a:solidFill>
                  <a:latin typeface="Arial" pitchFamily="34" charset="0"/>
                </a:rPr>
                <a:t>2X</a:t>
              </a:r>
              <a:endParaRPr lang="en-US" sz="2200"/>
            </a:p>
          </p:txBody>
        </p:sp>
        <p:sp>
          <p:nvSpPr>
            <p:cNvPr id="954383" name="Text Box 15"/>
            <p:cNvSpPr txBox="1">
              <a:spLocks noChangeArrowheads="1"/>
            </p:cNvSpPr>
            <p:nvPr/>
          </p:nvSpPr>
          <p:spPr bwMode="auto">
            <a:xfrm>
              <a:off x="2070" y="2263"/>
              <a:ext cx="192" cy="173"/>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500">
                  <a:solidFill>
                    <a:srgbClr val="000000"/>
                  </a:solidFill>
                  <a:latin typeface="Arial" pitchFamily="34" charset="0"/>
                </a:rPr>
                <a:t>3X</a:t>
              </a:r>
              <a:endParaRPr lang="en-US" sz="2200"/>
            </a:p>
          </p:txBody>
        </p:sp>
        <p:sp>
          <p:nvSpPr>
            <p:cNvPr id="954384" name="Text Box 16"/>
            <p:cNvSpPr txBox="1">
              <a:spLocks noChangeArrowheads="1"/>
            </p:cNvSpPr>
            <p:nvPr/>
          </p:nvSpPr>
          <p:spPr bwMode="auto">
            <a:xfrm>
              <a:off x="2222" y="2898"/>
              <a:ext cx="192" cy="173"/>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500">
                  <a:solidFill>
                    <a:srgbClr val="000000"/>
                  </a:solidFill>
                  <a:latin typeface="Arial" pitchFamily="34" charset="0"/>
                </a:rPr>
                <a:t>4X</a:t>
              </a:r>
              <a:endParaRPr lang="en-US" sz="2200"/>
            </a:p>
          </p:txBody>
        </p:sp>
        <p:sp>
          <p:nvSpPr>
            <p:cNvPr id="954385" name="Text Box 17"/>
            <p:cNvSpPr txBox="1">
              <a:spLocks noChangeArrowheads="1"/>
            </p:cNvSpPr>
            <p:nvPr/>
          </p:nvSpPr>
          <p:spPr bwMode="auto">
            <a:xfrm>
              <a:off x="2382" y="2545"/>
              <a:ext cx="191" cy="173"/>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500">
                  <a:solidFill>
                    <a:srgbClr val="000000"/>
                  </a:solidFill>
                  <a:latin typeface="Arial" pitchFamily="34" charset="0"/>
                </a:rPr>
                <a:t>5X</a:t>
              </a:r>
              <a:endParaRPr lang="en-US" sz="2200"/>
            </a:p>
          </p:txBody>
        </p:sp>
        <p:sp>
          <p:nvSpPr>
            <p:cNvPr id="954386" name="Text Box 18"/>
            <p:cNvSpPr txBox="1">
              <a:spLocks noChangeArrowheads="1"/>
            </p:cNvSpPr>
            <p:nvPr/>
          </p:nvSpPr>
          <p:spPr bwMode="auto">
            <a:xfrm>
              <a:off x="2578" y="2410"/>
              <a:ext cx="191" cy="174"/>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500">
                  <a:solidFill>
                    <a:srgbClr val="000000"/>
                  </a:solidFill>
                  <a:latin typeface="Arial" pitchFamily="34" charset="0"/>
                </a:rPr>
                <a:t>6X</a:t>
              </a:r>
              <a:endParaRPr lang="en-US" sz="2200"/>
            </a:p>
          </p:txBody>
        </p:sp>
        <p:sp>
          <p:nvSpPr>
            <p:cNvPr id="954387" name="Text Box 19"/>
            <p:cNvSpPr txBox="1">
              <a:spLocks noChangeArrowheads="1"/>
            </p:cNvSpPr>
            <p:nvPr/>
          </p:nvSpPr>
          <p:spPr bwMode="auto">
            <a:xfrm>
              <a:off x="2751" y="2764"/>
              <a:ext cx="192" cy="173"/>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500">
                  <a:solidFill>
                    <a:srgbClr val="000000"/>
                  </a:solidFill>
                  <a:latin typeface="Arial" pitchFamily="34" charset="0"/>
                </a:rPr>
                <a:t>7X</a:t>
              </a:r>
              <a:endParaRPr lang="en-US" sz="2200"/>
            </a:p>
          </p:txBody>
        </p:sp>
        <p:sp>
          <p:nvSpPr>
            <p:cNvPr id="954388" name="Text Box 20"/>
            <p:cNvSpPr txBox="1">
              <a:spLocks noChangeArrowheads="1"/>
            </p:cNvSpPr>
            <p:nvPr/>
          </p:nvSpPr>
          <p:spPr bwMode="auto">
            <a:xfrm>
              <a:off x="2947" y="2560"/>
              <a:ext cx="192" cy="173"/>
            </a:xfrm>
            <a:prstGeom prst="rect">
              <a:avLst/>
            </a:prstGeom>
            <a:noFill/>
            <a:ln w="9525">
              <a:noFill/>
              <a:miter lim="800000"/>
              <a:headEnd/>
              <a:tailEnd/>
            </a:ln>
            <a:effectLst/>
          </p:spPr>
          <p:txBody>
            <a:bodyPr lIns="0" tIns="0" rIns="0" bIns="0"/>
            <a:lstStyle/>
            <a:p>
              <a:pPr algn="ctr" defTabSz="409575">
                <a:buClr>
                  <a:srgbClr val="008280"/>
                </a:buClr>
                <a:buSzPct val="90000"/>
                <a:buFont typeface="Monotype Sorts" pitchFamily="2" charset="2"/>
                <a:buNone/>
              </a:pPr>
              <a:r>
                <a:rPr lang="en-US" sz="1500">
                  <a:solidFill>
                    <a:srgbClr val="000000"/>
                  </a:solidFill>
                  <a:latin typeface="Arial" pitchFamily="34" charset="0"/>
                </a:rPr>
                <a:t>8X</a:t>
              </a:r>
              <a:endParaRPr lang="en-US" sz="2200"/>
            </a:p>
          </p:txBody>
        </p:sp>
      </p:grpSp>
      <p:sp>
        <p:nvSpPr>
          <p:cNvPr id="954389" name="Rectangle 21"/>
          <p:cNvSpPr>
            <a:spLocks noGrp="1" noChangeArrowheads="1"/>
          </p:cNvSpPr>
          <p:nvPr>
            <p:ph type="title"/>
          </p:nvPr>
        </p:nvSpPr>
        <p:spPr/>
        <p:txBody>
          <a:bodyPr/>
          <a:lstStyle/>
          <a:p>
            <a:r>
              <a:rPr lang="en-US"/>
              <a:t>Mechanical Looseness</a:t>
            </a:r>
          </a:p>
        </p:txBody>
      </p:sp>
      <p:sp>
        <p:nvSpPr>
          <p:cNvPr id="954390" name="Rectangle 22"/>
          <p:cNvSpPr>
            <a:spLocks noGrp="1" noChangeArrowheads="1"/>
          </p:cNvSpPr>
          <p:nvPr>
            <p:ph type="body" idx="1"/>
          </p:nvPr>
        </p:nvSpPr>
        <p:spPr/>
        <p:txBody>
          <a:bodyPr/>
          <a:lstStyle/>
          <a:p>
            <a:r>
              <a:rPr lang="en-US"/>
              <a:t>Multiple harmonics of running speed</a:t>
            </a:r>
          </a:p>
        </p:txBody>
      </p:sp>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6418" name="Rectangle 2"/>
          <p:cNvSpPr>
            <a:spLocks noGrp="1" noChangeArrowheads="1"/>
          </p:cNvSpPr>
          <p:nvPr>
            <p:ph type="title" idx="4294967295"/>
          </p:nvPr>
        </p:nvSpPr>
        <p:spPr>
          <a:xfrm>
            <a:off x="685800" y="390525"/>
            <a:ext cx="7772400" cy="828675"/>
          </a:xfrm>
        </p:spPr>
        <p:txBody>
          <a:bodyPr/>
          <a:lstStyle/>
          <a:p>
            <a:r>
              <a:rPr lang="en-US"/>
              <a:t>Mechanical Looseness</a:t>
            </a:r>
          </a:p>
        </p:txBody>
      </p:sp>
      <p:graphicFrame>
        <p:nvGraphicFramePr>
          <p:cNvPr id="956419" name="Object 3"/>
          <p:cNvGraphicFramePr>
            <a:graphicFrameLocks noChangeAspect="1"/>
          </p:cNvGraphicFramePr>
          <p:nvPr/>
        </p:nvGraphicFramePr>
        <p:xfrm>
          <a:off x="2146300" y="1582738"/>
          <a:ext cx="5408613" cy="4473575"/>
        </p:xfrm>
        <a:graphic>
          <a:graphicData uri="http://schemas.openxmlformats.org/presentationml/2006/ole">
            <mc:AlternateContent xmlns:mc="http://schemas.openxmlformats.org/markup-compatibility/2006">
              <mc:Choice xmlns:v="urn:schemas-microsoft-com:vml" Requires="v">
                <p:oleObj spid="_x0000_s956421" name="Paint Shop Pro Image" r:id="rId4" imgW="5639024" imgH="4663415" progId="PaintShopPro">
                  <p:embed/>
                </p:oleObj>
              </mc:Choice>
              <mc:Fallback>
                <p:oleObj name="Paint Shop Pro Image" r:id="rId4" imgW="5639024" imgH="4663415" progId="PaintShopPro">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6300" y="1582738"/>
                        <a:ext cx="5408613"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56420" name="Group 4"/>
          <p:cNvGrpSpPr>
            <a:grpSpLocks/>
          </p:cNvGrpSpPr>
          <p:nvPr/>
        </p:nvGrpSpPr>
        <p:grpSpPr bwMode="auto">
          <a:xfrm>
            <a:off x="5954713" y="4021138"/>
            <a:ext cx="2514600" cy="2209800"/>
            <a:chOff x="3888" y="2688"/>
            <a:chExt cx="1584" cy="1392"/>
          </a:xfrm>
        </p:grpSpPr>
        <p:sp>
          <p:nvSpPr>
            <p:cNvPr id="956421" name="Rectangle 5"/>
            <p:cNvSpPr>
              <a:spLocks noChangeArrowheads="1"/>
            </p:cNvSpPr>
            <p:nvPr/>
          </p:nvSpPr>
          <p:spPr bwMode="auto">
            <a:xfrm>
              <a:off x="3888" y="2688"/>
              <a:ext cx="1584" cy="1392"/>
            </a:xfrm>
            <a:prstGeom prst="rect">
              <a:avLst/>
            </a:prstGeom>
            <a:solidFill>
              <a:schemeClr val="bg1"/>
            </a:solidFill>
            <a:ln w="15875">
              <a:solidFill>
                <a:srgbClr val="000000"/>
              </a:solidFill>
              <a:miter lim="800000"/>
              <a:headEnd type="none" w="sm" len="sm"/>
              <a:tailEnd type="none" w="sm" len="sm"/>
            </a:ln>
            <a:effectLst/>
          </p:spPr>
          <p:txBody>
            <a:bodyPr wrap="none" anchor="ctr"/>
            <a:lstStyle/>
            <a:p>
              <a:endParaRPr lang="en-US"/>
            </a:p>
          </p:txBody>
        </p:sp>
        <p:sp>
          <p:nvSpPr>
            <p:cNvPr id="956422" name="Rectangle 6"/>
            <p:cNvSpPr>
              <a:spLocks noChangeArrowheads="1"/>
            </p:cNvSpPr>
            <p:nvPr/>
          </p:nvSpPr>
          <p:spPr bwMode="auto">
            <a:xfrm>
              <a:off x="4198" y="2784"/>
              <a:ext cx="1046" cy="288"/>
            </a:xfrm>
            <a:prstGeom prst="rect">
              <a:avLst/>
            </a:prstGeom>
            <a:noFill/>
            <a:ln w="25400">
              <a:noFill/>
              <a:prstDash val="dash"/>
              <a:miter lim="800000"/>
              <a:headEnd type="none" w="sm" len="sm"/>
              <a:tailEnd type="none" w="sm" len="sm"/>
            </a:ln>
            <a:effectLst/>
          </p:spPr>
          <p:txBody>
            <a:bodyPr wrap="none" anchor="ctr">
              <a:spAutoFit/>
            </a:bodyPr>
            <a:lstStyle/>
            <a:p>
              <a:pPr algn="ctr"/>
              <a:r>
                <a:rPr lang="en-US">
                  <a:latin typeface="Arial" pitchFamily="34" charset="0"/>
                </a:rPr>
                <a:t>Looseness</a:t>
              </a:r>
              <a:endParaRPr lang="en-US"/>
            </a:p>
          </p:txBody>
        </p:sp>
        <p:sp>
          <p:nvSpPr>
            <p:cNvPr id="956423" name="Oval 7"/>
            <p:cNvSpPr>
              <a:spLocks noChangeArrowheads="1"/>
            </p:cNvSpPr>
            <p:nvPr/>
          </p:nvSpPr>
          <p:spPr bwMode="auto">
            <a:xfrm>
              <a:off x="4272" y="3120"/>
              <a:ext cx="912" cy="912"/>
            </a:xfrm>
            <a:prstGeom prst="ellipse">
              <a:avLst/>
            </a:prstGeom>
            <a:solidFill>
              <a:srgbClr val="333333"/>
            </a:solidFill>
            <a:ln w="12700">
              <a:solidFill>
                <a:srgbClr val="000000"/>
              </a:solidFill>
              <a:round/>
              <a:headEnd type="none" w="sm" len="sm"/>
              <a:tailEnd type="none" w="sm" len="sm"/>
            </a:ln>
            <a:effectLst/>
          </p:spPr>
          <p:txBody>
            <a:bodyPr wrap="none" anchor="ctr"/>
            <a:lstStyle/>
            <a:p>
              <a:endParaRPr lang="en-US"/>
            </a:p>
          </p:txBody>
        </p:sp>
        <p:sp>
          <p:nvSpPr>
            <p:cNvPr id="956424" name="Oval 8"/>
            <p:cNvSpPr>
              <a:spLocks noChangeArrowheads="1"/>
            </p:cNvSpPr>
            <p:nvPr/>
          </p:nvSpPr>
          <p:spPr bwMode="auto">
            <a:xfrm>
              <a:off x="4350" y="3195"/>
              <a:ext cx="768" cy="768"/>
            </a:xfrm>
            <a:prstGeom prst="ellipse">
              <a:avLst/>
            </a:prstGeom>
            <a:solidFill>
              <a:srgbClr val="FFFFFF"/>
            </a:solidFill>
            <a:ln w="12700">
              <a:solidFill>
                <a:schemeClr val="tx1"/>
              </a:solidFill>
              <a:round/>
              <a:headEnd type="none" w="sm" len="sm"/>
              <a:tailEnd type="none" w="sm" len="sm"/>
            </a:ln>
            <a:effectLst/>
          </p:spPr>
          <p:txBody>
            <a:bodyPr wrap="none" anchor="ctr"/>
            <a:lstStyle/>
            <a:p>
              <a:endParaRPr lang="en-US"/>
            </a:p>
          </p:txBody>
        </p:sp>
        <p:sp>
          <p:nvSpPr>
            <p:cNvPr id="956425" name="Oval 9"/>
            <p:cNvSpPr>
              <a:spLocks noChangeArrowheads="1"/>
            </p:cNvSpPr>
            <p:nvPr/>
          </p:nvSpPr>
          <p:spPr bwMode="auto">
            <a:xfrm>
              <a:off x="4440" y="3288"/>
              <a:ext cx="648" cy="648"/>
            </a:xfrm>
            <a:prstGeom prst="ellipse">
              <a:avLst/>
            </a:prstGeom>
            <a:solidFill>
              <a:schemeClr val="bg2"/>
            </a:solidFill>
            <a:ln w="12700">
              <a:solidFill>
                <a:schemeClr val="tx1"/>
              </a:solidFill>
              <a:round/>
              <a:headEnd type="none" w="sm" len="sm"/>
              <a:tailEnd type="none" w="sm" len="sm"/>
            </a:ln>
            <a:effectLst/>
          </p:spPr>
          <p:txBody>
            <a:bodyPr wrap="none" anchor="ctr"/>
            <a:lstStyle/>
            <a:p>
              <a:endParaRPr lang="en-US"/>
            </a:p>
          </p:txBody>
        </p:sp>
        <p:grpSp>
          <p:nvGrpSpPr>
            <p:cNvPr id="956426" name="Group 10"/>
            <p:cNvGrpSpPr>
              <a:grpSpLocks/>
            </p:cNvGrpSpPr>
            <p:nvPr/>
          </p:nvGrpSpPr>
          <p:grpSpPr bwMode="auto">
            <a:xfrm>
              <a:off x="4719" y="3558"/>
              <a:ext cx="96" cy="96"/>
              <a:chOff x="4704" y="3552"/>
              <a:chExt cx="96" cy="96"/>
            </a:xfrm>
          </p:grpSpPr>
          <p:sp>
            <p:nvSpPr>
              <p:cNvPr id="956427" name="Line 11"/>
              <p:cNvSpPr>
                <a:spLocks noChangeShapeType="1"/>
              </p:cNvSpPr>
              <p:nvPr/>
            </p:nvSpPr>
            <p:spPr bwMode="auto">
              <a:xfrm>
                <a:off x="4752" y="3552"/>
                <a:ext cx="0" cy="96"/>
              </a:xfrm>
              <a:prstGeom prst="line">
                <a:avLst/>
              </a:prstGeom>
              <a:noFill/>
              <a:ln w="12700">
                <a:solidFill>
                  <a:srgbClr val="000000"/>
                </a:solidFill>
                <a:round/>
                <a:headEnd type="none" w="sm" len="sm"/>
                <a:tailEnd type="none" w="sm" len="sm"/>
              </a:ln>
              <a:effectLst/>
            </p:spPr>
            <p:txBody>
              <a:bodyPr wrap="none" anchor="ctr"/>
              <a:lstStyle/>
              <a:p>
                <a:endParaRPr lang="en-US"/>
              </a:p>
            </p:txBody>
          </p:sp>
          <p:sp>
            <p:nvSpPr>
              <p:cNvPr id="956428" name="Line 12"/>
              <p:cNvSpPr>
                <a:spLocks noChangeShapeType="1"/>
              </p:cNvSpPr>
              <p:nvPr/>
            </p:nvSpPr>
            <p:spPr bwMode="auto">
              <a:xfrm>
                <a:off x="4704" y="3600"/>
                <a:ext cx="96" cy="0"/>
              </a:xfrm>
              <a:prstGeom prst="line">
                <a:avLst/>
              </a:prstGeom>
              <a:noFill/>
              <a:ln w="12700">
                <a:solidFill>
                  <a:srgbClr val="000000"/>
                </a:solidFill>
                <a:round/>
                <a:headEnd type="none" w="sm" len="sm"/>
                <a:tailEnd type="none" w="sm" len="sm"/>
              </a:ln>
              <a:effectLst/>
            </p:spPr>
            <p:txBody>
              <a:bodyPr wrap="none" anchor="ctr"/>
              <a:lstStyle/>
              <a:p>
                <a:endParaRPr lang="en-US"/>
              </a:p>
            </p:txBody>
          </p:sp>
        </p:grpSp>
        <p:sp>
          <p:nvSpPr>
            <p:cNvPr id="956429" name="Line 13"/>
            <p:cNvSpPr>
              <a:spLocks noChangeShapeType="1"/>
            </p:cNvSpPr>
            <p:nvPr/>
          </p:nvSpPr>
          <p:spPr bwMode="auto">
            <a:xfrm flipH="1">
              <a:off x="4512" y="3024"/>
              <a:ext cx="192" cy="312"/>
            </a:xfrm>
            <a:prstGeom prst="line">
              <a:avLst/>
            </a:prstGeom>
            <a:noFill/>
            <a:ln w="25400">
              <a:solidFill>
                <a:srgbClr val="FF0033"/>
              </a:solidFill>
              <a:round/>
              <a:headEnd type="none" w="sm" len="sm"/>
              <a:tailEnd type="triangle" w="sm" len="sm"/>
            </a:ln>
            <a:effectLst/>
          </p:spPr>
          <p:txBody>
            <a:bodyPr wrap="none" anchor="ctr"/>
            <a:lstStyle/>
            <a:p>
              <a:endParaRPr lang="en-US"/>
            </a:p>
          </p:txBody>
        </p:sp>
      </p:grpSp>
      <p:grpSp>
        <p:nvGrpSpPr>
          <p:cNvPr id="956430" name="Group 14"/>
          <p:cNvGrpSpPr>
            <a:grpSpLocks/>
          </p:cNvGrpSpPr>
          <p:nvPr/>
        </p:nvGrpSpPr>
        <p:grpSpPr bwMode="auto">
          <a:xfrm>
            <a:off x="3186113" y="1887538"/>
            <a:ext cx="317500" cy="3276600"/>
            <a:chOff x="1728" y="1104"/>
            <a:chExt cx="240" cy="2544"/>
          </a:xfrm>
        </p:grpSpPr>
        <p:sp>
          <p:nvSpPr>
            <p:cNvPr id="956431" name="Line 15"/>
            <p:cNvSpPr>
              <a:spLocks noChangeShapeType="1"/>
            </p:cNvSpPr>
            <p:nvPr/>
          </p:nvSpPr>
          <p:spPr bwMode="auto">
            <a:xfrm>
              <a:off x="1728" y="1104"/>
              <a:ext cx="0" cy="1296"/>
            </a:xfrm>
            <a:prstGeom prst="line">
              <a:avLst/>
            </a:prstGeom>
            <a:noFill/>
            <a:ln w="25400">
              <a:solidFill>
                <a:srgbClr val="FF0033"/>
              </a:solidFill>
              <a:prstDash val="dash"/>
              <a:round/>
              <a:headEnd type="none" w="sm" len="sm"/>
              <a:tailEnd type="none" w="sm" len="sm"/>
            </a:ln>
            <a:effectLst/>
          </p:spPr>
          <p:txBody>
            <a:bodyPr wrap="none" anchor="ctr"/>
            <a:lstStyle/>
            <a:p>
              <a:endParaRPr lang="en-US"/>
            </a:p>
          </p:txBody>
        </p:sp>
        <p:sp>
          <p:nvSpPr>
            <p:cNvPr id="956432" name="Line 16"/>
            <p:cNvSpPr>
              <a:spLocks noChangeShapeType="1"/>
            </p:cNvSpPr>
            <p:nvPr/>
          </p:nvSpPr>
          <p:spPr bwMode="auto">
            <a:xfrm>
              <a:off x="1776" y="1104"/>
              <a:ext cx="0" cy="1968"/>
            </a:xfrm>
            <a:prstGeom prst="line">
              <a:avLst/>
            </a:prstGeom>
            <a:noFill/>
            <a:ln w="25400">
              <a:solidFill>
                <a:srgbClr val="FF0033"/>
              </a:solidFill>
              <a:prstDash val="dash"/>
              <a:round/>
              <a:headEnd type="none" w="sm" len="sm"/>
              <a:tailEnd type="none" w="sm" len="sm"/>
            </a:ln>
            <a:effectLst/>
          </p:spPr>
          <p:txBody>
            <a:bodyPr wrap="none" anchor="ctr"/>
            <a:lstStyle/>
            <a:p>
              <a:endParaRPr lang="en-US"/>
            </a:p>
          </p:txBody>
        </p:sp>
        <p:sp>
          <p:nvSpPr>
            <p:cNvPr id="956433" name="Line 17"/>
            <p:cNvSpPr>
              <a:spLocks noChangeShapeType="1"/>
            </p:cNvSpPr>
            <p:nvPr/>
          </p:nvSpPr>
          <p:spPr bwMode="auto">
            <a:xfrm>
              <a:off x="1824" y="1104"/>
              <a:ext cx="0" cy="1920"/>
            </a:xfrm>
            <a:prstGeom prst="line">
              <a:avLst/>
            </a:prstGeom>
            <a:noFill/>
            <a:ln w="25400">
              <a:solidFill>
                <a:srgbClr val="FF0033"/>
              </a:solidFill>
              <a:prstDash val="dash"/>
              <a:round/>
              <a:headEnd type="none" w="sm" len="sm"/>
              <a:tailEnd type="none" w="sm" len="sm"/>
            </a:ln>
            <a:effectLst/>
          </p:spPr>
          <p:txBody>
            <a:bodyPr wrap="none" anchor="ctr"/>
            <a:lstStyle/>
            <a:p>
              <a:endParaRPr lang="en-US"/>
            </a:p>
          </p:txBody>
        </p:sp>
        <p:sp>
          <p:nvSpPr>
            <p:cNvPr id="956434" name="Line 18"/>
            <p:cNvSpPr>
              <a:spLocks noChangeShapeType="1"/>
            </p:cNvSpPr>
            <p:nvPr/>
          </p:nvSpPr>
          <p:spPr bwMode="auto">
            <a:xfrm>
              <a:off x="1872" y="1104"/>
              <a:ext cx="0" cy="2448"/>
            </a:xfrm>
            <a:prstGeom prst="line">
              <a:avLst/>
            </a:prstGeom>
            <a:noFill/>
            <a:ln w="25400">
              <a:solidFill>
                <a:srgbClr val="FF0033"/>
              </a:solidFill>
              <a:prstDash val="dash"/>
              <a:round/>
              <a:headEnd type="none" w="sm" len="sm"/>
              <a:tailEnd type="none" w="sm" len="sm"/>
            </a:ln>
            <a:effectLst/>
          </p:spPr>
          <p:txBody>
            <a:bodyPr wrap="none" anchor="ctr"/>
            <a:lstStyle/>
            <a:p>
              <a:endParaRPr lang="en-US"/>
            </a:p>
          </p:txBody>
        </p:sp>
        <p:sp>
          <p:nvSpPr>
            <p:cNvPr id="956435" name="Line 19"/>
            <p:cNvSpPr>
              <a:spLocks noChangeShapeType="1"/>
            </p:cNvSpPr>
            <p:nvPr/>
          </p:nvSpPr>
          <p:spPr bwMode="auto">
            <a:xfrm>
              <a:off x="1920" y="1104"/>
              <a:ext cx="0" cy="2448"/>
            </a:xfrm>
            <a:prstGeom prst="line">
              <a:avLst/>
            </a:prstGeom>
            <a:noFill/>
            <a:ln w="25400">
              <a:solidFill>
                <a:srgbClr val="FF0033"/>
              </a:solidFill>
              <a:prstDash val="dash"/>
              <a:round/>
              <a:headEnd type="none" w="sm" len="sm"/>
              <a:tailEnd type="none" w="sm" len="sm"/>
            </a:ln>
            <a:effectLst/>
          </p:spPr>
          <p:txBody>
            <a:bodyPr wrap="none" anchor="ctr"/>
            <a:lstStyle/>
            <a:p>
              <a:endParaRPr lang="en-US"/>
            </a:p>
          </p:txBody>
        </p:sp>
        <p:sp>
          <p:nvSpPr>
            <p:cNvPr id="956436" name="Line 20"/>
            <p:cNvSpPr>
              <a:spLocks noChangeShapeType="1"/>
            </p:cNvSpPr>
            <p:nvPr/>
          </p:nvSpPr>
          <p:spPr bwMode="auto">
            <a:xfrm>
              <a:off x="1968" y="1104"/>
              <a:ext cx="0" cy="2544"/>
            </a:xfrm>
            <a:prstGeom prst="line">
              <a:avLst/>
            </a:prstGeom>
            <a:noFill/>
            <a:ln w="25400">
              <a:solidFill>
                <a:srgbClr val="FF0033"/>
              </a:solidFill>
              <a:prstDash val="dash"/>
              <a:round/>
              <a:headEnd type="none" w="sm" len="sm"/>
              <a:tailEnd type="none" w="sm" len="sm"/>
            </a:ln>
            <a:effectLst/>
          </p:spPr>
          <p:txBody>
            <a:bodyPr wrap="none" anchor="ctr"/>
            <a:lstStyle/>
            <a:p>
              <a:endParaRPr lang="en-US"/>
            </a:p>
          </p:txBody>
        </p:sp>
      </p:grpSp>
      <p:sp>
        <p:nvSpPr>
          <p:cNvPr id="956437" name="Text Box 21"/>
          <p:cNvSpPr txBox="1">
            <a:spLocks noChangeArrowheads="1"/>
          </p:cNvSpPr>
          <p:nvPr/>
        </p:nvSpPr>
        <p:spPr bwMode="auto">
          <a:xfrm>
            <a:off x="4202113" y="2268538"/>
            <a:ext cx="2813050" cy="666750"/>
          </a:xfrm>
          <a:prstGeom prst="rect">
            <a:avLst/>
          </a:prstGeom>
          <a:solidFill>
            <a:schemeClr val="bg1"/>
          </a:solidFill>
          <a:ln w="25400">
            <a:solidFill>
              <a:schemeClr val="tx1"/>
            </a:solidFill>
            <a:miter lim="800000"/>
            <a:headEnd type="none" w="sm" len="sm"/>
            <a:tailEnd type="none" w="sm" len="sm"/>
          </a:ln>
          <a:effectLst/>
        </p:spPr>
        <p:txBody>
          <a:bodyPr wrap="none" anchor="ctr">
            <a:spAutoFit/>
          </a:bodyPr>
          <a:lstStyle/>
          <a:p>
            <a:pPr algn="ctr"/>
            <a:r>
              <a:rPr lang="en-US" sz="1800">
                <a:solidFill>
                  <a:schemeClr val="accent2"/>
                </a:solidFill>
                <a:latin typeface="Arial" pitchFamily="34" charset="0"/>
              </a:rPr>
              <a:t>Looseness shows up as </a:t>
            </a:r>
          </a:p>
          <a:p>
            <a:pPr algn="ctr"/>
            <a:r>
              <a:rPr lang="en-US" sz="1800">
                <a:solidFill>
                  <a:schemeClr val="accent2"/>
                </a:solidFill>
                <a:latin typeface="Arial" pitchFamily="34" charset="0"/>
              </a:rPr>
              <a:t>multiples of turning speed</a:t>
            </a:r>
            <a:endParaRPr lang="en-US" sz="1800">
              <a:solidFill>
                <a:srgbClr val="FF0033"/>
              </a:solidFill>
            </a:endParaRPr>
          </a:p>
        </p:txBody>
      </p:sp>
      <p:sp>
        <p:nvSpPr>
          <p:cNvPr id="956438" name="Line 22"/>
          <p:cNvSpPr>
            <a:spLocks noChangeShapeType="1"/>
          </p:cNvSpPr>
          <p:nvPr/>
        </p:nvSpPr>
        <p:spPr bwMode="auto">
          <a:xfrm flipH="1">
            <a:off x="3516313" y="3030538"/>
            <a:ext cx="914400" cy="685800"/>
          </a:xfrm>
          <a:prstGeom prst="line">
            <a:avLst/>
          </a:prstGeom>
          <a:noFill/>
          <a:ln w="19050">
            <a:solidFill>
              <a:schemeClr val="accent2"/>
            </a:solidFill>
            <a:round/>
            <a:headEnd/>
            <a:tailEnd type="triangle" w="med" len="med"/>
          </a:ln>
          <a:effectLst/>
        </p:spPr>
        <p:txBody>
          <a:bodyPr wrap="none" anchor="ctr">
            <a:spAutoFit/>
          </a:bodyPr>
          <a:lstStyle/>
          <a:p>
            <a:endParaRPr 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3000"/>
                                  </p:stCondLst>
                                  <p:childTnLst>
                                    <p:set>
                                      <p:cBhvr>
                                        <p:cTn id="6" dur="1" fill="hold">
                                          <p:stCondLst>
                                            <p:cond delay="0"/>
                                          </p:stCondLst>
                                        </p:cTn>
                                        <p:tgtEl>
                                          <p:spTgt spid="956420"/>
                                        </p:tgtEl>
                                        <p:attrNameLst>
                                          <p:attrName>style.visibility</p:attrName>
                                        </p:attrNameLst>
                                      </p:cBhvr>
                                      <p:to>
                                        <p:strVal val="visible"/>
                                      </p:to>
                                    </p:set>
                                    <p:anim calcmode="lin" valueType="num">
                                      <p:cBhvr>
                                        <p:cTn id="7" dur="500" fill="hold"/>
                                        <p:tgtEl>
                                          <p:spTgt spid="956420"/>
                                        </p:tgtEl>
                                        <p:attrNameLst>
                                          <p:attrName>ppt_w</p:attrName>
                                        </p:attrNameLst>
                                      </p:cBhvr>
                                      <p:tavLst>
                                        <p:tav tm="0">
                                          <p:val>
                                            <p:fltVal val="0"/>
                                          </p:val>
                                        </p:tav>
                                        <p:tav tm="100000">
                                          <p:val>
                                            <p:strVal val="#ppt_w"/>
                                          </p:val>
                                        </p:tav>
                                      </p:tavLst>
                                    </p:anim>
                                    <p:anim calcmode="lin" valueType="num">
                                      <p:cBhvr>
                                        <p:cTn id="8" dur="500" fill="hold"/>
                                        <p:tgtEl>
                                          <p:spTgt spid="95642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IR_END.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7442" name="Rectangle 2"/>
          <p:cNvSpPr>
            <a:spLocks noGrp="1" noChangeArrowheads="1"/>
          </p:cNvSpPr>
          <p:nvPr>
            <p:ph type="title" idx="4294967295"/>
          </p:nvPr>
        </p:nvSpPr>
        <p:spPr>
          <a:xfrm>
            <a:off x="609600" y="1143000"/>
            <a:ext cx="7772400" cy="4343400"/>
          </a:xfrm>
          <a:noFill/>
          <a:ln/>
        </p:spPr>
        <p:txBody>
          <a:bodyPr lIns="90488" tIns="44450" rIns="90488" bIns="44450" anchor="ctr"/>
          <a:lstStyle/>
          <a:p>
            <a:r>
              <a:rPr lang="en-US" sz="7200" b="0"/>
              <a:t>Rolling </a:t>
            </a:r>
            <a:br>
              <a:rPr lang="en-US" sz="7200" b="0"/>
            </a:br>
            <a:r>
              <a:rPr lang="en-US" sz="7200" b="0"/>
              <a:t>Element</a:t>
            </a:r>
            <a:br>
              <a:rPr lang="en-US" sz="7200" b="0"/>
            </a:br>
            <a:r>
              <a:rPr lang="en-US" sz="7200" b="0"/>
              <a:t>Bearing</a:t>
            </a: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46530" name="Picture 2" descr="Image07"/>
          <p:cNvPicPr>
            <a:picLocks noChangeAspect="1" noChangeArrowheads="1"/>
          </p:cNvPicPr>
          <p:nvPr/>
        </p:nvPicPr>
        <p:blipFill>
          <a:blip r:embed="rId2" cstate="print"/>
          <a:srcRect/>
          <a:stretch>
            <a:fillRect/>
          </a:stretch>
        </p:blipFill>
        <p:spPr bwMode="auto">
          <a:xfrm>
            <a:off x="4953000" y="1676400"/>
            <a:ext cx="4191000" cy="3505200"/>
          </a:xfrm>
          <a:prstGeom prst="rect">
            <a:avLst/>
          </a:prstGeom>
          <a:noFill/>
        </p:spPr>
      </p:pic>
      <p:pic>
        <p:nvPicPr>
          <p:cNvPr id="1046531" name="Picture 3" descr="causes for bearing failure"/>
          <p:cNvPicPr>
            <a:picLocks noChangeAspect="1" noChangeArrowheads="1"/>
          </p:cNvPicPr>
          <p:nvPr/>
        </p:nvPicPr>
        <p:blipFill>
          <a:blip r:embed="rId3" cstate="print"/>
          <a:srcRect/>
          <a:stretch>
            <a:fillRect/>
          </a:stretch>
        </p:blipFill>
        <p:spPr bwMode="auto">
          <a:xfrm>
            <a:off x="0" y="1676400"/>
            <a:ext cx="4876800" cy="3505200"/>
          </a:xfrm>
          <a:prstGeom prst="rect">
            <a:avLst/>
          </a:prstGeom>
          <a:noFill/>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47554" name="Picture 2" descr="antifriction bearings"/>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047555" name="AutoShape 3">
            <a:hlinkClick r:id="rId3" action="ppaction://program" highlightClick="1"/>
          </p:cNvPr>
          <p:cNvSpPr>
            <a:spLocks noChangeArrowheads="1"/>
          </p:cNvSpPr>
          <p:nvPr/>
        </p:nvSpPr>
        <p:spPr bwMode="auto">
          <a:xfrm>
            <a:off x="8001000" y="6400800"/>
            <a:ext cx="838200" cy="228600"/>
          </a:xfrm>
          <a:prstGeom prst="actionButtonBlank">
            <a:avLst/>
          </a:prstGeom>
          <a:solidFill>
            <a:schemeClr val="hlink"/>
          </a:solidFill>
          <a:ln w="9525">
            <a:noFill/>
            <a:miter lim="800000"/>
            <a:headEnd/>
            <a:tailEnd/>
          </a:ln>
          <a:effectLst/>
        </p:spPr>
        <p:txBody>
          <a:bodyPr wrap="none" anchor="ctr"/>
          <a:lstStyle/>
          <a:p>
            <a:endParaRPr lang="en-US"/>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48578" name="Picture 2" descr="analysing"/>
          <p:cNvPicPr>
            <a:picLocks noChangeAspect="1" noChangeArrowheads="1"/>
          </p:cNvPicPr>
          <p:nvPr/>
        </p:nvPicPr>
        <p:blipFill>
          <a:blip r:embed="rId2" cstate="print">
            <a:clrChange>
              <a:clrFrom>
                <a:srgbClr val="00CCFF"/>
              </a:clrFrom>
              <a:clrTo>
                <a:srgbClr val="00CCFF">
                  <a:alpha val="0"/>
                </a:srgbClr>
              </a:clrTo>
            </a:clrChange>
          </a:blip>
          <a:srcRect/>
          <a:stretch>
            <a:fillRect/>
          </a:stretch>
        </p:blipFill>
        <p:spPr bwMode="auto">
          <a:xfrm>
            <a:off x="685800" y="1219200"/>
            <a:ext cx="6705600" cy="4876800"/>
          </a:xfrm>
          <a:prstGeom prst="rect">
            <a:avLst/>
          </a:prstGeom>
          <a:noFill/>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8466" name="Rectangle 2"/>
          <p:cNvSpPr>
            <a:spLocks noGrp="1" noChangeArrowheads="1"/>
          </p:cNvSpPr>
          <p:nvPr>
            <p:ph type="title" idx="4294967295"/>
          </p:nvPr>
        </p:nvSpPr>
        <p:spPr>
          <a:xfrm>
            <a:off x="609600" y="609600"/>
            <a:ext cx="7772400" cy="609600"/>
          </a:xfrm>
          <a:noFill/>
          <a:ln/>
        </p:spPr>
        <p:txBody>
          <a:bodyPr lIns="90488" tIns="44450" rIns="90488" bIns="44450" anchor="ctr"/>
          <a:lstStyle/>
          <a:p>
            <a:r>
              <a:rPr lang="en-US" sz="3200" b="0"/>
              <a:t>Why Does Bearing Fail?</a:t>
            </a:r>
          </a:p>
        </p:txBody>
      </p:sp>
      <p:sp>
        <p:nvSpPr>
          <p:cNvPr id="958467" name="Rectangle 3"/>
          <p:cNvSpPr>
            <a:spLocks noChangeArrowheads="1"/>
          </p:cNvSpPr>
          <p:nvPr/>
        </p:nvSpPr>
        <p:spPr bwMode="auto">
          <a:xfrm>
            <a:off x="1068388" y="1784350"/>
            <a:ext cx="7456487" cy="3746500"/>
          </a:xfrm>
          <a:prstGeom prst="rect">
            <a:avLst/>
          </a:prstGeom>
          <a:noFill/>
          <a:ln w="12700">
            <a:noFill/>
            <a:miter lim="800000"/>
            <a:headEnd/>
            <a:tailEnd/>
          </a:ln>
          <a:effectLst/>
        </p:spPr>
        <p:txBody>
          <a:bodyPr lIns="90488" tIns="44450" rIns="90488" bIns="44450">
            <a:spAutoFit/>
          </a:bodyPr>
          <a:lstStyle/>
          <a:p>
            <a:pPr>
              <a:lnSpc>
                <a:spcPct val="125000"/>
              </a:lnSpc>
            </a:pPr>
            <a:r>
              <a:rPr lang="en-US" sz="3200" b="1">
                <a:latin typeface="Avenir 35" pitchFamily="2" charset="0"/>
              </a:rPr>
              <a:t>1. Improper lubrication</a:t>
            </a:r>
          </a:p>
          <a:p>
            <a:pPr>
              <a:lnSpc>
                <a:spcPct val="125000"/>
              </a:lnSpc>
            </a:pPr>
            <a:r>
              <a:rPr lang="en-US" sz="3200" b="1">
                <a:latin typeface="Avenir 35" pitchFamily="2" charset="0"/>
              </a:rPr>
              <a:t>2. Contaminated lubrication</a:t>
            </a:r>
          </a:p>
          <a:p>
            <a:pPr>
              <a:lnSpc>
                <a:spcPct val="125000"/>
              </a:lnSpc>
            </a:pPr>
            <a:r>
              <a:rPr lang="en-US" sz="3200" b="1">
                <a:latin typeface="Avenir 35" pitchFamily="2" charset="0"/>
              </a:rPr>
              <a:t>3. Heavier loading from unbalance,</a:t>
            </a:r>
          </a:p>
          <a:p>
            <a:pPr>
              <a:lnSpc>
                <a:spcPct val="125000"/>
              </a:lnSpc>
            </a:pPr>
            <a:r>
              <a:rPr lang="en-US" sz="3200" b="1">
                <a:latin typeface="Avenir 35" pitchFamily="2" charset="0"/>
              </a:rPr>
              <a:t>    misalignment, bent shaft etc.</a:t>
            </a:r>
          </a:p>
          <a:p>
            <a:pPr>
              <a:lnSpc>
                <a:spcPct val="125000"/>
              </a:lnSpc>
            </a:pPr>
            <a:r>
              <a:rPr lang="en-US" sz="3200" b="1">
                <a:latin typeface="Avenir 35" pitchFamily="2" charset="0"/>
              </a:rPr>
              <a:t>4. Improper handling or installation.</a:t>
            </a:r>
          </a:p>
          <a:p>
            <a:pPr>
              <a:lnSpc>
                <a:spcPct val="125000"/>
              </a:lnSpc>
            </a:pPr>
            <a:r>
              <a:rPr lang="en-US" sz="3200" b="1">
                <a:latin typeface="Avenir 35" pitchFamily="2" charset="0"/>
              </a:rPr>
              <a:t>5. Old age (Surface fatigue) .</a:t>
            </a:r>
          </a:p>
        </p:txBody>
      </p:sp>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9490" name="Rectangle 2"/>
          <p:cNvSpPr>
            <a:spLocks noGrp="1" noChangeArrowheads="1"/>
          </p:cNvSpPr>
          <p:nvPr>
            <p:ph type="title"/>
          </p:nvPr>
        </p:nvSpPr>
        <p:spPr>
          <a:xfrm>
            <a:off x="685800" y="381000"/>
            <a:ext cx="7772400" cy="609600"/>
          </a:xfrm>
          <a:noFill/>
          <a:ln/>
        </p:spPr>
        <p:txBody>
          <a:bodyPr/>
          <a:lstStyle/>
          <a:p>
            <a:r>
              <a:rPr lang="en-US" sz="3200" b="0"/>
              <a:t>Bearing Failure Stages</a:t>
            </a:r>
            <a:endParaRPr lang="en-US"/>
          </a:p>
        </p:txBody>
      </p:sp>
      <p:sp>
        <p:nvSpPr>
          <p:cNvPr id="959491" name="Rectangle 3"/>
          <p:cNvSpPr>
            <a:spLocks noGrp="1" noChangeArrowheads="1"/>
          </p:cNvSpPr>
          <p:nvPr>
            <p:ph type="body" idx="1"/>
          </p:nvPr>
        </p:nvSpPr>
        <p:spPr>
          <a:xfrm>
            <a:off x="685800" y="3771900"/>
            <a:ext cx="7772400" cy="2324100"/>
          </a:xfrm>
          <a:noFill/>
          <a:ln/>
        </p:spPr>
        <p:txBody>
          <a:bodyPr/>
          <a:lstStyle/>
          <a:p>
            <a:r>
              <a:rPr lang="en-US" sz="2400" b="1">
                <a:latin typeface="Avenir 35" pitchFamily="2" charset="0"/>
              </a:rPr>
              <a:t>Earliest indications of bearing problems appear in the ultrasonic frequency ranging from 1,200k to 3,600 kCPM. </a:t>
            </a:r>
          </a:p>
          <a:p>
            <a:r>
              <a:rPr lang="en-US" sz="2400" b="1">
                <a:latin typeface="Avenir 35" pitchFamily="2" charset="0"/>
              </a:rPr>
              <a:t>Spike Energy,PeakVue, HFD, and Shock Pulse evaluate these frequencies.</a:t>
            </a:r>
            <a:endParaRPr lang="en-US" sz="3200">
              <a:latin typeface="Avenir 35" pitchFamily="2" charset="0"/>
            </a:endParaRPr>
          </a:p>
        </p:txBody>
      </p:sp>
      <p:sp>
        <p:nvSpPr>
          <p:cNvPr id="959492" name="Text Box 4"/>
          <p:cNvSpPr txBox="1">
            <a:spLocks noChangeArrowheads="1"/>
          </p:cNvSpPr>
          <p:nvPr/>
        </p:nvSpPr>
        <p:spPr bwMode="auto">
          <a:xfrm>
            <a:off x="685800" y="1219200"/>
            <a:ext cx="1489075" cy="519113"/>
          </a:xfrm>
          <a:prstGeom prst="rect">
            <a:avLst/>
          </a:prstGeom>
          <a:noFill/>
          <a:ln w="12700">
            <a:noFill/>
            <a:miter lim="800000"/>
            <a:headEnd/>
            <a:tailEnd/>
          </a:ln>
          <a:effectLst/>
        </p:spPr>
        <p:txBody>
          <a:bodyPr>
            <a:spAutoFit/>
          </a:bodyPr>
          <a:lstStyle/>
          <a:p>
            <a:r>
              <a:rPr lang="en-US" sz="2800" b="1"/>
              <a:t>Stage - 1</a:t>
            </a:r>
          </a:p>
        </p:txBody>
      </p:sp>
      <p:graphicFrame>
        <p:nvGraphicFramePr>
          <p:cNvPr id="959493" name="Object 5"/>
          <p:cNvGraphicFramePr>
            <a:graphicFrameLocks noChangeAspect="1"/>
          </p:cNvGraphicFramePr>
          <p:nvPr/>
        </p:nvGraphicFramePr>
        <p:xfrm>
          <a:off x="3581400" y="1219200"/>
          <a:ext cx="4800600" cy="2466975"/>
        </p:xfrm>
        <a:graphic>
          <a:graphicData uri="http://schemas.openxmlformats.org/presentationml/2006/ole">
            <mc:AlternateContent xmlns:mc="http://schemas.openxmlformats.org/markup-compatibility/2006">
              <mc:Choice xmlns:v="urn:schemas-microsoft-com:vml" Requires="v">
                <p:oleObj spid="_x0000_s959495" name="Bitmap Image" r:id="rId3" imgW="4800000" imgH="2467319" progId="Paint.Picture">
                  <p:embed/>
                </p:oleObj>
              </mc:Choice>
              <mc:Fallback>
                <p:oleObj name="Bitmap Image" r:id="rId3" imgW="4800000" imgH="2467319" progId="Paint.Picture">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1219200"/>
                        <a:ext cx="4800600" cy="246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0514" name="Rectangle 2"/>
          <p:cNvSpPr>
            <a:spLocks noGrp="1" noChangeArrowheads="1"/>
          </p:cNvSpPr>
          <p:nvPr>
            <p:ph type="title"/>
          </p:nvPr>
        </p:nvSpPr>
        <p:spPr>
          <a:xfrm>
            <a:off x="685800" y="381000"/>
            <a:ext cx="7772400" cy="685800"/>
          </a:xfrm>
          <a:noFill/>
          <a:ln/>
        </p:spPr>
        <p:txBody>
          <a:bodyPr/>
          <a:lstStyle/>
          <a:p>
            <a:r>
              <a:rPr lang="en-US" sz="3200" b="0"/>
              <a:t>Stage - 2</a:t>
            </a:r>
            <a:endParaRPr lang="en-US"/>
          </a:p>
        </p:txBody>
      </p:sp>
      <p:sp>
        <p:nvSpPr>
          <p:cNvPr id="960515" name="Rectangle 3"/>
          <p:cNvSpPr>
            <a:spLocks noGrp="1" noChangeArrowheads="1"/>
          </p:cNvSpPr>
          <p:nvPr>
            <p:ph type="body" idx="1"/>
          </p:nvPr>
        </p:nvSpPr>
        <p:spPr>
          <a:xfrm>
            <a:off x="609600" y="3962400"/>
            <a:ext cx="7772400" cy="2133600"/>
          </a:xfrm>
          <a:noFill/>
          <a:ln/>
        </p:spPr>
        <p:txBody>
          <a:bodyPr/>
          <a:lstStyle/>
          <a:p>
            <a:r>
              <a:rPr lang="en-US" sz="2400" b="1"/>
              <a:t>Slight bearing defects begin to ring bearing component natural frequencies, which predominantly occur in 30k to 120K CPM range. </a:t>
            </a:r>
          </a:p>
          <a:p>
            <a:r>
              <a:rPr lang="en-US" sz="2400" b="1"/>
              <a:t>Sideband frequencies appear above and below nof stage 2. </a:t>
            </a:r>
          </a:p>
        </p:txBody>
      </p:sp>
      <p:graphicFrame>
        <p:nvGraphicFramePr>
          <p:cNvPr id="960516" name="Object 4"/>
          <p:cNvGraphicFramePr>
            <a:graphicFrameLocks noChangeAspect="1"/>
          </p:cNvGraphicFramePr>
          <p:nvPr/>
        </p:nvGraphicFramePr>
        <p:xfrm>
          <a:off x="1905000" y="1143000"/>
          <a:ext cx="4848225" cy="2486025"/>
        </p:xfrm>
        <a:graphic>
          <a:graphicData uri="http://schemas.openxmlformats.org/presentationml/2006/ole">
            <mc:AlternateContent xmlns:mc="http://schemas.openxmlformats.org/markup-compatibility/2006">
              <mc:Choice xmlns:v="urn:schemas-microsoft-com:vml" Requires="v">
                <p:oleObj spid="_x0000_s960518" name="Bitmap Image" r:id="rId3" imgW="4847619" imgH="2486372" progId="Paint.Picture">
                  <p:embed/>
                </p:oleObj>
              </mc:Choice>
              <mc:Fallback>
                <p:oleObj name="Bitmap Image" r:id="rId3" imgW="4847619" imgH="2486372" progId="Paint.Picture">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143000"/>
                        <a:ext cx="4848225" cy="248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1538" name="Rectangle 2"/>
          <p:cNvSpPr>
            <a:spLocks noGrp="1" noChangeArrowheads="1"/>
          </p:cNvSpPr>
          <p:nvPr>
            <p:ph type="title"/>
          </p:nvPr>
        </p:nvSpPr>
        <p:spPr>
          <a:xfrm>
            <a:off x="685800" y="438150"/>
            <a:ext cx="1981200" cy="442913"/>
          </a:xfrm>
          <a:noFill/>
          <a:ln/>
        </p:spPr>
        <p:txBody>
          <a:bodyPr/>
          <a:lstStyle/>
          <a:p>
            <a:r>
              <a:rPr lang="en-US" sz="2800" b="0"/>
              <a:t>Stage - 3</a:t>
            </a:r>
            <a:endParaRPr lang="en-US"/>
          </a:p>
        </p:txBody>
      </p:sp>
      <p:sp>
        <p:nvSpPr>
          <p:cNvPr id="961539" name="Rectangle 3"/>
          <p:cNvSpPr>
            <a:spLocks noGrp="1" noChangeArrowheads="1"/>
          </p:cNvSpPr>
          <p:nvPr>
            <p:ph type="body" idx="1"/>
          </p:nvPr>
        </p:nvSpPr>
        <p:spPr>
          <a:xfrm>
            <a:off x="609600" y="3200400"/>
            <a:ext cx="7772400" cy="2819400"/>
          </a:xfrm>
          <a:noFill/>
          <a:ln/>
        </p:spPr>
        <p:txBody>
          <a:bodyPr/>
          <a:lstStyle/>
          <a:p>
            <a:r>
              <a:rPr lang="en-US" sz="2000" b="1">
                <a:latin typeface="Avenir 35" pitchFamily="2" charset="0"/>
              </a:rPr>
              <a:t>Bearing defect frequencies and harmonics appear. </a:t>
            </a:r>
          </a:p>
          <a:p>
            <a:r>
              <a:rPr lang="en-US" sz="2000" b="1">
                <a:latin typeface="Avenir 35" pitchFamily="2" charset="0"/>
              </a:rPr>
              <a:t>More defect frequencies appear and nos of sidebands grow, both around these and bearing natural frequencies. </a:t>
            </a:r>
          </a:p>
          <a:p>
            <a:r>
              <a:rPr lang="en-US" sz="2000" b="1">
                <a:latin typeface="Avenir 35" pitchFamily="2" charset="0"/>
              </a:rPr>
              <a:t>When well-formed sidebands accompany bearing defect frequency harmonics </a:t>
            </a:r>
          </a:p>
          <a:p>
            <a:r>
              <a:rPr lang="en-US" sz="2000" b="1">
                <a:latin typeface="Avenir 35" pitchFamily="2" charset="0"/>
              </a:rPr>
              <a:t>Bearing has to be</a:t>
            </a:r>
            <a:r>
              <a:rPr lang="en-US" sz="2400" b="1" i="1">
                <a:latin typeface="Avenir 35" pitchFamily="2" charset="0"/>
              </a:rPr>
              <a:t> replaced.</a:t>
            </a:r>
            <a:r>
              <a:rPr lang="en-US" sz="2400" i="1">
                <a:latin typeface="Avenir 35" pitchFamily="2" charset="0"/>
              </a:rPr>
              <a:t> </a:t>
            </a:r>
          </a:p>
        </p:txBody>
      </p:sp>
      <p:graphicFrame>
        <p:nvGraphicFramePr>
          <p:cNvPr id="961540" name="Object 4"/>
          <p:cNvGraphicFramePr>
            <a:graphicFrameLocks noChangeAspect="1"/>
          </p:cNvGraphicFramePr>
          <p:nvPr/>
        </p:nvGraphicFramePr>
        <p:xfrm>
          <a:off x="3733800" y="533400"/>
          <a:ext cx="4829175" cy="2495550"/>
        </p:xfrm>
        <a:graphic>
          <a:graphicData uri="http://schemas.openxmlformats.org/presentationml/2006/ole">
            <mc:AlternateContent xmlns:mc="http://schemas.openxmlformats.org/markup-compatibility/2006">
              <mc:Choice xmlns:v="urn:schemas-microsoft-com:vml" Requires="v">
                <p:oleObj spid="_x0000_s961542" name="Bitmap Image" r:id="rId3" imgW="4828571" imgH="2495238" progId="Paint.Picture">
                  <p:embed/>
                </p:oleObj>
              </mc:Choice>
              <mc:Fallback>
                <p:oleObj name="Bitmap Image" r:id="rId3" imgW="4828571" imgH="2495238" progId="Paint.Picture">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533400"/>
                        <a:ext cx="4829175" cy="249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62" name="Rectangle 2"/>
          <p:cNvSpPr>
            <a:spLocks noGrp="1" noChangeArrowheads="1"/>
          </p:cNvSpPr>
          <p:nvPr>
            <p:ph type="title"/>
          </p:nvPr>
        </p:nvSpPr>
        <p:spPr>
          <a:xfrm>
            <a:off x="685800" y="381000"/>
            <a:ext cx="2057400" cy="685800"/>
          </a:xfrm>
          <a:noFill/>
          <a:ln/>
        </p:spPr>
        <p:txBody>
          <a:bodyPr/>
          <a:lstStyle/>
          <a:p>
            <a:r>
              <a:rPr lang="en-US" sz="2800" b="0"/>
              <a:t>Stage - 4</a:t>
            </a:r>
            <a:endParaRPr lang="en-US"/>
          </a:p>
        </p:txBody>
      </p:sp>
      <p:sp>
        <p:nvSpPr>
          <p:cNvPr id="962563" name="Rectangle 3"/>
          <p:cNvSpPr>
            <a:spLocks noGrp="1" noChangeArrowheads="1"/>
          </p:cNvSpPr>
          <p:nvPr>
            <p:ph type="body" idx="1"/>
          </p:nvPr>
        </p:nvSpPr>
        <p:spPr>
          <a:xfrm>
            <a:off x="609600" y="3048000"/>
            <a:ext cx="7772400" cy="3048000"/>
          </a:xfrm>
          <a:noFill/>
          <a:ln/>
        </p:spPr>
        <p:txBody>
          <a:bodyPr/>
          <a:lstStyle/>
          <a:p>
            <a:pPr>
              <a:lnSpc>
                <a:spcPct val="90000"/>
              </a:lnSpc>
              <a:buFontTx/>
              <a:buNone/>
            </a:pPr>
            <a:r>
              <a:rPr lang="en-US" b="1"/>
              <a:t>Towards the end-</a:t>
            </a:r>
            <a:endParaRPr lang="en-US" sz="2400" b="1"/>
          </a:p>
          <a:p>
            <a:pPr>
              <a:lnSpc>
                <a:spcPct val="90000"/>
              </a:lnSpc>
            </a:pPr>
            <a:r>
              <a:rPr lang="en-US" sz="2000" b="1"/>
              <a:t>Amplitude of 1X and other running speed harmonics will increase. </a:t>
            </a:r>
          </a:p>
          <a:p>
            <a:pPr>
              <a:lnSpc>
                <a:spcPct val="90000"/>
              </a:lnSpc>
            </a:pPr>
            <a:r>
              <a:rPr lang="en-US" sz="2000" b="1"/>
              <a:t>Discrete bearing defect and component natural frequencies actually begin to disappear and are replaced by random, broad band high frequency noise floor. </a:t>
            </a:r>
          </a:p>
          <a:p>
            <a:pPr>
              <a:lnSpc>
                <a:spcPct val="90000"/>
              </a:lnSpc>
            </a:pPr>
            <a:r>
              <a:rPr lang="en-US" sz="2000" b="1"/>
              <a:t>Amplitude of both high frequency noise floor and spike energy may decrease, but prior to failure, spike energy will usually grow to excessive amplitudes.</a:t>
            </a:r>
            <a:r>
              <a:rPr lang="en-US" sz="3200">
                <a:latin typeface="Avenir 35" pitchFamily="2" charset="0"/>
              </a:rPr>
              <a:t> </a:t>
            </a:r>
          </a:p>
        </p:txBody>
      </p:sp>
      <p:graphicFrame>
        <p:nvGraphicFramePr>
          <p:cNvPr id="962564" name="Object 4"/>
          <p:cNvGraphicFramePr>
            <a:graphicFrameLocks noChangeAspect="1"/>
          </p:cNvGraphicFramePr>
          <p:nvPr/>
        </p:nvGraphicFramePr>
        <p:xfrm>
          <a:off x="3886200" y="381000"/>
          <a:ext cx="4800600" cy="2466975"/>
        </p:xfrm>
        <a:graphic>
          <a:graphicData uri="http://schemas.openxmlformats.org/presentationml/2006/ole">
            <mc:AlternateContent xmlns:mc="http://schemas.openxmlformats.org/markup-compatibility/2006">
              <mc:Choice xmlns:v="urn:schemas-microsoft-com:vml" Requires="v">
                <p:oleObj spid="_x0000_s962566" name="Bitmap Image" r:id="rId3" imgW="4800000" imgH="2467319" progId="Paint.Picture">
                  <p:embed/>
                </p:oleObj>
              </mc:Choice>
              <mc:Fallback>
                <p:oleObj name="Bitmap Image" r:id="rId3" imgW="4800000" imgH="2467319" progId="Paint.Picture">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381000"/>
                        <a:ext cx="4800600" cy="246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3586"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963587"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
        <p:nvSpPr>
          <p:cNvPr id="963588" name="AutoShape 4"/>
          <p:cNvSpPr>
            <a:spLocks noChangeArrowheads="1"/>
          </p:cNvSpPr>
          <p:nvPr/>
        </p:nvSpPr>
        <p:spPr bwMode="auto">
          <a:xfrm>
            <a:off x="457200" y="914400"/>
            <a:ext cx="8305800" cy="5638800"/>
          </a:xfrm>
          <a:prstGeom prst="roundRect">
            <a:avLst>
              <a:gd name="adj" fmla="val 12486"/>
            </a:avLst>
          </a:prstGeom>
          <a:solidFill>
            <a:srgbClr val="FFFFFF"/>
          </a:solidFill>
          <a:ln w="12700">
            <a:noFill/>
            <a:round/>
            <a:headEnd/>
            <a:tailEnd/>
          </a:ln>
          <a:effectLst/>
        </p:spPr>
        <p:txBody>
          <a:bodyPr wrap="none" anchor="ctr"/>
          <a:lstStyle/>
          <a:p>
            <a:endParaRPr lang="en-US"/>
          </a:p>
        </p:txBody>
      </p:sp>
      <p:sp>
        <p:nvSpPr>
          <p:cNvPr id="963589" name="Rectangle 5"/>
          <p:cNvSpPr>
            <a:spLocks noChangeArrowheads="1"/>
          </p:cNvSpPr>
          <p:nvPr/>
        </p:nvSpPr>
        <p:spPr bwMode="auto">
          <a:xfrm>
            <a:off x="2346325" y="277813"/>
            <a:ext cx="4492625" cy="576262"/>
          </a:xfrm>
          <a:prstGeom prst="rect">
            <a:avLst/>
          </a:prstGeom>
          <a:noFill/>
          <a:ln w="12700">
            <a:noFill/>
            <a:miter lim="800000"/>
            <a:headEnd/>
            <a:tailEnd/>
          </a:ln>
          <a:effectLst/>
        </p:spPr>
        <p:txBody>
          <a:bodyPr wrap="none" lIns="90488" tIns="44450" rIns="90488" bIns="44450">
            <a:spAutoFit/>
          </a:bodyPr>
          <a:lstStyle/>
          <a:p>
            <a:r>
              <a:rPr lang="en-US" sz="3200" b="1"/>
              <a:t>Rolling element bearings</a:t>
            </a:r>
          </a:p>
        </p:txBody>
      </p:sp>
      <p:sp>
        <p:nvSpPr>
          <p:cNvPr id="963590" name="Rectangle 6"/>
          <p:cNvSpPr>
            <a:spLocks noChangeArrowheads="1"/>
          </p:cNvSpPr>
          <p:nvPr/>
        </p:nvSpPr>
        <p:spPr bwMode="auto">
          <a:xfrm>
            <a:off x="2133600" y="1398588"/>
            <a:ext cx="4951413" cy="1187450"/>
          </a:xfrm>
          <a:prstGeom prst="rect">
            <a:avLst/>
          </a:prstGeom>
          <a:noFill/>
          <a:ln w="12700">
            <a:noFill/>
            <a:miter lim="800000"/>
            <a:headEnd/>
            <a:tailEnd/>
          </a:ln>
          <a:effectLst/>
        </p:spPr>
        <p:txBody>
          <a:bodyPr lIns="90488" tIns="44450" rIns="90488" bIns="44450">
            <a:spAutoFit/>
          </a:bodyPr>
          <a:lstStyle/>
          <a:p>
            <a:r>
              <a:rPr lang="en-US" sz="1800">
                <a:solidFill>
                  <a:schemeClr val="hlink"/>
                </a:solidFill>
              </a:rPr>
              <a:t>FTF    = </a:t>
            </a:r>
            <a:r>
              <a:rPr lang="en-US" sz="1800" i="1"/>
              <a:t>Fundamental Train Frequency</a:t>
            </a:r>
          </a:p>
          <a:p>
            <a:r>
              <a:rPr lang="en-US" sz="1800">
                <a:solidFill>
                  <a:schemeClr val="hlink"/>
                </a:solidFill>
              </a:rPr>
              <a:t>BSF    = </a:t>
            </a:r>
            <a:r>
              <a:rPr lang="en-US" sz="1800" i="1"/>
              <a:t>Ball Spin Frequency</a:t>
            </a:r>
          </a:p>
          <a:p>
            <a:r>
              <a:rPr lang="en-US" sz="1800">
                <a:solidFill>
                  <a:schemeClr val="hlink"/>
                </a:solidFill>
              </a:rPr>
              <a:t>BPFO = </a:t>
            </a:r>
            <a:r>
              <a:rPr lang="en-US" sz="1800" i="1"/>
              <a:t>Ball Pass Frequency Outer race</a:t>
            </a:r>
          </a:p>
          <a:p>
            <a:r>
              <a:rPr lang="en-US" sz="1800">
                <a:solidFill>
                  <a:schemeClr val="hlink"/>
                </a:solidFill>
              </a:rPr>
              <a:t>BPFI   = </a:t>
            </a:r>
            <a:r>
              <a:rPr lang="en-US" sz="1800" i="1"/>
              <a:t>Ball Pass Frequency Inner race</a:t>
            </a:r>
          </a:p>
        </p:txBody>
      </p:sp>
      <p:sp>
        <p:nvSpPr>
          <p:cNvPr id="963591" name="Line 7"/>
          <p:cNvSpPr>
            <a:spLocks noChangeShapeType="1"/>
          </p:cNvSpPr>
          <p:nvPr/>
        </p:nvSpPr>
        <p:spPr bwMode="auto">
          <a:xfrm>
            <a:off x="1581150" y="3576638"/>
            <a:ext cx="1588" cy="15875"/>
          </a:xfrm>
          <a:prstGeom prst="line">
            <a:avLst/>
          </a:prstGeom>
          <a:noFill/>
          <a:ln w="0">
            <a:solidFill>
              <a:srgbClr val="000000"/>
            </a:solidFill>
            <a:round/>
            <a:headEnd/>
            <a:tailEnd/>
          </a:ln>
        </p:spPr>
        <p:txBody>
          <a:bodyPr/>
          <a:lstStyle/>
          <a:p>
            <a:endParaRPr lang="en-US"/>
          </a:p>
        </p:txBody>
      </p:sp>
      <p:sp>
        <p:nvSpPr>
          <p:cNvPr id="963592" name="Line 8"/>
          <p:cNvSpPr>
            <a:spLocks noChangeShapeType="1"/>
          </p:cNvSpPr>
          <p:nvPr/>
        </p:nvSpPr>
        <p:spPr bwMode="auto">
          <a:xfrm>
            <a:off x="1581150" y="3497263"/>
            <a:ext cx="1588" cy="15875"/>
          </a:xfrm>
          <a:prstGeom prst="line">
            <a:avLst/>
          </a:prstGeom>
          <a:noFill/>
          <a:ln w="0">
            <a:solidFill>
              <a:srgbClr val="000000"/>
            </a:solidFill>
            <a:round/>
            <a:headEnd/>
            <a:tailEnd/>
          </a:ln>
        </p:spPr>
        <p:txBody>
          <a:bodyPr/>
          <a:lstStyle/>
          <a:p>
            <a:endParaRPr lang="en-US"/>
          </a:p>
        </p:txBody>
      </p:sp>
      <p:sp>
        <p:nvSpPr>
          <p:cNvPr id="963593" name="Line 9"/>
          <p:cNvSpPr>
            <a:spLocks noChangeShapeType="1"/>
          </p:cNvSpPr>
          <p:nvPr/>
        </p:nvSpPr>
        <p:spPr bwMode="auto">
          <a:xfrm>
            <a:off x="1627188" y="3560763"/>
            <a:ext cx="79375" cy="1587"/>
          </a:xfrm>
          <a:prstGeom prst="line">
            <a:avLst/>
          </a:prstGeom>
          <a:noFill/>
          <a:ln w="0">
            <a:solidFill>
              <a:srgbClr val="000000"/>
            </a:solidFill>
            <a:round/>
            <a:headEnd/>
            <a:tailEnd/>
          </a:ln>
        </p:spPr>
        <p:txBody>
          <a:bodyPr/>
          <a:lstStyle/>
          <a:p>
            <a:endParaRPr lang="en-US"/>
          </a:p>
        </p:txBody>
      </p:sp>
      <p:sp>
        <p:nvSpPr>
          <p:cNvPr id="963594" name="Line 10"/>
          <p:cNvSpPr>
            <a:spLocks noChangeShapeType="1"/>
          </p:cNvSpPr>
          <p:nvPr/>
        </p:nvSpPr>
        <p:spPr bwMode="auto">
          <a:xfrm>
            <a:off x="1627188" y="3513138"/>
            <a:ext cx="79375" cy="1587"/>
          </a:xfrm>
          <a:prstGeom prst="line">
            <a:avLst/>
          </a:prstGeom>
          <a:noFill/>
          <a:ln w="0">
            <a:solidFill>
              <a:srgbClr val="000000"/>
            </a:solidFill>
            <a:round/>
            <a:headEnd/>
            <a:tailEnd/>
          </a:ln>
        </p:spPr>
        <p:txBody>
          <a:bodyPr/>
          <a:lstStyle/>
          <a:p>
            <a:endParaRPr lang="en-US"/>
          </a:p>
        </p:txBody>
      </p:sp>
      <p:sp>
        <p:nvSpPr>
          <p:cNvPr id="963595" name="Rectangle 11"/>
          <p:cNvSpPr>
            <a:spLocks noChangeArrowheads="1"/>
          </p:cNvSpPr>
          <p:nvPr/>
        </p:nvSpPr>
        <p:spPr bwMode="auto">
          <a:xfrm>
            <a:off x="1154113" y="3419475"/>
            <a:ext cx="349250" cy="244475"/>
          </a:xfrm>
          <a:prstGeom prst="rect">
            <a:avLst/>
          </a:prstGeom>
          <a:noFill/>
          <a:ln w="9525">
            <a:noFill/>
            <a:miter lim="800000"/>
            <a:headEnd/>
            <a:tailEnd/>
          </a:ln>
        </p:spPr>
        <p:txBody>
          <a:bodyPr wrap="none" lIns="0" tIns="0" rIns="0" bIns="0">
            <a:spAutoFit/>
          </a:bodyPr>
          <a:lstStyle/>
          <a:p>
            <a:r>
              <a:rPr lang="en-US" sz="1600">
                <a:solidFill>
                  <a:srgbClr val="000000"/>
                </a:solidFill>
              </a:rPr>
              <a:t>FTF</a:t>
            </a:r>
            <a:endParaRPr lang="en-US" sz="1800">
              <a:latin typeface="Avenir 35" pitchFamily="2" charset="0"/>
            </a:endParaRPr>
          </a:p>
        </p:txBody>
      </p:sp>
      <p:sp>
        <p:nvSpPr>
          <p:cNvPr id="963596" name="Rectangle 12"/>
          <p:cNvSpPr>
            <a:spLocks noChangeArrowheads="1"/>
          </p:cNvSpPr>
          <p:nvPr/>
        </p:nvSpPr>
        <p:spPr bwMode="auto">
          <a:xfrm>
            <a:off x="3159125" y="3371850"/>
            <a:ext cx="50800" cy="244475"/>
          </a:xfrm>
          <a:prstGeom prst="rect">
            <a:avLst/>
          </a:prstGeom>
          <a:noFill/>
          <a:ln w="9525">
            <a:noFill/>
            <a:miter lim="800000"/>
            <a:headEnd/>
            <a:tailEnd/>
          </a:ln>
        </p:spPr>
        <p:txBody>
          <a:bodyPr wrap="none" lIns="0" tIns="0" rIns="0" bIns="0">
            <a:spAutoFit/>
          </a:bodyPr>
          <a:lstStyle/>
          <a:p>
            <a:r>
              <a:rPr lang="en-US" sz="1600">
                <a:solidFill>
                  <a:srgbClr val="000000"/>
                </a:solidFill>
              </a:rPr>
              <a:t>.</a:t>
            </a:r>
            <a:endParaRPr lang="en-US" sz="1800">
              <a:latin typeface="Avenir 35" pitchFamily="2" charset="0"/>
            </a:endParaRPr>
          </a:p>
        </p:txBody>
      </p:sp>
      <p:sp>
        <p:nvSpPr>
          <p:cNvPr id="963597" name="Rectangle 13"/>
          <p:cNvSpPr>
            <a:spLocks noChangeArrowheads="1"/>
          </p:cNvSpPr>
          <p:nvPr/>
        </p:nvSpPr>
        <p:spPr bwMode="auto">
          <a:xfrm>
            <a:off x="1881188" y="3371850"/>
            <a:ext cx="50800" cy="244475"/>
          </a:xfrm>
          <a:prstGeom prst="rect">
            <a:avLst/>
          </a:prstGeom>
          <a:noFill/>
          <a:ln w="9525">
            <a:noFill/>
            <a:miter lim="800000"/>
            <a:headEnd/>
            <a:tailEnd/>
          </a:ln>
        </p:spPr>
        <p:txBody>
          <a:bodyPr wrap="none" lIns="0" tIns="0" rIns="0" bIns="0">
            <a:spAutoFit/>
          </a:bodyPr>
          <a:lstStyle/>
          <a:p>
            <a:r>
              <a:rPr lang="en-US" sz="1600">
                <a:solidFill>
                  <a:srgbClr val="000000"/>
                </a:solidFill>
              </a:rPr>
              <a:t>.</a:t>
            </a:r>
            <a:endParaRPr lang="en-US" sz="1800">
              <a:latin typeface="Avenir 35" pitchFamily="2" charset="0"/>
            </a:endParaRPr>
          </a:p>
        </p:txBody>
      </p:sp>
      <p:sp>
        <p:nvSpPr>
          <p:cNvPr id="963598" name="Line 14"/>
          <p:cNvSpPr>
            <a:spLocks noChangeShapeType="1"/>
          </p:cNvSpPr>
          <p:nvPr/>
        </p:nvSpPr>
        <p:spPr bwMode="auto">
          <a:xfrm>
            <a:off x="1754188" y="3560763"/>
            <a:ext cx="111125" cy="1587"/>
          </a:xfrm>
          <a:prstGeom prst="line">
            <a:avLst/>
          </a:prstGeom>
          <a:noFill/>
          <a:ln w="0">
            <a:solidFill>
              <a:srgbClr val="000000"/>
            </a:solidFill>
            <a:round/>
            <a:headEnd/>
            <a:tailEnd/>
          </a:ln>
        </p:spPr>
        <p:txBody>
          <a:bodyPr/>
          <a:lstStyle/>
          <a:p>
            <a:endParaRPr lang="en-US"/>
          </a:p>
        </p:txBody>
      </p:sp>
      <p:sp>
        <p:nvSpPr>
          <p:cNvPr id="963599" name="Rectangle 15"/>
          <p:cNvSpPr>
            <a:spLocks noChangeArrowheads="1"/>
          </p:cNvSpPr>
          <p:nvPr/>
        </p:nvSpPr>
        <p:spPr bwMode="auto">
          <a:xfrm>
            <a:off x="1770063" y="3292475"/>
            <a:ext cx="101600" cy="244475"/>
          </a:xfrm>
          <a:prstGeom prst="rect">
            <a:avLst/>
          </a:prstGeom>
          <a:noFill/>
          <a:ln w="9525">
            <a:noFill/>
            <a:miter lim="800000"/>
            <a:headEnd/>
            <a:tailEnd/>
          </a:ln>
        </p:spPr>
        <p:txBody>
          <a:bodyPr wrap="none" lIns="0" tIns="0" rIns="0" bIns="0">
            <a:spAutoFit/>
          </a:bodyPr>
          <a:lstStyle/>
          <a:p>
            <a:r>
              <a:rPr lang="en-US" sz="1600">
                <a:solidFill>
                  <a:srgbClr val="000000"/>
                </a:solidFill>
              </a:rPr>
              <a:t>1</a:t>
            </a:r>
            <a:endParaRPr lang="en-US" sz="1800">
              <a:latin typeface="Avenir 35" pitchFamily="2" charset="0"/>
            </a:endParaRPr>
          </a:p>
        </p:txBody>
      </p:sp>
      <p:sp>
        <p:nvSpPr>
          <p:cNvPr id="963600" name="Rectangle 16"/>
          <p:cNvSpPr>
            <a:spLocks noChangeArrowheads="1"/>
          </p:cNvSpPr>
          <p:nvPr/>
        </p:nvSpPr>
        <p:spPr bwMode="auto">
          <a:xfrm>
            <a:off x="1770063" y="3608388"/>
            <a:ext cx="101600" cy="244475"/>
          </a:xfrm>
          <a:prstGeom prst="rect">
            <a:avLst/>
          </a:prstGeom>
          <a:noFill/>
          <a:ln w="9525">
            <a:noFill/>
            <a:miter lim="800000"/>
            <a:headEnd/>
            <a:tailEnd/>
          </a:ln>
        </p:spPr>
        <p:txBody>
          <a:bodyPr wrap="none" lIns="0" tIns="0" rIns="0" bIns="0">
            <a:spAutoFit/>
          </a:bodyPr>
          <a:lstStyle/>
          <a:p>
            <a:r>
              <a:rPr lang="en-US" sz="1600">
                <a:solidFill>
                  <a:srgbClr val="000000"/>
                </a:solidFill>
              </a:rPr>
              <a:t>2</a:t>
            </a:r>
            <a:endParaRPr lang="en-US" sz="1800">
              <a:latin typeface="Avenir 35" pitchFamily="2" charset="0"/>
            </a:endParaRPr>
          </a:p>
        </p:txBody>
      </p:sp>
      <p:sp>
        <p:nvSpPr>
          <p:cNvPr id="963601" name="Arc 17"/>
          <p:cNvSpPr>
            <a:spLocks/>
          </p:cNvSpPr>
          <p:nvPr/>
        </p:nvSpPr>
        <p:spPr bwMode="auto">
          <a:xfrm>
            <a:off x="1974850" y="3167063"/>
            <a:ext cx="822325" cy="803275"/>
          </a:xfrm>
          <a:custGeom>
            <a:avLst/>
            <a:gdLst>
              <a:gd name="G0" fmla="+- 21600 0 0"/>
              <a:gd name="G1" fmla="+- 10476 0 0"/>
              <a:gd name="G2" fmla="+- 21600 0 0"/>
              <a:gd name="T0" fmla="*/ 2711 w 21600"/>
              <a:gd name="T1" fmla="*/ 20952 h 20952"/>
              <a:gd name="T2" fmla="*/ 2711 w 21600"/>
              <a:gd name="T3" fmla="*/ 0 h 20952"/>
              <a:gd name="T4" fmla="*/ 21600 w 21600"/>
              <a:gd name="T5" fmla="*/ 10476 h 20952"/>
            </a:gdLst>
            <a:ahLst/>
            <a:cxnLst>
              <a:cxn ang="0">
                <a:pos x="T0" y="T1"/>
              </a:cxn>
              <a:cxn ang="0">
                <a:pos x="T2" y="T3"/>
              </a:cxn>
              <a:cxn ang="0">
                <a:pos x="T4" y="T5"/>
              </a:cxn>
            </a:cxnLst>
            <a:rect l="0" t="0" r="r" b="b"/>
            <a:pathLst>
              <a:path w="21600" h="20952" fill="none" extrusionOk="0">
                <a:moveTo>
                  <a:pt x="2710" y="20952"/>
                </a:moveTo>
                <a:cubicBezTo>
                  <a:pt x="932" y="17746"/>
                  <a:pt x="0" y="14141"/>
                  <a:pt x="0" y="10476"/>
                </a:cubicBezTo>
                <a:cubicBezTo>
                  <a:pt x="-1" y="6810"/>
                  <a:pt x="932" y="3205"/>
                  <a:pt x="2710" y="-1"/>
                </a:cubicBezTo>
              </a:path>
              <a:path w="21600" h="20952" stroke="0" extrusionOk="0">
                <a:moveTo>
                  <a:pt x="2710" y="20952"/>
                </a:moveTo>
                <a:cubicBezTo>
                  <a:pt x="932" y="17746"/>
                  <a:pt x="0" y="14141"/>
                  <a:pt x="0" y="10476"/>
                </a:cubicBezTo>
                <a:cubicBezTo>
                  <a:pt x="-1" y="6810"/>
                  <a:pt x="932" y="3205"/>
                  <a:pt x="2710" y="-1"/>
                </a:cubicBezTo>
                <a:lnTo>
                  <a:pt x="21600" y="10476"/>
                </a:lnTo>
                <a:close/>
              </a:path>
            </a:pathLst>
          </a:custGeom>
          <a:noFill/>
          <a:ln w="0">
            <a:solidFill>
              <a:srgbClr val="000000"/>
            </a:solidFill>
            <a:round/>
            <a:headEnd/>
            <a:tailEnd/>
          </a:ln>
        </p:spPr>
        <p:txBody>
          <a:bodyPr/>
          <a:lstStyle/>
          <a:p>
            <a:endParaRPr lang="en-US"/>
          </a:p>
        </p:txBody>
      </p:sp>
      <p:sp>
        <p:nvSpPr>
          <p:cNvPr id="963602" name="Arc 18"/>
          <p:cNvSpPr>
            <a:spLocks/>
          </p:cNvSpPr>
          <p:nvPr/>
        </p:nvSpPr>
        <p:spPr bwMode="auto">
          <a:xfrm>
            <a:off x="2306638" y="3167063"/>
            <a:ext cx="820737" cy="803275"/>
          </a:xfrm>
          <a:custGeom>
            <a:avLst/>
            <a:gdLst>
              <a:gd name="G0" fmla="+- 0 0 0"/>
              <a:gd name="G1" fmla="+- 10468 0 0"/>
              <a:gd name="G2" fmla="+- 21600 0 0"/>
              <a:gd name="T0" fmla="*/ 18894 w 21600"/>
              <a:gd name="T1" fmla="*/ 0 h 20936"/>
              <a:gd name="T2" fmla="*/ 18894 w 21600"/>
              <a:gd name="T3" fmla="*/ 20936 h 20936"/>
              <a:gd name="T4" fmla="*/ 0 w 21600"/>
              <a:gd name="T5" fmla="*/ 10468 h 20936"/>
            </a:gdLst>
            <a:ahLst/>
            <a:cxnLst>
              <a:cxn ang="0">
                <a:pos x="T0" y="T1"/>
              </a:cxn>
              <a:cxn ang="0">
                <a:pos x="T2" y="T3"/>
              </a:cxn>
              <a:cxn ang="0">
                <a:pos x="T4" y="T5"/>
              </a:cxn>
            </a:cxnLst>
            <a:rect l="0" t="0" r="r" b="b"/>
            <a:pathLst>
              <a:path w="21600" h="20936" fill="none" extrusionOk="0">
                <a:moveTo>
                  <a:pt x="18893" y="0"/>
                </a:moveTo>
                <a:cubicBezTo>
                  <a:pt x="20668" y="3203"/>
                  <a:pt x="21600" y="6805"/>
                  <a:pt x="21600" y="10468"/>
                </a:cubicBezTo>
                <a:cubicBezTo>
                  <a:pt x="21600" y="14130"/>
                  <a:pt x="20668" y="17732"/>
                  <a:pt x="18893" y="20935"/>
                </a:cubicBezTo>
              </a:path>
              <a:path w="21600" h="20936" stroke="0" extrusionOk="0">
                <a:moveTo>
                  <a:pt x="18893" y="0"/>
                </a:moveTo>
                <a:cubicBezTo>
                  <a:pt x="20668" y="3203"/>
                  <a:pt x="21600" y="6805"/>
                  <a:pt x="21600" y="10468"/>
                </a:cubicBezTo>
                <a:cubicBezTo>
                  <a:pt x="21600" y="14130"/>
                  <a:pt x="20668" y="17732"/>
                  <a:pt x="18893" y="20935"/>
                </a:cubicBezTo>
                <a:lnTo>
                  <a:pt x="0" y="10468"/>
                </a:lnTo>
                <a:close/>
              </a:path>
            </a:pathLst>
          </a:custGeom>
          <a:noFill/>
          <a:ln w="0">
            <a:solidFill>
              <a:srgbClr val="000000"/>
            </a:solidFill>
            <a:round/>
            <a:headEnd/>
            <a:tailEnd/>
          </a:ln>
        </p:spPr>
        <p:txBody>
          <a:bodyPr/>
          <a:lstStyle/>
          <a:p>
            <a:endParaRPr lang="en-US"/>
          </a:p>
        </p:txBody>
      </p:sp>
      <p:sp>
        <p:nvSpPr>
          <p:cNvPr id="963603" name="Line 19"/>
          <p:cNvSpPr>
            <a:spLocks noChangeShapeType="1"/>
          </p:cNvSpPr>
          <p:nvPr/>
        </p:nvSpPr>
        <p:spPr bwMode="auto">
          <a:xfrm>
            <a:off x="2181225" y="3560763"/>
            <a:ext cx="93663" cy="1587"/>
          </a:xfrm>
          <a:prstGeom prst="line">
            <a:avLst/>
          </a:prstGeom>
          <a:noFill/>
          <a:ln w="0">
            <a:solidFill>
              <a:srgbClr val="000000"/>
            </a:solidFill>
            <a:round/>
            <a:headEnd/>
            <a:tailEnd/>
          </a:ln>
        </p:spPr>
        <p:txBody>
          <a:bodyPr/>
          <a:lstStyle/>
          <a:p>
            <a:endParaRPr lang="en-US"/>
          </a:p>
        </p:txBody>
      </p:sp>
      <p:sp>
        <p:nvSpPr>
          <p:cNvPr id="963604" name="Rectangle 20"/>
          <p:cNvSpPr>
            <a:spLocks noChangeArrowheads="1"/>
          </p:cNvSpPr>
          <p:nvPr/>
        </p:nvSpPr>
        <p:spPr bwMode="auto">
          <a:xfrm>
            <a:off x="2038350" y="3419475"/>
            <a:ext cx="101600" cy="244475"/>
          </a:xfrm>
          <a:prstGeom prst="rect">
            <a:avLst/>
          </a:prstGeom>
          <a:noFill/>
          <a:ln w="9525">
            <a:noFill/>
            <a:miter lim="800000"/>
            <a:headEnd/>
            <a:tailEnd/>
          </a:ln>
        </p:spPr>
        <p:txBody>
          <a:bodyPr wrap="none" lIns="0" tIns="0" rIns="0" bIns="0">
            <a:spAutoFit/>
          </a:bodyPr>
          <a:lstStyle/>
          <a:p>
            <a:r>
              <a:rPr lang="en-US" sz="1600">
                <a:solidFill>
                  <a:srgbClr val="000000"/>
                </a:solidFill>
              </a:rPr>
              <a:t>1</a:t>
            </a:r>
            <a:endParaRPr lang="en-US" sz="1800">
              <a:latin typeface="Avenir 35" pitchFamily="2" charset="0"/>
            </a:endParaRPr>
          </a:p>
        </p:txBody>
      </p:sp>
      <p:sp>
        <p:nvSpPr>
          <p:cNvPr id="963605" name="Rectangle 21"/>
          <p:cNvSpPr>
            <a:spLocks noChangeArrowheads="1"/>
          </p:cNvSpPr>
          <p:nvPr/>
        </p:nvSpPr>
        <p:spPr bwMode="auto">
          <a:xfrm>
            <a:off x="2527300" y="3371850"/>
            <a:ext cx="50800" cy="244475"/>
          </a:xfrm>
          <a:prstGeom prst="rect">
            <a:avLst/>
          </a:prstGeom>
          <a:noFill/>
          <a:ln w="9525">
            <a:noFill/>
            <a:miter lim="800000"/>
            <a:headEnd/>
            <a:tailEnd/>
          </a:ln>
        </p:spPr>
        <p:txBody>
          <a:bodyPr wrap="none" lIns="0" tIns="0" rIns="0" bIns="0">
            <a:spAutoFit/>
          </a:bodyPr>
          <a:lstStyle/>
          <a:p>
            <a:r>
              <a:rPr lang="en-US" sz="1600">
                <a:solidFill>
                  <a:srgbClr val="000000"/>
                </a:solidFill>
              </a:rPr>
              <a:t>.</a:t>
            </a:r>
            <a:endParaRPr lang="en-US" sz="1800">
              <a:latin typeface="Avenir 35" pitchFamily="2" charset="0"/>
            </a:endParaRPr>
          </a:p>
        </p:txBody>
      </p:sp>
      <p:sp>
        <p:nvSpPr>
          <p:cNvPr id="963606" name="Line 22"/>
          <p:cNvSpPr>
            <a:spLocks noChangeShapeType="1"/>
          </p:cNvSpPr>
          <p:nvPr/>
        </p:nvSpPr>
        <p:spPr bwMode="auto">
          <a:xfrm>
            <a:off x="2354263" y="3560763"/>
            <a:ext cx="157162" cy="1587"/>
          </a:xfrm>
          <a:prstGeom prst="line">
            <a:avLst/>
          </a:prstGeom>
          <a:noFill/>
          <a:ln w="0">
            <a:solidFill>
              <a:srgbClr val="000000"/>
            </a:solidFill>
            <a:round/>
            <a:headEnd/>
            <a:tailEnd/>
          </a:ln>
        </p:spPr>
        <p:txBody>
          <a:bodyPr/>
          <a:lstStyle/>
          <a:p>
            <a:endParaRPr lang="en-US"/>
          </a:p>
        </p:txBody>
      </p:sp>
      <p:sp>
        <p:nvSpPr>
          <p:cNvPr id="963607" name="Rectangle 23"/>
          <p:cNvSpPr>
            <a:spLocks noChangeArrowheads="1"/>
          </p:cNvSpPr>
          <p:nvPr/>
        </p:nvSpPr>
        <p:spPr bwMode="auto">
          <a:xfrm>
            <a:off x="2386013" y="3292475"/>
            <a:ext cx="101600" cy="244475"/>
          </a:xfrm>
          <a:prstGeom prst="rect">
            <a:avLst/>
          </a:prstGeom>
          <a:noFill/>
          <a:ln w="9525">
            <a:noFill/>
            <a:miter lim="800000"/>
            <a:headEnd/>
            <a:tailEnd/>
          </a:ln>
        </p:spPr>
        <p:txBody>
          <a:bodyPr wrap="none" lIns="0" tIns="0" rIns="0" bIns="0">
            <a:spAutoFit/>
          </a:bodyPr>
          <a:lstStyle/>
          <a:p>
            <a:r>
              <a:rPr lang="en-US" sz="1600">
                <a:solidFill>
                  <a:srgbClr val="000000"/>
                </a:solidFill>
              </a:rPr>
              <a:t>d</a:t>
            </a:r>
            <a:endParaRPr lang="en-US" sz="1800">
              <a:latin typeface="Avenir 35" pitchFamily="2" charset="0"/>
            </a:endParaRPr>
          </a:p>
        </p:txBody>
      </p:sp>
      <p:sp>
        <p:nvSpPr>
          <p:cNvPr id="963608" name="Rectangle 24"/>
          <p:cNvSpPr>
            <a:spLocks noChangeArrowheads="1"/>
          </p:cNvSpPr>
          <p:nvPr/>
        </p:nvSpPr>
        <p:spPr bwMode="auto">
          <a:xfrm>
            <a:off x="2370138" y="3608388"/>
            <a:ext cx="146050" cy="244475"/>
          </a:xfrm>
          <a:prstGeom prst="rect">
            <a:avLst/>
          </a:prstGeom>
          <a:noFill/>
          <a:ln w="9525">
            <a:noFill/>
            <a:miter lim="800000"/>
            <a:headEnd/>
            <a:tailEnd/>
          </a:ln>
        </p:spPr>
        <p:txBody>
          <a:bodyPr wrap="none" lIns="0" tIns="0" rIns="0" bIns="0">
            <a:spAutoFit/>
          </a:bodyPr>
          <a:lstStyle/>
          <a:p>
            <a:r>
              <a:rPr lang="en-US" sz="1600">
                <a:solidFill>
                  <a:srgbClr val="000000"/>
                </a:solidFill>
              </a:rPr>
              <a:t>D</a:t>
            </a:r>
            <a:endParaRPr lang="en-US" sz="1800">
              <a:latin typeface="Avenir 35" pitchFamily="2" charset="0"/>
            </a:endParaRPr>
          </a:p>
        </p:txBody>
      </p:sp>
      <p:sp>
        <p:nvSpPr>
          <p:cNvPr id="963609" name="Rectangle 25"/>
          <p:cNvSpPr>
            <a:spLocks noChangeArrowheads="1"/>
          </p:cNvSpPr>
          <p:nvPr/>
        </p:nvSpPr>
        <p:spPr bwMode="auto">
          <a:xfrm>
            <a:off x="2590800" y="3419475"/>
            <a:ext cx="271463" cy="244475"/>
          </a:xfrm>
          <a:prstGeom prst="rect">
            <a:avLst/>
          </a:prstGeom>
          <a:noFill/>
          <a:ln w="9525">
            <a:noFill/>
            <a:miter lim="800000"/>
            <a:headEnd/>
            <a:tailEnd/>
          </a:ln>
        </p:spPr>
        <p:txBody>
          <a:bodyPr wrap="none" lIns="0" tIns="0" rIns="0" bIns="0">
            <a:spAutoFit/>
          </a:bodyPr>
          <a:lstStyle/>
          <a:p>
            <a:r>
              <a:rPr lang="en-US" sz="1600">
                <a:solidFill>
                  <a:srgbClr val="000000"/>
                </a:solidFill>
              </a:rPr>
              <a:t>cos</a:t>
            </a:r>
            <a:endParaRPr lang="en-US" sz="1800">
              <a:latin typeface="Avenir 35" pitchFamily="2" charset="0"/>
            </a:endParaRPr>
          </a:p>
        </p:txBody>
      </p:sp>
      <p:sp>
        <p:nvSpPr>
          <p:cNvPr id="963610" name="Rectangle 26"/>
          <p:cNvSpPr>
            <a:spLocks noChangeArrowheads="1"/>
          </p:cNvSpPr>
          <p:nvPr/>
        </p:nvSpPr>
        <p:spPr bwMode="auto">
          <a:xfrm>
            <a:off x="2890838" y="3403600"/>
            <a:ext cx="155575" cy="244475"/>
          </a:xfrm>
          <a:prstGeom prst="rect">
            <a:avLst/>
          </a:prstGeom>
          <a:noFill/>
          <a:ln w="9525">
            <a:noFill/>
            <a:miter lim="800000"/>
            <a:headEnd/>
            <a:tailEnd/>
          </a:ln>
        </p:spPr>
        <p:txBody>
          <a:bodyPr wrap="none" lIns="0" tIns="0" rIns="0" bIns="0">
            <a:spAutoFit/>
          </a:bodyPr>
          <a:lstStyle/>
          <a:p>
            <a:r>
              <a:rPr lang="en-US" sz="1600">
                <a:solidFill>
                  <a:srgbClr val="000000"/>
                </a:solidFill>
                <a:latin typeface="Symbol" pitchFamily="18" charset="2"/>
              </a:rPr>
              <a:t>F</a:t>
            </a:r>
            <a:endParaRPr lang="en-US" sz="1800">
              <a:latin typeface="Avenir 35" pitchFamily="2" charset="0"/>
            </a:endParaRPr>
          </a:p>
        </p:txBody>
      </p:sp>
      <p:sp>
        <p:nvSpPr>
          <p:cNvPr id="963611" name="Rectangle 27"/>
          <p:cNvSpPr>
            <a:spLocks noChangeArrowheads="1"/>
          </p:cNvSpPr>
          <p:nvPr/>
        </p:nvSpPr>
        <p:spPr bwMode="auto">
          <a:xfrm>
            <a:off x="3222625" y="3419475"/>
            <a:ext cx="428625" cy="244475"/>
          </a:xfrm>
          <a:prstGeom prst="rect">
            <a:avLst/>
          </a:prstGeom>
          <a:noFill/>
          <a:ln w="9525">
            <a:noFill/>
            <a:miter lim="800000"/>
            <a:headEnd/>
            <a:tailEnd/>
          </a:ln>
        </p:spPr>
        <p:txBody>
          <a:bodyPr wrap="none" lIns="0" tIns="0" rIns="0" bIns="0">
            <a:spAutoFit/>
          </a:bodyPr>
          <a:lstStyle/>
          <a:p>
            <a:r>
              <a:rPr lang="en-US" sz="1600">
                <a:solidFill>
                  <a:srgbClr val="000000"/>
                </a:solidFill>
              </a:rPr>
              <a:t>RPM</a:t>
            </a:r>
            <a:endParaRPr lang="en-US" sz="1800">
              <a:latin typeface="Avenir 35" pitchFamily="2" charset="0"/>
            </a:endParaRPr>
          </a:p>
        </p:txBody>
      </p:sp>
      <p:sp>
        <p:nvSpPr>
          <p:cNvPr id="963612" name="Line 28"/>
          <p:cNvSpPr>
            <a:spLocks noChangeShapeType="1"/>
          </p:cNvSpPr>
          <p:nvPr/>
        </p:nvSpPr>
        <p:spPr bwMode="auto">
          <a:xfrm>
            <a:off x="1581150" y="4333875"/>
            <a:ext cx="1588" cy="15875"/>
          </a:xfrm>
          <a:prstGeom prst="line">
            <a:avLst/>
          </a:prstGeom>
          <a:noFill/>
          <a:ln w="0">
            <a:solidFill>
              <a:srgbClr val="000000"/>
            </a:solidFill>
            <a:round/>
            <a:headEnd/>
            <a:tailEnd/>
          </a:ln>
        </p:spPr>
        <p:txBody>
          <a:bodyPr/>
          <a:lstStyle/>
          <a:p>
            <a:endParaRPr lang="en-US"/>
          </a:p>
        </p:txBody>
      </p:sp>
      <p:sp>
        <p:nvSpPr>
          <p:cNvPr id="963613" name="Line 29"/>
          <p:cNvSpPr>
            <a:spLocks noChangeShapeType="1"/>
          </p:cNvSpPr>
          <p:nvPr/>
        </p:nvSpPr>
        <p:spPr bwMode="auto">
          <a:xfrm>
            <a:off x="1581150" y="4254500"/>
            <a:ext cx="1588" cy="15875"/>
          </a:xfrm>
          <a:prstGeom prst="line">
            <a:avLst/>
          </a:prstGeom>
          <a:noFill/>
          <a:ln w="0">
            <a:solidFill>
              <a:srgbClr val="000000"/>
            </a:solidFill>
            <a:round/>
            <a:headEnd/>
            <a:tailEnd/>
          </a:ln>
        </p:spPr>
        <p:txBody>
          <a:bodyPr/>
          <a:lstStyle/>
          <a:p>
            <a:endParaRPr lang="en-US"/>
          </a:p>
        </p:txBody>
      </p:sp>
      <p:sp>
        <p:nvSpPr>
          <p:cNvPr id="963614" name="Line 30"/>
          <p:cNvSpPr>
            <a:spLocks noChangeShapeType="1"/>
          </p:cNvSpPr>
          <p:nvPr/>
        </p:nvSpPr>
        <p:spPr bwMode="auto">
          <a:xfrm>
            <a:off x="1627188" y="4318000"/>
            <a:ext cx="79375" cy="1588"/>
          </a:xfrm>
          <a:prstGeom prst="line">
            <a:avLst/>
          </a:prstGeom>
          <a:noFill/>
          <a:ln w="0">
            <a:solidFill>
              <a:srgbClr val="000000"/>
            </a:solidFill>
            <a:round/>
            <a:headEnd/>
            <a:tailEnd/>
          </a:ln>
        </p:spPr>
        <p:txBody>
          <a:bodyPr/>
          <a:lstStyle/>
          <a:p>
            <a:endParaRPr lang="en-US"/>
          </a:p>
        </p:txBody>
      </p:sp>
      <p:sp>
        <p:nvSpPr>
          <p:cNvPr id="963615" name="Line 31"/>
          <p:cNvSpPr>
            <a:spLocks noChangeShapeType="1"/>
          </p:cNvSpPr>
          <p:nvPr/>
        </p:nvSpPr>
        <p:spPr bwMode="auto">
          <a:xfrm>
            <a:off x="1627188" y="4270375"/>
            <a:ext cx="79375" cy="1588"/>
          </a:xfrm>
          <a:prstGeom prst="line">
            <a:avLst/>
          </a:prstGeom>
          <a:noFill/>
          <a:ln w="0">
            <a:solidFill>
              <a:srgbClr val="000000"/>
            </a:solidFill>
            <a:round/>
            <a:headEnd/>
            <a:tailEnd/>
          </a:ln>
        </p:spPr>
        <p:txBody>
          <a:bodyPr/>
          <a:lstStyle/>
          <a:p>
            <a:endParaRPr lang="en-US"/>
          </a:p>
        </p:txBody>
      </p:sp>
      <p:sp>
        <p:nvSpPr>
          <p:cNvPr id="963616" name="Rectangle 32"/>
          <p:cNvSpPr>
            <a:spLocks noChangeArrowheads="1"/>
          </p:cNvSpPr>
          <p:nvPr/>
        </p:nvSpPr>
        <p:spPr bwMode="auto">
          <a:xfrm>
            <a:off x="1154113" y="4176713"/>
            <a:ext cx="360362" cy="244475"/>
          </a:xfrm>
          <a:prstGeom prst="rect">
            <a:avLst/>
          </a:prstGeom>
          <a:noFill/>
          <a:ln w="9525">
            <a:noFill/>
            <a:miter lim="800000"/>
            <a:headEnd/>
            <a:tailEnd/>
          </a:ln>
        </p:spPr>
        <p:txBody>
          <a:bodyPr wrap="none" lIns="0" tIns="0" rIns="0" bIns="0">
            <a:spAutoFit/>
          </a:bodyPr>
          <a:lstStyle/>
          <a:p>
            <a:r>
              <a:rPr lang="en-US" sz="1600">
                <a:solidFill>
                  <a:srgbClr val="000000"/>
                </a:solidFill>
              </a:rPr>
              <a:t>BSF</a:t>
            </a:r>
            <a:endParaRPr lang="en-US" sz="1800">
              <a:latin typeface="Avenir 35" pitchFamily="2" charset="0"/>
            </a:endParaRPr>
          </a:p>
        </p:txBody>
      </p:sp>
      <p:sp>
        <p:nvSpPr>
          <p:cNvPr id="963617" name="Rectangle 33"/>
          <p:cNvSpPr>
            <a:spLocks noChangeArrowheads="1"/>
          </p:cNvSpPr>
          <p:nvPr/>
        </p:nvSpPr>
        <p:spPr bwMode="auto">
          <a:xfrm>
            <a:off x="3790950" y="4129088"/>
            <a:ext cx="50800" cy="244475"/>
          </a:xfrm>
          <a:prstGeom prst="rect">
            <a:avLst/>
          </a:prstGeom>
          <a:noFill/>
          <a:ln w="9525">
            <a:noFill/>
            <a:miter lim="800000"/>
            <a:headEnd/>
            <a:tailEnd/>
          </a:ln>
        </p:spPr>
        <p:txBody>
          <a:bodyPr wrap="none" lIns="0" tIns="0" rIns="0" bIns="0">
            <a:spAutoFit/>
          </a:bodyPr>
          <a:lstStyle/>
          <a:p>
            <a:r>
              <a:rPr lang="en-US" sz="1600">
                <a:solidFill>
                  <a:srgbClr val="000000"/>
                </a:solidFill>
              </a:rPr>
              <a:t>.</a:t>
            </a:r>
            <a:endParaRPr lang="en-US" sz="1800">
              <a:latin typeface="Avenir 35" pitchFamily="2" charset="0"/>
            </a:endParaRPr>
          </a:p>
        </p:txBody>
      </p:sp>
      <p:sp>
        <p:nvSpPr>
          <p:cNvPr id="963618" name="Rectangle 34"/>
          <p:cNvSpPr>
            <a:spLocks noChangeArrowheads="1"/>
          </p:cNvSpPr>
          <p:nvPr/>
        </p:nvSpPr>
        <p:spPr bwMode="auto">
          <a:xfrm>
            <a:off x="2243138" y="4129088"/>
            <a:ext cx="50800" cy="244475"/>
          </a:xfrm>
          <a:prstGeom prst="rect">
            <a:avLst/>
          </a:prstGeom>
          <a:noFill/>
          <a:ln w="9525">
            <a:noFill/>
            <a:miter lim="800000"/>
            <a:headEnd/>
            <a:tailEnd/>
          </a:ln>
        </p:spPr>
        <p:txBody>
          <a:bodyPr wrap="none" lIns="0" tIns="0" rIns="0" bIns="0">
            <a:spAutoFit/>
          </a:bodyPr>
          <a:lstStyle/>
          <a:p>
            <a:r>
              <a:rPr lang="en-US" sz="1600">
                <a:solidFill>
                  <a:srgbClr val="000000"/>
                </a:solidFill>
              </a:rPr>
              <a:t>.</a:t>
            </a:r>
            <a:endParaRPr lang="en-US" sz="1800">
              <a:latin typeface="Avenir 35" pitchFamily="2" charset="0"/>
            </a:endParaRPr>
          </a:p>
        </p:txBody>
      </p:sp>
      <p:sp>
        <p:nvSpPr>
          <p:cNvPr id="963619" name="Arc 35"/>
          <p:cNvSpPr>
            <a:spLocks/>
          </p:cNvSpPr>
          <p:nvPr/>
        </p:nvSpPr>
        <p:spPr bwMode="auto">
          <a:xfrm>
            <a:off x="1785938" y="3924300"/>
            <a:ext cx="820737" cy="804863"/>
          </a:xfrm>
          <a:custGeom>
            <a:avLst/>
            <a:gdLst>
              <a:gd name="G0" fmla="+- 21600 0 0"/>
              <a:gd name="G1" fmla="+- 10485 0 0"/>
              <a:gd name="G2" fmla="+- 21600 0 0"/>
              <a:gd name="T0" fmla="*/ 2715 w 21600"/>
              <a:gd name="T1" fmla="*/ 20970 h 20970"/>
              <a:gd name="T2" fmla="*/ 2715 w 21600"/>
              <a:gd name="T3" fmla="*/ 0 h 20970"/>
              <a:gd name="T4" fmla="*/ 21600 w 21600"/>
              <a:gd name="T5" fmla="*/ 10485 h 20970"/>
            </a:gdLst>
            <a:ahLst/>
            <a:cxnLst>
              <a:cxn ang="0">
                <a:pos x="T0" y="T1"/>
              </a:cxn>
              <a:cxn ang="0">
                <a:pos x="T2" y="T3"/>
              </a:cxn>
              <a:cxn ang="0">
                <a:pos x="T4" y="T5"/>
              </a:cxn>
            </a:cxnLst>
            <a:rect l="0" t="0" r="r" b="b"/>
            <a:pathLst>
              <a:path w="21600" h="20970" fill="none" extrusionOk="0">
                <a:moveTo>
                  <a:pt x="2715" y="20969"/>
                </a:moveTo>
                <a:cubicBezTo>
                  <a:pt x="934" y="17762"/>
                  <a:pt x="0" y="14153"/>
                  <a:pt x="0" y="10485"/>
                </a:cubicBezTo>
                <a:cubicBezTo>
                  <a:pt x="-1" y="6816"/>
                  <a:pt x="934" y="3207"/>
                  <a:pt x="2715" y="0"/>
                </a:cubicBezTo>
              </a:path>
              <a:path w="21600" h="20970" stroke="0" extrusionOk="0">
                <a:moveTo>
                  <a:pt x="2715" y="20969"/>
                </a:moveTo>
                <a:cubicBezTo>
                  <a:pt x="934" y="17762"/>
                  <a:pt x="0" y="14153"/>
                  <a:pt x="0" y="10485"/>
                </a:cubicBezTo>
                <a:cubicBezTo>
                  <a:pt x="-1" y="6816"/>
                  <a:pt x="934" y="3207"/>
                  <a:pt x="2715" y="0"/>
                </a:cubicBezTo>
                <a:lnTo>
                  <a:pt x="21600" y="10485"/>
                </a:lnTo>
                <a:close/>
              </a:path>
            </a:pathLst>
          </a:custGeom>
          <a:noFill/>
          <a:ln w="0">
            <a:solidFill>
              <a:srgbClr val="000000"/>
            </a:solidFill>
            <a:round/>
            <a:headEnd/>
            <a:tailEnd/>
          </a:ln>
        </p:spPr>
        <p:txBody>
          <a:bodyPr/>
          <a:lstStyle/>
          <a:p>
            <a:endParaRPr lang="en-US"/>
          </a:p>
        </p:txBody>
      </p:sp>
      <p:sp>
        <p:nvSpPr>
          <p:cNvPr id="963620" name="Arc 36"/>
          <p:cNvSpPr>
            <a:spLocks/>
          </p:cNvSpPr>
          <p:nvPr/>
        </p:nvSpPr>
        <p:spPr bwMode="auto">
          <a:xfrm>
            <a:off x="1390650" y="3924300"/>
            <a:ext cx="820738" cy="803275"/>
          </a:xfrm>
          <a:custGeom>
            <a:avLst/>
            <a:gdLst>
              <a:gd name="G0" fmla="+- 0 0 0"/>
              <a:gd name="G1" fmla="+- 10468 0 0"/>
              <a:gd name="G2" fmla="+- 21600 0 0"/>
              <a:gd name="T0" fmla="*/ 18894 w 21600"/>
              <a:gd name="T1" fmla="*/ 0 h 20936"/>
              <a:gd name="T2" fmla="*/ 18894 w 21600"/>
              <a:gd name="T3" fmla="*/ 20936 h 20936"/>
              <a:gd name="T4" fmla="*/ 0 w 21600"/>
              <a:gd name="T5" fmla="*/ 10468 h 20936"/>
            </a:gdLst>
            <a:ahLst/>
            <a:cxnLst>
              <a:cxn ang="0">
                <a:pos x="T0" y="T1"/>
              </a:cxn>
              <a:cxn ang="0">
                <a:pos x="T2" y="T3"/>
              </a:cxn>
              <a:cxn ang="0">
                <a:pos x="T4" y="T5"/>
              </a:cxn>
            </a:cxnLst>
            <a:rect l="0" t="0" r="r" b="b"/>
            <a:pathLst>
              <a:path w="21600" h="20936" fill="none" extrusionOk="0">
                <a:moveTo>
                  <a:pt x="18893" y="0"/>
                </a:moveTo>
                <a:cubicBezTo>
                  <a:pt x="20668" y="3203"/>
                  <a:pt x="21600" y="6805"/>
                  <a:pt x="21600" y="10468"/>
                </a:cubicBezTo>
                <a:cubicBezTo>
                  <a:pt x="21600" y="14130"/>
                  <a:pt x="20668" y="17732"/>
                  <a:pt x="18893" y="20935"/>
                </a:cubicBezTo>
              </a:path>
              <a:path w="21600" h="20936" stroke="0" extrusionOk="0">
                <a:moveTo>
                  <a:pt x="18893" y="0"/>
                </a:moveTo>
                <a:cubicBezTo>
                  <a:pt x="20668" y="3203"/>
                  <a:pt x="21600" y="6805"/>
                  <a:pt x="21600" y="10468"/>
                </a:cubicBezTo>
                <a:cubicBezTo>
                  <a:pt x="21600" y="14130"/>
                  <a:pt x="20668" y="17732"/>
                  <a:pt x="18893" y="20935"/>
                </a:cubicBezTo>
                <a:lnTo>
                  <a:pt x="0" y="10468"/>
                </a:lnTo>
                <a:close/>
              </a:path>
            </a:pathLst>
          </a:custGeom>
          <a:noFill/>
          <a:ln w="0">
            <a:solidFill>
              <a:srgbClr val="000000"/>
            </a:solidFill>
            <a:round/>
            <a:headEnd/>
            <a:tailEnd/>
          </a:ln>
        </p:spPr>
        <p:txBody>
          <a:bodyPr/>
          <a:lstStyle/>
          <a:p>
            <a:endParaRPr lang="en-US"/>
          </a:p>
        </p:txBody>
      </p:sp>
      <p:sp>
        <p:nvSpPr>
          <p:cNvPr id="963621" name="Line 37"/>
          <p:cNvSpPr>
            <a:spLocks noChangeShapeType="1"/>
          </p:cNvSpPr>
          <p:nvPr/>
        </p:nvSpPr>
        <p:spPr bwMode="auto">
          <a:xfrm>
            <a:off x="1849438" y="4318000"/>
            <a:ext cx="284162" cy="1588"/>
          </a:xfrm>
          <a:prstGeom prst="line">
            <a:avLst/>
          </a:prstGeom>
          <a:noFill/>
          <a:ln w="0">
            <a:solidFill>
              <a:srgbClr val="000000"/>
            </a:solidFill>
            <a:round/>
            <a:headEnd/>
            <a:tailEnd/>
          </a:ln>
        </p:spPr>
        <p:txBody>
          <a:bodyPr/>
          <a:lstStyle/>
          <a:p>
            <a:endParaRPr lang="en-US"/>
          </a:p>
        </p:txBody>
      </p:sp>
      <p:sp>
        <p:nvSpPr>
          <p:cNvPr id="963622" name="Rectangle 38"/>
          <p:cNvSpPr>
            <a:spLocks noChangeArrowheads="1"/>
          </p:cNvSpPr>
          <p:nvPr/>
        </p:nvSpPr>
        <p:spPr bwMode="auto">
          <a:xfrm>
            <a:off x="1927225" y="4049713"/>
            <a:ext cx="146050" cy="244475"/>
          </a:xfrm>
          <a:prstGeom prst="rect">
            <a:avLst/>
          </a:prstGeom>
          <a:noFill/>
          <a:ln w="9525">
            <a:noFill/>
            <a:miter lim="800000"/>
            <a:headEnd/>
            <a:tailEnd/>
          </a:ln>
        </p:spPr>
        <p:txBody>
          <a:bodyPr wrap="none" lIns="0" tIns="0" rIns="0" bIns="0">
            <a:spAutoFit/>
          </a:bodyPr>
          <a:lstStyle/>
          <a:p>
            <a:r>
              <a:rPr lang="en-US" sz="1600">
                <a:solidFill>
                  <a:srgbClr val="000000"/>
                </a:solidFill>
              </a:rPr>
              <a:t>D</a:t>
            </a:r>
            <a:endParaRPr lang="en-US" sz="1800">
              <a:latin typeface="Avenir 35" pitchFamily="2" charset="0"/>
            </a:endParaRPr>
          </a:p>
        </p:txBody>
      </p:sp>
      <p:sp>
        <p:nvSpPr>
          <p:cNvPr id="963623" name="Rectangle 39"/>
          <p:cNvSpPr>
            <a:spLocks noChangeArrowheads="1"/>
          </p:cNvSpPr>
          <p:nvPr/>
        </p:nvSpPr>
        <p:spPr bwMode="auto">
          <a:xfrm>
            <a:off x="1958975" y="4318000"/>
            <a:ext cx="50800" cy="244475"/>
          </a:xfrm>
          <a:prstGeom prst="rect">
            <a:avLst/>
          </a:prstGeom>
          <a:noFill/>
          <a:ln w="9525">
            <a:noFill/>
            <a:miter lim="800000"/>
            <a:headEnd/>
            <a:tailEnd/>
          </a:ln>
        </p:spPr>
        <p:txBody>
          <a:bodyPr wrap="none" lIns="0" tIns="0" rIns="0" bIns="0">
            <a:spAutoFit/>
          </a:bodyPr>
          <a:lstStyle/>
          <a:p>
            <a:r>
              <a:rPr lang="en-US" sz="1600">
                <a:solidFill>
                  <a:srgbClr val="000000"/>
                </a:solidFill>
              </a:rPr>
              <a:t>.</a:t>
            </a:r>
            <a:endParaRPr lang="en-US" sz="1800">
              <a:latin typeface="Avenir 35" pitchFamily="2" charset="0"/>
            </a:endParaRPr>
          </a:p>
        </p:txBody>
      </p:sp>
      <p:sp>
        <p:nvSpPr>
          <p:cNvPr id="963624" name="Rectangle 40"/>
          <p:cNvSpPr>
            <a:spLocks noChangeArrowheads="1"/>
          </p:cNvSpPr>
          <p:nvPr/>
        </p:nvSpPr>
        <p:spPr bwMode="auto">
          <a:xfrm>
            <a:off x="1865313" y="4365625"/>
            <a:ext cx="101600" cy="244475"/>
          </a:xfrm>
          <a:prstGeom prst="rect">
            <a:avLst/>
          </a:prstGeom>
          <a:noFill/>
          <a:ln w="9525">
            <a:noFill/>
            <a:miter lim="800000"/>
            <a:headEnd/>
            <a:tailEnd/>
          </a:ln>
        </p:spPr>
        <p:txBody>
          <a:bodyPr wrap="none" lIns="0" tIns="0" rIns="0" bIns="0">
            <a:spAutoFit/>
          </a:bodyPr>
          <a:lstStyle/>
          <a:p>
            <a:r>
              <a:rPr lang="en-US" sz="1600">
                <a:solidFill>
                  <a:srgbClr val="000000"/>
                </a:solidFill>
              </a:rPr>
              <a:t>2</a:t>
            </a:r>
            <a:endParaRPr lang="en-US" sz="1800">
              <a:latin typeface="Avenir 35" pitchFamily="2" charset="0"/>
            </a:endParaRPr>
          </a:p>
        </p:txBody>
      </p:sp>
      <p:sp>
        <p:nvSpPr>
          <p:cNvPr id="963625" name="Rectangle 41"/>
          <p:cNvSpPr>
            <a:spLocks noChangeArrowheads="1"/>
          </p:cNvSpPr>
          <p:nvPr/>
        </p:nvSpPr>
        <p:spPr bwMode="auto">
          <a:xfrm>
            <a:off x="2022475" y="4365625"/>
            <a:ext cx="101600" cy="244475"/>
          </a:xfrm>
          <a:prstGeom prst="rect">
            <a:avLst/>
          </a:prstGeom>
          <a:noFill/>
          <a:ln w="9525">
            <a:noFill/>
            <a:miter lim="800000"/>
            <a:headEnd/>
            <a:tailEnd/>
          </a:ln>
        </p:spPr>
        <p:txBody>
          <a:bodyPr wrap="none" lIns="0" tIns="0" rIns="0" bIns="0">
            <a:spAutoFit/>
          </a:bodyPr>
          <a:lstStyle/>
          <a:p>
            <a:r>
              <a:rPr lang="en-US" sz="1600">
                <a:solidFill>
                  <a:srgbClr val="000000"/>
                </a:solidFill>
              </a:rPr>
              <a:t>d</a:t>
            </a:r>
            <a:endParaRPr lang="en-US" sz="1800">
              <a:latin typeface="Avenir 35" pitchFamily="2" charset="0"/>
            </a:endParaRPr>
          </a:p>
        </p:txBody>
      </p:sp>
      <p:sp>
        <p:nvSpPr>
          <p:cNvPr id="963626" name="Line 42"/>
          <p:cNvSpPr>
            <a:spLocks noChangeShapeType="1"/>
          </p:cNvSpPr>
          <p:nvPr/>
        </p:nvSpPr>
        <p:spPr bwMode="auto">
          <a:xfrm>
            <a:off x="2322513" y="3970338"/>
            <a:ext cx="47625" cy="1587"/>
          </a:xfrm>
          <a:prstGeom prst="line">
            <a:avLst/>
          </a:prstGeom>
          <a:noFill/>
          <a:ln w="0">
            <a:solidFill>
              <a:srgbClr val="000000"/>
            </a:solidFill>
            <a:round/>
            <a:headEnd/>
            <a:tailEnd/>
          </a:ln>
        </p:spPr>
        <p:txBody>
          <a:bodyPr/>
          <a:lstStyle/>
          <a:p>
            <a:endParaRPr lang="en-US"/>
          </a:p>
        </p:txBody>
      </p:sp>
      <p:sp>
        <p:nvSpPr>
          <p:cNvPr id="963627" name="Line 43"/>
          <p:cNvSpPr>
            <a:spLocks noChangeShapeType="1"/>
          </p:cNvSpPr>
          <p:nvPr/>
        </p:nvSpPr>
        <p:spPr bwMode="auto">
          <a:xfrm>
            <a:off x="2322513" y="3970338"/>
            <a:ext cx="1587" cy="631825"/>
          </a:xfrm>
          <a:prstGeom prst="line">
            <a:avLst/>
          </a:prstGeom>
          <a:noFill/>
          <a:ln w="0">
            <a:solidFill>
              <a:srgbClr val="000000"/>
            </a:solidFill>
            <a:round/>
            <a:headEnd/>
            <a:tailEnd/>
          </a:ln>
        </p:spPr>
        <p:txBody>
          <a:bodyPr/>
          <a:lstStyle/>
          <a:p>
            <a:endParaRPr lang="en-US"/>
          </a:p>
        </p:txBody>
      </p:sp>
      <p:sp>
        <p:nvSpPr>
          <p:cNvPr id="963628" name="Line 44"/>
          <p:cNvSpPr>
            <a:spLocks noChangeShapeType="1"/>
          </p:cNvSpPr>
          <p:nvPr/>
        </p:nvSpPr>
        <p:spPr bwMode="auto">
          <a:xfrm>
            <a:off x="2322513" y="4602163"/>
            <a:ext cx="47625" cy="1587"/>
          </a:xfrm>
          <a:prstGeom prst="line">
            <a:avLst/>
          </a:prstGeom>
          <a:noFill/>
          <a:ln w="0">
            <a:solidFill>
              <a:srgbClr val="000000"/>
            </a:solidFill>
            <a:round/>
            <a:headEnd/>
            <a:tailEnd/>
          </a:ln>
        </p:spPr>
        <p:txBody>
          <a:bodyPr/>
          <a:lstStyle/>
          <a:p>
            <a:endParaRPr lang="en-US"/>
          </a:p>
        </p:txBody>
      </p:sp>
      <p:sp>
        <p:nvSpPr>
          <p:cNvPr id="963629" name="Line 45"/>
          <p:cNvSpPr>
            <a:spLocks noChangeShapeType="1"/>
          </p:cNvSpPr>
          <p:nvPr/>
        </p:nvSpPr>
        <p:spPr bwMode="auto">
          <a:xfrm flipH="1">
            <a:off x="3713163" y="3970338"/>
            <a:ext cx="46037" cy="1587"/>
          </a:xfrm>
          <a:prstGeom prst="line">
            <a:avLst/>
          </a:prstGeom>
          <a:noFill/>
          <a:ln w="0">
            <a:solidFill>
              <a:srgbClr val="000000"/>
            </a:solidFill>
            <a:round/>
            <a:headEnd/>
            <a:tailEnd/>
          </a:ln>
        </p:spPr>
        <p:txBody>
          <a:bodyPr/>
          <a:lstStyle/>
          <a:p>
            <a:endParaRPr lang="en-US"/>
          </a:p>
        </p:txBody>
      </p:sp>
      <p:sp>
        <p:nvSpPr>
          <p:cNvPr id="963630" name="Line 46"/>
          <p:cNvSpPr>
            <a:spLocks noChangeShapeType="1"/>
          </p:cNvSpPr>
          <p:nvPr/>
        </p:nvSpPr>
        <p:spPr bwMode="auto">
          <a:xfrm>
            <a:off x="3759200" y="3970338"/>
            <a:ext cx="1588" cy="631825"/>
          </a:xfrm>
          <a:prstGeom prst="line">
            <a:avLst/>
          </a:prstGeom>
          <a:noFill/>
          <a:ln w="0">
            <a:solidFill>
              <a:srgbClr val="000000"/>
            </a:solidFill>
            <a:round/>
            <a:headEnd/>
            <a:tailEnd/>
          </a:ln>
        </p:spPr>
        <p:txBody>
          <a:bodyPr/>
          <a:lstStyle/>
          <a:p>
            <a:endParaRPr lang="en-US"/>
          </a:p>
        </p:txBody>
      </p:sp>
      <p:sp>
        <p:nvSpPr>
          <p:cNvPr id="963631" name="Line 47"/>
          <p:cNvSpPr>
            <a:spLocks noChangeShapeType="1"/>
          </p:cNvSpPr>
          <p:nvPr/>
        </p:nvSpPr>
        <p:spPr bwMode="auto">
          <a:xfrm flipH="1">
            <a:off x="3713163" y="4602163"/>
            <a:ext cx="46037" cy="1587"/>
          </a:xfrm>
          <a:prstGeom prst="line">
            <a:avLst/>
          </a:prstGeom>
          <a:noFill/>
          <a:ln w="0">
            <a:solidFill>
              <a:srgbClr val="000000"/>
            </a:solidFill>
            <a:round/>
            <a:headEnd/>
            <a:tailEnd/>
          </a:ln>
        </p:spPr>
        <p:txBody>
          <a:bodyPr/>
          <a:lstStyle/>
          <a:p>
            <a:endParaRPr lang="en-US"/>
          </a:p>
        </p:txBody>
      </p:sp>
      <p:sp>
        <p:nvSpPr>
          <p:cNvPr id="963632" name="Line 48"/>
          <p:cNvSpPr>
            <a:spLocks noChangeShapeType="1"/>
          </p:cNvSpPr>
          <p:nvPr/>
        </p:nvSpPr>
        <p:spPr bwMode="auto">
          <a:xfrm>
            <a:off x="2543175" y="4318000"/>
            <a:ext cx="95250" cy="1588"/>
          </a:xfrm>
          <a:prstGeom prst="line">
            <a:avLst/>
          </a:prstGeom>
          <a:noFill/>
          <a:ln w="0">
            <a:solidFill>
              <a:srgbClr val="000000"/>
            </a:solidFill>
            <a:round/>
            <a:headEnd/>
            <a:tailEnd/>
          </a:ln>
        </p:spPr>
        <p:txBody>
          <a:bodyPr/>
          <a:lstStyle/>
          <a:p>
            <a:endParaRPr lang="en-US"/>
          </a:p>
        </p:txBody>
      </p:sp>
      <p:sp>
        <p:nvSpPr>
          <p:cNvPr id="963633" name="Rectangle 49"/>
          <p:cNvSpPr>
            <a:spLocks noChangeArrowheads="1"/>
          </p:cNvSpPr>
          <p:nvPr/>
        </p:nvSpPr>
        <p:spPr bwMode="auto">
          <a:xfrm>
            <a:off x="2401888" y="4176713"/>
            <a:ext cx="101600" cy="244475"/>
          </a:xfrm>
          <a:prstGeom prst="rect">
            <a:avLst/>
          </a:prstGeom>
          <a:noFill/>
          <a:ln w="9525">
            <a:noFill/>
            <a:miter lim="800000"/>
            <a:headEnd/>
            <a:tailEnd/>
          </a:ln>
        </p:spPr>
        <p:txBody>
          <a:bodyPr wrap="none" lIns="0" tIns="0" rIns="0" bIns="0">
            <a:spAutoFit/>
          </a:bodyPr>
          <a:lstStyle/>
          <a:p>
            <a:r>
              <a:rPr lang="en-US" sz="1600">
                <a:solidFill>
                  <a:srgbClr val="000000"/>
                </a:solidFill>
              </a:rPr>
              <a:t>1</a:t>
            </a:r>
            <a:endParaRPr lang="en-US" sz="1800">
              <a:latin typeface="Avenir 35" pitchFamily="2" charset="0"/>
            </a:endParaRPr>
          </a:p>
        </p:txBody>
      </p:sp>
      <p:sp>
        <p:nvSpPr>
          <p:cNvPr id="963634" name="Arc 50"/>
          <p:cNvSpPr>
            <a:spLocks/>
          </p:cNvSpPr>
          <p:nvPr/>
        </p:nvSpPr>
        <p:spPr bwMode="auto">
          <a:xfrm>
            <a:off x="2749550" y="3924300"/>
            <a:ext cx="820738" cy="804863"/>
          </a:xfrm>
          <a:custGeom>
            <a:avLst/>
            <a:gdLst>
              <a:gd name="G0" fmla="+- 21600 0 0"/>
              <a:gd name="G1" fmla="+- 10485 0 0"/>
              <a:gd name="G2" fmla="+- 21600 0 0"/>
              <a:gd name="T0" fmla="*/ 2715 w 21600"/>
              <a:gd name="T1" fmla="*/ 20970 h 20970"/>
              <a:gd name="T2" fmla="*/ 2715 w 21600"/>
              <a:gd name="T3" fmla="*/ 0 h 20970"/>
              <a:gd name="T4" fmla="*/ 21600 w 21600"/>
              <a:gd name="T5" fmla="*/ 10485 h 20970"/>
            </a:gdLst>
            <a:ahLst/>
            <a:cxnLst>
              <a:cxn ang="0">
                <a:pos x="T0" y="T1"/>
              </a:cxn>
              <a:cxn ang="0">
                <a:pos x="T2" y="T3"/>
              </a:cxn>
              <a:cxn ang="0">
                <a:pos x="T4" y="T5"/>
              </a:cxn>
            </a:cxnLst>
            <a:rect l="0" t="0" r="r" b="b"/>
            <a:pathLst>
              <a:path w="21600" h="20970" fill="none" extrusionOk="0">
                <a:moveTo>
                  <a:pt x="2715" y="20969"/>
                </a:moveTo>
                <a:cubicBezTo>
                  <a:pt x="934" y="17762"/>
                  <a:pt x="0" y="14153"/>
                  <a:pt x="0" y="10485"/>
                </a:cubicBezTo>
                <a:cubicBezTo>
                  <a:pt x="-1" y="6816"/>
                  <a:pt x="934" y="3207"/>
                  <a:pt x="2715" y="0"/>
                </a:cubicBezTo>
              </a:path>
              <a:path w="21600" h="20970" stroke="0" extrusionOk="0">
                <a:moveTo>
                  <a:pt x="2715" y="20969"/>
                </a:moveTo>
                <a:cubicBezTo>
                  <a:pt x="934" y="17762"/>
                  <a:pt x="0" y="14153"/>
                  <a:pt x="0" y="10485"/>
                </a:cubicBezTo>
                <a:cubicBezTo>
                  <a:pt x="-1" y="6816"/>
                  <a:pt x="934" y="3207"/>
                  <a:pt x="2715" y="0"/>
                </a:cubicBezTo>
                <a:lnTo>
                  <a:pt x="21600" y="10485"/>
                </a:lnTo>
                <a:close/>
              </a:path>
            </a:pathLst>
          </a:custGeom>
          <a:noFill/>
          <a:ln w="0">
            <a:solidFill>
              <a:srgbClr val="000000"/>
            </a:solidFill>
            <a:round/>
            <a:headEnd/>
            <a:tailEnd/>
          </a:ln>
        </p:spPr>
        <p:txBody>
          <a:bodyPr/>
          <a:lstStyle/>
          <a:p>
            <a:endParaRPr lang="en-US"/>
          </a:p>
        </p:txBody>
      </p:sp>
      <p:sp>
        <p:nvSpPr>
          <p:cNvPr id="963635" name="Arc 51"/>
          <p:cNvSpPr>
            <a:spLocks/>
          </p:cNvSpPr>
          <p:nvPr/>
        </p:nvSpPr>
        <p:spPr bwMode="auto">
          <a:xfrm>
            <a:off x="2765425" y="3922713"/>
            <a:ext cx="822325" cy="804862"/>
          </a:xfrm>
          <a:custGeom>
            <a:avLst/>
            <a:gdLst>
              <a:gd name="G0" fmla="+- 0 0 0"/>
              <a:gd name="G1" fmla="+- 10493 0 0"/>
              <a:gd name="G2" fmla="+- 21600 0 0"/>
              <a:gd name="T0" fmla="*/ 18880 w 21600"/>
              <a:gd name="T1" fmla="*/ 0 h 20986"/>
              <a:gd name="T2" fmla="*/ 18880 w 21600"/>
              <a:gd name="T3" fmla="*/ 20986 h 20986"/>
              <a:gd name="T4" fmla="*/ 0 w 21600"/>
              <a:gd name="T5" fmla="*/ 10493 h 20986"/>
            </a:gdLst>
            <a:ahLst/>
            <a:cxnLst>
              <a:cxn ang="0">
                <a:pos x="T0" y="T1"/>
              </a:cxn>
              <a:cxn ang="0">
                <a:pos x="T2" y="T3"/>
              </a:cxn>
              <a:cxn ang="0">
                <a:pos x="T4" y="T5"/>
              </a:cxn>
            </a:cxnLst>
            <a:rect l="0" t="0" r="r" b="b"/>
            <a:pathLst>
              <a:path w="21600" h="20986" fill="none" extrusionOk="0">
                <a:moveTo>
                  <a:pt x="18880" y="-1"/>
                </a:moveTo>
                <a:cubicBezTo>
                  <a:pt x="20663" y="3209"/>
                  <a:pt x="21600" y="6820"/>
                  <a:pt x="21600" y="10493"/>
                </a:cubicBezTo>
                <a:cubicBezTo>
                  <a:pt x="21600" y="14165"/>
                  <a:pt x="20663" y="17776"/>
                  <a:pt x="18880" y="20986"/>
                </a:cubicBezTo>
              </a:path>
              <a:path w="21600" h="20986" stroke="0" extrusionOk="0">
                <a:moveTo>
                  <a:pt x="18880" y="-1"/>
                </a:moveTo>
                <a:cubicBezTo>
                  <a:pt x="20663" y="3209"/>
                  <a:pt x="21600" y="6820"/>
                  <a:pt x="21600" y="10493"/>
                </a:cubicBezTo>
                <a:cubicBezTo>
                  <a:pt x="21600" y="14165"/>
                  <a:pt x="20663" y="17776"/>
                  <a:pt x="18880" y="20986"/>
                </a:cubicBezTo>
                <a:lnTo>
                  <a:pt x="0" y="10493"/>
                </a:lnTo>
                <a:close/>
              </a:path>
            </a:pathLst>
          </a:custGeom>
          <a:noFill/>
          <a:ln w="0">
            <a:solidFill>
              <a:srgbClr val="000000"/>
            </a:solidFill>
            <a:round/>
            <a:headEnd/>
            <a:tailEnd/>
          </a:ln>
        </p:spPr>
        <p:txBody>
          <a:bodyPr/>
          <a:lstStyle/>
          <a:p>
            <a:endParaRPr lang="en-US"/>
          </a:p>
        </p:txBody>
      </p:sp>
      <p:sp>
        <p:nvSpPr>
          <p:cNvPr id="963636" name="Rectangle 52"/>
          <p:cNvSpPr>
            <a:spLocks noChangeArrowheads="1"/>
          </p:cNvSpPr>
          <p:nvPr/>
        </p:nvSpPr>
        <p:spPr bwMode="auto">
          <a:xfrm>
            <a:off x="2986088" y="4129088"/>
            <a:ext cx="50800" cy="244475"/>
          </a:xfrm>
          <a:prstGeom prst="rect">
            <a:avLst/>
          </a:prstGeom>
          <a:noFill/>
          <a:ln w="9525">
            <a:noFill/>
            <a:miter lim="800000"/>
            <a:headEnd/>
            <a:tailEnd/>
          </a:ln>
        </p:spPr>
        <p:txBody>
          <a:bodyPr wrap="none" lIns="0" tIns="0" rIns="0" bIns="0">
            <a:spAutoFit/>
          </a:bodyPr>
          <a:lstStyle/>
          <a:p>
            <a:r>
              <a:rPr lang="en-US" sz="1600">
                <a:solidFill>
                  <a:srgbClr val="000000"/>
                </a:solidFill>
              </a:rPr>
              <a:t>.</a:t>
            </a:r>
            <a:endParaRPr lang="en-US" sz="1800">
              <a:latin typeface="Avenir 35" pitchFamily="2" charset="0"/>
            </a:endParaRPr>
          </a:p>
        </p:txBody>
      </p:sp>
      <p:sp>
        <p:nvSpPr>
          <p:cNvPr id="963637" name="Line 53"/>
          <p:cNvSpPr>
            <a:spLocks noChangeShapeType="1"/>
          </p:cNvSpPr>
          <p:nvPr/>
        </p:nvSpPr>
        <p:spPr bwMode="auto">
          <a:xfrm>
            <a:off x="2813050" y="4318000"/>
            <a:ext cx="157163" cy="1588"/>
          </a:xfrm>
          <a:prstGeom prst="line">
            <a:avLst/>
          </a:prstGeom>
          <a:noFill/>
          <a:ln w="0">
            <a:solidFill>
              <a:srgbClr val="000000"/>
            </a:solidFill>
            <a:round/>
            <a:headEnd/>
            <a:tailEnd/>
          </a:ln>
        </p:spPr>
        <p:txBody>
          <a:bodyPr/>
          <a:lstStyle/>
          <a:p>
            <a:endParaRPr lang="en-US"/>
          </a:p>
        </p:txBody>
      </p:sp>
      <p:sp>
        <p:nvSpPr>
          <p:cNvPr id="963638" name="Rectangle 54"/>
          <p:cNvSpPr>
            <a:spLocks noChangeArrowheads="1"/>
          </p:cNvSpPr>
          <p:nvPr/>
        </p:nvSpPr>
        <p:spPr bwMode="auto">
          <a:xfrm>
            <a:off x="2843213" y="4049713"/>
            <a:ext cx="101600" cy="244475"/>
          </a:xfrm>
          <a:prstGeom prst="rect">
            <a:avLst/>
          </a:prstGeom>
          <a:noFill/>
          <a:ln w="9525">
            <a:noFill/>
            <a:miter lim="800000"/>
            <a:headEnd/>
            <a:tailEnd/>
          </a:ln>
        </p:spPr>
        <p:txBody>
          <a:bodyPr wrap="none" lIns="0" tIns="0" rIns="0" bIns="0">
            <a:spAutoFit/>
          </a:bodyPr>
          <a:lstStyle/>
          <a:p>
            <a:r>
              <a:rPr lang="en-US" sz="1600">
                <a:solidFill>
                  <a:srgbClr val="000000"/>
                </a:solidFill>
              </a:rPr>
              <a:t>d</a:t>
            </a:r>
            <a:endParaRPr lang="en-US" sz="1800">
              <a:latin typeface="Avenir 35" pitchFamily="2" charset="0"/>
            </a:endParaRPr>
          </a:p>
        </p:txBody>
      </p:sp>
      <p:sp>
        <p:nvSpPr>
          <p:cNvPr id="963639" name="Rectangle 55"/>
          <p:cNvSpPr>
            <a:spLocks noChangeArrowheads="1"/>
          </p:cNvSpPr>
          <p:nvPr/>
        </p:nvSpPr>
        <p:spPr bwMode="auto">
          <a:xfrm>
            <a:off x="2827338" y="4365625"/>
            <a:ext cx="146050" cy="244475"/>
          </a:xfrm>
          <a:prstGeom prst="rect">
            <a:avLst/>
          </a:prstGeom>
          <a:noFill/>
          <a:ln w="9525">
            <a:noFill/>
            <a:miter lim="800000"/>
            <a:headEnd/>
            <a:tailEnd/>
          </a:ln>
        </p:spPr>
        <p:txBody>
          <a:bodyPr wrap="none" lIns="0" tIns="0" rIns="0" bIns="0">
            <a:spAutoFit/>
          </a:bodyPr>
          <a:lstStyle/>
          <a:p>
            <a:r>
              <a:rPr lang="en-US" sz="1600">
                <a:solidFill>
                  <a:srgbClr val="000000"/>
                </a:solidFill>
              </a:rPr>
              <a:t>D</a:t>
            </a:r>
            <a:endParaRPr lang="en-US" sz="1800">
              <a:latin typeface="Avenir 35" pitchFamily="2" charset="0"/>
            </a:endParaRPr>
          </a:p>
        </p:txBody>
      </p:sp>
      <p:sp>
        <p:nvSpPr>
          <p:cNvPr id="963640" name="Rectangle 56"/>
          <p:cNvSpPr>
            <a:spLocks noChangeArrowheads="1"/>
          </p:cNvSpPr>
          <p:nvPr/>
        </p:nvSpPr>
        <p:spPr bwMode="auto">
          <a:xfrm>
            <a:off x="3049588" y="4176713"/>
            <a:ext cx="271462" cy="244475"/>
          </a:xfrm>
          <a:prstGeom prst="rect">
            <a:avLst/>
          </a:prstGeom>
          <a:noFill/>
          <a:ln w="9525">
            <a:noFill/>
            <a:miter lim="800000"/>
            <a:headEnd/>
            <a:tailEnd/>
          </a:ln>
        </p:spPr>
        <p:txBody>
          <a:bodyPr wrap="none" lIns="0" tIns="0" rIns="0" bIns="0">
            <a:spAutoFit/>
          </a:bodyPr>
          <a:lstStyle/>
          <a:p>
            <a:r>
              <a:rPr lang="en-US" sz="1600">
                <a:solidFill>
                  <a:srgbClr val="000000"/>
                </a:solidFill>
              </a:rPr>
              <a:t>cos</a:t>
            </a:r>
            <a:endParaRPr lang="en-US" sz="1800">
              <a:latin typeface="Avenir 35" pitchFamily="2" charset="0"/>
            </a:endParaRPr>
          </a:p>
        </p:txBody>
      </p:sp>
      <p:sp>
        <p:nvSpPr>
          <p:cNvPr id="963641" name="Rectangle 57"/>
          <p:cNvSpPr>
            <a:spLocks noChangeArrowheads="1"/>
          </p:cNvSpPr>
          <p:nvPr/>
        </p:nvSpPr>
        <p:spPr bwMode="auto">
          <a:xfrm>
            <a:off x="3349625" y="4160838"/>
            <a:ext cx="155575" cy="244475"/>
          </a:xfrm>
          <a:prstGeom prst="rect">
            <a:avLst/>
          </a:prstGeom>
          <a:noFill/>
          <a:ln w="9525">
            <a:noFill/>
            <a:miter lim="800000"/>
            <a:headEnd/>
            <a:tailEnd/>
          </a:ln>
        </p:spPr>
        <p:txBody>
          <a:bodyPr wrap="none" lIns="0" tIns="0" rIns="0" bIns="0">
            <a:spAutoFit/>
          </a:bodyPr>
          <a:lstStyle/>
          <a:p>
            <a:r>
              <a:rPr lang="en-US" sz="1600">
                <a:solidFill>
                  <a:srgbClr val="000000"/>
                </a:solidFill>
                <a:latin typeface="Symbol" pitchFamily="18" charset="2"/>
              </a:rPr>
              <a:t>F</a:t>
            </a:r>
            <a:endParaRPr lang="en-US" sz="1800">
              <a:latin typeface="Avenir 35" pitchFamily="2" charset="0"/>
            </a:endParaRPr>
          </a:p>
        </p:txBody>
      </p:sp>
      <p:sp>
        <p:nvSpPr>
          <p:cNvPr id="963642" name="Rectangle 58"/>
          <p:cNvSpPr>
            <a:spLocks noChangeArrowheads="1"/>
          </p:cNvSpPr>
          <p:nvPr/>
        </p:nvSpPr>
        <p:spPr bwMode="auto">
          <a:xfrm>
            <a:off x="3617913" y="3971925"/>
            <a:ext cx="76200" cy="182563"/>
          </a:xfrm>
          <a:prstGeom prst="rect">
            <a:avLst/>
          </a:prstGeom>
          <a:noFill/>
          <a:ln w="9525">
            <a:noFill/>
            <a:miter lim="800000"/>
            <a:headEnd/>
            <a:tailEnd/>
          </a:ln>
        </p:spPr>
        <p:txBody>
          <a:bodyPr wrap="none" lIns="0" tIns="0" rIns="0" bIns="0">
            <a:spAutoFit/>
          </a:bodyPr>
          <a:lstStyle/>
          <a:p>
            <a:r>
              <a:rPr lang="en-US" sz="1200">
                <a:solidFill>
                  <a:srgbClr val="000000"/>
                </a:solidFill>
              </a:rPr>
              <a:t>2</a:t>
            </a:r>
            <a:endParaRPr lang="en-US" sz="1800">
              <a:latin typeface="Avenir 35" pitchFamily="2" charset="0"/>
            </a:endParaRPr>
          </a:p>
        </p:txBody>
      </p:sp>
      <p:sp>
        <p:nvSpPr>
          <p:cNvPr id="963643" name="Rectangle 59"/>
          <p:cNvSpPr>
            <a:spLocks noChangeArrowheads="1"/>
          </p:cNvSpPr>
          <p:nvPr/>
        </p:nvSpPr>
        <p:spPr bwMode="auto">
          <a:xfrm>
            <a:off x="3854450" y="4176713"/>
            <a:ext cx="428625" cy="244475"/>
          </a:xfrm>
          <a:prstGeom prst="rect">
            <a:avLst/>
          </a:prstGeom>
          <a:noFill/>
          <a:ln w="9525">
            <a:noFill/>
            <a:miter lim="800000"/>
            <a:headEnd/>
            <a:tailEnd/>
          </a:ln>
        </p:spPr>
        <p:txBody>
          <a:bodyPr wrap="none" lIns="0" tIns="0" rIns="0" bIns="0">
            <a:spAutoFit/>
          </a:bodyPr>
          <a:lstStyle/>
          <a:p>
            <a:r>
              <a:rPr lang="en-US" sz="1600">
                <a:solidFill>
                  <a:srgbClr val="000000"/>
                </a:solidFill>
              </a:rPr>
              <a:t>RPM</a:t>
            </a:r>
            <a:endParaRPr lang="en-US" sz="1800">
              <a:latin typeface="Avenir 35" pitchFamily="2" charset="0"/>
            </a:endParaRPr>
          </a:p>
        </p:txBody>
      </p:sp>
      <p:sp>
        <p:nvSpPr>
          <p:cNvPr id="963644" name="Line 60"/>
          <p:cNvSpPr>
            <a:spLocks noChangeShapeType="1"/>
          </p:cNvSpPr>
          <p:nvPr/>
        </p:nvSpPr>
        <p:spPr bwMode="auto">
          <a:xfrm>
            <a:off x="1722438" y="5091113"/>
            <a:ext cx="1587" cy="15875"/>
          </a:xfrm>
          <a:prstGeom prst="line">
            <a:avLst/>
          </a:prstGeom>
          <a:noFill/>
          <a:ln w="0">
            <a:solidFill>
              <a:srgbClr val="000000"/>
            </a:solidFill>
            <a:round/>
            <a:headEnd/>
            <a:tailEnd/>
          </a:ln>
        </p:spPr>
        <p:txBody>
          <a:bodyPr/>
          <a:lstStyle/>
          <a:p>
            <a:endParaRPr lang="en-US"/>
          </a:p>
        </p:txBody>
      </p:sp>
      <p:sp>
        <p:nvSpPr>
          <p:cNvPr id="963645" name="Line 61"/>
          <p:cNvSpPr>
            <a:spLocks noChangeShapeType="1"/>
          </p:cNvSpPr>
          <p:nvPr/>
        </p:nvSpPr>
        <p:spPr bwMode="auto">
          <a:xfrm>
            <a:off x="1722438" y="5011738"/>
            <a:ext cx="1587" cy="15875"/>
          </a:xfrm>
          <a:prstGeom prst="line">
            <a:avLst/>
          </a:prstGeom>
          <a:noFill/>
          <a:ln w="0">
            <a:solidFill>
              <a:srgbClr val="000000"/>
            </a:solidFill>
            <a:round/>
            <a:headEnd/>
            <a:tailEnd/>
          </a:ln>
        </p:spPr>
        <p:txBody>
          <a:bodyPr/>
          <a:lstStyle/>
          <a:p>
            <a:endParaRPr lang="en-US"/>
          </a:p>
        </p:txBody>
      </p:sp>
      <p:sp>
        <p:nvSpPr>
          <p:cNvPr id="963646" name="Line 62"/>
          <p:cNvSpPr>
            <a:spLocks noChangeShapeType="1"/>
          </p:cNvSpPr>
          <p:nvPr/>
        </p:nvSpPr>
        <p:spPr bwMode="auto">
          <a:xfrm>
            <a:off x="1770063" y="5075238"/>
            <a:ext cx="79375" cy="1587"/>
          </a:xfrm>
          <a:prstGeom prst="line">
            <a:avLst/>
          </a:prstGeom>
          <a:noFill/>
          <a:ln w="0">
            <a:solidFill>
              <a:srgbClr val="000000"/>
            </a:solidFill>
            <a:round/>
            <a:headEnd/>
            <a:tailEnd/>
          </a:ln>
        </p:spPr>
        <p:txBody>
          <a:bodyPr/>
          <a:lstStyle/>
          <a:p>
            <a:endParaRPr lang="en-US"/>
          </a:p>
        </p:txBody>
      </p:sp>
      <p:sp>
        <p:nvSpPr>
          <p:cNvPr id="963647" name="Line 63"/>
          <p:cNvSpPr>
            <a:spLocks noChangeShapeType="1"/>
          </p:cNvSpPr>
          <p:nvPr/>
        </p:nvSpPr>
        <p:spPr bwMode="auto">
          <a:xfrm>
            <a:off x="1770063" y="5027613"/>
            <a:ext cx="79375" cy="1587"/>
          </a:xfrm>
          <a:prstGeom prst="line">
            <a:avLst/>
          </a:prstGeom>
          <a:noFill/>
          <a:ln w="0">
            <a:solidFill>
              <a:srgbClr val="000000"/>
            </a:solidFill>
            <a:round/>
            <a:headEnd/>
            <a:tailEnd/>
          </a:ln>
        </p:spPr>
        <p:txBody>
          <a:bodyPr/>
          <a:lstStyle/>
          <a:p>
            <a:endParaRPr lang="en-US"/>
          </a:p>
        </p:txBody>
      </p:sp>
      <p:sp>
        <p:nvSpPr>
          <p:cNvPr id="963648" name="Rectangle 64"/>
          <p:cNvSpPr>
            <a:spLocks noChangeArrowheads="1"/>
          </p:cNvSpPr>
          <p:nvPr/>
        </p:nvSpPr>
        <p:spPr bwMode="auto">
          <a:xfrm>
            <a:off x="1154113" y="4933950"/>
            <a:ext cx="506412" cy="244475"/>
          </a:xfrm>
          <a:prstGeom prst="rect">
            <a:avLst/>
          </a:prstGeom>
          <a:noFill/>
          <a:ln w="9525">
            <a:noFill/>
            <a:miter lim="800000"/>
            <a:headEnd/>
            <a:tailEnd/>
          </a:ln>
        </p:spPr>
        <p:txBody>
          <a:bodyPr wrap="none" lIns="0" tIns="0" rIns="0" bIns="0">
            <a:spAutoFit/>
          </a:bodyPr>
          <a:lstStyle/>
          <a:p>
            <a:r>
              <a:rPr lang="en-US" sz="1600">
                <a:solidFill>
                  <a:srgbClr val="000000"/>
                </a:solidFill>
              </a:rPr>
              <a:t>BPFO</a:t>
            </a:r>
            <a:endParaRPr lang="en-US" sz="1800">
              <a:latin typeface="Avenir 35" pitchFamily="2" charset="0"/>
            </a:endParaRPr>
          </a:p>
        </p:txBody>
      </p:sp>
      <p:sp>
        <p:nvSpPr>
          <p:cNvPr id="963649" name="Rectangle 65"/>
          <p:cNvSpPr>
            <a:spLocks noChangeArrowheads="1"/>
          </p:cNvSpPr>
          <p:nvPr/>
        </p:nvSpPr>
        <p:spPr bwMode="auto">
          <a:xfrm>
            <a:off x="2038350" y="4886325"/>
            <a:ext cx="50800" cy="244475"/>
          </a:xfrm>
          <a:prstGeom prst="rect">
            <a:avLst/>
          </a:prstGeom>
          <a:noFill/>
          <a:ln w="9525">
            <a:noFill/>
            <a:miter lim="800000"/>
            <a:headEnd/>
            <a:tailEnd/>
          </a:ln>
        </p:spPr>
        <p:txBody>
          <a:bodyPr wrap="none" lIns="0" tIns="0" rIns="0" bIns="0">
            <a:spAutoFit/>
          </a:bodyPr>
          <a:lstStyle/>
          <a:p>
            <a:r>
              <a:rPr lang="en-US" sz="1600">
                <a:solidFill>
                  <a:srgbClr val="000000"/>
                </a:solidFill>
              </a:rPr>
              <a:t>.</a:t>
            </a:r>
            <a:endParaRPr lang="en-US" sz="1800">
              <a:latin typeface="Avenir 35" pitchFamily="2" charset="0"/>
            </a:endParaRPr>
          </a:p>
        </p:txBody>
      </p:sp>
      <p:sp>
        <p:nvSpPr>
          <p:cNvPr id="963650" name="Rectangle 66"/>
          <p:cNvSpPr>
            <a:spLocks noChangeArrowheads="1"/>
          </p:cNvSpPr>
          <p:nvPr/>
        </p:nvSpPr>
        <p:spPr bwMode="auto">
          <a:xfrm>
            <a:off x="1897063" y="4933950"/>
            <a:ext cx="146050" cy="244475"/>
          </a:xfrm>
          <a:prstGeom prst="rect">
            <a:avLst/>
          </a:prstGeom>
          <a:noFill/>
          <a:ln w="9525">
            <a:noFill/>
            <a:miter lim="800000"/>
            <a:headEnd/>
            <a:tailEnd/>
          </a:ln>
        </p:spPr>
        <p:txBody>
          <a:bodyPr wrap="none" lIns="0" tIns="0" rIns="0" bIns="0">
            <a:spAutoFit/>
          </a:bodyPr>
          <a:lstStyle/>
          <a:p>
            <a:r>
              <a:rPr lang="en-US" sz="1600">
                <a:solidFill>
                  <a:srgbClr val="000000"/>
                </a:solidFill>
              </a:rPr>
              <a:t>N</a:t>
            </a:r>
            <a:endParaRPr lang="en-US" sz="1800">
              <a:latin typeface="Avenir 35" pitchFamily="2" charset="0"/>
            </a:endParaRPr>
          </a:p>
        </p:txBody>
      </p:sp>
      <p:sp>
        <p:nvSpPr>
          <p:cNvPr id="963651" name="Rectangle 67"/>
          <p:cNvSpPr>
            <a:spLocks noChangeArrowheads="1"/>
          </p:cNvSpPr>
          <p:nvPr/>
        </p:nvSpPr>
        <p:spPr bwMode="auto">
          <a:xfrm>
            <a:off x="2101850" y="4933950"/>
            <a:ext cx="349250" cy="244475"/>
          </a:xfrm>
          <a:prstGeom prst="rect">
            <a:avLst/>
          </a:prstGeom>
          <a:noFill/>
          <a:ln w="9525">
            <a:noFill/>
            <a:miter lim="800000"/>
            <a:headEnd/>
            <a:tailEnd/>
          </a:ln>
        </p:spPr>
        <p:txBody>
          <a:bodyPr wrap="none" lIns="0" tIns="0" rIns="0" bIns="0">
            <a:spAutoFit/>
          </a:bodyPr>
          <a:lstStyle/>
          <a:p>
            <a:r>
              <a:rPr lang="en-US" sz="1600">
                <a:solidFill>
                  <a:srgbClr val="000000"/>
                </a:solidFill>
              </a:rPr>
              <a:t>FTF</a:t>
            </a:r>
            <a:endParaRPr lang="en-US" sz="1800">
              <a:latin typeface="Avenir 35" pitchFamily="2" charset="0"/>
            </a:endParaRPr>
          </a:p>
        </p:txBody>
      </p:sp>
      <p:sp>
        <p:nvSpPr>
          <p:cNvPr id="963652" name="Line 68"/>
          <p:cNvSpPr>
            <a:spLocks noChangeShapeType="1"/>
          </p:cNvSpPr>
          <p:nvPr/>
        </p:nvSpPr>
        <p:spPr bwMode="auto">
          <a:xfrm>
            <a:off x="1643063" y="5848350"/>
            <a:ext cx="1587" cy="15875"/>
          </a:xfrm>
          <a:prstGeom prst="line">
            <a:avLst/>
          </a:prstGeom>
          <a:noFill/>
          <a:ln w="0">
            <a:solidFill>
              <a:srgbClr val="000000"/>
            </a:solidFill>
            <a:round/>
            <a:headEnd/>
            <a:tailEnd/>
          </a:ln>
        </p:spPr>
        <p:txBody>
          <a:bodyPr/>
          <a:lstStyle/>
          <a:p>
            <a:endParaRPr lang="en-US"/>
          </a:p>
        </p:txBody>
      </p:sp>
      <p:sp>
        <p:nvSpPr>
          <p:cNvPr id="963653" name="Line 69"/>
          <p:cNvSpPr>
            <a:spLocks noChangeShapeType="1"/>
          </p:cNvSpPr>
          <p:nvPr/>
        </p:nvSpPr>
        <p:spPr bwMode="auto">
          <a:xfrm>
            <a:off x="1643063" y="5770563"/>
            <a:ext cx="1587" cy="15875"/>
          </a:xfrm>
          <a:prstGeom prst="line">
            <a:avLst/>
          </a:prstGeom>
          <a:noFill/>
          <a:ln w="0">
            <a:solidFill>
              <a:srgbClr val="000000"/>
            </a:solidFill>
            <a:round/>
            <a:headEnd/>
            <a:tailEnd/>
          </a:ln>
        </p:spPr>
        <p:txBody>
          <a:bodyPr/>
          <a:lstStyle/>
          <a:p>
            <a:endParaRPr lang="en-US"/>
          </a:p>
        </p:txBody>
      </p:sp>
      <p:sp>
        <p:nvSpPr>
          <p:cNvPr id="963654" name="Line 70"/>
          <p:cNvSpPr>
            <a:spLocks noChangeShapeType="1"/>
          </p:cNvSpPr>
          <p:nvPr/>
        </p:nvSpPr>
        <p:spPr bwMode="auto">
          <a:xfrm>
            <a:off x="1690688" y="5832475"/>
            <a:ext cx="79375" cy="1588"/>
          </a:xfrm>
          <a:prstGeom prst="line">
            <a:avLst/>
          </a:prstGeom>
          <a:noFill/>
          <a:ln w="0">
            <a:solidFill>
              <a:srgbClr val="000000"/>
            </a:solidFill>
            <a:round/>
            <a:headEnd/>
            <a:tailEnd/>
          </a:ln>
        </p:spPr>
        <p:txBody>
          <a:bodyPr/>
          <a:lstStyle/>
          <a:p>
            <a:endParaRPr lang="en-US"/>
          </a:p>
        </p:txBody>
      </p:sp>
      <p:sp>
        <p:nvSpPr>
          <p:cNvPr id="963655" name="Line 71"/>
          <p:cNvSpPr>
            <a:spLocks noChangeShapeType="1"/>
          </p:cNvSpPr>
          <p:nvPr/>
        </p:nvSpPr>
        <p:spPr bwMode="auto">
          <a:xfrm>
            <a:off x="1690688" y="5786438"/>
            <a:ext cx="79375" cy="1587"/>
          </a:xfrm>
          <a:prstGeom prst="line">
            <a:avLst/>
          </a:prstGeom>
          <a:noFill/>
          <a:ln w="0">
            <a:solidFill>
              <a:srgbClr val="000000"/>
            </a:solidFill>
            <a:round/>
            <a:headEnd/>
            <a:tailEnd/>
          </a:ln>
        </p:spPr>
        <p:txBody>
          <a:bodyPr/>
          <a:lstStyle/>
          <a:p>
            <a:endParaRPr lang="en-US"/>
          </a:p>
        </p:txBody>
      </p:sp>
      <p:sp>
        <p:nvSpPr>
          <p:cNvPr id="963656" name="Rectangle 72"/>
          <p:cNvSpPr>
            <a:spLocks noChangeArrowheads="1"/>
          </p:cNvSpPr>
          <p:nvPr/>
        </p:nvSpPr>
        <p:spPr bwMode="auto">
          <a:xfrm>
            <a:off x="1154113" y="5691188"/>
            <a:ext cx="428625" cy="244475"/>
          </a:xfrm>
          <a:prstGeom prst="rect">
            <a:avLst/>
          </a:prstGeom>
          <a:noFill/>
          <a:ln w="9525">
            <a:noFill/>
            <a:miter lim="800000"/>
            <a:headEnd/>
            <a:tailEnd/>
          </a:ln>
        </p:spPr>
        <p:txBody>
          <a:bodyPr wrap="none" lIns="0" tIns="0" rIns="0" bIns="0">
            <a:spAutoFit/>
          </a:bodyPr>
          <a:lstStyle/>
          <a:p>
            <a:r>
              <a:rPr lang="en-US" sz="1600">
                <a:solidFill>
                  <a:srgbClr val="000000"/>
                </a:solidFill>
              </a:rPr>
              <a:t>BPFI</a:t>
            </a:r>
            <a:endParaRPr lang="en-US" sz="1800">
              <a:latin typeface="Avenir 35" pitchFamily="2" charset="0"/>
            </a:endParaRPr>
          </a:p>
        </p:txBody>
      </p:sp>
      <p:sp>
        <p:nvSpPr>
          <p:cNvPr id="963657" name="Rectangle 73"/>
          <p:cNvSpPr>
            <a:spLocks noChangeArrowheads="1"/>
          </p:cNvSpPr>
          <p:nvPr/>
        </p:nvSpPr>
        <p:spPr bwMode="auto">
          <a:xfrm>
            <a:off x="1958975" y="5643563"/>
            <a:ext cx="50800" cy="244475"/>
          </a:xfrm>
          <a:prstGeom prst="rect">
            <a:avLst/>
          </a:prstGeom>
          <a:noFill/>
          <a:ln w="9525">
            <a:noFill/>
            <a:miter lim="800000"/>
            <a:headEnd/>
            <a:tailEnd/>
          </a:ln>
        </p:spPr>
        <p:txBody>
          <a:bodyPr wrap="none" lIns="0" tIns="0" rIns="0" bIns="0">
            <a:spAutoFit/>
          </a:bodyPr>
          <a:lstStyle/>
          <a:p>
            <a:r>
              <a:rPr lang="en-US" sz="1600">
                <a:solidFill>
                  <a:srgbClr val="000000"/>
                </a:solidFill>
              </a:rPr>
              <a:t>.</a:t>
            </a:r>
            <a:endParaRPr lang="en-US" sz="1800">
              <a:latin typeface="Avenir 35" pitchFamily="2" charset="0"/>
            </a:endParaRPr>
          </a:p>
        </p:txBody>
      </p:sp>
      <p:sp>
        <p:nvSpPr>
          <p:cNvPr id="963658" name="Rectangle 74"/>
          <p:cNvSpPr>
            <a:spLocks noChangeArrowheads="1"/>
          </p:cNvSpPr>
          <p:nvPr/>
        </p:nvSpPr>
        <p:spPr bwMode="auto">
          <a:xfrm>
            <a:off x="1817688" y="5691188"/>
            <a:ext cx="146050" cy="244475"/>
          </a:xfrm>
          <a:prstGeom prst="rect">
            <a:avLst/>
          </a:prstGeom>
          <a:noFill/>
          <a:ln w="9525">
            <a:noFill/>
            <a:miter lim="800000"/>
            <a:headEnd/>
            <a:tailEnd/>
          </a:ln>
        </p:spPr>
        <p:txBody>
          <a:bodyPr wrap="none" lIns="0" tIns="0" rIns="0" bIns="0">
            <a:spAutoFit/>
          </a:bodyPr>
          <a:lstStyle/>
          <a:p>
            <a:r>
              <a:rPr lang="en-US" sz="1600">
                <a:solidFill>
                  <a:srgbClr val="000000"/>
                </a:solidFill>
              </a:rPr>
              <a:t>N</a:t>
            </a:r>
            <a:endParaRPr lang="en-US" sz="1800">
              <a:latin typeface="Avenir 35" pitchFamily="2" charset="0"/>
            </a:endParaRPr>
          </a:p>
        </p:txBody>
      </p:sp>
      <p:sp>
        <p:nvSpPr>
          <p:cNvPr id="963659" name="Rectangle 75"/>
          <p:cNvSpPr>
            <a:spLocks noChangeArrowheads="1"/>
          </p:cNvSpPr>
          <p:nvPr/>
        </p:nvSpPr>
        <p:spPr bwMode="auto">
          <a:xfrm>
            <a:off x="2022475" y="5691188"/>
            <a:ext cx="68263" cy="244475"/>
          </a:xfrm>
          <a:prstGeom prst="rect">
            <a:avLst/>
          </a:prstGeom>
          <a:noFill/>
          <a:ln w="9525">
            <a:noFill/>
            <a:miter lim="800000"/>
            <a:headEnd/>
            <a:tailEnd/>
          </a:ln>
        </p:spPr>
        <p:txBody>
          <a:bodyPr wrap="none" lIns="0" tIns="0" rIns="0" bIns="0">
            <a:spAutoFit/>
          </a:bodyPr>
          <a:lstStyle/>
          <a:p>
            <a:r>
              <a:rPr lang="en-US" sz="1600">
                <a:solidFill>
                  <a:srgbClr val="000000"/>
                </a:solidFill>
              </a:rPr>
              <a:t>(</a:t>
            </a:r>
            <a:endParaRPr lang="en-US" sz="1800">
              <a:latin typeface="Avenir 35" pitchFamily="2" charset="0"/>
            </a:endParaRPr>
          </a:p>
        </p:txBody>
      </p:sp>
      <p:sp>
        <p:nvSpPr>
          <p:cNvPr id="963660" name="Rectangle 76"/>
          <p:cNvSpPr>
            <a:spLocks noChangeArrowheads="1"/>
          </p:cNvSpPr>
          <p:nvPr/>
        </p:nvSpPr>
        <p:spPr bwMode="auto">
          <a:xfrm>
            <a:off x="2117725" y="5691188"/>
            <a:ext cx="1066800" cy="244475"/>
          </a:xfrm>
          <a:prstGeom prst="rect">
            <a:avLst/>
          </a:prstGeom>
          <a:noFill/>
          <a:ln w="9525">
            <a:noFill/>
            <a:miter lim="800000"/>
            <a:headEnd/>
            <a:tailEnd/>
          </a:ln>
        </p:spPr>
        <p:txBody>
          <a:bodyPr wrap="none" lIns="0" tIns="0" rIns="0" bIns="0">
            <a:spAutoFit/>
          </a:bodyPr>
          <a:lstStyle/>
          <a:p>
            <a:r>
              <a:rPr lang="en-US" sz="1600">
                <a:solidFill>
                  <a:srgbClr val="000000"/>
                </a:solidFill>
              </a:rPr>
              <a:t>RPM  - FTF)</a:t>
            </a:r>
            <a:endParaRPr lang="en-US" sz="1800">
              <a:latin typeface="Avenir 35" pitchFamily="2" charset="0"/>
            </a:endParaRPr>
          </a:p>
        </p:txBody>
      </p:sp>
      <p:sp>
        <p:nvSpPr>
          <p:cNvPr id="963661" name="Rectangle 77"/>
          <p:cNvSpPr>
            <a:spLocks noChangeArrowheads="1"/>
          </p:cNvSpPr>
          <p:nvPr/>
        </p:nvSpPr>
        <p:spPr bwMode="auto">
          <a:xfrm>
            <a:off x="5181600" y="3429000"/>
            <a:ext cx="3581400" cy="2289175"/>
          </a:xfrm>
          <a:prstGeom prst="rect">
            <a:avLst/>
          </a:prstGeom>
          <a:noFill/>
          <a:ln w="12700">
            <a:noFill/>
            <a:miter lim="800000"/>
            <a:headEnd/>
            <a:tailEnd/>
          </a:ln>
          <a:effectLst/>
        </p:spPr>
        <p:txBody>
          <a:bodyPr lIns="90488" tIns="44450" rIns="90488" bIns="44450">
            <a:spAutoFit/>
          </a:bodyPr>
          <a:lstStyle/>
          <a:p>
            <a:r>
              <a:rPr lang="en-US" sz="1600"/>
              <a:t>RPM = Shaft rotation</a:t>
            </a:r>
          </a:p>
          <a:p>
            <a:endParaRPr lang="en-US" sz="1600"/>
          </a:p>
          <a:p>
            <a:r>
              <a:rPr lang="en-US" sz="1600"/>
              <a:t>d = Rolling element diameter</a:t>
            </a:r>
          </a:p>
          <a:p>
            <a:endParaRPr lang="en-US" sz="1600"/>
          </a:p>
          <a:p>
            <a:r>
              <a:rPr lang="en-US" sz="1600"/>
              <a:t>D = Pitch  diameter</a:t>
            </a:r>
          </a:p>
          <a:p>
            <a:endParaRPr lang="en-US" sz="1600"/>
          </a:p>
          <a:p>
            <a:r>
              <a:rPr lang="en-US" sz="1600"/>
              <a:t>N = No. of rolling elements</a:t>
            </a:r>
          </a:p>
          <a:p>
            <a:endParaRPr lang="en-US" sz="1600"/>
          </a:p>
          <a:p>
            <a:r>
              <a:rPr lang="en-US" sz="1600"/>
              <a:t>    =  Contact angle</a:t>
            </a:r>
          </a:p>
        </p:txBody>
      </p:sp>
      <p:graphicFrame>
        <p:nvGraphicFramePr>
          <p:cNvPr id="963662" name="Object 78">
            <a:hlinkClick r:id="" action="ppaction://ole?verb=0"/>
          </p:cNvPr>
          <p:cNvGraphicFramePr>
            <a:graphicFrameLocks/>
          </p:cNvGraphicFramePr>
          <p:nvPr/>
        </p:nvGraphicFramePr>
        <p:xfrm>
          <a:off x="5181600" y="5410200"/>
          <a:ext cx="254000" cy="304800"/>
        </p:xfrm>
        <a:graphic>
          <a:graphicData uri="http://schemas.openxmlformats.org/presentationml/2006/ole">
            <mc:AlternateContent xmlns:mc="http://schemas.openxmlformats.org/markup-compatibility/2006">
              <mc:Choice xmlns:v="urn:schemas-microsoft-com:vml" Requires="v">
                <p:oleObj spid="_x0000_s963664" name="Equation" r:id="rId3" imgW="176040" imgH="176040" progId="Equation.2">
                  <p:embed/>
                </p:oleObj>
              </mc:Choice>
              <mc:Fallback>
                <p:oleObj name="Equation" r:id="rId3" imgW="176040" imgH="176040" progId="Equation.2">
                  <p:embed/>
                  <p:pic>
                    <p:nvPicPr>
                      <p:cNvPr id="0" name="Picture 7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5410200"/>
                        <a:ext cx="254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4610" name="Rectangle 1026"/>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964611" name="Rectangle 1027"/>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
        <p:nvSpPr>
          <p:cNvPr id="964612" name="Rectangle 1028"/>
          <p:cNvSpPr>
            <a:spLocks noChangeArrowheads="1"/>
          </p:cNvSpPr>
          <p:nvPr/>
        </p:nvSpPr>
        <p:spPr bwMode="auto">
          <a:xfrm>
            <a:off x="2346325" y="277813"/>
            <a:ext cx="4492625" cy="576262"/>
          </a:xfrm>
          <a:prstGeom prst="rect">
            <a:avLst/>
          </a:prstGeom>
          <a:noFill/>
          <a:ln w="12700">
            <a:noFill/>
            <a:miter lim="800000"/>
            <a:headEnd/>
            <a:tailEnd/>
          </a:ln>
          <a:effectLst/>
        </p:spPr>
        <p:txBody>
          <a:bodyPr wrap="none" lIns="90488" tIns="44450" rIns="90488" bIns="44450">
            <a:spAutoFit/>
          </a:bodyPr>
          <a:lstStyle/>
          <a:p>
            <a:r>
              <a:rPr lang="en-US" sz="3200" b="1"/>
              <a:t>Rolling element bearings</a:t>
            </a:r>
          </a:p>
        </p:txBody>
      </p:sp>
      <p:sp>
        <p:nvSpPr>
          <p:cNvPr id="964613" name="Rectangle 1029"/>
          <p:cNvSpPr>
            <a:spLocks noChangeArrowheads="1"/>
          </p:cNvSpPr>
          <p:nvPr/>
        </p:nvSpPr>
        <p:spPr bwMode="auto">
          <a:xfrm>
            <a:off x="2066925" y="1168400"/>
            <a:ext cx="5006975" cy="454025"/>
          </a:xfrm>
          <a:prstGeom prst="rect">
            <a:avLst/>
          </a:prstGeom>
          <a:noFill/>
          <a:ln w="12700">
            <a:noFill/>
            <a:miter lim="800000"/>
            <a:headEnd/>
            <a:tailEnd/>
          </a:ln>
          <a:effectLst/>
        </p:spPr>
        <p:txBody>
          <a:bodyPr wrap="none" lIns="90488" tIns="44450" rIns="90488" bIns="44450">
            <a:spAutoFit/>
          </a:bodyPr>
          <a:lstStyle/>
          <a:p>
            <a:r>
              <a:rPr lang="en-US"/>
              <a:t>What do the bearing frequencies mean?</a:t>
            </a:r>
          </a:p>
        </p:txBody>
      </p:sp>
      <p:sp>
        <p:nvSpPr>
          <p:cNvPr id="964614" name="Rectangle 1030"/>
          <p:cNvSpPr>
            <a:spLocks noChangeArrowheads="1"/>
          </p:cNvSpPr>
          <p:nvPr/>
        </p:nvSpPr>
        <p:spPr bwMode="auto">
          <a:xfrm>
            <a:off x="1916113" y="1920875"/>
            <a:ext cx="2246312" cy="1462088"/>
          </a:xfrm>
          <a:prstGeom prst="rect">
            <a:avLst/>
          </a:prstGeom>
          <a:noFill/>
          <a:ln w="12700">
            <a:noFill/>
            <a:miter lim="800000"/>
            <a:headEnd/>
            <a:tailEnd/>
          </a:ln>
          <a:effectLst/>
        </p:spPr>
        <p:txBody>
          <a:bodyPr wrap="none" lIns="90488" tIns="44450" rIns="90488" bIns="44450">
            <a:spAutoFit/>
          </a:bodyPr>
          <a:lstStyle/>
          <a:p>
            <a:r>
              <a:rPr lang="en-US" sz="1800"/>
              <a:t>If:</a:t>
            </a:r>
          </a:p>
          <a:p>
            <a:r>
              <a:rPr lang="en-US" sz="1800"/>
              <a:t>FTF   = 0.381 * RPM</a:t>
            </a:r>
          </a:p>
          <a:p>
            <a:r>
              <a:rPr lang="en-US" sz="1800"/>
              <a:t>BSF   = 1.981 * RPM</a:t>
            </a:r>
          </a:p>
          <a:p>
            <a:r>
              <a:rPr lang="en-US" sz="1800"/>
              <a:t>BPFO = 3.047 * RPM</a:t>
            </a:r>
          </a:p>
          <a:p>
            <a:r>
              <a:rPr lang="en-US" sz="1800"/>
              <a:t>BPFI  =  4.952 * RPM</a:t>
            </a:r>
          </a:p>
        </p:txBody>
      </p:sp>
      <p:grpSp>
        <p:nvGrpSpPr>
          <p:cNvPr id="964615" name="Group 1031"/>
          <p:cNvGrpSpPr>
            <a:grpSpLocks/>
          </p:cNvGrpSpPr>
          <p:nvPr/>
        </p:nvGrpSpPr>
        <p:grpSpPr bwMode="auto">
          <a:xfrm>
            <a:off x="5087938" y="3663950"/>
            <a:ext cx="1116012" cy="2501900"/>
            <a:chOff x="3205" y="2308"/>
            <a:chExt cx="703" cy="1576"/>
          </a:xfrm>
        </p:grpSpPr>
        <p:sp>
          <p:nvSpPr>
            <p:cNvPr id="964616" name="Rectangle 1032"/>
            <p:cNvSpPr>
              <a:spLocks noChangeArrowheads="1"/>
            </p:cNvSpPr>
            <p:nvPr/>
          </p:nvSpPr>
          <p:spPr bwMode="auto">
            <a:xfrm>
              <a:off x="3372" y="2308"/>
              <a:ext cx="376" cy="1576"/>
            </a:xfrm>
            <a:prstGeom prst="rect">
              <a:avLst/>
            </a:prstGeom>
            <a:solidFill>
              <a:schemeClr val="folHlink"/>
            </a:solidFill>
            <a:ln w="12700">
              <a:solidFill>
                <a:schemeClr val="tx1"/>
              </a:solidFill>
              <a:miter lim="800000"/>
              <a:headEnd/>
              <a:tailEnd/>
            </a:ln>
            <a:effectLst/>
          </p:spPr>
          <p:txBody>
            <a:bodyPr wrap="none" anchor="ctr"/>
            <a:lstStyle/>
            <a:p>
              <a:endParaRPr lang="en-US"/>
            </a:p>
          </p:txBody>
        </p:sp>
        <p:sp>
          <p:nvSpPr>
            <p:cNvPr id="964617" name="Rectangle 1033"/>
            <p:cNvSpPr>
              <a:spLocks noChangeArrowheads="1"/>
            </p:cNvSpPr>
            <p:nvPr/>
          </p:nvSpPr>
          <p:spPr bwMode="auto">
            <a:xfrm>
              <a:off x="3372" y="3692"/>
              <a:ext cx="376" cy="192"/>
            </a:xfrm>
            <a:prstGeom prst="rect">
              <a:avLst/>
            </a:prstGeom>
            <a:solidFill>
              <a:schemeClr val="folHlink"/>
            </a:solidFill>
            <a:ln w="12700">
              <a:solidFill>
                <a:schemeClr val="tx1"/>
              </a:solidFill>
              <a:miter lim="800000"/>
              <a:headEnd/>
              <a:tailEnd/>
            </a:ln>
            <a:effectLst/>
          </p:spPr>
          <p:txBody>
            <a:bodyPr wrap="none" anchor="ctr"/>
            <a:lstStyle/>
            <a:p>
              <a:endParaRPr lang="en-US"/>
            </a:p>
          </p:txBody>
        </p:sp>
        <p:sp>
          <p:nvSpPr>
            <p:cNvPr id="964618" name="Rectangle 1034"/>
            <p:cNvSpPr>
              <a:spLocks noChangeArrowheads="1"/>
            </p:cNvSpPr>
            <p:nvPr/>
          </p:nvSpPr>
          <p:spPr bwMode="auto">
            <a:xfrm>
              <a:off x="3372" y="3364"/>
              <a:ext cx="376" cy="136"/>
            </a:xfrm>
            <a:prstGeom prst="rect">
              <a:avLst/>
            </a:prstGeom>
            <a:solidFill>
              <a:schemeClr val="folHlink"/>
            </a:solidFill>
            <a:ln w="12700">
              <a:solidFill>
                <a:schemeClr val="tx1"/>
              </a:solidFill>
              <a:miter lim="800000"/>
              <a:headEnd/>
              <a:tailEnd/>
            </a:ln>
            <a:effectLst/>
          </p:spPr>
          <p:txBody>
            <a:bodyPr wrap="none" anchor="ctr"/>
            <a:lstStyle/>
            <a:p>
              <a:endParaRPr lang="en-US"/>
            </a:p>
          </p:txBody>
        </p:sp>
        <p:sp>
          <p:nvSpPr>
            <p:cNvPr id="964619" name="Oval 1035"/>
            <p:cNvSpPr>
              <a:spLocks noChangeArrowheads="1"/>
            </p:cNvSpPr>
            <p:nvPr/>
          </p:nvSpPr>
          <p:spPr bwMode="auto">
            <a:xfrm>
              <a:off x="3460" y="3492"/>
              <a:ext cx="208" cy="208"/>
            </a:xfrm>
            <a:prstGeom prst="ellipse">
              <a:avLst/>
            </a:prstGeom>
            <a:gradFill rotWithShape="0">
              <a:gsLst>
                <a:gs pos="0">
                  <a:srgbClr val="CECECE"/>
                </a:gs>
                <a:gs pos="100000">
                  <a:srgbClr val="CECECE">
                    <a:gamma/>
                    <a:shade val="69804"/>
                    <a:invGamma/>
                  </a:srgbClr>
                </a:gs>
              </a:gsLst>
              <a:path path="shape">
                <a:fillToRect l="50000" t="50000" r="50000" b="50000"/>
              </a:path>
            </a:gradFill>
            <a:ln w="12700">
              <a:solidFill>
                <a:schemeClr val="tx1"/>
              </a:solidFill>
              <a:round/>
              <a:headEnd/>
              <a:tailEnd/>
            </a:ln>
            <a:effectLst/>
          </p:spPr>
          <p:txBody>
            <a:bodyPr wrap="none" anchor="ctr"/>
            <a:lstStyle/>
            <a:p>
              <a:endParaRPr lang="en-US"/>
            </a:p>
          </p:txBody>
        </p:sp>
        <p:sp>
          <p:nvSpPr>
            <p:cNvPr id="964620" name="Rectangle 1036"/>
            <p:cNvSpPr>
              <a:spLocks noChangeArrowheads="1"/>
            </p:cNvSpPr>
            <p:nvPr/>
          </p:nvSpPr>
          <p:spPr bwMode="auto">
            <a:xfrm>
              <a:off x="3372" y="2636"/>
              <a:ext cx="376" cy="192"/>
            </a:xfrm>
            <a:prstGeom prst="rect">
              <a:avLst/>
            </a:prstGeom>
            <a:solidFill>
              <a:schemeClr val="folHlink"/>
            </a:solidFill>
            <a:ln w="12700">
              <a:solidFill>
                <a:schemeClr val="tx1"/>
              </a:solidFill>
              <a:miter lim="800000"/>
              <a:headEnd/>
              <a:tailEnd/>
            </a:ln>
            <a:effectLst/>
          </p:spPr>
          <p:txBody>
            <a:bodyPr wrap="none" anchor="ctr"/>
            <a:lstStyle/>
            <a:p>
              <a:endParaRPr lang="en-US"/>
            </a:p>
          </p:txBody>
        </p:sp>
        <p:sp>
          <p:nvSpPr>
            <p:cNvPr id="964621" name="Rectangle 1037"/>
            <p:cNvSpPr>
              <a:spLocks noChangeArrowheads="1"/>
            </p:cNvSpPr>
            <p:nvPr/>
          </p:nvSpPr>
          <p:spPr bwMode="auto">
            <a:xfrm>
              <a:off x="3372" y="2308"/>
              <a:ext cx="376" cy="136"/>
            </a:xfrm>
            <a:prstGeom prst="rect">
              <a:avLst/>
            </a:prstGeom>
            <a:solidFill>
              <a:schemeClr val="folHlink"/>
            </a:solidFill>
            <a:ln w="12700">
              <a:solidFill>
                <a:schemeClr val="tx1"/>
              </a:solidFill>
              <a:miter lim="800000"/>
              <a:headEnd/>
              <a:tailEnd/>
            </a:ln>
            <a:effectLst/>
          </p:spPr>
          <p:txBody>
            <a:bodyPr wrap="none" anchor="ctr"/>
            <a:lstStyle/>
            <a:p>
              <a:endParaRPr lang="en-US"/>
            </a:p>
          </p:txBody>
        </p:sp>
        <p:sp>
          <p:nvSpPr>
            <p:cNvPr id="964622" name="Oval 1038"/>
            <p:cNvSpPr>
              <a:spLocks noChangeArrowheads="1"/>
            </p:cNvSpPr>
            <p:nvPr/>
          </p:nvSpPr>
          <p:spPr bwMode="auto">
            <a:xfrm>
              <a:off x="3460" y="2436"/>
              <a:ext cx="208" cy="208"/>
            </a:xfrm>
            <a:prstGeom prst="ellipse">
              <a:avLst/>
            </a:prstGeom>
            <a:gradFill rotWithShape="0">
              <a:gsLst>
                <a:gs pos="0">
                  <a:srgbClr val="CECECE"/>
                </a:gs>
                <a:gs pos="100000">
                  <a:srgbClr val="CECECE">
                    <a:gamma/>
                    <a:shade val="69804"/>
                    <a:invGamma/>
                  </a:srgbClr>
                </a:gs>
              </a:gsLst>
              <a:path path="shape">
                <a:fillToRect l="50000" t="50000" r="50000" b="50000"/>
              </a:path>
            </a:gradFill>
            <a:ln w="12700">
              <a:solidFill>
                <a:schemeClr val="tx1"/>
              </a:solidFill>
              <a:round/>
              <a:headEnd/>
              <a:tailEnd/>
            </a:ln>
            <a:effectLst/>
          </p:spPr>
          <p:txBody>
            <a:bodyPr wrap="none" anchor="ctr"/>
            <a:lstStyle/>
            <a:p>
              <a:endParaRPr lang="en-US"/>
            </a:p>
          </p:txBody>
        </p:sp>
        <p:sp>
          <p:nvSpPr>
            <p:cNvPr id="964623" name="Rectangle 1039"/>
            <p:cNvSpPr>
              <a:spLocks noChangeArrowheads="1"/>
            </p:cNvSpPr>
            <p:nvPr/>
          </p:nvSpPr>
          <p:spPr bwMode="auto">
            <a:xfrm>
              <a:off x="3372" y="2836"/>
              <a:ext cx="376" cy="520"/>
            </a:xfrm>
            <a:prstGeom prst="rect">
              <a:avLst/>
            </a:prstGeom>
            <a:solidFill>
              <a:srgbClr val="FFFFFF"/>
            </a:solidFill>
            <a:ln w="12700">
              <a:solidFill>
                <a:schemeClr val="tx1"/>
              </a:solidFill>
              <a:miter lim="800000"/>
              <a:headEnd/>
              <a:tailEnd/>
            </a:ln>
            <a:effectLst/>
          </p:spPr>
          <p:txBody>
            <a:bodyPr wrap="none" anchor="ctr"/>
            <a:lstStyle/>
            <a:p>
              <a:endParaRPr lang="en-US"/>
            </a:p>
          </p:txBody>
        </p:sp>
        <p:sp>
          <p:nvSpPr>
            <p:cNvPr id="964624" name="Line 1040"/>
            <p:cNvSpPr>
              <a:spLocks noChangeShapeType="1"/>
            </p:cNvSpPr>
            <p:nvPr/>
          </p:nvSpPr>
          <p:spPr bwMode="auto">
            <a:xfrm>
              <a:off x="3424" y="2505"/>
              <a:ext cx="0" cy="71"/>
            </a:xfrm>
            <a:prstGeom prst="line">
              <a:avLst/>
            </a:prstGeom>
            <a:noFill/>
            <a:ln w="76200">
              <a:solidFill>
                <a:schemeClr val="tx1"/>
              </a:solidFill>
              <a:round/>
              <a:headEnd/>
              <a:tailEnd/>
            </a:ln>
            <a:effectLst/>
          </p:spPr>
          <p:txBody>
            <a:bodyPr wrap="none" anchor="ctr"/>
            <a:lstStyle/>
            <a:p>
              <a:endParaRPr lang="en-US"/>
            </a:p>
          </p:txBody>
        </p:sp>
        <p:sp>
          <p:nvSpPr>
            <p:cNvPr id="964625" name="Line 1041"/>
            <p:cNvSpPr>
              <a:spLocks noChangeShapeType="1"/>
            </p:cNvSpPr>
            <p:nvPr/>
          </p:nvSpPr>
          <p:spPr bwMode="auto">
            <a:xfrm>
              <a:off x="3712" y="2497"/>
              <a:ext cx="0" cy="71"/>
            </a:xfrm>
            <a:prstGeom prst="line">
              <a:avLst/>
            </a:prstGeom>
            <a:noFill/>
            <a:ln w="76200">
              <a:solidFill>
                <a:schemeClr val="tx1"/>
              </a:solidFill>
              <a:round/>
              <a:headEnd/>
              <a:tailEnd/>
            </a:ln>
            <a:effectLst/>
          </p:spPr>
          <p:txBody>
            <a:bodyPr wrap="none" anchor="ctr"/>
            <a:lstStyle/>
            <a:p>
              <a:endParaRPr lang="en-US"/>
            </a:p>
          </p:txBody>
        </p:sp>
        <p:sp>
          <p:nvSpPr>
            <p:cNvPr id="964626" name="Line 1042"/>
            <p:cNvSpPr>
              <a:spLocks noChangeShapeType="1"/>
            </p:cNvSpPr>
            <p:nvPr/>
          </p:nvSpPr>
          <p:spPr bwMode="auto">
            <a:xfrm>
              <a:off x="3424" y="3577"/>
              <a:ext cx="0" cy="71"/>
            </a:xfrm>
            <a:prstGeom prst="line">
              <a:avLst/>
            </a:prstGeom>
            <a:noFill/>
            <a:ln w="76200">
              <a:solidFill>
                <a:schemeClr val="tx1"/>
              </a:solidFill>
              <a:round/>
              <a:headEnd/>
              <a:tailEnd/>
            </a:ln>
            <a:effectLst/>
          </p:spPr>
          <p:txBody>
            <a:bodyPr wrap="none" anchor="ctr"/>
            <a:lstStyle/>
            <a:p>
              <a:endParaRPr lang="en-US"/>
            </a:p>
          </p:txBody>
        </p:sp>
        <p:sp>
          <p:nvSpPr>
            <p:cNvPr id="964627" name="Line 1043"/>
            <p:cNvSpPr>
              <a:spLocks noChangeShapeType="1"/>
            </p:cNvSpPr>
            <p:nvPr/>
          </p:nvSpPr>
          <p:spPr bwMode="auto">
            <a:xfrm>
              <a:off x="3712" y="3569"/>
              <a:ext cx="0" cy="71"/>
            </a:xfrm>
            <a:prstGeom prst="line">
              <a:avLst/>
            </a:prstGeom>
            <a:noFill/>
            <a:ln w="76200">
              <a:solidFill>
                <a:schemeClr val="tx1"/>
              </a:solidFill>
              <a:round/>
              <a:headEnd/>
              <a:tailEnd/>
            </a:ln>
            <a:effectLst/>
          </p:spPr>
          <p:txBody>
            <a:bodyPr wrap="none" anchor="ctr"/>
            <a:lstStyle/>
            <a:p>
              <a:endParaRPr lang="en-US"/>
            </a:p>
          </p:txBody>
        </p:sp>
        <p:sp>
          <p:nvSpPr>
            <p:cNvPr id="964628" name="Line 1044"/>
            <p:cNvSpPr>
              <a:spLocks noChangeShapeType="1"/>
            </p:cNvSpPr>
            <p:nvPr/>
          </p:nvSpPr>
          <p:spPr bwMode="auto">
            <a:xfrm>
              <a:off x="3205" y="3096"/>
              <a:ext cx="703" cy="0"/>
            </a:xfrm>
            <a:prstGeom prst="line">
              <a:avLst/>
            </a:prstGeom>
            <a:noFill/>
            <a:ln w="12700">
              <a:solidFill>
                <a:schemeClr val="tx1"/>
              </a:solidFill>
              <a:prstDash val="dashDot"/>
              <a:round/>
              <a:headEnd/>
              <a:tailEnd/>
            </a:ln>
            <a:effectLst/>
          </p:spPr>
          <p:txBody>
            <a:bodyPr wrap="none" anchor="ctr"/>
            <a:lstStyle/>
            <a:p>
              <a:endParaRPr lang="en-US"/>
            </a:p>
          </p:txBody>
        </p:sp>
      </p:grpSp>
      <p:sp>
        <p:nvSpPr>
          <p:cNvPr id="964629" name="Rectangle 1045"/>
          <p:cNvSpPr>
            <a:spLocks noChangeArrowheads="1"/>
          </p:cNvSpPr>
          <p:nvPr/>
        </p:nvSpPr>
        <p:spPr bwMode="auto">
          <a:xfrm>
            <a:off x="1584325" y="4344988"/>
            <a:ext cx="3128963" cy="1066800"/>
          </a:xfrm>
          <a:prstGeom prst="rect">
            <a:avLst/>
          </a:prstGeom>
          <a:noFill/>
          <a:ln w="12700">
            <a:noFill/>
            <a:miter lim="800000"/>
            <a:headEnd/>
            <a:tailEnd/>
          </a:ln>
          <a:effectLst/>
        </p:spPr>
        <p:txBody>
          <a:bodyPr wrap="none" lIns="90488" tIns="44450" rIns="90488" bIns="44450">
            <a:spAutoFit/>
          </a:bodyPr>
          <a:lstStyle/>
          <a:p>
            <a:r>
              <a:rPr lang="en-US" sz="1600"/>
              <a:t>The cage rotates 0.381 revolutions</a:t>
            </a:r>
          </a:p>
          <a:p>
            <a:r>
              <a:rPr lang="en-US" sz="1600"/>
              <a:t>The ball spins 1.981 revolutions</a:t>
            </a:r>
          </a:p>
          <a:p>
            <a:r>
              <a:rPr lang="en-US" sz="1600"/>
              <a:t>4.952 balls pass an inner race defect</a:t>
            </a:r>
          </a:p>
          <a:p>
            <a:r>
              <a:rPr lang="en-US" sz="1600"/>
              <a:t>3.047 balls pass an outer race defect</a:t>
            </a:r>
          </a:p>
        </p:txBody>
      </p:sp>
      <p:sp>
        <p:nvSpPr>
          <p:cNvPr id="964630" name="Line 1046"/>
          <p:cNvSpPr>
            <a:spLocks noChangeShapeType="1"/>
          </p:cNvSpPr>
          <p:nvPr/>
        </p:nvSpPr>
        <p:spPr bwMode="auto">
          <a:xfrm flipV="1">
            <a:off x="4583113" y="4021138"/>
            <a:ext cx="755650" cy="404812"/>
          </a:xfrm>
          <a:prstGeom prst="line">
            <a:avLst/>
          </a:prstGeom>
          <a:noFill/>
          <a:ln w="12700">
            <a:solidFill>
              <a:schemeClr val="tx1"/>
            </a:solidFill>
            <a:round/>
            <a:headEnd/>
            <a:tailEnd type="triangle" w="med" len="med"/>
          </a:ln>
          <a:effectLst/>
        </p:spPr>
        <p:txBody>
          <a:bodyPr wrap="none" anchor="ctr"/>
          <a:lstStyle/>
          <a:p>
            <a:endParaRPr lang="en-US"/>
          </a:p>
        </p:txBody>
      </p:sp>
      <p:sp>
        <p:nvSpPr>
          <p:cNvPr id="964631" name="Line 1047"/>
          <p:cNvSpPr>
            <a:spLocks noChangeShapeType="1"/>
          </p:cNvSpPr>
          <p:nvPr/>
        </p:nvSpPr>
        <p:spPr bwMode="auto">
          <a:xfrm flipV="1">
            <a:off x="4351338" y="4059238"/>
            <a:ext cx="1306512" cy="709612"/>
          </a:xfrm>
          <a:prstGeom prst="line">
            <a:avLst/>
          </a:prstGeom>
          <a:noFill/>
          <a:ln w="12700">
            <a:solidFill>
              <a:schemeClr val="tx1"/>
            </a:solidFill>
            <a:round/>
            <a:headEnd/>
            <a:tailEnd type="triangle" w="med" len="med"/>
          </a:ln>
          <a:effectLst/>
        </p:spPr>
        <p:txBody>
          <a:bodyPr wrap="none" anchor="ctr"/>
          <a:lstStyle/>
          <a:p>
            <a:endParaRPr lang="en-US"/>
          </a:p>
        </p:txBody>
      </p:sp>
      <p:sp>
        <p:nvSpPr>
          <p:cNvPr id="964632" name="Line 1048"/>
          <p:cNvSpPr>
            <a:spLocks noChangeShapeType="1"/>
          </p:cNvSpPr>
          <p:nvPr/>
        </p:nvSpPr>
        <p:spPr bwMode="auto">
          <a:xfrm>
            <a:off x="4681538" y="5253038"/>
            <a:ext cx="938212" cy="620712"/>
          </a:xfrm>
          <a:prstGeom prst="line">
            <a:avLst/>
          </a:prstGeom>
          <a:noFill/>
          <a:ln w="12700">
            <a:solidFill>
              <a:schemeClr val="tx1"/>
            </a:solidFill>
            <a:round/>
            <a:headEnd/>
            <a:tailEnd type="triangle" w="med" len="med"/>
          </a:ln>
          <a:effectLst/>
        </p:spPr>
        <p:txBody>
          <a:bodyPr wrap="none" anchor="ctr"/>
          <a:lstStyle/>
          <a:p>
            <a:endParaRPr lang="en-US"/>
          </a:p>
        </p:txBody>
      </p:sp>
      <p:sp>
        <p:nvSpPr>
          <p:cNvPr id="964633" name="Line 1049"/>
          <p:cNvSpPr>
            <a:spLocks noChangeShapeType="1"/>
          </p:cNvSpPr>
          <p:nvPr/>
        </p:nvSpPr>
        <p:spPr bwMode="auto">
          <a:xfrm>
            <a:off x="4694238" y="5049838"/>
            <a:ext cx="963612" cy="468312"/>
          </a:xfrm>
          <a:prstGeom prst="line">
            <a:avLst/>
          </a:prstGeom>
          <a:noFill/>
          <a:ln w="12700">
            <a:solidFill>
              <a:schemeClr val="tx1"/>
            </a:solidFill>
            <a:round/>
            <a:headEnd/>
            <a:tailEnd type="triangle" w="med" len="med"/>
          </a:ln>
          <a:effectLst/>
        </p:spPr>
        <p:txBody>
          <a:bodyPr wrap="none" anchor="ctr"/>
          <a:lstStyle/>
          <a:p>
            <a:endParaRPr lang="en-US"/>
          </a:p>
        </p:txBody>
      </p:sp>
      <p:sp>
        <p:nvSpPr>
          <p:cNvPr id="964634" name="Rectangle 1050"/>
          <p:cNvSpPr>
            <a:spLocks noChangeArrowheads="1"/>
          </p:cNvSpPr>
          <p:nvPr/>
        </p:nvSpPr>
        <p:spPr bwMode="auto">
          <a:xfrm>
            <a:off x="1635125" y="3924300"/>
            <a:ext cx="2651125" cy="333375"/>
          </a:xfrm>
          <a:prstGeom prst="rect">
            <a:avLst/>
          </a:prstGeom>
          <a:noFill/>
          <a:ln w="12700">
            <a:noFill/>
            <a:miter lim="800000"/>
            <a:headEnd/>
            <a:tailEnd/>
          </a:ln>
          <a:effectLst/>
        </p:spPr>
        <p:txBody>
          <a:bodyPr wrap="none" lIns="90488" tIns="44450" rIns="90488" bIns="44450">
            <a:spAutoFit/>
          </a:bodyPr>
          <a:lstStyle/>
          <a:p>
            <a:r>
              <a:rPr lang="en-US" sz="1600" b="1"/>
              <a:t>During one shaft revolution:</a:t>
            </a:r>
          </a:p>
        </p:txBody>
      </p:sp>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5634" name="Rectangle 2"/>
          <p:cNvSpPr>
            <a:spLocks noGrp="1" noChangeArrowheads="1"/>
          </p:cNvSpPr>
          <p:nvPr>
            <p:ph type="title" idx="4294967295"/>
          </p:nvPr>
        </p:nvSpPr>
        <p:spPr>
          <a:xfrm>
            <a:off x="685800" y="390525"/>
            <a:ext cx="7772400" cy="828675"/>
          </a:xfrm>
        </p:spPr>
        <p:txBody>
          <a:bodyPr/>
          <a:lstStyle/>
          <a:p>
            <a:r>
              <a:rPr lang="en-US"/>
              <a:t>Anti-friction Bearing Faults</a:t>
            </a:r>
          </a:p>
        </p:txBody>
      </p:sp>
      <p:pic>
        <p:nvPicPr>
          <p:cNvPr id="965635" name="BRGANIM.AVI">
            <a:hlinkClick r:id="" action="ppaction://media"/>
          </p:cNvPr>
          <p:cNvPicPr>
            <a:picLocks noRot="1" noChangeAspect="1" noChangeArrowheads="1"/>
          </p:cNvPicPr>
          <p:nvPr>
            <a:videoFile r:link="rId1"/>
          </p:nvPr>
        </p:nvPicPr>
        <p:blipFill>
          <a:blip r:embed="rId3" cstate="print"/>
          <a:srcRect l="9314" t="11208" r="42299" b="40627"/>
          <a:stretch>
            <a:fillRect/>
          </a:stretch>
        </p:blipFill>
        <p:spPr bwMode="auto">
          <a:xfrm>
            <a:off x="1371600" y="2133600"/>
            <a:ext cx="5181600" cy="3868738"/>
          </a:xfrm>
          <a:prstGeom prst="rect">
            <a:avLst/>
          </a:prstGeom>
          <a:noFill/>
        </p:spPr>
      </p:pic>
      <p:sp>
        <p:nvSpPr>
          <p:cNvPr id="965636" name="Oval 4"/>
          <p:cNvSpPr>
            <a:spLocks noChangeArrowheads="1"/>
          </p:cNvSpPr>
          <p:nvPr/>
        </p:nvSpPr>
        <p:spPr bwMode="auto">
          <a:xfrm>
            <a:off x="2762250" y="2543175"/>
            <a:ext cx="2590800" cy="2590800"/>
          </a:xfrm>
          <a:prstGeom prst="ellipse">
            <a:avLst/>
          </a:prstGeom>
          <a:noFill/>
          <a:ln w="127000">
            <a:solidFill>
              <a:srgbClr val="808080"/>
            </a:solidFill>
            <a:round/>
            <a:headEnd/>
            <a:tailEnd/>
          </a:ln>
          <a:effectLst/>
        </p:spPr>
        <p:txBody>
          <a:bodyPr wrap="none" anchor="ctr"/>
          <a:lstStyle/>
          <a:p>
            <a:endParaRPr lang="en-US"/>
          </a:p>
        </p:txBody>
      </p:sp>
      <p:sp>
        <p:nvSpPr>
          <p:cNvPr id="965637" name="Oval 5"/>
          <p:cNvSpPr>
            <a:spLocks noChangeArrowheads="1"/>
          </p:cNvSpPr>
          <p:nvPr/>
        </p:nvSpPr>
        <p:spPr bwMode="auto">
          <a:xfrm>
            <a:off x="2838450" y="4438650"/>
            <a:ext cx="590550" cy="590550"/>
          </a:xfrm>
          <a:prstGeom prst="ellipse">
            <a:avLst/>
          </a:prstGeom>
          <a:gradFill rotWithShape="0">
            <a:gsLst>
              <a:gs pos="0">
                <a:schemeClr val="folHlink"/>
              </a:gs>
              <a:gs pos="100000">
                <a:srgbClr val="5F5F5F"/>
              </a:gs>
            </a:gsLst>
            <a:path path="shape">
              <a:fillToRect l="50000" t="50000" r="50000" b="50000"/>
            </a:path>
          </a:gradFill>
          <a:ln w="9525">
            <a:solidFill>
              <a:srgbClr val="333333"/>
            </a:solidFill>
            <a:round/>
            <a:headEnd/>
            <a:tailEnd/>
          </a:ln>
          <a:effectLst/>
        </p:spPr>
        <p:txBody>
          <a:bodyPr wrap="none" anchor="ctr"/>
          <a:lstStyle/>
          <a:p>
            <a:endParaRPr lang="en-US"/>
          </a:p>
        </p:txBody>
      </p:sp>
      <p:sp>
        <p:nvSpPr>
          <p:cNvPr id="965638" name="Oval 6"/>
          <p:cNvSpPr>
            <a:spLocks noChangeArrowheads="1"/>
          </p:cNvSpPr>
          <p:nvPr/>
        </p:nvSpPr>
        <p:spPr bwMode="auto">
          <a:xfrm>
            <a:off x="3771900" y="4838700"/>
            <a:ext cx="590550" cy="590550"/>
          </a:xfrm>
          <a:prstGeom prst="ellipse">
            <a:avLst/>
          </a:prstGeom>
          <a:gradFill rotWithShape="0">
            <a:gsLst>
              <a:gs pos="0">
                <a:schemeClr val="folHlink"/>
              </a:gs>
              <a:gs pos="100000">
                <a:srgbClr val="5F5F5F"/>
              </a:gs>
            </a:gsLst>
            <a:path path="shape">
              <a:fillToRect l="50000" t="50000" r="50000" b="50000"/>
            </a:path>
          </a:gradFill>
          <a:ln w="9525">
            <a:solidFill>
              <a:srgbClr val="333333"/>
            </a:solidFill>
            <a:round/>
            <a:headEnd/>
            <a:tailEnd/>
          </a:ln>
          <a:effectLst/>
        </p:spPr>
        <p:txBody>
          <a:bodyPr wrap="none" anchor="ctr"/>
          <a:lstStyle/>
          <a:p>
            <a:endParaRPr lang="en-US"/>
          </a:p>
        </p:txBody>
      </p:sp>
      <p:sp>
        <p:nvSpPr>
          <p:cNvPr id="965639" name="Oval 7"/>
          <p:cNvSpPr>
            <a:spLocks noChangeArrowheads="1"/>
          </p:cNvSpPr>
          <p:nvPr/>
        </p:nvSpPr>
        <p:spPr bwMode="auto">
          <a:xfrm>
            <a:off x="4676775" y="4457700"/>
            <a:ext cx="590550" cy="590550"/>
          </a:xfrm>
          <a:prstGeom prst="ellipse">
            <a:avLst/>
          </a:prstGeom>
          <a:gradFill rotWithShape="0">
            <a:gsLst>
              <a:gs pos="0">
                <a:schemeClr val="folHlink"/>
              </a:gs>
              <a:gs pos="100000">
                <a:srgbClr val="5F5F5F"/>
              </a:gs>
            </a:gsLst>
            <a:path path="shape">
              <a:fillToRect l="50000" t="50000" r="50000" b="50000"/>
            </a:path>
          </a:gradFill>
          <a:ln w="9525">
            <a:solidFill>
              <a:srgbClr val="333333"/>
            </a:solidFill>
            <a:round/>
            <a:headEnd/>
            <a:tailEnd/>
          </a:ln>
          <a:effectLst/>
        </p:spPr>
        <p:txBody>
          <a:bodyPr wrap="none" anchor="ctr"/>
          <a:lstStyle/>
          <a:p>
            <a:endParaRPr lang="en-US"/>
          </a:p>
        </p:txBody>
      </p:sp>
      <p:sp>
        <p:nvSpPr>
          <p:cNvPr id="965640" name="Oval 8"/>
          <p:cNvSpPr>
            <a:spLocks noChangeArrowheads="1"/>
          </p:cNvSpPr>
          <p:nvPr/>
        </p:nvSpPr>
        <p:spPr bwMode="auto">
          <a:xfrm>
            <a:off x="5029200" y="3552825"/>
            <a:ext cx="590550" cy="590550"/>
          </a:xfrm>
          <a:prstGeom prst="ellipse">
            <a:avLst/>
          </a:prstGeom>
          <a:gradFill rotWithShape="0">
            <a:gsLst>
              <a:gs pos="0">
                <a:schemeClr val="folHlink"/>
              </a:gs>
              <a:gs pos="100000">
                <a:srgbClr val="5F5F5F"/>
              </a:gs>
            </a:gsLst>
            <a:path path="shape">
              <a:fillToRect l="50000" t="50000" r="50000" b="50000"/>
            </a:path>
          </a:gradFill>
          <a:ln w="9525">
            <a:solidFill>
              <a:srgbClr val="333333"/>
            </a:solidFill>
            <a:round/>
            <a:headEnd/>
            <a:tailEnd/>
          </a:ln>
          <a:effectLst/>
        </p:spPr>
        <p:txBody>
          <a:bodyPr wrap="none" anchor="ctr"/>
          <a:lstStyle/>
          <a:p>
            <a:endParaRPr lang="en-US"/>
          </a:p>
        </p:txBody>
      </p:sp>
      <p:sp>
        <p:nvSpPr>
          <p:cNvPr id="965641" name="Oval 9"/>
          <p:cNvSpPr>
            <a:spLocks noChangeArrowheads="1"/>
          </p:cNvSpPr>
          <p:nvPr/>
        </p:nvSpPr>
        <p:spPr bwMode="auto">
          <a:xfrm>
            <a:off x="4667250" y="2667000"/>
            <a:ext cx="590550" cy="590550"/>
          </a:xfrm>
          <a:prstGeom prst="ellipse">
            <a:avLst/>
          </a:prstGeom>
          <a:gradFill rotWithShape="0">
            <a:gsLst>
              <a:gs pos="0">
                <a:schemeClr val="folHlink"/>
              </a:gs>
              <a:gs pos="100000">
                <a:srgbClr val="5F5F5F"/>
              </a:gs>
            </a:gsLst>
            <a:path path="shape">
              <a:fillToRect l="50000" t="50000" r="50000" b="50000"/>
            </a:path>
          </a:gradFill>
          <a:ln w="9525">
            <a:solidFill>
              <a:srgbClr val="333333"/>
            </a:solidFill>
            <a:round/>
            <a:headEnd/>
            <a:tailEnd/>
          </a:ln>
          <a:effectLst/>
        </p:spPr>
        <p:txBody>
          <a:bodyPr wrap="none" anchor="ctr"/>
          <a:lstStyle/>
          <a:p>
            <a:endParaRPr lang="en-US"/>
          </a:p>
        </p:txBody>
      </p:sp>
      <p:sp>
        <p:nvSpPr>
          <p:cNvPr id="965642" name="Oval 10"/>
          <p:cNvSpPr>
            <a:spLocks noChangeArrowheads="1"/>
          </p:cNvSpPr>
          <p:nvPr/>
        </p:nvSpPr>
        <p:spPr bwMode="auto">
          <a:xfrm>
            <a:off x="3762375" y="2276475"/>
            <a:ext cx="590550" cy="590550"/>
          </a:xfrm>
          <a:prstGeom prst="ellipse">
            <a:avLst/>
          </a:prstGeom>
          <a:gradFill rotWithShape="0">
            <a:gsLst>
              <a:gs pos="0">
                <a:schemeClr val="folHlink"/>
              </a:gs>
              <a:gs pos="100000">
                <a:srgbClr val="5F5F5F"/>
              </a:gs>
            </a:gsLst>
            <a:path path="shape">
              <a:fillToRect l="50000" t="50000" r="50000" b="50000"/>
            </a:path>
          </a:gradFill>
          <a:ln w="9525">
            <a:solidFill>
              <a:srgbClr val="333333"/>
            </a:solidFill>
            <a:round/>
            <a:headEnd/>
            <a:tailEnd/>
          </a:ln>
          <a:effectLst/>
        </p:spPr>
        <p:txBody>
          <a:bodyPr wrap="none" anchor="ctr"/>
          <a:lstStyle/>
          <a:p>
            <a:endParaRPr lang="en-US"/>
          </a:p>
        </p:txBody>
      </p:sp>
      <p:sp>
        <p:nvSpPr>
          <p:cNvPr id="965643" name="Oval 11"/>
          <p:cNvSpPr>
            <a:spLocks noChangeArrowheads="1"/>
          </p:cNvSpPr>
          <p:nvPr/>
        </p:nvSpPr>
        <p:spPr bwMode="auto">
          <a:xfrm>
            <a:off x="2876550" y="2647950"/>
            <a:ext cx="590550" cy="590550"/>
          </a:xfrm>
          <a:prstGeom prst="ellipse">
            <a:avLst/>
          </a:prstGeom>
          <a:gradFill rotWithShape="0">
            <a:gsLst>
              <a:gs pos="0">
                <a:schemeClr val="folHlink"/>
              </a:gs>
              <a:gs pos="100000">
                <a:srgbClr val="5F5F5F"/>
              </a:gs>
            </a:gsLst>
            <a:path path="shape">
              <a:fillToRect l="50000" t="50000" r="50000" b="50000"/>
            </a:path>
          </a:gradFill>
          <a:ln w="9525">
            <a:solidFill>
              <a:srgbClr val="333333"/>
            </a:solidFill>
            <a:round/>
            <a:headEnd/>
            <a:tailEnd/>
          </a:ln>
          <a:effectLst/>
        </p:spPr>
        <p:txBody>
          <a:bodyPr wrap="none" anchor="ctr"/>
          <a:lstStyle/>
          <a:p>
            <a:endParaRPr lang="en-US"/>
          </a:p>
        </p:txBody>
      </p:sp>
      <p:sp>
        <p:nvSpPr>
          <p:cNvPr id="965644" name="Oval 12"/>
          <p:cNvSpPr>
            <a:spLocks noChangeArrowheads="1"/>
          </p:cNvSpPr>
          <p:nvPr/>
        </p:nvSpPr>
        <p:spPr bwMode="auto">
          <a:xfrm>
            <a:off x="2505075" y="3543300"/>
            <a:ext cx="590550" cy="590550"/>
          </a:xfrm>
          <a:prstGeom prst="ellipse">
            <a:avLst/>
          </a:prstGeom>
          <a:gradFill rotWithShape="0">
            <a:gsLst>
              <a:gs pos="0">
                <a:schemeClr val="folHlink"/>
              </a:gs>
              <a:gs pos="100000">
                <a:srgbClr val="5F5F5F"/>
              </a:gs>
            </a:gsLst>
            <a:path path="shape">
              <a:fillToRect l="50000" t="50000" r="50000" b="50000"/>
            </a:path>
          </a:gradFill>
          <a:ln w="9525">
            <a:solidFill>
              <a:srgbClr val="333333"/>
            </a:solidFill>
            <a:round/>
            <a:headEnd/>
            <a:tailEnd/>
          </a:ln>
          <a:effectLst/>
        </p:spPr>
        <p:txBody>
          <a:bodyPr wrap="none" anchor="ctr"/>
          <a:lstStyle/>
          <a:p>
            <a:endParaRPr lang="en-US"/>
          </a:p>
        </p:txBody>
      </p:sp>
      <p:grpSp>
        <p:nvGrpSpPr>
          <p:cNvPr id="965645" name="Group 13"/>
          <p:cNvGrpSpPr>
            <a:grpSpLocks/>
          </p:cNvGrpSpPr>
          <p:nvPr/>
        </p:nvGrpSpPr>
        <p:grpSpPr bwMode="auto">
          <a:xfrm>
            <a:off x="4953000" y="2085975"/>
            <a:ext cx="3757613" cy="838200"/>
            <a:chOff x="3120" y="1314"/>
            <a:chExt cx="2367" cy="528"/>
          </a:xfrm>
        </p:grpSpPr>
        <p:sp>
          <p:nvSpPr>
            <p:cNvPr id="965646" name="Oval 14"/>
            <p:cNvSpPr>
              <a:spLocks noChangeArrowheads="1"/>
            </p:cNvSpPr>
            <p:nvPr/>
          </p:nvSpPr>
          <p:spPr bwMode="auto">
            <a:xfrm>
              <a:off x="3120" y="1776"/>
              <a:ext cx="66" cy="66"/>
            </a:xfrm>
            <a:prstGeom prst="ellipse">
              <a:avLst/>
            </a:prstGeom>
            <a:solidFill>
              <a:schemeClr val="tx1"/>
            </a:solidFill>
            <a:ln w="9525">
              <a:solidFill>
                <a:srgbClr val="000000"/>
              </a:solidFill>
              <a:round/>
              <a:headEnd/>
              <a:tailEnd/>
            </a:ln>
            <a:effectLst/>
          </p:spPr>
          <p:txBody>
            <a:bodyPr wrap="none" anchor="ctr"/>
            <a:lstStyle/>
            <a:p>
              <a:endParaRPr lang="en-US"/>
            </a:p>
          </p:txBody>
        </p:sp>
        <p:sp>
          <p:nvSpPr>
            <p:cNvPr id="965647" name="Rectangle 15"/>
            <p:cNvSpPr>
              <a:spLocks noChangeArrowheads="1"/>
            </p:cNvSpPr>
            <p:nvPr/>
          </p:nvSpPr>
          <p:spPr bwMode="auto">
            <a:xfrm>
              <a:off x="4344" y="1314"/>
              <a:ext cx="1143" cy="308"/>
            </a:xfrm>
            <a:prstGeom prst="rect">
              <a:avLst/>
            </a:prstGeom>
            <a:noFill/>
            <a:ln w="9525">
              <a:noFill/>
              <a:miter lim="800000"/>
              <a:headEnd/>
              <a:tailEnd/>
            </a:ln>
          </p:spPr>
          <p:txBody>
            <a:bodyPr wrap="none" lIns="0" tIns="0" rIns="0" bIns="0">
              <a:spAutoFit/>
            </a:bodyPr>
            <a:lstStyle/>
            <a:p>
              <a:pPr algn="ctr"/>
              <a:r>
                <a:rPr lang="en-US" sz="1600">
                  <a:latin typeface="Arial" pitchFamily="34" charset="0"/>
                </a:rPr>
                <a:t>Ball Spin Frequency</a:t>
              </a:r>
            </a:p>
            <a:p>
              <a:pPr algn="ctr"/>
              <a:r>
                <a:rPr lang="en-US" sz="1600">
                  <a:latin typeface="Arial" pitchFamily="34" charset="0"/>
                </a:rPr>
                <a:t>(BSF)</a:t>
              </a:r>
            </a:p>
          </p:txBody>
        </p:sp>
        <p:sp>
          <p:nvSpPr>
            <p:cNvPr id="965648" name="Line 16"/>
            <p:cNvSpPr>
              <a:spLocks noChangeShapeType="1"/>
            </p:cNvSpPr>
            <p:nvPr/>
          </p:nvSpPr>
          <p:spPr bwMode="auto">
            <a:xfrm flipH="1">
              <a:off x="3200" y="1506"/>
              <a:ext cx="1256" cy="288"/>
            </a:xfrm>
            <a:prstGeom prst="line">
              <a:avLst/>
            </a:prstGeom>
            <a:noFill/>
            <a:ln w="25400">
              <a:solidFill>
                <a:schemeClr val="bg1"/>
              </a:solidFill>
              <a:round/>
              <a:headEnd/>
              <a:tailEnd type="triangle" w="sm" len="lg"/>
            </a:ln>
            <a:effectLst/>
          </p:spPr>
          <p:txBody>
            <a:bodyPr wrap="none" anchor="ctr"/>
            <a:lstStyle/>
            <a:p>
              <a:endParaRPr lang="en-US"/>
            </a:p>
          </p:txBody>
        </p:sp>
      </p:grpSp>
      <p:grpSp>
        <p:nvGrpSpPr>
          <p:cNvPr id="965649" name="Group 17"/>
          <p:cNvGrpSpPr>
            <a:grpSpLocks/>
          </p:cNvGrpSpPr>
          <p:nvPr/>
        </p:nvGrpSpPr>
        <p:grpSpPr bwMode="auto">
          <a:xfrm>
            <a:off x="5219700" y="2924175"/>
            <a:ext cx="3435350" cy="733425"/>
            <a:chOff x="3288" y="1842"/>
            <a:chExt cx="2164" cy="462"/>
          </a:xfrm>
        </p:grpSpPr>
        <p:sp>
          <p:nvSpPr>
            <p:cNvPr id="965650" name="Oval 18"/>
            <p:cNvSpPr>
              <a:spLocks noChangeArrowheads="1"/>
            </p:cNvSpPr>
            <p:nvPr/>
          </p:nvSpPr>
          <p:spPr bwMode="auto">
            <a:xfrm>
              <a:off x="3288" y="2068"/>
              <a:ext cx="66" cy="66"/>
            </a:xfrm>
            <a:prstGeom prst="ellipse">
              <a:avLst/>
            </a:prstGeom>
            <a:solidFill>
              <a:schemeClr val="tx1"/>
            </a:solidFill>
            <a:ln w="9525">
              <a:solidFill>
                <a:srgbClr val="000000"/>
              </a:solidFill>
              <a:round/>
              <a:headEnd/>
              <a:tailEnd/>
            </a:ln>
            <a:effectLst/>
          </p:spPr>
          <p:txBody>
            <a:bodyPr wrap="none" anchor="ctr"/>
            <a:lstStyle/>
            <a:p>
              <a:endParaRPr lang="en-US"/>
            </a:p>
          </p:txBody>
        </p:sp>
        <p:sp>
          <p:nvSpPr>
            <p:cNvPr id="965651" name="Rectangle 19"/>
            <p:cNvSpPr>
              <a:spLocks noChangeArrowheads="1"/>
            </p:cNvSpPr>
            <p:nvPr/>
          </p:nvSpPr>
          <p:spPr bwMode="auto">
            <a:xfrm>
              <a:off x="4379" y="1842"/>
              <a:ext cx="1073" cy="462"/>
            </a:xfrm>
            <a:prstGeom prst="rect">
              <a:avLst/>
            </a:prstGeom>
            <a:noFill/>
            <a:ln w="9525">
              <a:noFill/>
              <a:miter lim="800000"/>
              <a:headEnd/>
              <a:tailEnd/>
            </a:ln>
          </p:spPr>
          <p:txBody>
            <a:bodyPr wrap="none" lIns="0" tIns="0" rIns="0" bIns="0">
              <a:spAutoFit/>
            </a:bodyPr>
            <a:lstStyle/>
            <a:p>
              <a:pPr algn="ctr"/>
              <a:r>
                <a:rPr lang="en-US" sz="1600">
                  <a:latin typeface="Arial" pitchFamily="34" charset="0"/>
                </a:rPr>
                <a:t>Fundamental Train</a:t>
              </a:r>
            </a:p>
            <a:p>
              <a:pPr algn="ctr"/>
              <a:r>
                <a:rPr lang="en-US" sz="1600">
                  <a:latin typeface="Arial" pitchFamily="34" charset="0"/>
                </a:rPr>
                <a:t>Frequency</a:t>
              </a:r>
            </a:p>
            <a:p>
              <a:pPr algn="ctr"/>
              <a:r>
                <a:rPr lang="en-US" sz="1600">
                  <a:latin typeface="Arial" pitchFamily="34" charset="0"/>
                </a:rPr>
                <a:t>(FTF)</a:t>
              </a:r>
            </a:p>
          </p:txBody>
        </p:sp>
        <p:sp>
          <p:nvSpPr>
            <p:cNvPr id="965652" name="Line 20"/>
            <p:cNvSpPr>
              <a:spLocks noChangeShapeType="1"/>
            </p:cNvSpPr>
            <p:nvPr/>
          </p:nvSpPr>
          <p:spPr bwMode="auto">
            <a:xfrm flipH="1" flipV="1">
              <a:off x="3392" y="2102"/>
              <a:ext cx="1160" cy="28"/>
            </a:xfrm>
            <a:prstGeom prst="line">
              <a:avLst/>
            </a:prstGeom>
            <a:noFill/>
            <a:ln w="25400">
              <a:solidFill>
                <a:schemeClr val="bg1"/>
              </a:solidFill>
              <a:round/>
              <a:headEnd/>
              <a:tailEnd type="triangle" w="sm" len="lg"/>
            </a:ln>
            <a:effectLst/>
          </p:spPr>
          <p:txBody>
            <a:bodyPr wrap="none" anchor="ctr"/>
            <a:lstStyle/>
            <a:p>
              <a:endParaRPr lang="en-US"/>
            </a:p>
          </p:txBody>
        </p:sp>
      </p:grpSp>
      <p:grpSp>
        <p:nvGrpSpPr>
          <p:cNvPr id="965653" name="Group 21"/>
          <p:cNvGrpSpPr>
            <a:grpSpLocks/>
          </p:cNvGrpSpPr>
          <p:nvPr/>
        </p:nvGrpSpPr>
        <p:grpSpPr bwMode="auto">
          <a:xfrm>
            <a:off x="4876800" y="3990975"/>
            <a:ext cx="3857625" cy="733425"/>
            <a:chOff x="3072" y="2514"/>
            <a:chExt cx="2430" cy="462"/>
          </a:xfrm>
        </p:grpSpPr>
        <p:sp>
          <p:nvSpPr>
            <p:cNvPr id="965654" name="Oval 22"/>
            <p:cNvSpPr>
              <a:spLocks noChangeArrowheads="1"/>
            </p:cNvSpPr>
            <p:nvPr/>
          </p:nvSpPr>
          <p:spPr bwMode="auto">
            <a:xfrm>
              <a:off x="3072" y="2632"/>
              <a:ext cx="66" cy="66"/>
            </a:xfrm>
            <a:prstGeom prst="ellipse">
              <a:avLst/>
            </a:prstGeom>
            <a:solidFill>
              <a:schemeClr val="tx1"/>
            </a:solidFill>
            <a:ln w="9525">
              <a:solidFill>
                <a:srgbClr val="000000"/>
              </a:solidFill>
              <a:round/>
              <a:headEnd/>
              <a:tailEnd/>
            </a:ln>
            <a:effectLst/>
          </p:spPr>
          <p:txBody>
            <a:bodyPr wrap="none" anchor="ctr"/>
            <a:lstStyle/>
            <a:p>
              <a:endParaRPr lang="en-US"/>
            </a:p>
          </p:txBody>
        </p:sp>
        <p:sp>
          <p:nvSpPr>
            <p:cNvPr id="965655" name="Rectangle 23"/>
            <p:cNvSpPr>
              <a:spLocks noChangeArrowheads="1"/>
            </p:cNvSpPr>
            <p:nvPr/>
          </p:nvSpPr>
          <p:spPr bwMode="auto">
            <a:xfrm>
              <a:off x="4330" y="2514"/>
              <a:ext cx="1172" cy="462"/>
            </a:xfrm>
            <a:prstGeom prst="rect">
              <a:avLst/>
            </a:prstGeom>
            <a:noFill/>
            <a:ln w="9525">
              <a:noFill/>
              <a:miter lim="800000"/>
              <a:headEnd/>
              <a:tailEnd/>
            </a:ln>
          </p:spPr>
          <p:txBody>
            <a:bodyPr wrap="none" lIns="0" tIns="0" rIns="0" bIns="0">
              <a:spAutoFit/>
            </a:bodyPr>
            <a:lstStyle/>
            <a:p>
              <a:pPr algn="ctr"/>
              <a:r>
                <a:rPr lang="en-US" sz="1600">
                  <a:latin typeface="Arial" pitchFamily="34" charset="0"/>
                </a:rPr>
                <a:t>Ball Pass Frequency</a:t>
              </a:r>
            </a:p>
            <a:p>
              <a:pPr algn="ctr"/>
              <a:r>
                <a:rPr lang="en-US" sz="1600">
                  <a:latin typeface="Arial" pitchFamily="34" charset="0"/>
                </a:rPr>
                <a:t>Inner Race</a:t>
              </a:r>
            </a:p>
            <a:p>
              <a:pPr algn="ctr"/>
              <a:r>
                <a:rPr lang="en-US" sz="1600">
                  <a:latin typeface="Arial" pitchFamily="34" charset="0"/>
                </a:rPr>
                <a:t>(BPFI)</a:t>
              </a:r>
            </a:p>
          </p:txBody>
        </p:sp>
        <p:sp>
          <p:nvSpPr>
            <p:cNvPr id="965656" name="Line 24"/>
            <p:cNvSpPr>
              <a:spLocks noChangeShapeType="1"/>
            </p:cNvSpPr>
            <p:nvPr/>
          </p:nvSpPr>
          <p:spPr bwMode="auto">
            <a:xfrm flipH="1" flipV="1">
              <a:off x="3164" y="2666"/>
              <a:ext cx="1388" cy="136"/>
            </a:xfrm>
            <a:prstGeom prst="line">
              <a:avLst/>
            </a:prstGeom>
            <a:noFill/>
            <a:ln w="25400">
              <a:solidFill>
                <a:schemeClr val="bg1"/>
              </a:solidFill>
              <a:round/>
              <a:headEnd/>
              <a:tailEnd type="triangle" w="sm" len="lg"/>
            </a:ln>
            <a:effectLst/>
          </p:spPr>
          <p:txBody>
            <a:bodyPr wrap="none" anchor="ctr"/>
            <a:lstStyle/>
            <a:p>
              <a:endParaRPr lang="en-US"/>
            </a:p>
          </p:txBody>
        </p:sp>
      </p:grpSp>
      <p:grpSp>
        <p:nvGrpSpPr>
          <p:cNvPr id="965657" name="Group 25"/>
          <p:cNvGrpSpPr>
            <a:grpSpLocks/>
          </p:cNvGrpSpPr>
          <p:nvPr/>
        </p:nvGrpSpPr>
        <p:grpSpPr bwMode="auto">
          <a:xfrm>
            <a:off x="4775200" y="5200650"/>
            <a:ext cx="3987800" cy="742950"/>
            <a:chOff x="3008" y="3276"/>
            <a:chExt cx="2512" cy="468"/>
          </a:xfrm>
        </p:grpSpPr>
        <p:sp>
          <p:nvSpPr>
            <p:cNvPr id="965658" name="Oval 26"/>
            <p:cNvSpPr>
              <a:spLocks noChangeArrowheads="1"/>
            </p:cNvSpPr>
            <p:nvPr/>
          </p:nvSpPr>
          <p:spPr bwMode="auto">
            <a:xfrm>
              <a:off x="3008" y="3276"/>
              <a:ext cx="66" cy="66"/>
            </a:xfrm>
            <a:prstGeom prst="ellipse">
              <a:avLst/>
            </a:prstGeom>
            <a:solidFill>
              <a:schemeClr val="tx1"/>
            </a:solidFill>
            <a:ln w="9525">
              <a:solidFill>
                <a:srgbClr val="000000"/>
              </a:solidFill>
              <a:round/>
              <a:headEnd/>
              <a:tailEnd/>
            </a:ln>
            <a:effectLst/>
          </p:spPr>
          <p:txBody>
            <a:bodyPr wrap="none" anchor="ctr"/>
            <a:lstStyle/>
            <a:p>
              <a:endParaRPr lang="en-US"/>
            </a:p>
          </p:txBody>
        </p:sp>
        <p:sp>
          <p:nvSpPr>
            <p:cNvPr id="965659" name="Rectangle 27"/>
            <p:cNvSpPr>
              <a:spLocks noChangeArrowheads="1"/>
            </p:cNvSpPr>
            <p:nvPr/>
          </p:nvSpPr>
          <p:spPr bwMode="auto">
            <a:xfrm>
              <a:off x="4312" y="3282"/>
              <a:ext cx="1208" cy="462"/>
            </a:xfrm>
            <a:prstGeom prst="rect">
              <a:avLst/>
            </a:prstGeom>
            <a:noFill/>
            <a:ln w="9525">
              <a:noFill/>
              <a:miter lim="800000"/>
              <a:headEnd/>
              <a:tailEnd/>
            </a:ln>
          </p:spPr>
          <p:txBody>
            <a:bodyPr wrap="none" lIns="0" tIns="0" rIns="0" bIns="0">
              <a:spAutoFit/>
            </a:bodyPr>
            <a:lstStyle/>
            <a:p>
              <a:pPr algn="ctr"/>
              <a:r>
                <a:rPr lang="en-US" sz="1600">
                  <a:latin typeface="Arial" pitchFamily="34" charset="0"/>
                </a:rPr>
                <a:t>Ball Pass Frequency </a:t>
              </a:r>
            </a:p>
            <a:p>
              <a:pPr algn="ctr"/>
              <a:r>
                <a:rPr lang="en-US" sz="1600">
                  <a:latin typeface="Arial" pitchFamily="34" charset="0"/>
                </a:rPr>
                <a:t>Outer Race</a:t>
              </a:r>
            </a:p>
            <a:p>
              <a:pPr algn="ctr"/>
              <a:r>
                <a:rPr lang="en-US" sz="1600">
                  <a:latin typeface="Arial" pitchFamily="34" charset="0"/>
                </a:rPr>
                <a:t>(BPFO)</a:t>
              </a:r>
            </a:p>
          </p:txBody>
        </p:sp>
        <p:sp>
          <p:nvSpPr>
            <p:cNvPr id="965660" name="Line 28"/>
            <p:cNvSpPr>
              <a:spLocks noChangeShapeType="1"/>
            </p:cNvSpPr>
            <p:nvPr/>
          </p:nvSpPr>
          <p:spPr bwMode="auto">
            <a:xfrm flipH="1" flipV="1">
              <a:off x="3100" y="3318"/>
              <a:ext cx="1404" cy="204"/>
            </a:xfrm>
            <a:prstGeom prst="line">
              <a:avLst/>
            </a:prstGeom>
            <a:noFill/>
            <a:ln w="25400">
              <a:solidFill>
                <a:schemeClr val="bg1"/>
              </a:solidFill>
              <a:round/>
              <a:headEnd/>
              <a:tailEnd type="triangle" w="sm" len="lg"/>
            </a:ln>
            <a:effectLst/>
          </p:spPr>
          <p:txBody>
            <a:bodyPr wrap="none" anchor="ctr"/>
            <a:lstStyle/>
            <a:p>
              <a:endParaRPr lang="en-US"/>
            </a:p>
          </p:txBody>
        </p:sp>
      </p:grpSp>
      <p:sp>
        <p:nvSpPr>
          <p:cNvPr id="965661" name="Text Box 29"/>
          <p:cNvSpPr txBox="1">
            <a:spLocks noChangeArrowheads="1"/>
          </p:cNvSpPr>
          <p:nvPr/>
        </p:nvSpPr>
        <p:spPr bwMode="auto">
          <a:xfrm>
            <a:off x="1600200" y="1447800"/>
            <a:ext cx="4762500" cy="457200"/>
          </a:xfrm>
          <a:prstGeom prst="rect">
            <a:avLst/>
          </a:prstGeom>
          <a:noFill/>
          <a:ln w="9525">
            <a:noFill/>
            <a:miter lim="800000"/>
            <a:headEnd/>
            <a:tailEnd/>
          </a:ln>
          <a:effectLst/>
        </p:spPr>
        <p:txBody>
          <a:bodyPr>
            <a:spAutoFit/>
          </a:bodyPr>
          <a:lstStyle/>
          <a:p>
            <a:r>
              <a:rPr lang="en-US">
                <a:latin typeface="Arial" pitchFamily="34" charset="0"/>
              </a:rPr>
              <a:t>Four different bearing frequencies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656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9656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9656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9656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050"/>
          <p:cNvSpPr>
            <a:spLocks noGrp="1" noChangeArrowheads="1"/>
          </p:cNvSpPr>
          <p:nvPr>
            <p:ph type="title"/>
          </p:nvPr>
        </p:nvSpPr>
        <p:spPr>
          <a:xfrm>
            <a:off x="685800" y="390525"/>
            <a:ext cx="7772400" cy="379413"/>
          </a:xfrm>
        </p:spPr>
        <p:txBody>
          <a:bodyPr/>
          <a:lstStyle/>
          <a:p>
            <a:r>
              <a:rPr lang="en-US" sz="2800"/>
              <a:t>Envelope Detection</a:t>
            </a:r>
          </a:p>
        </p:txBody>
      </p:sp>
      <p:sp>
        <p:nvSpPr>
          <p:cNvPr id="1006595" name="Rectangle 2051"/>
          <p:cNvSpPr>
            <a:spLocks noGrp="1" noChangeArrowheads="1"/>
          </p:cNvSpPr>
          <p:nvPr>
            <p:ph type="body" idx="1"/>
          </p:nvPr>
        </p:nvSpPr>
        <p:spPr>
          <a:xfrm>
            <a:off x="685800" y="1066800"/>
            <a:ext cx="7772400" cy="5029200"/>
          </a:xfrm>
        </p:spPr>
        <p:txBody>
          <a:bodyPr/>
          <a:lstStyle/>
          <a:p>
            <a:pPr marL="609600" indent="-609600"/>
            <a:r>
              <a:rPr lang="en-US" sz="1400" b="1"/>
              <a:t>Repetitive bearing &amp; gear mesh activity create vibration signals of much lower amplitude &amp; higher frequencies than rotational and structural vibration signals</a:t>
            </a:r>
            <a:r>
              <a:rPr lang="en-US" sz="3200"/>
              <a:t> </a:t>
            </a:r>
          </a:p>
          <a:p>
            <a:pPr marL="609600" indent="-609600">
              <a:buFontTx/>
              <a:buAutoNum type="arabicPeriod"/>
            </a:pPr>
            <a:r>
              <a:rPr lang="en-US" sz="1400"/>
              <a:t>Enveloping – Filtering out the low frequency rotational vibration signals and to enhance the repetitive components of a bearing defect signals occurring in the bearing defect frequency range. Envelope detection is most common in rolling elements bearing and gear mesh analysis where a low amplitude repetitive vibration signal may be hidden by the machine’s rotational &amp; structural vibration noise.</a:t>
            </a:r>
          </a:p>
          <a:p>
            <a:pPr marL="609600" indent="-609600">
              <a:buFontTx/>
              <a:buNone/>
            </a:pPr>
            <a:endParaRPr lang="en-US" sz="1400"/>
          </a:p>
          <a:p>
            <a:pPr marL="609600" indent="-609600">
              <a:buFontTx/>
              <a:buNone/>
            </a:pPr>
            <a:r>
              <a:rPr lang="en-US" sz="1400"/>
              <a:t>For e.g..</a:t>
            </a:r>
          </a:p>
          <a:p>
            <a:pPr marL="609600" indent="-609600">
              <a:buFontTx/>
              <a:buNone/>
            </a:pPr>
            <a:r>
              <a:rPr lang="en-US" sz="1400"/>
              <a:t>	If a rolling element bearing has a defect on its outer race , each roller over-rolls the defect as it goes by and causes a small , repetitive vibration signal at the bearing defect frequency . However , this vibration signal is of such low energy that , with overall vibration monitoring , it is lost in the machine’s other rotational &amp; structural vibration noise. Envelope detection filters out low rotational signals and enhances the bearing’s repetitive impact type signals to focus on repetitive events in the bearing defect frequency range( for eg repetitive bearing &amp; gear tooth vibration signals)</a:t>
            </a:r>
          </a:p>
          <a:p>
            <a:pPr marL="609600" indent="-609600">
              <a:buFontTx/>
              <a:buNone/>
            </a:pPr>
            <a:r>
              <a:rPr lang="en-US" sz="1400"/>
              <a:t>	In recent times this measurement method has proven to be a successful indicator of major class of machine problems . Faults in roller element bearings, defective teeth in gear boxes , paper mill felt discontinuities , and electric motor / stator problems are all applications for acceleration enveloping.</a:t>
            </a:r>
          </a:p>
        </p:txBody>
      </p:sp>
    </p:spTree>
  </p:cSld>
  <p:clrMapOvr>
    <a:masterClrMapping/>
  </p:clrMapOvr>
  <p:transition advClick="0" advTm="2000">
    <p:random/>
    <p:sndAc>
      <p:stSnd>
        <p:snd r:embed="rId2" name="projctor.wav"/>
      </p:stSnd>
    </p:sndAc>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6658" name="Rectangle 2"/>
          <p:cNvSpPr>
            <a:spLocks noGrp="1" noChangeArrowheads="1"/>
          </p:cNvSpPr>
          <p:nvPr>
            <p:ph type="title" idx="4294967295"/>
          </p:nvPr>
        </p:nvSpPr>
        <p:spPr>
          <a:xfrm>
            <a:off x="609600" y="2667000"/>
            <a:ext cx="7772400" cy="1143000"/>
          </a:xfrm>
          <a:noFill/>
          <a:ln/>
        </p:spPr>
        <p:txBody>
          <a:bodyPr lIns="90488" tIns="44450" rIns="90488" bIns="44450" anchor="ctr"/>
          <a:lstStyle/>
          <a:p>
            <a:r>
              <a:rPr lang="en-US" sz="8000" b="0"/>
              <a:t>Gear Box</a:t>
            </a:r>
          </a:p>
        </p:txBody>
      </p:sp>
    </p:spTree>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7682"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967683"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grpSp>
        <p:nvGrpSpPr>
          <p:cNvPr id="967684" name="Group 4"/>
          <p:cNvGrpSpPr>
            <a:grpSpLocks/>
          </p:cNvGrpSpPr>
          <p:nvPr/>
        </p:nvGrpSpPr>
        <p:grpSpPr bwMode="auto">
          <a:xfrm>
            <a:off x="2411413" y="1265238"/>
            <a:ext cx="4373562" cy="2378075"/>
            <a:chOff x="1519" y="797"/>
            <a:chExt cx="2755" cy="1498"/>
          </a:xfrm>
        </p:grpSpPr>
        <p:sp>
          <p:nvSpPr>
            <p:cNvPr id="967685" name="Rectangle 5"/>
            <p:cNvSpPr>
              <a:spLocks noChangeArrowheads="1"/>
            </p:cNvSpPr>
            <p:nvPr/>
          </p:nvSpPr>
          <p:spPr bwMode="auto">
            <a:xfrm>
              <a:off x="1648" y="1048"/>
              <a:ext cx="482" cy="229"/>
            </a:xfrm>
            <a:prstGeom prst="rect">
              <a:avLst/>
            </a:prstGeom>
            <a:noFill/>
            <a:ln w="12700">
              <a:noFill/>
              <a:miter lim="800000"/>
              <a:headEnd/>
              <a:tailEnd/>
            </a:ln>
            <a:effectLst/>
          </p:spPr>
          <p:txBody>
            <a:bodyPr wrap="none" lIns="90488" tIns="44450" rIns="90488" bIns="44450">
              <a:spAutoFit/>
            </a:bodyPr>
            <a:lstStyle/>
            <a:p>
              <a:r>
                <a:rPr lang="en-US" sz="1800" i="1">
                  <a:solidFill>
                    <a:srgbClr val="000000"/>
                  </a:solidFill>
                </a:rPr>
                <a:t>RPM1</a:t>
              </a:r>
            </a:p>
          </p:txBody>
        </p:sp>
        <p:sp>
          <p:nvSpPr>
            <p:cNvPr id="967686" name="Line 6"/>
            <p:cNvSpPr>
              <a:spLocks noChangeShapeType="1"/>
            </p:cNvSpPr>
            <p:nvPr/>
          </p:nvSpPr>
          <p:spPr bwMode="auto">
            <a:xfrm>
              <a:off x="3610" y="814"/>
              <a:ext cx="0" cy="1458"/>
            </a:xfrm>
            <a:prstGeom prst="line">
              <a:avLst/>
            </a:prstGeom>
            <a:noFill/>
            <a:ln w="76200">
              <a:solidFill>
                <a:srgbClr val="969696"/>
              </a:solidFill>
              <a:round/>
              <a:headEnd/>
              <a:tailEnd/>
            </a:ln>
            <a:effectLst/>
          </p:spPr>
          <p:txBody>
            <a:bodyPr wrap="none" anchor="ctr"/>
            <a:lstStyle/>
            <a:p>
              <a:endParaRPr lang="en-US"/>
            </a:p>
          </p:txBody>
        </p:sp>
        <p:sp>
          <p:nvSpPr>
            <p:cNvPr id="967687" name="Line 7"/>
            <p:cNvSpPr>
              <a:spLocks noChangeShapeType="1"/>
            </p:cNvSpPr>
            <p:nvPr/>
          </p:nvSpPr>
          <p:spPr bwMode="auto">
            <a:xfrm>
              <a:off x="2231" y="814"/>
              <a:ext cx="0" cy="1458"/>
            </a:xfrm>
            <a:prstGeom prst="line">
              <a:avLst/>
            </a:prstGeom>
            <a:noFill/>
            <a:ln w="76200">
              <a:solidFill>
                <a:srgbClr val="969696"/>
              </a:solidFill>
              <a:round/>
              <a:headEnd/>
              <a:tailEnd/>
            </a:ln>
            <a:effectLst/>
          </p:spPr>
          <p:txBody>
            <a:bodyPr wrap="none" anchor="ctr"/>
            <a:lstStyle/>
            <a:p>
              <a:endParaRPr lang="en-US"/>
            </a:p>
          </p:txBody>
        </p:sp>
        <p:sp>
          <p:nvSpPr>
            <p:cNvPr id="967688" name="Rectangle 8"/>
            <p:cNvSpPr>
              <a:spLocks noChangeArrowheads="1"/>
            </p:cNvSpPr>
            <p:nvPr/>
          </p:nvSpPr>
          <p:spPr bwMode="auto">
            <a:xfrm>
              <a:off x="2833" y="938"/>
              <a:ext cx="178" cy="726"/>
            </a:xfrm>
            <a:prstGeom prst="rect">
              <a:avLst/>
            </a:prstGeom>
            <a:solidFill>
              <a:srgbClr val="B2B2B2"/>
            </a:solidFill>
            <a:ln w="12700">
              <a:solidFill>
                <a:srgbClr val="000000"/>
              </a:solidFill>
              <a:miter lim="800000"/>
              <a:headEnd/>
              <a:tailEnd/>
            </a:ln>
            <a:effectLst/>
          </p:spPr>
          <p:txBody>
            <a:bodyPr wrap="none" anchor="ctr"/>
            <a:lstStyle/>
            <a:p>
              <a:endParaRPr lang="en-US"/>
            </a:p>
          </p:txBody>
        </p:sp>
        <p:sp>
          <p:nvSpPr>
            <p:cNvPr id="967689" name="Rectangle 9"/>
            <p:cNvSpPr>
              <a:spLocks noChangeArrowheads="1"/>
            </p:cNvSpPr>
            <p:nvPr/>
          </p:nvSpPr>
          <p:spPr bwMode="auto">
            <a:xfrm>
              <a:off x="3014" y="1188"/>
              <a:ext cx="134" cy="299"/>
            </a:xfrm>
            <a:prstGeom prst="rect">
              <a:avLst/>
            </a:prstGeom>
            <a:solidFill>
              <a:srgbClr val="B2B2B2"/>
            </a:solidFill>
            <a:ln w="12700">
              <a:solidFill>
                <a:srgbClr val="000000"/>
              </a:solidFill>
              <a:miter lim="800000"/>
              <a:headEnd/>
              <a:tailEnd/>
            </a:ln>
            <a:effectLst/>
          </p:spPr>
          <p:txBody>
            <a:bodyPr wrap="none" anchor="ctr"/>
            <a:lstStyle/>
            <a:p>
              <a:endParaRPr lang="en-US"/>
            </a:p>
          </p:txBody>
        </p:sp>
        <p:sp>
          <p:nvSpPr>
            <p:cNvPr id="967690" name="Rectangle 10"/>
            <p:cNvSpPr>
              <a:spLocks noChangeArrowheads="1"/>
            </p:cNvSpPr>
            <p:nvPr/>
          </p:nvSpPr>
          <p:spPr bwMode="auto">
            <a:xfrm>
              <a:off x="2695" y="1188"/>
              <a:ext cx="134" cy="299"/>
            </a:xfrm>
            <a:prstGeom prst="rect">
              <a:avLst/>
            </a:prstGeom>
            <a:solidFill>
              <a:srgbClr val="B2B2B2"/>
            </a:solidFill>
            <a:ln w="12700">
              <a:solidFill>
                <a:srgbClr val="000000"/>
              </a:solidFill>
              <a:miter lim="800000"/>
              <a:headEnd/>
              <a:tailEnd/>
            </a:ln>
            <a:effectLst/>
          </p:spPr>
          <p:txBody>
            <a:bodyPr wrap="none" anchor="ctr"/>
            <a:lstStyle/>
            <a:p>
              <a:endParaRPr lang="en-US"/>
            </a:p>
          </p:txBody>
        </p:sp>
        <p:grpSp>
          <p:nvGrpSpPr>
            <p:cNvPr id="967691" name="Group 11"/>
            <p:cNvGrpSpPr>
              <a:grpSpLocks/>
            </p:cNvGrpSpPr>
            <p:nvPr/>
          </p:nvGrpSpPr>
          <p:grpSpPr bwMode="auto">
            <a:xfrm>
              <a:off x="2149" y="1107"/>
              <a:ext cx="172" cy="435"/>
              <a:chOff x="2149" y="1107"/>
              <a:chExt cx="172" cy="435"/>
            </a:xfrm>
          </p:grpSpPr>
          <p:sp>
            <p:nvSpPr>
              <p:cNvPr id="967692" name="Rectangle 12"/>
              <p:cNvSpPr>
                <a:spLocks noChangeArrowheads="1"/>
              </p:cNvSpPr>
              <p:nvPr/>
            </p:nvSpPr>
            <p:spPr bwMode="auto">
              <a:xfrm>
                <a:off x="2149" y="1122"/>
                <a:ext cx="172" cy="413"/>
              </a:xfrm>
              <a:prstGeom prst="rect">
                <a:avLst/>
              </a:prstGeom>
              <a:solidFill>
                <a:srgbClr val="FFFFFF"/>
              </a:solidFill>
              <a:ln w="12700">
                <a:solidFill>
                  <a:srgbClr val="000000"/>
                </a:solidFill>
                <a:miter lim="800000"/>
                <a:headEnd/>
                <a:tailEnd/>
              </a:ln>
              <a:effectLst/>
            </p:spPr>
            <p:txBody>
              <a:bodyPr wrap="none" anchor="ctr"/>
              <a:lstStyle/>
              <a:p>
                <a:endParaRPr lang="en-US"/>
              </a:p>
            </p:txBody>
          </p:sp>
          <p:sp>
            <p:nvSpPr>
              <p:cNvPr id="967693" name="Line 13"/>
              <p:cNvSpPr>
                <a:spLocks noChangeShapeType="1"/>
              </p:cNvSpPr>
              <p:nvPr/>
            </p:nvSpPr>
            <p:spPr bwMode="auto">
              <a:xfrm>
                <a:off x="2160" y="1123"/>
                <a:ext cx="159" cy="419"/>
              </a:xfrm>
              <a:prstGeom prst="line">
                <a:avLst/>
              </a:prstGeom>
              <a:noFill/>
              <a:ln w="12700">
                <a:solidFill>
                  <a:srgbClr val="000000"/>
                </a:solidFill>
                <a:round/>
                <a:headEnd/>
                <a:tailEnd/>
              </a:ln>
              <a:effectLst/>
            </p:spPr>
            <p:txBody>
              <a:bodyPr wrap="none" anchor="ctr"/>
              <a:lstStyle/>
              <a:p>
                <a:endParaRPr lang="en-US"/>
              </a:p>
            </p:txBody>
          </p:sp>
          <p:sp>
            <p:nvSpPr>
              <p:cNvPr id="967694" name="Line 14"/>
              <p:cNvSpPr>
                <a:spLocks noChangeShapeType="1"/>
              </p:cNvSpPr>
              <p:nvPr/>
            </p:nvSpPr>
            <p:spPr bwMode="auto">
              <a:xfrm flipV="1">
                <a:off x="2159" y="1107"/>
                <a:ext cx="152" cy="435"/>
              </a:xfrm>
              <a:prstGeom prst="line">
                <a:avLst/>
              </a:prstGeom>
              <a:noFill/>
              <a:ln w="12700">
                <a:solidFill>
                  <a:srgbClr val="000000"/>
                </a:solidFill>
                <a:round/>
                <a:headEnd/>
                <a:tailEnd/>
              </a:ln>
              <a:effectLst/>
            </p:spPr>
            <p:txBody>
              <a:bodyPr wrap="none" anchor="ctr"/>
              <a:lstStyle/>
              <a:p>
                <a:endParaRPr lang="en-US"/>
              </a:p>
            </p:txBody>
          </p:sp>
        </p:grpSp>
        <p:grpSp>
          <p:nvGrpSpPr>
            <p:cNvPr id="967695" name="Group 15"/>
            <p:cNvGrpSpPr>
              <a:grpSpLocks/>
            </p:cNvGrpSpPr>
            <p:nvPr/>
          </p:nvGrpSpPr>
          <p:grpSpPr bwMode="auto">
            <a:xfrm>
              <a:off x="3520" y="1107"/>
              <a:ext cx="172" cy="435"/>
              <a:chOff x="3520" y="1107"/>
              <a:chExt cx="172" cy="435"/>
            </a:xfrm>
          </p:grpSpPr>
          <p:sp>
            <p:nvSpPr>
              <p:cNvPr id="967696" name="Rectangle 16"/>
              <p:cNvSpPr>
                <a:spLocks noChangeArrowheads="1"/>
              </p:cNvSpPr>
              <p:nvPr/>
            </p:nvSpPr>
            <p:spPr bwMode="auto">
              <a:xfrm>
                <a:off x="3520" y="1122"/>
                <a:ext cx="172" cy="413"/>
              </a:xfrm>
              <a:prstGeom prst="rect">
                <a:avLst/>
              </a:prstGeom>
              <a:solidFill>
                <a:srgbClr val="FFFFFF"/>
              </a:solidFill>
              <a:ln w="12700">
                <a:solidFill>
                  <a:srgbClr val="000000"/>
                </a:solidFill>
                <a:miter lim="800000"/>
                <a:headEnd/>
                <a:tailEnd/>
              </a:ln>
              <a:effectLst/>
            </p:spPr>
            <p:txBody>
              <a:bodyPr wrap="none" anchor="ctr"/>
              <a:lstStyle/>
              <a:p>
                <a:endParaRPr lang="en-US"/>
              </a:p>
            </p:txBody>
          </p:sp>
          <p:sp>
            <p:nvSpPr>
              <p:cNvPr id="967697" name="Line 17"/>
              <p:cNvSpPr>
                <a:spLocks noChangeShapeType="1"/>
              </p:cNvSpPr>
              <p:nvPr/>
            </p:nvSpPr>
            <p:spPr bwMode="auto">
              <a:xfrm>
                <a:off x="3531" y="1123"/>
                <a:ext cx="159" cy="419"/>
              </a:xfrm>
              <a:prstGeom prst="line">
                <a:avLst/>
              </a:prstGeom>
              <a:noFill/>
              <a:ln w="12700">
                <a:solidFill>
                  <a:srgbClr val="000000"/>
                </a:solidFill>
                <a:round/>
                <a:headEnd/>
                <a:tailEnd/>
              </a:ln>
              <a:effectLst/>
            </p:spPr>
            <p:txBody>
              <a:bodyPr wrap="none" anchor="ctr"/>
              <a:lstStyle/>
              <a:p>
                <a:endParaRPr lang="en-US"/>
              </a:p>
            </p:txBody>
          </p:sp>
          <p:sp>
            <p:nvSpPr>
              <p:cNvPr id="967698" name="Line 18"/>
              <p:cNvSpPr>
                <a:spLocks noChangeShapeType="1"/>
              </p:cNvSpPr>
              <p:nvPr/>
            </p:nvSpPr>
            <p:spPr bwMode="auto">
              <a:xfrm flipV="1">
                <a:off x="3530" y="1107"/>
                <a:ext cx="152" cy="435"/>
              </a:xfrm>
              <a:prstGeom prst="line">
                <a:avLst/>
              </a:prstGeom>
              <a:noFill/>
              <a:ln w="12700">
                <a:solidFill>
                  <a:srgbClr val="000000"/>
                </a:solidFill>
                <a:round/>
                <a:headEnd/>
                <a:tailEnd/>
              </a:ln>
              <a:effectLst/>
            </p:spPr>
            <p:txBody>
              <a:bodyPr wrap="none" anchor="ctr"/>
              <a:lstStyle/>
              <a:p>
                <a:endParaRPr lang="en-US"/>
              </a:p>
            </p:txBody>
          </p:sp>
        </p:grpSp>
        <p:sp>
          <p:nvSpPr>
            <p:cNvPr id="967699" name="Rectangle 19"/>
            <p:cNvSpPr>
              <a:spLocks noChangeArrowheads="1"/>
            </p:cNvSpPr>
            <p:nvPr/>
          </p:nvSpPr>
          <p:spPr bwMode="auto">
            <a:xfrm>
              <a:off x="2835" y="1672"/>
              <a:ext cx="175" cy="452"/>
            </a:xfrm>
            <a:prstGeom prst="rect">
              <a:avLst/>
            </a:prstGeom>
            <a:solidFill>
              <a:srgbClr val="B2B2B2"/>
            </a:solidFill>
            <a:ln w="12700">
              <a:solidFill>
                <a:srgbClr val="000000"/>
              </a:solidFill>
              <a:miter lim="800000"/>
              <a:headEnd/>
              <a:tailEnd/>
            </a:ln>
            <a:effectLst/>
          </p:spPr>
          <p:txBody>
            <a:bodyPr wrap="none" anchor="ctr"/>
            <a:lstStyle/>
            <a:p>
              <a:endParaRPr lang="en-US"/>
            </a:p>
          </p:txBody>
        </p:sp>
        <p:sp>
          <p:nvSpPr>
            <p:cNvPr id="967700" name="Rectangle 20"/>
            <p:cNvSpPr>
              <a:spLocks noChangeArrowheads="1"/>
            </p:cNvSpPr>
            <p:nvPr/>
          </p:nvSpPr>
          <p:spPr bwMode="auto">
            <a:xfrm>
              <a:off x="3019" y="1829"/>
              <a:ext cx="136" cy="184"/>
            </a:xfrm>
            <a:prstGeom prst="rect">
              <a:avLst/>
            </a:prstGeom>
            <a:solidFill>
              <a:srgbClr val="B2B2B2"/>
            </a:solidFill>
            <a:ln w="12700">
              <a:solidFill>
                <a:srgbClr val="000000"/>
              </a:solidFill>
              <a:miter lim="800000"/>
              <a:headEnd/>
              <a:tailEnd/>
            </a:ln>
            <a:effectLst/>
          </p:spPr>
          <p:txBody>
            <a:bodyPr wrap="none" anchor="ctr"/>
            <a:lstStyle/>
            <a:p>
              <a:endParaRPr lang="en-US"/>
            </a:p>
          </p:txBody>
        </p:sp>
        <p:sp>
          <p:nvSpPr>
            <p:cNvPr id="967701" name="Rectangle 21"/>
            <p:cNvSpPr>
              <a:spLocks noChangeArrowheads="1"/>
            </p:cNvSpPr>
            <p:nvPr/>
          </p:nvSpPr>
          <p:spPr bwMode="auto">
            <a:xfrm>
              <a:off x="2687" y="1829"/>
              <a:ext cx="137" cy="184"/>
            </a:xfrm>
            <a:prstGeom prst="rect">
              <a:avLst/>
            </a:prstGeom>
            <a:solidFill>
              <a:srgbClr val="B2B2B2"/>
            </a:solidFill>
            <a:ln w="12700">
              <a:solidFill>
                <a:srgbClr val="000000"/>
              </a:solidFill>
              <a:miter lim="800000"/>
              <a:headEnd/>
              <a:tailEnd/>
            </a:ln>
            <a:effectLst/>
          </p:spPr>
          <p:txBody>
            <a:bodyPr wrap="none" anchor="ctr"/>
            <a:lstStyle/>
            <a:p>
              <a:endParaRPr lang="en-US"/>
            </a:p>
          </p:txBody>
        </p:sp>
        <p:grpSp>
          <p:nvGrpSpPr>
            <p:cNvPr id="967702" name="Group 22"/>
            <p:cNvGrpSpPr>
              <a:grpSpLocks/>
            </p:cNvGrpSpPr>
            <p:nvPr/>
          </p:nvGrpSpPr>
          <p:grpSpPr bwMode="auto">
            <a:xfrm>
              <a:off x="2149" y="1775"/>
              <a:ext cx="174" cy="275"/>
              <a:chOff x="2149" y="1775"/>
              <a:chExt cx="174" cy="275"/>
            </a:xfrm>
          </p:grpSpPr>
          <p:sp>
            <p:nvSpPr>
              <p:cNvPr id="967703" name="Rectangle 23"/>
              <p:cNvSpPr>
                <a:spLocks noChangeArrowheads="1"/>
              </p:cNvSpPr>
              <p:nvPr/>
            </p:nvSpPr>
            <p:spPr bwMode="auto">
              <a:xfrm>
                <a:off x="2149" y="1787"/>
                <a:ext cx="174" cy="257"/>
              </a:xfrm>
              <a:prstGeom prst="rect">
                <a:avLst/>
              </a:prstGeom>
              <a:solidFill>
                <a:srgbClr val="FFFFFF"/>
              </a:solidFill>
              <a:ln w="12700">
                <a:solidFill>
                  <a:srgbClr val="000000"/>
                </a:solidFill>
                <a:miter lim="800000"/>
                <a:headEnd/>
                <a:tailEnd/>
              </a:ln>
              <a:effectLst/>
            </p:spPr>
            <p:txBody>
              <a:bodyPr wrap="none" anchor="ctr"/>
              <a:lstStyle/>
              <a:p>
                <a:endParaRPr lang="en-US"/>
              </a:p>
            </p:txBody>
          </p:sp>
          <p:sp>
            <p:nvSpPr>
              <p:cNvPr id="967704" name="Line 24"/>
              <p:cNvSpPr>
                <a:spLocks noChangeShapeType="1"/>
              </p:cNvSpPr>
              <p:nvPr/>
            </p:nvSpPr>
            <p:spPr bwMode="auto">
              <a:xfrm>
                <a:off x="2160" y="1788"/>
                <a:ext cx="162" cy="259"/>
              </a:xfrm>
              <a:prstGeom prst="line">
                <a:avLst/>
              </a:prstGeom>
              <a:noFill/>
              <a:ln w="12700">
                <a:solidFill>
                  <a:srgbClr val="000000"/>
                </a:solidFill>
                <a:round/>
                <a:headEnd/>
                <a:tailEnd/>
              </a:ln>
              <a:effectLst/>
            </p:spPr>
            <p:txBody>
              <a:bodyPr wrap="none" anchor="ctr"/>
              <a:lstStyle/>
              <a:p>
                <a:endParaRPr lang="en-US"/>
              </a:p>
            </p:txBody>
          </p:sp>
          <p:sp>
            <p:nvSpPr>
              <p:cNvPr id="967705" name="Line 25"/>
              <p:cNvSpPr>
                <a:spLocks noChangeShapeType="1"/>
              </p:cNvSpPr>
              <p:nvPr/>
            </p:nvSpPr>
            <p:spPr bwMode="auto">
              <a:xfrm flipV="1">
                <a:off x="2159" y="1775"/>
                <a:ext cx="154" cy="275"/>
              </a:xfrm>
              <a:prstGeom prst="line">
                <a:avLst/>
              </a:prstGeom>
              <a:noFill/>
              <a:ln w="12700">
                <a:solidFill>
                  <a:srgbClr val="000000"/>
                </a:solidFill>
                <a:round/>
                <a:headEnd/>
                <a:tailEnd/>
              </a:ln>
              <a:effectLst/>
            </p:spPr>
            <p:txBody>
              <a:bodyPr wrap="none" anchor="ctr"/>
              <a:lstStyle/>
              <a:p>
                <a:endParaRPr lang="en-US"/>
              </a:p>
            </p:txBody>
          </p:sp>
        </p:grpSp>
        <p:grpSp>
          <p:nvGrpSpPr>
            <p:cNvPr id="967706" name="Group 26"/>
            <p:cNvGrpSpPr>
              <a:grpSpLocks/>
            </p:cNvGrpSpPr>
            <p:nvPr/>
          </p:nvGrpSpPr>
          <p:grpSpPr bwMode="auto">
            <a:xfrm>
              <a:off x="3540" y="1775"/>
              <a:ext cx="175" cy="275"/>
              <a:chOff x="3540" y="1775"/>
              <a:chExt cx="175" cy="275"/>
            </a:xfrm>
          </p:grpSpPr>
          <p:sp>
            <p:nvSpPr>
              <p:cNvPr id="967707" name="Rectangle 27"/>
              <p:cNvSpPr>
                <a:spLocks noChangeArrowheads="1"/>
              </p:cNvSpPr>
              <p:nvPr/>
            </p:nvSpPr>
            <p:spPr bwMode="auto">
              <a:xfrm>
                <a:off x="3540" y="1787"/>
                <a:ext cx="175" cy="257"/>
              </a:xfrm>
              <a:prstGeom prst="rect">
                <a:avLst/>
              </a:prstGeom>
              <a:solidFill>
                <a:srgbClr val="FFFFFF"/>
              </a:solidFill>
              <a:ln w="12700">
                <a:solidFill>
                  <a:srgbClr val="000000"/>
                </a:solidFill>
                <a:miter lim="800000"/>
                <a:headEnd/>
                <a:tailEnd/>
              </a:ln>
              <a:effectLst/>
            </p:spPr>
            <p:txBody>
              <a:bodyPr wrap="none" anchor="ctr"/>
              <a:lstStyle/>
              <a:p>
                <a:endParaRPr lang="en-US"/>
              </a:p>
            </p:txBody>
          </p:sp>
          <p:sp>
            <p:nvSpPr>
              <p:cNvPr id="967708" name="Line 28"/>
              <p:cNvSpPr>
                <a:spLocks noChangeShapeType="1"/>
              </p:cNvSpPr>
              <p:nvPr/>
            </p:nvSpPr>
            <p:spPr bwMode="auto">
              <a:xfrm>
                <a:off x="3551" y="1788"/>
                <a:ext cx="162" cy="259"/>
              </a:xfrm>
              <a:prstGeom prst="line">
                <a:avLst/>
              </a:prstGeom>
              <a:noFill/>
              <a:ln w="12700">
                <a:solidFill>
                  <a:srgbClr val="000000"/>
                </a:solidFill>
                <a:round/>
                <a:headEnd/>
                <a:tailEnd/>
              </a:ln>
              <a:effectLst/>
            </p:spPr>
            <p:txBody>
              <a:bodyPr wrap="none" anchor="ctr"/>
              <a:lstStyle/>
              <a:p>
                <a:endParaRPr lang="en-US"/>
              </a:p>
            </p:txBody>
          </p:sp>
          <p:sp>
            <p:nvSpPr>
              <p:cNvPr id="967709" name="Line 29"/>
              <p:cNvSpPr>
                <a:spLocks noChangeShapeType="1"/>
              </p:cNvSpPr>
              <p:nvPr/>
            </p:nvSpPr>
            <p:spPr bwMode="auto">
              <a:xfrm flipV="1">
                <a:off x="3551" y="1775"/>
                <a:ext cx="155" cy="275"/>
              </a:xfrm>
              <a:prstGeom prst="line">
                <a:avLst/>
              </a:prstGeom>
              <a:noFill/>
              <a:ln w="12700">
                <a:solidFill>
                  <a:srgbClr val="000000"/>
                </a:solidFill>
                <a:round/>
                <a:headEnd/>
                <a:tailEnd/>
              </a:ln>
              <a:effectLst/>
            </p:spPr>
            <p:txBody>
              <a:bodyPr wrap="none" anchor="ctr"/>
              <a:lstStyle/>
              <a:p>
                <a:endParaRPr lang="en-US"/>
              </a:p>
            </p:txBody>
          </p:sp>
        </p:grpSp>
        <p:sp>
          <p:nvSpPr>
            <p:cNvPr id="967710" name="Rectangle 30"/>
            <p:cNvSpPr>
              <a:spLocks noChangeArrowheads="1"/>
            </p:cNvSpPr>
            <p:nvPr/>
          </p:nvSpPr>
          <p:spPr bwMode="auto">
            <a:xfrm>
              <a:off x="3792" y="1664"/>
              <a:ext cx="482" cy="229"/>
            </a:xfrm>
            <a:prstGeom prst="rect">
              <a:avLst/>
            </a:prstGeom>
            <a:noFill/>
            <a:ln w="12700">
              <a:noFill/>
              <a:miter lim="800000"/>
              <a:headEnd/>
              <a:tailEnd/>
            </a:ln>
            <a:effectLst/>
          </p:spPr>
          <p:txBody>
            <a:bodyPr wrap="none" lIns="90488" tIns="44450" rIns="90488" bIns="44450">
              <a:spAutoFit/>
            </a:bodyPr>
            <a:lstStyle/>
            <a:p>
              <a:r>
                <a:rPr lang="en-US" sz="1800" i="1">
                  <a:solidFill>
                    <a:srgbClr val="000000"/>
                  </a:solidFill>
                </a:rPr>
                <a:t>RPM2</a:t>
              </a:r>
            </a:p>
          </p:txBody>
        </p:sp>
        <p:sp>
          <p:nvSpPr>
            <p:cNvPr id="967711" name="Rectangle 31"/>
            <p:cNvSpPr>
              <a:spLocks noChangeArrowheads="1"/>
            </p:cNvSpPr>
            <p:nvPr/>
          </p:nvSpPr>
          <p:spPr bwMode="auto">
            <a:xfrm>
              <a:off x="2995" y="909"/>
              <a:ext cx="266" cy="229"/>
            </a:xfrm>
            <a:prstGeom prst="rect">
              <a:avLst/>
            </a:prstGeom>
            <a:noFill/>
            <a:ln w="12700">
              <a:noFill/>
              <a:miter lim="800000"/>
              <a:headEnd/>
              <a:tailEnd/>
            </a:ln>
            <a:effectLst/>
          </p:spPr>
          <p:txBody>
            <a:bodyPr wrap="none" lIns="90488" tIns="44450" rIns="90488" bIns="44450">
              <a:spAutoFit/>
            </a:bodyPr>
            <a:lstStyle/>
            <a:p>
              <a:r>
                <a:rPr lang="en-US" sz="1800" i="1">
                  <a:solidFill>
                    <a:srgbClr val="000000"/>
                  </a:solidFill>
                </a:rPr>
                <a:t>Z1</a:t>
              </a:r>
            </a:p>
          </p:txBody>
        </p:sp>
        <p:sp>
          <p:nvSpPr>
            <p:cNvPr id="967712" name="Rectangle 32"/>
            <p:cNvSpPr>
              <a:spLocks noChangeArrowheads="1"/>
            </p:cNvSpPr>
            <p:nvPr/>
          </p:nvSpPr>
          <p:spPr bwMode="auto">
            <a:xfrm>
              <a:off x="2607" y="2000"/>
              <a:ext cx="266" cy="229"/>
            </a:xfrm>
            <a:prstGeom prst="rect">
              <a:avLst/>
            </a:prstGeom>
            <a:noFill/>
            <a:ln w="12700">
              <a:noFill/>
              <a:miter lim="800000"/>
              <a:headEnd/>
              <a:tailEnd/>
            </a:ln>
            <a:effectLst/>
          </p:spPr>
          <p:txBody>
            <a:bodyPr wrap="none" lIns="90488" tIns="44450" rIns="90488" bIns="44450">
              <a:spAutoFit/>
            </a:bodyPr>
            <a:lstStyle/>
            <a:p>
              <a:r>
                <a:rPr lang="en-US" sz="1800" i="1">
                  <a:solidFill>
                    <a:srgbClr val="000000"/>
                  </a:solidFill>
                </a:rPr>
                <a:t>Z2</a:t>
              </a:r>
            </a:p>
          </p:txBody>
        </p:sp>
        <p:sp>
          <p:nvSpPr>
            <p:cNvPr id="967713" name="Freeform 33"/>
            <p:cNvSpPr>
              <a:spLocks/>
            </p:cNvSpPr>
            <p:nvPr/>
          </p:nvSpPr>
          <p:spPr bwMode="auto">
            <a:xfrm>
              <a:off x="2331" y="1859"/>
              <a:ext cx="349" cy="18"/>
            </a:xfrm>
            <a:custGeom>
              <a:avLst/>
              <a:gdLst/>
              <a:ahLst/>
              <a:cxnLst>
                <a:cxn ang="0">
                  <a:pos x="0" y="0"/>
                </a:cxn>
                <a:cxn ang="0">
                  <a:pos x="348" y="0"/>
                </a:cxn>
                <a:cxn ang="0">
                  <a:pos x="348" y="17"/>
                </a:cxn>
                <a:cxn ang="0">
                  <a:pos x="0" y="17"/>
                </a:cxn>
                <a:cxn ang="0">
                  <a:pos x="0" y="0"/>
                </a:cxn>
              </a:cxnLst>
              <a:rect l="0" t="0" r="r" b="b"/>
              <a:pathLst>
                <a:path w="349" h="18">
                  <a:moveTo>
                    <a:pt x="0" y="0"/>
                  </a:moveTo>
                  <a:lnTo>
                    <a:pt x="348" y="0"/>
                  </a:lnTo>
                  <a:lnTo>
                    <a:pt x="348" y="17"/>
                  </a:lnTo>
                  <a:lnTo>
                    <a:pt x="0" y="17"/>
                  </a:lnTo>
                  <a:lnTo>
                    <a:pt x="0" y="0"/>
                  </a:lnTo>
                </a:path>
              </a:pathLst>
            </a:custGeom>
            <a:solidFill>
              <a:srgbClr val="B2B2B2"/>
            </a:solidFill>
            <a:ln w="12700" cap="rnd" cmpd="sng">
              <a:noFill/>
              <a:prstDash val="solid"/>
              <a:round/>
              <a:headEnd type="none" w="med" len="med"/>
              <a:tailEnd type="none" w="med" len="med"/>
            </a:ln>
            <a:effectLst/>
          </p:spPr>
          <p:txBody>
            <a:bodyPr/>
            <a:lstStyle/>
            <a:p>
              <a:endParaRPr lang="en-US"/>
            </a:p>
          </p:txBody>
        </p:sp>
        <p:sp>
          <p:nvSpPr>
            <p:cNvPr id="967714" name="Freeform 34"/>
            <p:cNvSpPr>
              <a:spLocks/>
            </p:cNvSpPr>
            <p:nvPr/>
          </p:nvSpPr>
          <p:spPr bwMode="auto">
            <a:xfrm>
              <a:off x="2331" y="1876"/>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B0B0B0"/>
            </a:solidFill>
            <a:ln w="12700" cap="rnd" cmpd="sng">
              <a:noFill/>
              <a:prstDash val="solid"/>
              <a:round/>
              <a:headEnd type="none" w="med" len="med"/>
              <a:tailEnd type="none" w="med" len="med"/>
            </a:ln>
            <a:effectLst/>
          </p:spPr>
          <p:txBody>
            <a:bodyPr/>
            <a:lstStyle/>
            <a:p>
              <a:endParaRPr lang="en-US"/>
            </a:p>
          </p:txBody>
        </p:sp>
        <p:sp>
          <p:nvSpPr>
            <p:cNvPr id="967715" name="Freeform 35"/>
            <p:cNvSpPr>
              <a:spLocks/>
            </p:cNvSpPr>
            <p:nvPr/>
          </p:nvSpPr>
          <p:spPr bwMode="auto">
            <a:xfrm>
              <a:off x="2331" y="1879"/>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ACACAC"/>
            </a:solidFill>
            <a:ln w="12700" cap="rnd" cmpd="sng">
              <a:noFill/>
              <a:prstDash val="solid"/>
              <a:round/>
              <a:headEnd type="none" w="med" len="med"/>
              <a:tailEnd type="none" w="med" len="med"/>
            </a:ln>
            <a:effectLst/>
          </p:spPr>
          <p:txBody>
            <a:bodyPr/>
            <a:lstStyle/>
            <a:p>
              <a:endParaRPr lang="en-US"/>
            </a:p>
          </p:txBody>
        </p:sp>
        <p:sp>
          <p:nvSpPr>
            <p:cNvPr id="967716" name="Freeform 36"/>
            <p:cNvSpPr>
              <a:spLocks/>
            </p:cNvSpPr>
            <p:nvPr/>
          </p:nvSpPr>
          <p:spPr bwMode="auto">
            <a:xfrm>
              <a:off x="2331" y="1883"/>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A8A8A8"/>
            </a:solidFill>
            <a:ln w="12700" cap="rnd" cmpd="sng">
              <a:noFill/>
              <a:prstDash val="solid"/>
              <a:round/>
              <a:headEnd type="none" w="med" len="med"/>
              <a:tailEnd type="none" w="med" len="med"/>
            </a:ln>
            <a:effectLst/>
          </p:spPr>
          <p:txBody>
            <a:bodyPr/>
            <a:lstStyle/>
            <a:p>
              <a:endParaRPr lang="en-US"/>
            </a:p>
          </p:txBody>
        </p:sp>
        <p:sp>
          <p:nvSpPr>
            <p:cNvPr id="967717" name="Freeform 37"/>
            <p:cNvSpPr>
              <a:spLocks/>
            </p:cNvSpPr>
            <p:nvPr/>
          </p:nvSpPr>
          <p:spPr bwMode="auto">
            <a:xfrm>
              <a:off x="2331" y="1886"/>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A4A4A4"/>
            </a:solidFill>
            <a:ln w="12700" cap="rnd" cmpd="sng">
              <a:noFill/>
              <a:prstDash val="solid"/>
              <a:round/>
              <a:headEnd type="none" w="med" len="med"/>
              <a:tailEnd type="none" w="med" len="med"/>
            </a:ln>
            <a:effectLst/>
          </p:spPr>
          <p:txBody>
            <a:bodyPr/>
            <a:lstStyle/>
            <a:p>
              <a:endParaRPr lang="en-US"/>
            </a:p>
          </p:txBody>
        </p:sp>
        <p:sp>
          <p:nvSpPr>
            <p:cNvPr id="967718" name="Freeform 38"/>
            <p:cNvSpPr>
              <a:spLocks/>
            </p:cNvSpPr>
            <p:nvPr/>
          </p:nvSpPr>
          <p:spPr bwMode="auto">
            <a:xfrm>
              <a:off x="2331" y="1890"/>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A0A0A0"/>
            </a:solidFill>
            <a:ln w="12700" cap="rnd" cmpd="sng">
              <a:noFill/>
              <a:prstDash val="solid"/>
              <a:round/>
              <a:headEnd type="none" w="med" len="med"/>
              <a:tailEnd type="none" w="med" len="med"/>
            </a:ln>
            <a:effectLst/>
          </p:spPr>
          <p:txBody>
            <a:bodyPr/>
            <a:lstStyle/>
            <a:p>
              <a:endParaRPr lang="en-US"/>
            </a:p>
          </p:txBody>
        </p:sp>
        <p:sp>
          <p:nvSpPr>
            <p:cNvPr id="967719" name="Freeform 39"/>
            <p:cNvSpPr>
              <a:spLocks/>
            </p:cNvSpPr>
            <p:nvPr/>
          </p:nvSpPr>
          <p:spPr bwMode="auto">
            <a:xfrm>
              <a:off x="2331" y="1893"/>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9C9C9C"/>
            </a:solidFill>
            <a:ln w="12700" cap="rnd" cmpd="sng">
              <a:noFill/>
              <a:prstDash val="solid"/>
              <a:round/>
              <a:headEnd type="none" w="med" len="med"/>
              <a:tailEnd type="none" w="med" len="med"/>
            </a:ln>
            <a:effectLst/>
          </p:spPr>
          <p:txBody>
            <a:bodyPr/>
            <a:lstStyle/>
            <a:p>
              <a:endParaRPr lang="en-US"/>
            </a:p>
          </p:txBody>
        </p:sp>
        <p:sp>
          <p:nvSpPr>
            <p:cNvPr id="967720" name="Freeform 40"/>
            <p:cNvSpPr>
              <a:spLocks/>
            </p:cNvSpPr>
            <p:nvPr/>
          </p:nvSpPr>
          <p:spPr bwMode="auto">
            <a:xfrm>
              <a:off x="2331" y="1897"/>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989898"/>
            </a:solidFill>
            <a:ln w="12700" cap="rnd" cmpd="sng">
              <a:noFill/>
              <a:prstDash val="solid"/>
              <a:round/>
              <a:headEnd type="none" w="med" len="med"/>
              <a:tailEnd type="none" w="med" len="med"/>
            </a:ln>
            <a:effectLst/>
          </p:spPr>
          <p:txBody>
            <a:bodyPr/>
            <a:lstStyle/>
            <a:p>
              <a:endParaRPr lang="en-US"/>
            </a:p>
          </p:txBody>
        </p:sp>
        <p:sp>
          <p:nvSpPr>
            <p:cNvPr id="967721" name="Freeform 41"/>
            <p:cNvSpPr>
              <a:spLocks/>
            </p:cNvSpPr>
            <p:nvPr/>
          </p:nvSpPr>
          <p:spPr bwMode="auto">
            <a:xfrm>
              <a:off x="2331" y="1900"/>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949494"/>
            </a:solidFill>
            <a:ln w="12700" cap="rnd" cmpd="sng">
              <a:noFill/>
              <a:prstDash val="solid"/>
              <a:round/>
              <a:headEnd type="none" w="med" len="med"/>
              <a:tailEnd type="none" w="med" len="med"/>
            </a:ln>
            <a:effectLst/>
          </p:spPr>
          <p:txBody>
            <a:bodyPr/>
            <a:lstStyle/>
            <a:p>
              <a:endParaRPr lang="en-US"/>
            </a:p>
          </p:txBody>
        </p:sp>
        <p:sp>
          <p:nvSpPr>
            <p:cNvPr id="967722" name="Freeform 42"/>
            <p:cNvSpPr>
              <a:spLocks/>
            </p:cNvSpPr>
            <p:nvPr/>
          </p:nvSpPr>
          <p:spPr bwMode="auto">
            <a:xfrm>
              <a:off x="2331" y="1904"/>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909090"/>
            </a:solidFill>
            <a:ln w="12700" cap="rnd" cmpd="sng">
              <a:noFill/>
              <a:prstDash val="solid"/>
              <a:round/>
              <a:headEnd type="none" w="med" len="med"/>
              <a:tailEnd type="none" w="med" len="med"/>
            </a:ln>
            <a:effectLst/>
          </p:spPr>
          <p:txBody>
            <a:bodyPr/>
            <a:lstStyle/>
            <a:p>
              <a:endParaRPr lang="en-US"/>
            </a:p>
          </p:txBody>
        </p:sp>
        <p:sp>
          <p:nvSpPr>
            <p:cNvPr id="967723" name="Freeform 43"/>
            <p:cNvSpPr>
              <a:spLocks/>
            </p:cNvSpPr>
            <p:nvPr/>
          </p:nvSpPr>
          <p:spPr bwMode="auto">
            <a:xfrm>
              <a:off x="2331" y="1907"/>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8C8C8C"/>
            </a:solidFill>
            <a:ln w="12700" cap="rnd" cmpd="sng">
              <a:noFill/>
              <a:prstDash val="solid"/>
              <a:round/>
              <a:headEnd type="none" w="med" len="med"/>
              <a:tailEnd type="none" w="med" len="med"/>
            </a:ln>
            <a:effectLst/>
          </p:spPr>
          <p:txBody>
            <a:bodyPr/>
            <a:lstStyle/>
            <a:p>
              <a:endParaRPr lang="en-US"/>
            </a:p>
          </p:txBody>
        </p:sp>
        <p:sp>
          <p:nvSpPr>
            <p:cNvPr id="967724" name="Freeform 44"/>
            <p:cNvSpPr>
              <a:spLocks/>
            </p:cNvSpPr>
            <p:nvPr/>
          </p:nvSpPr>
          <p:spPr bwMode="auto">
            <a:xfrm>
              <a:off x="2331" y="1911"/>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888888"/>
            </a:solidFill>
            <a:ln w="12700" cap="rnd" cmpd="sng">
              <a:noFill/>
              <a:prstDash val="solid"/>
              <a:round/>
              <a:headEnd type="none" w="med" len="med"/>
              <a:tailEnd type="none" w="med" len="med"/>
            </a:ln>
            <a:effectLst/>
          </p:spPr>
          <p:txBody>
            <a:bodyPr/>
            <a:lstStyle/>
            <a:p>
              <a:endParaRPr lang="en-US"/>
            </a:p>
          </p:txBody>
        </p:sp>
        <p:sp>
          <p:nvSpPr>
            <p:cNvPr id="967725" name="Freeform 45"/>
            <p:cNvSpPr>
              <a:spLocks/>
            </p:cNvSpPr>
            <p:nvPr/>
          </p:nvSpPr>
          <p:spPr bwMode="auto">
            <a:xfrm>
              <a:off x="2331" y="1915"/>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848484"/>
            </a:solidFill>
            <a:ln w="12700" cap="rnd" cmpd="sng">
              <a:noFill/>
              <a:prstDash val="solid"/>
              <a:round/>
              <a:headEnd type="none" w="med" len="med"/>
              <a:tailEnd type="none" w="med" len="med"/>
            </a:ln>
            <a:effectLst/>
          </p:spPr>
          <p:txBody>
            <a:bodyPr/>
            <a:lstStyle/>
            <a:p>
              <a:endParaRPr lang="en-US"/>
            </a:p>
          </p:txBody>
        </p:sp>
        <p:sp>
          <p:nvSpPr>
            <p:cNvPr id="967726" name="Freeform 46"/>
            <p:cNvSpPr>
              <a:spLocks/>
            </p:cNvSpPr>
            <p:nvPr/>
          </p:nvSpPr>
          <p:spPr bwMode="auto">
            <a:xfrm>
              <a:off x="2331" y="1918"/>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808080"/>
            </a:solidFill>
            <a:ln w="12700" cap="rnd" cmpd="sng">
              <a:noFill/>
              <a:prstDash val="solid"/>
              <a:round/>
              <a:headEnd type="none" w="med" len="med"/>
              <a:tailEnd type="none" w="med" len="med"/>
            </a:ln>
            <a:effectLst/>
          </p:spPr>
          <p:txBody>
            <a:bodyPr/>
            <a:lstStyle/>
            <a:p>
              <a:endParaRPr lang="en-US"/>
            </a:p>
          </p:txBody>
        </p:sp>
        <p:sp>
          <p:nvSpPr>
            <p:cNvPr id="967727" name="Freeform 47"/>
            <p:cNvSpPr>
              <a:spLocks/>
            </p:cNvSpPr>
            <p:nvPr/>
          </p:nvSpPr>
          <p:spPr bwMode="auto">
            <a:xfrm>
              <a:off x="2331" y="1921"/>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7C7C7C"/>
            </a:solidFill>
            <a:ln w="12700" cap="rnd" cmpd="sng">
              <a:noFill/>
              <a:prstDash val="solid"/>
              <a:round/>
              <a:headEnd type="none" w="med" len="med"/>
              <a:tailEnd type="none" w="med" len="med"/>
            </a:ln>
            <a:effectLst/>
          </p:spPr>
          <p:txBody>
            <a:bodyPr/>
            <a:lstStyle/>
            <a:p>
              <a:endParaRPr lang="en-US"/>
            </a:p>
          </p:txBody>
        </p:sp>
        <p:sp>
          <p:nvSpPr>
            <p:cNvPr id="967728" name="Freeform 48"/>
            <p:cNvSpPr>
              <a:spLocks/>
            </p:cNvSpPr>
            <p:nvPr/>
          </p:nvSpPr>
          <p:spPr bwMode="auto">
            <a:xfrm>
              <a:off x="2331" y="1925"/>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787878"/>
            </a:solidFill>
            <a:ln w="12700" cap="rnd" cmpd="sng">
              <a:noFill/>
              <a:prstDash val="solid"/>
              <a:round/>
              <a:headEnd type="none" w="med" len="med"/>
              <a:tailEnd type="none" w="med" len="med"/>
            </a:ln>
            <a:effectLst/>
          </p:spPr>
          <p:txBody>
            <a:bodyPr/>
            <a:lstStyle/>
            <a:p>
              <a:endParaRPr lang="en-US"/>
            </a:p>
          </p:txBody>
        </p:sp>
        <p:sp>
          <p:nvSpPr>
            <p:cNvPr id="967729" name="Freeform 49"/>
            <p:cNvSpPr>
              <a:spLocks/>
            </p:cNvSpPr>
            <p:nvPr/>
          </p:nvSpPr>
          <p:spPr bwMode="auto">
            <a:xfrm>
              <a:off x="2331" y="1929"/>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747474"/>
            </a:solidFill>
            <a:ln w="12700" cap="rnd" cmpd="sng">
              <a:noFill/>
              <a:prstDash val="solid"/>
              <a:round/>
              <a:headEnd type="none" w="med" len="med"/>
              <a:tailEnd type="none" w="med" len="med"/>
            </a:ln>
            <a:effectLst/>
          </p:spPr>
          <p:txBody>
            <a:bodyPr/>
            <a:lstStyle/>
            <a:p>
              <a:endParaRPr lang="en-US"/>
            </a:p>
          </p:txBody>
        </p:sp>
        <p:sp>
          <p:nvSpPr>
            <p:cNvPr id="967730" name="Freeform 50"/>
            <p:cNvSpPr>
              <a:spLocks/>
            </p:cNvSpPr>
            <p:nvPr/>
          </p:nvSpPr>
          <p:spPr bwMode="auto">
            <a:xfrm>
              <a:off x="2331" y="1933"/>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707070"/>
            </a:solidFill>
            <a:ln w="12700" cap="rnd" cmpd="sng">
              <a:noFill/>
              <a:prstDash val="solid"/>
              <a:round/>
              <a:headEnd type="none" w="med" len="med"/>
              <a:tailEnd type="none" w="med" len="med"/>
            </a:ln>
            <a:effectLst/>
          </p:spPr>
          <p:txBody>
            <a:bodyPr/>
            <a:lstStyle/>
            <a:p>
              <a:endParaRPr lang="en-US"/>
            </a:p>
          </p:txBody>
        </p:sp>
        <p:sp>
          <p:nvSpPr>
            <p:cNvPr id="967731" name="Freeform 51"/>
            <p:cNvSpPr>
              <a:spLocks/>
            </p:cNvSpPr>
            <p:nvPr/>
          </p:nvSpPr>
          <p:spPr bwMode="auto">
            <a:xfrm>
              <a:off x="2331" y="1935"/>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6C6C6C"/>
            </a:solidFill>
            <a:ln w="12700" cap="rnd" cmpd="sng">
              <a:noFill/>
              <a:prstDash val="solid"/>
              <a:round/>
              <a:headEnd type="none" w="med" len="med"/>
              <a:tailEnd type="none" w="med" len="med"/>
            </a:ln>
            <a:effectLst/>
          </p:spPr>
          <p:txBody>
            <a:bodyPr/>
            <a:lstStyle/>
            <a:p>
              <a:endParaRPr lang="en-US"/>
            </a:p>
          </p:txBody>
        </p:sp>
        <p:sp>
          <p:nvSpPr>
            <p:cNvPr id="967732" name="Freeform 52"/>
            <p:cNvSpPr>
              <a:spLocks/>
            </p:cNvSpPr>
            <p:nvPr/>
          </p:nvSpPr>
          <p:spPr bwMode="auto">
            <a:xfrm>
              <a:off x="2331" y="1939"/>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686868"/>
            </a:solidFill>
            <a:ln w="12700" cap="rnd" cmpd="sng">
              <a:noFill/>
              <a:prstDash val="solid"/>
              <a:round/>
              <a:headEnd type="none" w="med" len="med"/>
              <a:tailEnd type="none" w="med" len="med"/>
            </a:ln>
            <a:effectLst/>
          </p:spPr>
          <p:txBody>
            <a:bodyPr/>
            <a:lstStyle/>
            <a:p>
              <a:endParaRPr lang="en-US"/>
            </a:p>
          </p:txBody>
        </p:sp>
        <p:sp>
          <p:nvSpPr>
            <p:cNvPr id="967733" name="Freeform 53"/>
            <p:cNvSpPr>
              <a:spLocks/>
            </p:cNvSpPr>
            <p:nvPr/>
          </p:nvSpPr>
          <p:spPr bwMode="auto">
            <a:xfrm>
              <a:off x="2331" y="1943"/>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646464"/>
            </a:solidFill>
            <a:ln w="12700" cap="rnd" cmpd="sng">
              <a:noFill/>
              <a:prstDash val="solid"/>
              <a:round/>
              <a:headEnd type="none" w="med" len="med"/>
              <a:tailEnd type="none" w="med" len="med"/>
            </a:ln>
            <a:effectLst/>
          </p:spPr>
          <p:txBody>
            <a:bodyPr/>
            <a:lstStyle/>
            <a:p>
              <a:endParaRPr lang="en-US"/>
            </a:p>
          </p:txBody>
        </p:sp>
        <p:sp>
          <p:nvSpPr>
            <p:cNvPr id="967734" name="Freeform 54"/>
            <p:cNvSpPr>
              <a:spLocks/>
            </p:cNvSpPr>
            <p:nvPr/>
          </p:nvSpPr>
          <p:spPr bwMode="auto">
            <a:xfrm>
              <a:off x="2331" y="1947"/>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606060"/>
            </a:solidFill>
            <a:ln w="12700" cap="rnd" cmpd="sng">
              <a:noFill/>
              <a:prstDash val="solid"/>
              <a:round/>
              <a:headEnd type="none" w="med" len="med"/>
              <a:tailEnd type="none" w="med" len="med"/>
            </a:ln>
            <a:effectLst/>
          </p:spPr>
          <p:txBody>
            <a:bodyPr/>
            <a:lstStyle/>
            <a:p>
              <a:endParaRPr lang="en-US"/>
            </a:p>
          </p:txBody>
        </p:sp>
        <p:sp>
          <p:nvSpPr>
            <p:cNvPr id="967735" name="Freeform 55"/>
            <p:cNvSpPr>
              <a:spLocks/>
            </p:cNvSpPr>
            <p:nvPr/>
          </p:nvSpPr>
          <p:spPr bwMode="auto">
            <a:xfrm>
              <a:off x="2331" y="1950"/>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5C5C5C"/>
            </a:solidFill>
            <a:ln w="12700" cap="rnd" cmpd="sng">
              <a:noFill/>
              <a:prstDash val="solid"/>
              <a:round/>
              <a:headEnd type="none" w="med" len="med"/>
              <a:tailEnd type="none" w="med" len="med"/>
            </a:ln>
            <a:effectLst/>
          </p:spPr>
          <p:txBody>
            <a:bodyPr/>
            <a:lstStyle/>
            <a:p>
              <a:endParaRPr lang="en-US"/>
            </a:p>
          </p:txBody>
        </p:sp>
        <p:sp>
          <p:nvSpPr>
            <p:cNvPr id="967736" name="Freeform 56"/>
            <p:cNvSpPr>
              <a:spLocks/>
            </p:cNvSpPr>
            <p:nvPr/>
          </p:nvSpPr>
          <p:spPr bwMode="auto">
            <a:xfrm>
              <a:off x="2331" y="1953"/>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585858"/>
            </a:solidFill>
            <a:ln w="12700" cap="rnd" cmpd="sng">
              <a:noFill/>
              <a:prstDash val="solid"/>
              <a:round/>
              <a:headEnd type="none" w="med" len="med"/>
              <a:tailEnd type="none" w="med" len="med"/>
            </a:ln>
            <a:effectLst/>
          </p:spPr>
          <p:txBody>
            <a:bodyPr/>
            <a:lstStyle/>
            <a:p>
              <a:endParaRPr lang="en-US"/>
            </a:p>
          </p:txBody>
        </p:sp>
        <p:sp>
          <p:nvSpPr>
            <p:cNvPr id="967737" name="Freeform 57"/>
            <p:cNvSpPr>
              <a:spLocks/>
            </p:cNvSpPr>
            <p:nvPr/>
          </p:nvSpPr>
          <p:spPr bwMode="auto">
            <a:xfrm>
              <a:off x="2331" y="1957"/>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545454"/>
            </a:solidFill>
            <a:ln w="12700" cap="rnd" cmpd="sng">
              <a:noFill/>
              <a:prstDash val="solid"/>
              <a:round/>
              <a:headEnd type="none" w="med" len="med"/>
              <a:tailEnd type="none" w="med" len="med"/>
            </a:ln>
            <a:effectLst/>
          </p:spPr>
          <p:txBody>
            <a:bodyPr/>
            <a:lstStyle/>
            <a:p>
              <a:endParaRPr lang="en-US"/>
            </a:p>
          </p:txBody>
        </p:sp>
        <p:sp>
          <p:nvSpPr>
            <p:cNvPr id="967738" name="Freeform 58"/>
            <p:cNvSpPr>
              <a:spLocks/>
            </p:cNvSpPr>
            <p:nvPr/>
          </p:nvSpPr>
          <p:spPr bwMode="auto">
            <a:xfrm>
              <a:off x="2331" y="1961"/>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505050"/>
            </a:solidFill>
            <a:ln w="12700" cap="rnd" cmpd="sng">
              <a:noFill/>
              <a:prstDash val="solid"/>
              <a:round/>
              <a:headEnd type="none" w="med" len="med"/>
              <a:tailEnd type="none" w="med" len="med"/>
            </a:ln>
            <a:effectLst/>
          </p:spPr>
          <p:txBody>
            <a:bodyPr/>
            <a:lstStyle/>
            <a:p>
              <a:endParaRPr lang="en-US"/>
            </a:p>
          </p:txBody>
        </p:sp>
        <p:sp>
          <p:nvSpPr>
            <p:cNvPr id="967739" name="Freeform 59"/>
            <p:cNvSpPr>
              <a:spLocks/>
            </p:cNvSpPr>
            <p:nvPr/>
          </p:nvSpPr>
          <p:spPr bwMode="auto">
            <a:xfrm>
              <a:off x="2331" y="1965"/>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4C4C4C"/>
            </a:solidFill>
            <a:ln w="12700" cap="rnd" cmpd="sng">
              <a:noFill/>
              <a:prstDash val="solid"/>
              <a:round/>
              <a:headEnd type="none" w="med" len="med"/>
              <a:tailEnd type="none" w="med" len="med"/>
            </a:ln>
            <a:effectLst/>
          </p:spPr>
          <p:txBody>
            <a:bodyPr/>
            <a:lstStyle/>
            <a:p>
              <a:endParaRPr lang="en-US"/>
            </a:p>
          </p:txBody>
        </p:sp>
        <p:sp>
          <p:nvSpPr>
            <p:cNvPr id="967740" name="Freeform 60"/>
            <p:cNvSpPr>
              <a:spLocks/>
            </p:cNvSpPr>
            <p:nvPr/>
          </p:nvSpPr>
          <p:spPr bwMode="auto">
            <a:xfrm>
              <a:off x="2331" y="1967"/>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484848"/>
            </a:solidFill>
            <a:ln w="12700" cap="rnd" cmpd="sng">
              <a:noFill/>
              <a:prstDash val="solid"/>
              <a:round/>
              <a:headEnd type="none" w="med" len="med"/>
              <a:tailEnd type="none" w="med" len="med"/>
            </a:ln>
            <a:effectLst/>
          </p:spPr>
          <p:txBody>
            <a:bodyPr/>
            <a:lstStyle/>
            <a:p>
              <a:endParaRPr lang="en-US"/>
            </a:p>
          </p:txBody>
        </p:sp>
        <p:sp>
          <p:nvSpPr>
            <p:cNvPr id="967741" name="Freeform 61"/>
            <p:cNvSpPr>
              <a:spLocks/>
            </p:cNvSpPr>
            <p:nvPr/>
          </p:nvSpPr>
          <p:spPr bwMode="auto">
            <a:xfrm>
              <a:off x="2331" y="1971"/>
              <a:ext cx="349" cy="17"/>
            </a:xfrm>
            <a:custGeom>
              <a:avLst/>
              <a:gdLst/>
              <a:ahLst/>
              <a:cxnLst>
                <a:cxn ang="0">
                  <a:pos x="0" y="0"/>
                </a:cxn>
                <a:cxn ang="0">
                  <a:pos x="348" y="0"/>
                </a:cxn>
                <a:cxn ang="0">
                  <a:pos x="348" y="16"/>
                </a:cxn>
                <a:cxn ang="0">
                  <a:pos x="0" y="16"/>
                </a:cxn>
                <a:cxn ang="0">
                  <a:pos x="0" y="0"/>
                </a:cxn>
              </a:cxnLst>
              <a:rect l="0" t="0" r="r" b="b"/>
              <a:pathLst>
                <a:path w="349" h="17">
                  <a:moveTo>
                    <a:pt x="0" y="0"/>
                  </a:moveTo>
                  <a:lnTo>
                    <a:pt x="348" y="0"/>
                  </a:lnTo>
                  <a:lnTo>
                    <a:pt x="348" y="16"/>
                  </a:lnTo>
                  <a:lnTo>
                    <a:pt x="0" y="16"/>
                  </a:lnTo>
                  <a:lnTo>
                    <a:pt x="0" y="0"/>
                  </a:lnTo>
                </a:path>
              </a:pathLst>
            </a:custGeom>
            <a:solidFill>
              <a:srgbClr val="444444"/>
            </a:solidFill>
            <a:ln w="12700" cap="rnd" cmpd="sng">
              <a:noFill/>
              <a:prstDash val="solid"/>
              <a:round/>
              <a:headEnd type="none" w="med" len="med"/>
              <a:tailEnd type="none" w="med" len="med"/>
            </a:ln>
            <a:effectLst/>
          </p:spPr>
          <p:txBody>
            <a:bodyPr/>
            <a:lstStyle/>
            <a:p>
              <a:endParaRPr lang="en-US"/>
            </a:p>
          </p:txBody>
        </p:sp>
        <p:sp>
          <p:nvSpPr>
            <p:cNvPr id="967742" name="Rectangle 62"/>
            <p:cNvSpPr>
              <a:spLocks noChangeArrowheads="1"/>
            </p:cNvSpPr>
            <p:nvPr/>
          </p:nvSpPr>
          <p:spPr bwMode="auto">
            <a:xfrm>
              <a:off x="2335" y="1863"/>
              <a:ext cx="340" cy="108"/>
            </a:xfrm>
            <a:prstGeom prst="rect">
              <a:avLst/>
            </a:prstGeom>
            <a:noFill/>
            <a:ln w="12700">
              <a:solidFill>
                <a:srgbClr val="B2B2B2"/>
              </a:solidFill>
              <a:miter lim="800000"/>
              <a:headEnd/>
              <a:tailEnd/>
            </a:ln>
            <a:effectLst/>
          </p:spPr>
          <p:txBody>
            <a:bodyPr wrap="none" anchor="ctr"/>
            <a:lstStyle/>
            <a:p>
              <a:endParaRPr lang="en-US"/>
            </a:p>
          </p:txBody>
        </p:sp>
        <p:sp>
          <p:nvSpPr>
            <p:cNvPr id="967743" name="Freeform 63"/>
            <p:cNvSpPr>
              <a:spLocks/>
            </p:cNvSpPr>
            <p:nvPr/>
          </p:nvSpPr>
          <p:spPr bwMode="auto">
            <a:xfrm>
              <a:off x="1519" y="1240"/>
              <a:ext cx="623" cy="26"/>
            </a:xfrm>
            <a:custGeom>
              <a:avLst/>
              <a:gdLst/>
              <a:ahLst/>
              <a:cxnLst>
                <a:cxn ang="0">
                  <a:pos x="0" y="0"/>
                </a:cxn>
                <a:cxn ang="0">
                  <a:pos x="622" y="0"/>
                </a:cxn>
                <a:cxn ang="0">
                  <a:pos x="622" y="25"/>
                </a:cxn>
                <a:cxn ang="0">
                  <a:pos x="0" y="25"/>
                </a:cxn>
                <a:cxn ang="0">
                  <a:pos x="0" y="0"/>
                </a:cxn>
              </a:cxnLst>
              <a:rect l="0" t="0" r="r" b="b"/>
              <a:pathLst>
                <a:path w="623" h="26">
                  <a:moveTo>
                    <a:pt x="0" y="0"/>
                  </a:moveTo>
                  <a:lnTo>
                    <a:pt x="622" y="0"/>
                  </a:lnTo>
                  <a:lnTo>
                    <a:pt x="622" y="25"/>
                  </a:lnTo>
                  <a:lnTo>
                    <a:pt x="0" y="25"/>
                  </a:lnTo>
                  <a:lnTo>
                    <a:pt x="0" y="0"/>
                  </a:lnTo>
                </a:path>
              </a:pathLst>
            </a:custGeom>
            <a:solidFill>
              <a:srgbClr val="B2B2B2"/>
            </a:solidFill>
            <a:ln w="12700" cap="rnd" cmpd="sng">
              <a:noFill/>
              <a:prstDash val="solid"/>
              <a:round/>
              <a:headEnd type="none" w="med" len="med"/>
              <a:tailEnd type="none" w="med" len="med"/>
            </a:ln>
            <a:effectLst/>
          </p:spPr>
          <p:txBody>
            <a:bodyPr/>
            <a:lstStyle/>
            <a:p>
              <a:endParaRPr lang="en-US"/>
            </a:p>
          </p:txBody>
        </p:sp>
        <p:sp>
          <p:nvSpPr>
            <p:cNvPr id="967744" name="Freeform 64"/>
            <p:cNvSpPr>
              <a:spLocks/>
            </p:cNvSpPr>
            <p:nvPr/>
          </p:nvSpPr>
          <p:spPr bwMode="auto">
            <a:xfrm>
              <a:off x="1519" y="1265"/>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B0B0B0"/>
            </a:solidFill>
            <a:ln w="12700" cap="rnd" cmpd="sng">
              <a:noFill/>
              <a:prstDash val="solid"/>
              <a:round/>
              <a:headEnd type="none" w="med" len="med"/>
              <a:tailEnd type="none" w="med" len="med"/>
            </a:ln>
            <a:effectLst/>
          </p:spPr>
          <p:txBody>
            <a:bodyPr/>
            <a:lstStyle/>
            <a:p>
              <a:endParaRPr lang="en-US"/>
            </a:p>
          </p:txBody>
        </p:sp>
        <p:sp>
          <p:nvSpPr>
            <p:cNvPr id="967745" name="Freeform 65"/>
            <p:cNvSpPr>
              <a:spLocks/>
            </p:cNvSpPr>
            <p:nvPr/>
          </p:nvSpPr>
          <p:spPr bwMode="auto">
            <a:xfrm>
              <a:off x="1519" y="1271"/>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ACACAC"/>
            </a:solidFill>
            <a:ln w="12700" cap="rnd" cmpd="sng">
              <a:noFill/>
              <a:prstDash val="solid"/>
              <a:round/>
              <a:headEnd type="none" w="med" len="med"/>
              <a:tailEnd type="none" w="med" len="med"/>
            </a:ln>
            <a:effectLst/>
          </p:spPr>
          <p:txBody>
            <a:bodyPr/>
            <a:lstStyle/>
            <a:p>
              <a:endParaRPr lang="en-US"/>
            </a:p>
          </p:txBody>
        </p:sp>
        <p:sp>
          <p:nvSpPr>
            <p:cNvPr id="967746" name="Freeform 66"/>
            <p:cNvSpPr>
              <a:spLocks/>
            </p:cNvSpPr>
            <p:nvPr/>
          </p:nvSpPr>
          <p:spPr bwMode="auto">
            <a:xfrm>
              <a:off x="1519" y="1277"/>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A8A8A8"/>
            </a:solidFill>
            <a:ln w="12700" cap="rnd" cmpd="sng">
              <a:noFill/>
              <a:prstDash val="solid"/>
              <a:round/>
              <a:headEnd type="none" w="med" len="med"/>
              <a:tailEnd type="none" w="med" len="med"/>
            </a:ln>
            <a:effectLst/>
          </p:spPr>
          <p:txBody>
            <a:bodyPr/>
            <a:lstStyle/>
            <a:p>
              <a:endParaRPr lang="en-US"/>
            </a:p>
          </p:txBody>
        </p:sp>
        <p:sp>
          <p:nvSpPr>
            <p:cNvPr id="967747" name="Freeform 67"/>
            <p:cNvSpPr>
              <a:spLocks/>
            </p:cNvSpPr>
            <p:nvPr/>
          </p:nvSpPr>
          <p:spPr bwMode="auto">
            <a:xfrm>
              <a:off x="1519" y="1282"/>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A4A4A4"/>
            </a:solidFill>
            <a:ln w="12700" cap="rnd" cmpd="sng">
              <a:noFill/>
              <a:prstDash val="solid"/>
              <a:round/>
              <a:headEnd type="none" w="med" len="med"/>
              <a:tailEnd type="none" w="med" len="med"/>
            </a:ln>
            <a:effectLst/>
          </p:spPr>
          <p:txBody>
            <a:bodyPr/>
            <a:lstStyle/>
            <a:p>
              <a:endParaRPr lang="en-US"/>
            </a:p>
          </p:txBody>
        </p:sp>
        <p:sp>
          <p:nvSpPr>
            <p:cNvPr id="967748" name="Freeform 68"/>
            <p:cNvSpPr>
              <a:spLocks/>
            </p:cNvSpPr>
            <p:nvPr/>
          </p:nvSpPr>
          <p:spPr bwMode="auto">
            <a:xfrm>
              <a:off x="1519" y="1288"/>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A0A0A0"/>
            </a:solidFill>
            <a:ln w="12700" cap="rnd" cmpd="sng">
              <a:noFill/>
              <a:prstDash val="solid"/>
              <a:round/>
              <a:headEnd type="none" w="med" len="med"/>
              <a:tailEnd type="none" w="med" len="med"/>
            </a:ln>
            <a:effectLst/>
          </p:spPr>
          <p:txBody>
            <a:bodyPr/>
            <a:lstStyle/>
            <a:p>
              <a:endParaRPr lang="en-US"/>
            </a:p>
          </p:txBody>
        </p:sp>
        <p:sp>
          <p:nvSpPr>
            <p:cNvPr id="967749" name="Freeform 69"/>
            <p:cNvSpPr>
              <a:spLocks/>
            </p:cNvSpPr>
            <p:nvPr/>
          </p:nvSpPr>
          <p:spPr bwMode="auto">
            <a:xfrm>
              <a:off x="1519" y="1293"/>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9C9C9C"/>
            </a:solidFill>
            <a:ln w="12700" cap="rnd" cmpd="sng">
              <a:noFill/>
              <a:prstDash val="solid"/>
              <a:round/>
              <a:headEnd type="none" w="med" len="med"/>
              <a:tailEnd type="none" w="med" len="med"/>
            </a:ln>
            <a:effectLst/>
          </p:spPr>
          <p:txBody>
            <a:bodyPr/>
            <a:lstStyle/>
            <a:p>
              <a:endParaRPr lang="en-US"/>
            </a:p>
          </p:txBody>
        </p:sp>
        <p:sp>
          <p:nvSpPr>
            <p:cNvPr id="967750" name="Freeform 70"/>
            <p:cNvSpPr>
              <a:spLocks/>
            </p:cNvSpPr>
            <p:nvPr/>
          </p:nvSpPr>
          <p:spPr bwMode="auto">
            <a:xfrm>
              <a:off x="1519" y="1300"/>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989898"/>
            </a:solidFill>
            <a:ln w="12700" cap="rnd" cmpd="sng">
              <a:noFill/>
              <a:prstDash val="solid"/>
              <a:round/>
              <a:headEnd type="none" w="med" len="med"/>
              <a:tailEnd type="none" w="med" len="med"/>
            </a:ln>
            <a:effectLst/>
          </p:spPr>
          <p:txBody>
            <a:bodyPr/>
            <a:lstStyle/>
            <a:p>
              <a:endParaRPr lang="en-US"/>
            </a:p>
          </p:txBody>
        </p:sp>
        <p:sp>
          <p:nvSpPr>
            <p:cNvPr id="967751" name="Freeform 71"/>
            <p:cNvSpPr>
              <a:spLocks/>
            </p:cNvSpPr>
            <p:nvPr/>
          </p:nvSpPr>
          <p:spPr bwMode="auto">
            <a:xfrm>
              <a:off x="1519" y="1305"/>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949494"/>
            </a:solidFill>
            <a:ln w="12700" cap="rnd" cmpd="sng">
              <a:noFill/>
              <a:prstDash val="solid"/>
              <a:round/>
              <a:headEnd type="none" w="med" len="med"/>
              <a:tailEnd type="none" w="med" len="med"/>
            </a:ln>
            <a:effectLst/>
          </p:spPr>
          <p:txBody>
            <a:bodyPr/>
            <a:lstStyle/>
            <a:p>
              <a:endParaRPr lang="en-US"/>
            </a:p>
          </p:txBody>
        </p:sp>
        <p:sp>
          <p:nvSpPr>
            <p:cNvPr id="967752" name="Freeform 72"/>
            <p:cNvSpPr>
              <a:spLocks/>
            </p:cNvSpPr>
            <p:nvPr/>
          </p:nvSpPr>
          <p:spPr bwMode="auto">
            <a:xfrm>
              <a:off x="1519" y="1311"/>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909090"/>
            </a:solidFill>
            <a:ln w="12700" cap="rnd" cmpd="sng">
              <a:noFill/>
              <a:prstDash val="solid"/>
              <a:round/>
              <a:headEnd type="none" w="med" len="med"/>
              <a:tailEnd type="none" w="med" len="med"/>
            </a:ln>
            <a:effectLst/>
          </p:spPr>
          <p:txBody>
            <a:bodyPr/>
            <a:lstStyle/>
            <a:p>
              <a:endParaRPr lang="en-US"/>
            </a:p>
          </p:txBody>
        </p:sp>
        <p:sp>
          <p:nvSpPr>
            <p:cNvPr id="967753" name="Freeform 73"/>
            <p:cNvSpPr>
              <a:spLocks/>
            </p:cNvSpPr>
            <p:nvPr/>
          </p:nvSpPr>
          <p:spPr bwMode="auto">
            <a:xfrm>
              <a:off x="1519" y="1316"/>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8C8C8C"/>
            </a:solidFill>
            <a:ln w="12700" cap="rnd" cmpd="sng">
              <a:noFill/>
              <a:prstDash val="solid"/>
              <a:round/>
              <a:headEnd type="none" w="med" len="med"/>
              <a:tailEnd type="none" w="med" len="med"/>
            </a:ln>
            <a:effectLst/>
          </p:spPr>
          <p:txBody>
            <a:bodyPr/>
            <a:lstStyle/>
            <a:p>
              <a:endParaRPr lang="en-US"/>
            </a:p>
          </p:txBody>
        </p:sp>
        <p:sp>
          <p:nvSpPr>
            <p:cNvPr id="967754" name="Freeform 74"/>
            <p:cNvSpPr>
              <a:spLocks/>
            </p:cNvSpPr>
            <p:nvPr/>
          </p:nvSpPr>
          <p:spPr bwMode="auto">
            <a:xfrm>
              <a:off x="1519" y="1323"/>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888888"/>
            </a:solidFill>
            <a:ln w="12700" cap="rnd" cmpd="sng">
              <a:noFill/>
              <a:prstDash val="solid"/>
              <a:round/>
              <a:headEnd type="none" w="med" len="med"/>
              <a:tailEnd type="none" w="med" len="med"/>
            </a:ln>
            <a:effectLst/>
          </p:spPr>
          <p:txBody>
            <a:bodyPr/>
            <a:lstStyle/>
            <a:p>
              <a:endParaRPr lang="en-US"/>
            </a:p>
          </p:txBody>
        </p:sp>
        <p:sp>
          <p:nvSpPr>
            <p:cNvPr id="967755" name="Freeform 75"/>
            <p:cNvSpPr>
              <a:spLocks/>
            </p:cNvSpPr>
            <p:nvPr/>
          </p:nvSpPr>
          <p:spPr bwMode="auto">
            <a:xfrm>
              <a:off x="1519" y="1328"/>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848484"/>
            </a:solidFill>
            <a:ln w="12700" cap="rnd" cmpd="sng">
              <a:noFill/>
              <a:prstDash val="solid"/>
              <a:round/>
              <a:headEnd type="none" w="med" len="med"/>
              <a:tailEnd type="none" w="med" len="med"/>
            </a:ln>
            <a:effectLst/>
          </p:spPr>
          <p:txBody>
            <a:bodyPr/>
            <a:lstStyle/>
            <a:p>
              <a:endParaRPr lang="en-US"/>
            </a:p>
          </p:txBody>
        </p:sp>
        <p:sp>
          <p:nvSpPr>
            <p:cNvPr id="967756" name="Freeform 76"/>
            <p:cNvSpPr>
              <a:spLocks/>
            </p:cNvSpPr>
            <p:nvPr/>
          </p:nvSpPr>
          <p:spPr bwMode="auto">
            <a:xfrm>
              <a:off x="1519" y="1334"/>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808080"/>
            </a:solidFill>
            <a:ln w="12700" cap="rnd" cmpd="sng">
              <a:noFill/>
              <a:prstDash val="solid"/>
              <a:round/>
              <a:headEnd type="none" w="med" len="med"/>
              <a:tailEnd type="none" w="med" len="med"/>
            </a:ln>
            <a:effectLst/>
          </p:spPr>
          <p:txBody>
            <a:bodyPr/>
            <a:lstStyle/>
            <a:p>
              <a:endParaRPr lang="en-US"/>
            </a:p>
          </p:txBody>
        </p:sp>
        <p:sp>
          <p:nvSpPr>
            <p:cNvPr id="967757" name="Freeform 77"/>
            <p:cNvSpPr>
              <a:spLocks/>
            </p:cNvSpPr>
            <p:nvPr/>
          </p:nvSpPr>
          <p:spPr bwMode="auto">
            <a:xfrm>
              <a:off x="1519" y="1339"/>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7C7C7C"/>
            </a:solidFill>
            <a:ln w="12700" cap="rnd" cmpd="sng">
              <a:noFill/>
              <a:prstDash val="solid"/>
              <a:round/>
              <a:headEnd type="none" w="med" len="med"/>
              <a:tailEnd type="none" w="med" len="med"/>
            </a:ln>
            <a:effectLst/>
          </p:spPr>
          <p:txBody>
            <a:bodyPr/>
            <a:lstStyle/>
            <a:p>
              <a:endParaRPr lang="en-US"/>
            </a:p>
          </p:txBody>
        </p:sp>
        <p:sp>
          <p:nvSpPr>
            <p:cNvPr id="967758" name="Freeform 78"/>
            <p:cNvSpPr>
              <a:spLocks/>
            </p:cNvSpPr>
            <p:nvPr/>
          </p:nvSpPr>
          <p:spPr bwMode="auto">
            <a:xfrm>
              <a:off x="1519" y="1344"/>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787878"/>
            </a:solidFill>
            <a:ln w="12700" cap="rnd" cmpd="sng">
              <a:noFill/>
              <a:prstDash val="solid"/>
              <a:round/>
              <a:headEnd type="none" w="med" len="med"/>
              <a:tailEnd type="none" w="med" len="med"/>
            </a:ln>
            <a:effectLst/>
          </p:spPr>
          <p:txBody>
            <a:bodyPr/>
            <a:lstStyle/>
            <a:p>
              <a:endParaRPr lang="en-US"/>
            </a:p>
          </p:txBody>
        </p:sp>
        <p:sp>
          <p:nvSpPr>
            <p:cNvPr id="967759" name="Freeform 79"/>
            <p:cNvSpPr>
              <a:spLocks/>
            </p:cNvSpPr>
            <p:nvPr/>
          </p:nvSpPr>
          <p:spPr bwMode="auto">
            <a:xfrm>
              <a:off x="1519" y="1351"/>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747474"/>
            </a:solidFill>
            <a:ln w="12700" cap="rnd" cmpd="sng">
              <a:noFill/>
              <a:prstDash val="solid"/>
              <a:round/>
              <a:headEnd type="none" w="med" len="med"/>
              <a:tailEnd type="none" w="med" len="med"/>
            </a:ln>
            <a:effectLst/>
          </p:spPr>
          <p:txBody>
            <a:bodyPr/>
            <a:lstStyle/>
            <a:p>
              <a:endParaRPr lang="en-US"/>
            </a:p>
          </p:txBody>
        </p:sp>
        <p:sp>
          <p:nvSpPr>
            <p:cNvPr id="967760" name="Freeform 80"/>
            <p:cNvSpPr>
              <a:spLocks/>
            </p:cNvSpPr>
            <p:nvPr/>
          </p:nvSpPr>
          <p:spPr bwMode="auto">
            <a:xfrm>
              <a:off x="1519" y="1356"/>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707070"/>
            </a:solidFill>
            <a:ln w="12700" cap="rnd" cmpd="sng">
              <a:noFill/>
              <a:prstDash val="solid"/>
              <a:round/>
              <a:headEnd type="none" w="med" len="med"/>
              <a:tailEnd type="none" w="med" len="med"/>
            </a:ln>
            <a:effectLst/>
          </p:spPr>
          <p:txBody>
            <a:bodyPr/>
            <a:lstStyle/>
            <a:p>
              <a:endParaRPr lang="en-US"/>
            </a:p>
          </p:txBody>
        </p:sp>
        <p:sp>
          <p:nvSpPr>
            <p:cNvPr id="967761" name="Freeform 81"/>
            <p:cNvSpPr>
              <a:spLocks/>
            </p:cNvSpPr>
            <p:nvPr/>
          </p:nvSpPr>
          <p:spPr bwMode="auto">
            <a:xfrm>
              <a:off x="1519" y="1362"/>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6C6C6C"/>
            </a:solidFill>
            <a:ln w="12700" cap="rnd" cmpd="sng">
              <a:noFill/>
              <a:prstDash val="solid"/>
              <a:round/>
              <a:headEnd type="none" w="med" len="med"/>
              <a:tailEnd type="none" w="med" len="med"/>
            </a:ln>
            <a:effectLst/>
          </p:spPr>
          <p:txBody>
            <a:bodyPr/>
            <a:lstStyle/>
            <a:p>
              <a:endParaRPr lang="en-US"/>
            </a:p>
          </p:txBody>
        </p:sp>
        <p:sp>
          <p:nvSpPr>
            <p:cNvPr id="967762" name="Freeform 82"/>
            <p:cNvSpPr>
              <a:spLocks/>
            </p:cNvSpPr>
            <p:nvPr/>
          </p:nvSpPr>
          <p:spPr bwMode="auto">
            <a:xfrm>
              <a:off x="1519" y="1367"/>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686868"/>
            </a:solidFill>
            <a:ln w="12700" cap="rnd" cmpd="sng">
              <a:noFill/>
              <a:prstDash val="solid"/>
              <a:round/>
              <a:headEnd type="none" w="med" len="med"/>
              <a:tailEnd type="none" w="med" len="med"/>
            </a:ln>
            <a:effectLst/>
          </p:spPr>
          <p:txBody>
            <a:bodyPr/>
            <a:lstStyle/>
            <a:p>
              <a:endParaRPr lang="en-US"/>
            </a:p>
          </p:txBody>
        </p:sp>
        <p:sp>
          <p:nvSpPr>
            <p:cNvPr id="967763" name="Freeform 83"/>
            <p:cNvSpPr>
              <a:spLocks/>
            </p:cNvSpPr>
            <p:nvPr/>
          </p:nvSpPr>
          <p:spPr bwMode="auto">
            <a:xfrm>
              <a:off x="1519" y="1374"/>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646464"/>
            </a:solidFill>
            <a:ln w="12700" cap="rnd" cmpd="sng">
              <a:noFill/>
              <a:prstDash val="solid"/>
              <a:round/>
              <a:headEnd type="none" w="med" len="med"/>
              <a:tailEnd type="none" w="med" len="med"/>
            </a:ln>
            <a:effectLst/>
          </p:spPr>
          <p:txBody>
            <a:bodyPr/>
            <a:lstStyle/>
            <a:p>
              <a:endParaRPr lang="en-US"/>
            </a:p>
          </p:txBody>
        </p:sp>
        <p:sp>
          <p:nvSpPr>
            <p:cNvPr id="967764" name="Freeform 84"/>
            <p:cNvSpPr>
              <a:spLocks/>
            </p:cNvSpPr>
            <p:nvPr/>
          </p:nvSpPr>
          <p:spPr bwMode="auto">
            <a:xfrm>
              <a:off x="1519" y="1379"/>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606060"/>
            </a:solidFill>
            <a:ln w="12700" cap="rnd" cmpd="sng">
              <a:noFill/>
              <a:prstDash val="solid"/>
              <a:round/>
              <a:headEnd type="none" w="med" len="med"/>
              <a:tailEnd type="none" w="med" len="med"/>
            </a:ln>
            <a:effectLst/>
          </p:spPr>
          <p:txBody>
            <a:bodyPr/>
            <a:lstStyle/>
            <a:p>
              <a:endParaRPr lang="en-US"/>
            </a:p>
          </p:txBody>
        </p:sp>
        <p:sp>
          <p:nvSpPr>
            <p:cNvPr id="967765" name="Freeform 85"/>
            <p:cNvSpPr>
              <a:spLocks/>
            </p:cNvSpPr>
            <p:nvPr/>
          </p:nvSpPr>
          <p:spPr bwMode="auto">
            <a:xfrm>
              <a:off x="1519" y="1385"/>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5C5C5C"/>
            </a:solidFill>
            <a:ln w="12700" cap="rnd" cmpd="sng">
              <a:noFill/>
              <a:prstDash val="solid"/>
              <a:round/>
              <a:headEnd type="none" w="med" len="med"/>
              <a:tailEnd type="none" w="med" len="med"/>
            </a:ln>
            <a:effectLst/>
          </p:spPr>
          <p:txBody>
            <a:bodyPr/>
            <a:lstStyle/>
            <a:p>
              <a:endParaRPr lang="en-US"/>
            </a:p>
          </p:txBody>
        </p:sp>
        <p:sp>
          <p:nvSpPr>
            <p:cNvPr id="967766" name="Freeform 86"/>
            <p:cNvSpPr>
              <a:spLocks/>
            </p:cNvSpPr>
            <p:nvPr/>
          </p:nvSpPr>
          <p:spPr bwMode="auto">
            <a:xfrm>
              <a:off x="1519" y="1390"/>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585858"/>
            </a:solidFill>
            <a:ln w="12700" cap="rnd" cmpd="sng">
              <a:noFill/>
              <a:prstDash val="solid"/>
              <a:round/>
              <a:headEnd type="none" w="med" len="med"/>
              <a:tailEnd type="none" w="med" len="med"/>
            </a:ln>
            <a:effectLst/>
          </p:spPr>
          <p:txBody>
            <a:bodyPr/>
            <a:lstStyle/>
            <a:p>
              <a:endParaRPr lang="en-US"/>
            </a:p>
          </p:txBody>
        </p:sp>
        <p:sp>
          <p:nvSpPr>
            <p:cNvPr id="967767" name="Freeform 87"/>
            <p:cNvSpPr>
              <a:spLocks/>
            </p:cNvSpPr>
            <p:nvPr/>
          </p:nvSpPr>
          <p:spPr bwMode="auto">
            <a:xfrm>
              <a:off x="1519" y="1397"/>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545454"/>
            </a:solidFill>
            <a:ln w="12700" cap="rnd" cmpd="sng">
              <a:noFill/>
              <a:prstDash val="solid"/>
              <a:round/>
              <a:headEnd type="none" w="med" len="med"/>
              <a:tailEnd type="none" w="med" len="med"/>
            </a:ln>
            <a:effectLst/>
          </p:spPr>
          <p:txBody>
            <a:bodyPr/>
            <a:lstStyle/>
            <a:p>
              <a:endParaRPr lang="en-US"/>
            </a:p>
          </p:txBody>
        </p:sp>
        <p:sp>
          <p:nvSpPr>
            <p:cNvPr id="967768" name="Freeform 88"/>
            <p:cNvSpPr>
              <a:spLocks/>
            </p:cNvSpPr>
            <p:nvPr/>
          </p:nvSpPr>
          <p:spPr bwMode="auto">
            <a:xfrm>
              <a:off x="1519" y="1402"/>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505050"/>
            </a:solidFill>
            <a:ln w="12700" cap="rnd" cmpd="sng">
              <a:noFill/>
              <a:prstDash val="solid"/>
              <a:round/>
              <a:headEnd type="none" w="med" len="med"/>
              <a:tailEnd type="none" w="med" len="med"/>
            </a:ln>
            <a:effectLst/>
          </p:spPr>
          <p:txBody>
            <a:bodyPr/>
            <a:lstStyle/>
            <a:p>
              <a:endParaRPr lang="en-US"/>
            </a:p>
          </p:txBody>
        </p:sp>
        <p:sp>
          <p:nvSpPr>
            <p:cNvPr id="967769" name="Freeform 89"/>
            <p:cNvSpPr>
              <a:spLocks/>
            </p:cNvSpPr>
            <p:nvPr/>
          </p:nvSpPr>
          <p:spPr bwMode="auto">
            <a:xfrm>
              <a:off x="1519" y="1408"/>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4C4C4C"/>
            </a:solidFill>
            <a:ln w="12700" cap="rnd" cmpd="sng">
              <a:noFill/>
              <a:prstDash val="solid"/>
              <a:round/>
              <a:headEnd type="none" w="med" len="med"/>
              <a:tailEnd type="none" w="med" len="med"/>
            </a:ln>
            <a:effectLst/>
          </p:spPr>
          <p:txBody>
            <a:bodyPr/>
            <a:lstStyle/>
            <a:p>
              <a:endParaRPr lang="en-US"/>
            </a:p>
          </p:txBody>
        </p:sp>
        <p:sp>
          <p:nvSpPr>
            <p:cNvPr id="967770" name="Freeform 90"/>
            <p:cNvSpPr>
              <a:spLocks/>
            </p:cNvSpPr>
            <p:nvPr/>
          </p:nvSpPr>
          <p:spPr bwMode="auto">
            <a:xfrm>
              <a:off x="1519" y="1413"/>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484848"/>
            </a:solidFill>
            <a:ln w="12700" cap="rnd" cmpd="sng">
              <a:noFill/>
              <a:prstDash val="solid"/>
              <a:round/>
              <a:headEnd type="none" w="med" len="med"/>
              <a:tailEnd type="none" w="med" len="med"/>
            </a:ln>
            <a:effectLst/>
          </p:spPr>
          <p:txBody>
            <a:bodyPr/>
            <a:lstStyle/>
            <a:p>
              <a:endParaRPr lang="en-US"/>
            </a:p>
          </p:txBody>
        </p:sp>
        <p:sp>
          <p:nvSpPr>
            <p:cNvPr id="967771" name="Freeform 91"/>
            <p:cNvSpPr>
              <a:spLocks/>
            </p:cNvSpPr>
            <p:nvPr/>
          </p:nvSpPr>
          <p:spPr bwMode="auto">
            <a:xfrm>
              <a:off x="1519" y="1420"/>
              <a:ext cx="623" cy="17"/>
            </a:xfrm>
            <a:custGeom>
              <a:avLst/>
              <a:gdLst/>
              <a:ahLst/>
              <a:cxnLst>
                <a:cxn ang="0">
                  <a:pos x="0" y="0"/>
                </a:cxn>
                <a:cxn ang="0">
                  <a:pos x="622" y="0"/>
                </a:cxn>
                <a:cxn ang="0">
                  <a:pos x="622" y="16"/>
                </a:cxn>
                <a:cxn ang="0">
                  <a:pos x="0" y="16"/>
                </a:cxn>
                <a:cxn ang="0">
                  <a:pos x="0" y="0"/>
                </a:cxn>
              </a:cxnLst>
              <a:rect l="0" t="0" r="r" b="b"/>
              <a:pathLst>
                <a:path w="623" h="17">
                  <a:moveTo>
                    <a:pt x="0" y="0"/>
                  </a:moveTo>
                  <a:lnTo>
                    <a:pt x="622" y="0"/>
                  </a:lnTo>
                  <a:lnTo>
                    <a:pt x="622" y="16"/>
                  </a:lnTo>
                  <a:lnTo>
                    <a:pt x="0" y="16"/>
                  </a:lnTo>
                  <a:lnTo>
                    <a:pt x="0" y="0"/>
                  </a:lnTo>
                </a:path>
              </a:pathLst>
            </a:custGeom>
            <a:solidFill>
              <a:srgbClr val="444444"/>
            </a:solidFill>
            <a:ln w="12700" cap="rnd" cmpd="sng">
              <a:noFill/>
              <a:prstDash val="solid"/>
              <a:round/>
              <a:headEnd type="none" w="med" len="med"/>
              <a:tailEnd type="none" w="med" len="med"/>
            </a:ln>
            <a:effectLst/>
          </p:spPr>
          <p:txBody>
            <a:bodyPr/>
            <a:lstStyle/>
            <a:p>
              <a:endParaRPr lang="en-US"/>
            </a:p>
          </p:txBody>
        </p:sp>
        <p:sp>
          <p:nvSpPr>
            <p:cNvPr id="967772" name="Rectangle 92"/>
            <p:cNvSpPr>
              <a:spLocks noChangeArrowheads="1"/>
            </p:cNvSpPr>
            <p:nvPr/>
          </p:nvSpPr>
          <p:spPr bwMode="auto">
            <a:xfrm>
              <a:off x="1523" y="1244"/>
              <a:ext cx="614" cy="177"/>
            </a:xfrm>
            <a:prstGeom prst="rect">
              <a:avLst/>
            </a:prstGeom>
            <a:noFill/>
            <a:ln w="12700">
              <a:solidFill>
                <a:srgbClr val="B2B2B2"/>
              </a:solidFill>
              <a:miter lim="800000"/>
              <a:headEnd/>
              <a:tailEnd/>
            </a:ln>
            <a:effectLst/>
          </p:spPr>
          <p:txBody>
            <a:bodyPr wrap="none" anchor="ctr"/>
            <a:lstStyle/>
            <a:p>
              <a:endParaRPr lang="en-US"/>
            </a:p>
          </p:txBody>
        </p:sp>
        <p:sp>
          <p:nvSpPr>
            <p:cNvPr id="967773" name="Freeform 93"/>
            <p:cNvSpPr>
              <a:spLocks/>
            </p:cNvSpPr>
            <p:nvPr/>
          </p:nvSpPr>
          <p:spPr bwMode="auto">
            <a:xfrm>
              <a:off x="2331" y="1232"/>
              <a:ext cx="358" cy="27"/>
            </a:xfrm>
            <a:custGeom>
              <a:avLst/>
              <a:gdLst/>
              <a:ahLst/>
              <a:cxnLst>
                <a:cxn ang="0">
                  <a:pos x="0" y="0"/>
                </a:cxn>
                <a:cxn ang="0">
                  <a:pos x="357" y="0"/>
                </a:cxn>
                <a:cxn ang="0">
                  <a:pos x="357" y="26"/>
                </a:cxn>
                <a:cxn ang="0">
                  <a:pos x="0" y="26"/>
                </a:cxn>
                <a:cxn ang="0">
                  <a:pos x="0" y="0"/>
                </a:cxn>
              </a:cxnLst>
              <a:rect l="0" t="0" r="r" b="b"/>
              <a:pathLst>
                <a:path w="358" h="27">
                  <a:moveTo>
                    <a:pt x="0" y="0"/>
                  </a:moveTo>
                  <a:lnTo>
                    <a:pt x="357" y="0"/>
                  </a:lnTo>
                  <a:lnTo>
                    <a:pt x="357" y="26"/>
                  </a:lnTo>
                  <a:lnTo>
                    <a:pt x="0" y="26"/>
                  </a:lnTo>
                  <a:lnTo>
                    <a:pt x="0" y="0"/>
                  </a:lnTo>
                </a:path>
              </a:pathLst>
            </a:custGeom>
            <a:solidFill>
              <a:srgbClr val="B2B2B2"/>
            </a:solidFill>
            <a:ln w="12700" cap="rnd" cmpd="sng">
              <a:noFill/>
              <a:prstDash val="solid"/>
              <a:round/>
              <a:headEnd type="none" w="med" len="med"/>
              <a:tailEnd type="none" w="med" len="med"/>
            </a:ln>
            <a:effectLst/>
          </p:spPr>
          <p:txBody>
            <a:bodyPr/>
            <a:lstStyle/>
            <a:p>
              <a:endParaRPr lang="en-US"/>
            </a:p>
          </p:txBody>
        </p:sp>
        <p:sp>
          <p:nvSpPr>
            <p:cNvPr id="967774" name="Freeform 94"/>
            <p:cNvSpPr>
              <a:spLocks/>
            </p:cNvSpPr>
            <p:nvPr/>
          </p:nvSpPr>
          <p:spPr bwMode="auto">
            <a:xfrm>
              <a:off x="2331" y="1258"/>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B0B0B0"/>
            </a:solidFill>
            <a:ln w="12700" cap="rnd" cmpd="sng">
              <a:noFill/>
              <a:prstDash val="solid"/>
              <a:round/>
              <a:headEnd type="none" w="med" len="med"/>
              <a:tailEnd type="none" w="med" len="med"/>
            </a:ln>
            <a:effectLst/>
          </p:spPr>
          <p:txBody>
            <a:bodyPr/>
            <a:lstStyle/>
            <a:p>
              <a:endParaRPr lang="en-US"/>
            </a:p>
          </p:txBody>
        </p:sp>
        <p:sp>
          <p:nvSpPr>
            <p:cNvPr id="967775" name="Freeform 95"/>
            <p:cNvSpPr>
              <a:spLocks/>
            </p:cNvSpPr>
            <p:nvPr/>
          </p:nvSpPr>
          <p:spPr bwMode="auto">
            <a:xfrm>
              <a:off x="2331" y="1263"/>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ACACAC"/>
            </a:solidFill>
            <a:ln w="12700" cap="rnd" cmpd="sng">
              <a:noFill/>
              <a:prstDash val="solid"/>
              <a:round/>
              <a:headEnd type="none" w="med" len="med"/>
              <a:tailEnd type="none" w="med" len="med"/>
            </a:ln>
            <a:effectLst/>
          </p:spPr>
          <p:txBody>
            <a:bodyPr/>
            <a:lstStyle/>
            <a:p>
              <a:endParaRPr lang="en-US"/>
            </a:p>
          </p:txBody>
        </p:sp>
        <p:sp>
          <p:nvSpPr>
            <p:cNvPr id="967776" name="Freeform 96"/>
            <p:cNvSpPr>
              <a:spLocks/>
            </p:cNvSpPr>
            <p:nvPr/>
          </p:nvSpPr>
          <p:spPr bwMode="auto">
            <a:xfrm>
              <a:off x="2331" y="1269"/>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A8A8A8"/>
            </a:solidFill>
            <a:ln w="12700" cap="rnd" cmpd="sng">
              <a:noFill/>
              <a:prstDash val="solid"/>
              <a:round/>
              <a:headEnd type="none" w="med" len="med"/>
              <a:tailEnd type="none" w="med" len="med"/>
            </a:ln>
            <a:effectLst/>
          </p:spPr>
          <p:txBody>
            <a:bodyPr/>
            <a:lstStyle/>
            <a:p>
              <a:endParaRPr lang="en-US"/>
            </a:p>
          </p:txBody>
        </p:sp>
        <p:sp>
          <p:nvSpPr>
            <p:cNvPr id="967777" name="Freeform 97"/>
            <p:cNvSpPr>
              <a:spLocks/>
            </p:cNvSpPr>
            <p:nvPr/>
          </p:nvSpPr>
          <p:spPr bwMode="auto">
            <a:xfrm>
              <a:off x="2331" y="1274"/>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A4A4A4"/>
            </a:solidFill>
            <a:ln w="12700" cap="rnd" cmpd="sng">
              <a:noFill/>
              <a:prstDash val="solid"/>
              <a:round/>
              <a:headEnd type="none" w="med" len="med"/>
              <a:tailEnd type="none" w="med" len="med"/>
            </a:ln>
            <a:effectLst/>
          </p:spPr>
          <p:txBody>
            <a:bodyPr/>
            <a:lstStyle/>
            <a:p>
              <a:endParaRPr lang="en-US"/>
            </a:p>
          </p:txBody>
        </p:sp>
        <p:sp>
          <p:nvSpPr>
            <p:cNvPr id="967778" name="Freeform 98"/>
            <p:cNvSpPr>
              <a:spLocks/>
            </p:cNvSpPr>
            <p:nvPr/>
          </p:nvSpPr>
          <p:spPr bwMode="auto">
            <a:xfrm>
              <a:off x="2331" y="1281"/>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A0A0A0"/>
            </a:solidFill>
            <a:ln w="12700" cap="rnd" cmpd="sng">
              <a:noFill/>
              <a:prstDash val="solid"/>
              <a:round/>
              <a:headEnd type="none" w="med" len="med"/>
              <a:tailEnd type="none" w="med" len="med"/>
            </a:ln>
            <a:effectLst/>
          </p:spPr>
          <p:txBody>
            <a:bodyPr/>
            <a:lstStyle/>
            <a:p>
              <a:endParaRPr lang="en-US"/>
            </a:p>
          </p:txBody>
        </p:sp>
        <p:sp>
          <p:nvSpPr>
            <p:cNvPr id="967779" name="Freeform 99"/>
            <p:cNvSpPr>
              <a:spLocks/>
            </p:cNvSpPr>
            <p:nvPr/>
          </p:nvSpPr>
          <p:spPr bwMode="auto">
            <a:xfrm>
              <a:off x="2331" y="1286"/>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9C9C9C"/>
            </a:solidFill>
            <a:ln w="12700" cap="rnd" cmpd="sng">
              <a:noFill/>
              <a:prstDash val="solid"/>
              <a:round/>
              <a:headEnd type="none" w="med" len="med"/>
              <a:tailEnd type="none" w="med" len="med"/>
            </a:ln>
            <a:effectLst/>
          </p:spPr>
          <p:txBody>
            <a:bodyPr/>
            <a:lstStyle/>
            <a:p>
              <a:endParaRPr lang="en-US"/>
            </a:p>
          </p:txBody>
        </p:sp>
        <p:sp>
          <p:nvSpPr>
            <p:cNvPr id="967780" name="Freeform 100"/>
            <p:cNvSpPr>
              <a:spLocks/>
            </p:cNvSpPr>
            <p:nvPr/>
          </p:nvSpPr>
          <p:spPr bwMode="auto">
            <a:xfrm>
              <a:off x="2331" y="1292"/>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989898"/>
            </a:solidFill>
            <a:ln w="12700" cap="rnd" cmpd="sng">
              <a:noFill/>
              <a:prstDash val="solid"/>
              <a:round/>
              <a:headEnd type="none" w="med" len="med"/>
              <a:tailEnd type="none" w="med" len="med"/>
            </a:ln>
            <a:effectLst/>
          </p:spPr>
          <p:txBody>
            <a:bodyPr/>
            <a:lstStyle/>
            <a:p>
              <a:endParaRPr lang="en-US"/>
            </a:p>
          </p:txBody>
        </p:sp>
        <p:sp>
          <p:nvSpPr>
            <p:cNvPr id="967781" name="Freeform 101"/>
            <p:cNvSpPr>
              <a:spLocks/>
            </p:cNvSpPr>
            <p:nvPr/>
          </p:nvSpPr>
          <p:spPr bwMode="auto">
            <a:xfrm>
              <a:off x="2331" y="1297"/>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949494"/>
            </a:solidFill>
            <a:ln w="12700" cap="rnd" cmpd="sng">
              <a:noFill/>
              <a:prstDash val="solid"/>
              <a:round/>
              <a:headEnd type="none" w="med" len="med"/>
              <a:tailEnd type="none" w="med" len="med"/>
            </a:ln>
            <a:effectLst/>
          </p:spPr>
          <p:txBody>
            <a:bodyPr/>
            <a:lstStyle/>
            <a:p>
              <a:endParaRPr lang="en-US"/>
            </a:p>
          </p:txBody>
        </p:sp>
        <p:sp>
          <p:nvSpPr>
            <p:cNvPr id="967782" name="Freeform 102"/>
            <p:cNvSpPr>
              <a:spLocks/>
            </p:cNvSpPr>
            <p:nvPr/>
          </p:nvSpPr>
          <p:spPr bwMode="auto">
            <a:xfrm>
              <a:off x="2331" y="1304"/>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909090"/>
            </a:solidFill>
            <a:ln w="12700" cap="rnd" cmpd="sng">
              <a:noFill/>
              <a:prstDash val="solid"/>
              <a:round/>
              <a:headEnd type="none" w="med" len="med"/>
              <a:tailEnd type="none" w="med" len="med"/>
            </a:ln>
            <a:effectLst/>
          </p:spPr>
          <p:txBody>
            <a:bodyPr/>
            <a:lstStyle/>
            <a:p>
              <a:endParaRPr lang="en-US"/>
            </a:p>
          </p:txBody>
        </p:sp>
        <p:sp>
          <p:nvSpPr>
            <p:cNvPr id="967783" name="Freeform 103"/>
            <p:cNvSpPr>
              <a:spLocks/>
            </p:cNvSpPr>
            <p:nvPr/>
          </p:nvSpPr>
          <p:spPr bwMode="auto">
            <a:xfrm>
              <a:off x="2331" y="1309"/>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8C8C8C"/>
            </a:solidFill>
            <a:ln w="12700" cap="rnd" cmpd="sng">
              <a:noFill/>
              <a:prstDash val="solid"/>
              <a:round/>
              <a:headEnd type="none" w="med" len="med"/>
              <a:tailEnd type="none" w="med" len="med"/>
            </a:ln>
            <a:effectLst/>
          </p:spPr>
          <p:txBody>
            <a:bodyPr/>
            <a:lstStyle/>
            <a:p>
              <a:endParaRPr lang="en-US"/>
            </a:p>
          </p:txBody>
        </p:sp>
        <p:sp>
          <p:nvSpPr>
            <p:cNvPr id="967784" name="Freeform 104"/>
            <p:cNvSpPr>
              <a:spLocks/>
            </p:cNvSpPr>
            <p:nvPr/>
          </p:nvSpPr>
          <p:spPr bwMode="auto">
            <a:xfrm>
              <a:off x="2331" y="1315"/>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888888"/>
            </a:solidFill>
            <a:ln w="12700" cap="rnd" cmpd="sng">
              <a:noFill/>
              <a:prstDash val="solid"/>
              <a:round/>
              <a:headEnd type="none" w="med" len="med"/>
              <a:tailEnd type="none" w="med" len="med"/>
            </a:ln>
            <a:effectLst/>
          </p:spPr>
          <p:txBody>
            <a:bodyPr/>
            <a:lstStyle/>
            <a:p>
              <a:endParaRPr lang="en-US"/>
            </a:p>
          </p:txBody>
        </p:sp>
        <p:sp>
          <p:nvSpPr>
            <p:cNvPr id="967785" name="Freeform 105"/>
            <p:cNvSpPr>
              <a:spLocks/>
            </p:cNvSpPr>
            <p:nvPr/>
          </p:nvSpPr>
          <p:spPr bwMode="auto">
            <a:xfrm>
              <a:off x="2331" y="1320"/>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848484"/>
            </a:solidFill>
            <a:ln w="12700" cap="rnd" cmpd="sng">
              <a:noFill/>
              <a:prstDash val="solid"/>
              <a:round/>
              <a:headEnd type="none" w="med" len="med"/>
              <a:tailEnd type="none" w="med" len="med"/>
            </a:ln>
            <a:effectLst/>
          </p:spPr>
          <p:txBody>
            <a:bodyPr/>
            <a:lstStyle/>
            <a:p>
              <a:endParaRPr lang="en-US"/>
            </a:p>
          </p:txBody>
        </p:sp>
        <p:sp>
          <p:nvSpPr>
            <p:cNvPr id="967786" name="Freeform 106"/>
            <p:cNvSpPr>
              <a:spLocks/>
            </p:cNvSpPr>
            <p:nvPr/>
          </p:nvSpPr>
          <p:spPr bwMode="auto">
            <a:xfrm>
              <a:off x="2331" y="1327"/>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808080"/>
            </a:solidFill>
            <a:ln w="12700" cap="rnd" cmpd="sng">
              <a:noFill/>
              <a:prstDash val="solid"/>
              <a:round/>
              <a:headEnd type="none" w="med" len="med"/>
              <a:tailEnd type="none" w="med" len="med"/>
            </a:ln>
            <a:effectLst/>
          </p:spPr>
          <p:txBody>
            <a:bodyPr/>
            <a:lstStyle/>
            <a:p>
              <a:endParaRPr lang="en-US"/>
            </a:p>
          </p:txBody>
        </p:sp>
        <p:sp>
          <p:nvSpPr>
            <p:cNvPr id="967787" name="Freeform 107"/>
            <p:cNvSpPr>
              <a:spLocks/>
            </p:cNvSpPr>
            <p:nvPr/>
          </p:nvSpPr>
          <p:spPr bwMode="auto">
            <a:xfrm>
              <a:off x="2331" y="1332"/>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7C7C7C"/>
            </a:solidFill>
            <a:ln w="12700" cap="rnd" cmpd="sng">
              <a:noFill/>
              <a:prstDash val="solid"/>
              <a:round/>
              <a:headEnd type="none" w="med" len="med"/>
              <a:tailEnd type="none" w="med" len="med"/>
            </a:ln>
            <a:effectLst/>
          </p:spPr>
          <p:txBody>
            <a:bodyPr/>
            <a:lstStyle/>
            <a:p>
              <a:endParaRPr lang="en-US"/>
            </a:p>
          </p:txBody>
        </p:sp>
        <p:sp>
          <p:nvSpPr>
            <p:cNvPr id="967788" name="Freeform 108"/>
            <p:cNvSpPr>
              <a:spLocks/>
            </p:cNvSpPr>
            <p:nvPr/>
          </p:nvSpPr>
          <p:spPr bwMode="auto">
            <a:xfrm>
              <a:off x="2331" y="1337"/>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787878"/>
            </a:solidFill>
            <a:ln w="12700" cap="rnd" cmpd="sng">
              <a:noFill/>
              <a:prstDash val="solid"/>
              <a:round/>
              <a:headEnd type="none" w="med" len="med"/>
              <a:tailEnd type="none" w="med" len="med"/>
            </a:ln>
            <a:effectLst/>
          </p:spPr>
          <p:txBody>
            <a:bodyPr/>
            <a:lstStyle/>
            <a:p>
              <a:endParaRPr lang="en-US"/>
            </a:p>
          </p:txBody>
        </p:sp>
        <p:sp>
          <p:nvSpPr>
            <p:cNvPr id="967789" name="Freeform 109"/>
            <p:cNvSpPr>
              <a:spLocks/>
            </p:cNvSpPr>
            <p:nvPr/>
          </p:nvSpPr>
          <p:spPr bwMode="auto">
            <a:xfrm>
              <a:off x="2331" y="1343"/>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747474"/>
            </a:solidFill>
            <a:ln w="12700" cap="rnd" cmpd="sng">
              <a:noFill/>
              <a:prstDash val="solid"/>
              <a:round/>
              <a:headEnd type="none" w="med" len="med"/>
              <a:tailEnd type="none" w="med" len="med"/>
            </a:ln>
            <a:effectLst/>
          </p:spPr>
          <p:txBody>
            <a:bodyPr/>
            <a:lstStyle/>
            <a:p>
              <a:endParaRPr lang="en-US"/>
            </a:p>
          </p:txBody>
        </p:sp>
        <p:sp>
          <p:nvSpPr>
            <p:cNvPr id="967790" name="Freeform 110"/>
            <p:cNvSpPr>
              <a:spLocks/>
            </p:cNvSpPr>
            <p:nvPr/>
          </p:nvSpPr>
          <p:spPr bwMode="auto">
            <a:xfrm>
              <a:off x="2331" y="1348"/>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707070"/>
            </a:solidFill>
            <a:ln w="12700" cap="rnd" cmpd="sng">
              <a:noFill/>
              <a:prstDash val="solid"/>
              <a:round/>
              <a:headEnd type="none" w="med" len="med"/>
              <a:tailEnd type="none" w="med" len="med"/>
            </a:ln>
            <a:effectLst/>
          </p:spPr>
          <p:txBody>
            <a:bodyPr/>
            <a:lstStyle/>
            <a:p>
              <a:endParaRPr lang="en-US"/>
            </a:p>
          </p:txBody>
        </p:sp>
        <p:sp>
          <p:nvSpPr>
            <p:cNvPr id="967791" name="Freeform 111"/>
            <p:cNvSpPr>
              <a:spLocks/>
            </p:cNvSpPr>
            <p:nvPr/>
          </p:nvSpPr>
          <p:spPr bwMode="auto">
            <a:xfrm>
              <a:off x="2331" y="1355"/>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6C6C6C"/>
            </a:solidFill>
            <a:ln w="12700" cap="rnd" cmpd="sng">
              <a:noFill/>
              <a:prstDash val="solid"/>
              <a:round/>
              <a:headEnd type="none" w="med" len="med"/>
              <a:tailEnd type="none" w="med" len="med"/>
            </a:ln>
            <a:effectLst/>
          </p:spPr>
          <p:txBody>
            <a:bodyPr/>
            <a:lstStyle/>
            <a:p>
              <a:endParaRPr lang="en-US"/>
            </a:p>
          </p:txBody>
        </p:sp>
        <p:sp>
          <p:nvSpPr>
            <p:cNvPr id="967792" name="Freeform 112"/>
            <p:cNvSpPr>
              <a:spLocks/>
            </p:cNvSpPr>
            <p:nvPr/>
          </p:nvSpPr>
          <p:spPr bwMode="auto">
            <a:xfrm>
              <a:off x="2331" y="1360"/>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686868"/>
            </a:solidFill>
            <a:ln w="12700" cap="rnd" cmpd="sng">
              <a:noFill/>
              <a:prstDash val="solid"/>
              <a:round/>
              <a:headEnd type="none" w="med" len="med"/>
              <a:tailEnd type="none" w="med" len="med"/>
            </a:ln>
            <a:effectLst/>
          </p:spPr>
          <p:txBody>
            <a:bodyPr/>
            <a:lstStyle/>
            <a:p>
              <a:endParaRPr lang="en-US"/>
            </a:p>
          </p:txBody>
        </p:sp>
        <p:sp>
          <p:nvSpPr>
            <p:cNvPr id="967793" name="Freeform 113"/>
            <p:cNvSpPr>
              <a:spLocks/>
            </p:cNvSpPr>
            <p:nvPr/>
          </p:nvSpPr>
          <p:spPr bwMode="auto">
            <a:xfrm>
              <a:off x="2331" y="1366"/>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646464"/>
            </a:solidFill>
            <a:ln w="12700" cap="rnd" cmpd="sng">
              <a:noFill/>
              <a:prstDash val="solid"/>
              <a:round/>
              <a:headEnd type="none" w="med" len="med"/>
              <a:tailEnd type="none" w="med" len="med"/>
            </a:ln>
            <a:effectLst/>
          </p:spPr>
          <p:txBody>
            <a:bodyPr/>
            <a:lstStyle/>
            <a:p>
              <a:endParaRPr lang="en-US"/>
            </a:p>
          </p:txBody>
        </p:sp>
        <p:sp>
          <p:nvSpPr>
            <p:cNvPr id="967794" name="Freeform 114"/>
            <p:cNvSpPr>
              <a:spLocks/>
            </p:cNvSpPr>
            <p:nvPr/>
          </p:nvSpPr>
          <p:spPr bwMode="auto">
            <a:xfrm>
              <a:off x="2331" y="1371"/>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606060"/>
            </a:solidFill>
            <a:ln w="12700" cap="rnd" cmpd="sng">
              <a:noFill/>
              <a:prstDash val="solid"/>
              <a:round/>
              <a:headEnd type="none" w="med" len="med"/>
              <a:tailEnd type="none" w="med" len="med"/>
            </a:ln>
            <a:effectLst/>
          </p:spPr>
          <p:txBody>
            <a:bodyPr/>
            <a:lstStyle/>
            <a:p>
              <a:endParaRPr lang="en-US"/>
            </a:p>
          </p:txBody>
        </p:sp>
        <p:sp>
          <p:nvSpPr>
            <p:cNvPr id="967795" name="Freeform 115"/>
            <p:cNvSpPr>
              <a:spLocks/>
            </p:cNvSpPr>
            <p:nvPr/>
          </p:nvSpPr>
          <p:spPr bwMode="auto">
            <a:xfrm>
              <a:off x="2331" y="1378"/>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5C5C5C"/>
            </a:solidFill>
            <a:ln w="12700" cap="rnd" cmpd="sng">
              <a:noFill/>
              <a:prstDash val="solid"/>
              <a:round/>
              <a:headEnd type="none" w="med" len="med"/>
              <a:tailEnd type="none" w="med" len="med"/>
            </a:ln>
            <a:effectLst/>
          </p:spPr>
          <p:txBody>
            <a:bodyPr/>
            <a:lstStyle/>
            <a:p>
              <a:endParaRPr lang="en-US"/>
            </a:p>
          </p:txBody>
        </p:sp>
        <p:sp>
          <p:nvSpPr>
            <p:cNvPr id="967796" name="Freeform 116"/>
            <p:cNvSpPr>
              <a:spLocks/>
            </p:cNvSpPr>
            <p:nvPr/>
          </p:nvSpPr>
          <p:spPr bwMode="auto">
            <a:xfrm>
              <a:off x="2331" y="1383"/>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585858"/>
            </a:solidFill>
            <a:ln w="12700" cap="rnd" cmpd="sng">
              <a:noFill/>
              <a:prstDash val="solid"/>
              <a:round/>
              <a:headEnd type="none" w="med" len="med"/>
              <a:tailEnd type="none" w="med" len="med"/>
            </a:ln>
            <a:effectLst/>
          </p:spPr>
          <p:txBody>
            <a:bodyPr/>
            <a:lstStyle/>
            <a:p>
              <a:endParaRPr lang="en-US"/>
            </a:p>
          </p:txBody>
        </p:sp>
        <p:sp>
          <p:nvSpPr>
            <p:cNvPr id="967797" name="Freeform 117"/>
            <p:cNvSpPr>
              <a:spLocks/>
            </p:cNvSpPr>
            <p:nvPr/>
          </p:nvSpPr>
          <p:spPr bwMode="auto">
            <a:xfrm>
              <a:off x="2331" y="1389"/>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545454"/>
            </a:solidFill>
            <a:ln w="12700" cap="rnd" cmpd="sng">
              <a:noFill/>
              <a:prstDash val="solid"/>
              <a:round/>
              <a:headEnd type="none" w="med" len="med"/>
              <a:tailEnd type="none" w="med" len="med"/>
            </a:ln>
            <a:effectLst/>
          </p:spPr>
          <p:txBody>
            <a:bodyPr/>
            <a:lstStyle/>
            <a:p>
              <a:endParaRPr lang="en-US"/>
            </a:p>
          </p:txBody>
        </p:sp>
        <p:sp>
          <p:nvSpPr>
            <p:cNvPr id="967798" name="Freeform 118"/>
            <p:cNvSpPr>
              <a:spLocks/>
            </p:cNvSpPr>
            <p:nvPr/>
          </p:nvSpPr>
          <p:spPr bwMode="auto">
            <a:xfrm>
              <a:off x="2331" y="1394"/>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505050"/>
            </a:solidFill>
            <a:ln w="12700" cap="rnd" cmpd="sng">
              <a:noFill/>
              <a:prstDash val="solid"/>
              <a:round/>
              <a:headEnd type="none" w="med" len="med"/>
              <a:tailEnd type="none" w="med" len="med"/>
            </a:ln>
            <a:effectLst/>
          </p:spPr>
          <p:txBody>
            <a:bodyPr/>
            <a:lstStyle/>
            <a:p>
              <a:endParaRPr lang="en-US"/>
            </a:p>
          </p:txBody>
        </p:sp>
        <p:sp>
          <p:nvSpPr>
            <p:cNvPr id="967799" name="Freeform 119"/>
            <p:cNvSpPr>
              <a:spLocks/>
            </p:cNvSpPr>
            <p:nvPr/>
          </p:nvSpPr>
          <p:spPr bwMode="auto">
            <a:xfrm>
              <a:off x="2331" y="1400"/>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4C4C4C"/>
            </a:solidFill>
            <a:ln w="12700" cap="rnd" cmpd="sng">
              <a:noFill/>
              <a:prstDash val="solid"/>
              <a:round/>
              <a:headEnd type="none" w="med" len="med"/>
              <a:tailEnd type="none" w="med" len="med"/>
            </a:ln>
            <a:effectLst/>
          </p:spPr>
          <p:txBody>
            <a:bodyPr/>
            <a:lstStyle/>
            <a:p>
              <a:endParaRPr lang="en-US"/>
            </a:p>
          </p:txBody>
        </p:sp>
        <p:sp>
          <p:nvSpPr>
            <p:cNvPr id="967800" name="Freeform 120"/>
            <p:cNvSpPr>
              <a:spLocks/>
            </p:cNvSpPr>
            <p:nvPr/>
          </p:nvSpPr>
          <p:spPr bwMode="auto">
            <a:xfrm>
              <a:off x="2331" y="1406"/>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484848"/>
            </a:solidFill>
            <a:ln w="12700" cap="rnd" cmpd="sng">
              <a:noFill/>
              <a:prstDash val="solid"/>
              <a:round/>
              <a:headEnd type="none" w="med" len="med"/>
              <a:tailEnd type="none" w="med" len="med"/>
            </a:ln>
            <a:effectLst/>
          </p:spPr>
          <p:txBody>
            <a:bodyPr/>
            <a:lstStyle/>
            <a:p>
              <a:endParaRPr lang="en-US"/>
            </a:p>
          </p:txBody>
        </p:sp>
        <p:sp>
          <p:nvSpPr>
            <p:cNvPr id="967801" name="Freeform 121"/>
            <p:cNvSpPr>
              <a:spLocks/>
            </p:cNvSpPr>
            <p:nvPr/>
          </p:nvSpPr>
          <p:spPr bwMode="auto">
            <a:xfrm>
              <a:off x="2331" y="1412"/>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444444"/>
            </a:solidFill>
            <a:ln w="12700" cap="rnd" cmpd="sng">
              <a:noFill/>
              <a:prstDash val="solid"/>
              <a:round/>
              <a:headEnd type="none" w="med" len="med"/>
              <a:tailEnd type="none" w="med" len="med"/>
            </a:ln>
            <a:effectLst/>
          </p:spPr>
          <p:txBody>
            <a:bodyPr/>
            <a:lstStyle/>
            <a:p>
              <a:endParaRPr lang="en-US"/>
            </a:p>
          </p:txBody>
        </p:sp>
        <p:sp>
          <p:nvSpPr>
            <p:cNvPr id="967802" name="Rectangle 122"/>
            <p:cNvSpPr>
              <a:spLocks noChangeArrowheads="1"/>
            </p:cNvSpPr>
            <p:nvPr/>
          </p:nvSpPr>
          <p:spPr bwMode="auto">
            <a:xfrm>
              <a:off x="2335" y="1236"/>
              <a:ext cx="349" cy="177"/>
            </a:xfrm>
            <a:prstGeom prst="rect">
              <a:avLst/>
            </a:prstGeom>
            <a:noFill/>
            <a:ln w="12700">
              <a:solidFill>
                <a:srgbClr val="B2B2B2"/>
              </a:solidFill>
              <a:miter lim="800000"/>
              <a:headEnd/>
              <a:tailEnd/>
            </a:ln>
            <a:effectLst/>
          </p:spPr>
          <p:txBody>
            <a:bodyPr wrap="none" anchor="ctr"/>
            <a:lstStyle/>
            <a:p>
              <a:endParaRPr lang="en-US"/>
            </a:p>
          </p:txBody>
        </p:sp>
        <p:sp>
          <p:nvSpPr>
            <p:cNvPr id="967803" name="Freeform 123"/>
            <p:cNvSpPr>
              <a:spLocks/>
            </p:cNvSpPr>
            <p:nvPr/>
          </p:nvSpPr>
          <p:spPr bwMode="auto">
            <a:xfrm>
              <a:off x="3162" y="1240"/>
              <a:ext cx="351" cy="26"/>
            </a:xfrm>
            <a:custGeom>
              <a:avLst/>
              <a:gdLst/>
              <a:ahLst/>
              <a:cxnLst>
                <a:cxn ang="0">
                  <a:pos x="0" y="0"/>
                </a:cxn>
                <a:cxn ang="0">
                  <a:pos x="350" y="0"/>
                </a:cxn>
                <a:cxn ang="0">
                  <a:pos x="350" y="25"/>
                </a:cxn>
                <a:cxn ang="0">
                  <a:pos x="0" y="25"/>
                </a:cxn>
                <a:cxn ang="0">
                  <a:pos x="0" y="0"/>
                </a:cxn>
              </a:cxnLst>
              <a:rect l="0" t="0" r="r" b="b"/>
              <a:pathLst>
                <a:path w="351" h="26">
                  <a:moveTo>
                    <a:pt x="0" y="0"/>
                  </a:moveTo>
                  <a:lnTo>
                    <a:pt x="350" y="0"/>
                  </a:lnTo>
                  <a:lnTo>
                    <a:pt x="350" y="25"/>
                  </a:lnTo>
                  <a:lnTo>
                    <a:pt x="0" y="25"/>
                  </a:lnTo>
                  <a:lnTo>
                    <a:pt x="0" y="0"/>
                  </a:lnTo>
                </a:path>
              </a:pathLst>
            </a:custGeom>
            <a:solidFill>
              <a:srgbClr val="B2B2B2"/>
            </a:solidFill>
            <a:ln w="12700" cap="rnd" cmpd="sng">
              <a:noFill/>
              <a:prstDash val="solid"/>
              <a:round/>
              <a:headEnd type="none" w="med" len="med"/>
              <a:tailEnd type="none" w="med" len="med"/>
            </a:ln>
            <a:effectLst/>
          </p:spPr>
          <p:txBody>
            <a:bodyPr/>
            <a:lstStyle/>
            <a:p>
              <a:endParaRPr lang="en-US"/>
            </a:p>
          </p:txBody>
        </p:sp>
        <p:sp>
          <p:nvSpPr>
            <p:cNvPr id="967804" name="Freeform 124"/>
            <p:cNvSpPr>
              <a:spLocks/>
            </p:cNvSpPr>
            <p:nvPr/>
          </p:nvSpPr>
          <p:spPr bwMode="auto">
            <a:xfrm>
              <a:off x="3162" y="1265"/>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B0B0B0"/>
            </a:solidFill>
            <a:ln w="12700" cap="rnd" cmpd="sng">
              <a:noFill/>
              <a:prstDash val="solid"/>
              <a:round/>
              <a:headEnd type="none" w="med" len="med"/>
              <a:tailEnd type="none" w="med" len="med"/>
            </a:ln>
            <a:effectLst/>
          </p:spPr>
          <p:txBody>
            <a:bodyPr/>
            <a:lstStyle/>
            <a:p>
              <a:endParaRPr lang="en-US"/>
            </a:p>
          </p:txBody>
        </p:sp>
        <p:sp>
          <p:nvSpPr>
            <p:cNvPr id="967805" name="Freeform 125"/>
            <p:cNvSpPr>
              <a:spLocks/>
            </p:cNvSpPr>
            <p:nvPr/>
          </p:nvSpPr>
          <p:spPr bwMode="auto">
            <a:xfrm>
              <a:off x="3162" y="1271"/>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ACACAC"/>
            </a:solidFill>
            <a:ln w="12700" cap="rnd" cmpd="sng">
              <a:noFill/>
              <a:prstDash val="solid"/>
              <a:round/>
              <a:headEnd type="none" w="med" len="med"/>
              <a:tailEnd type="none" w="med" len="med"/>
            </a:ln>
            <a:effectLst/>
          </p:spPr>
          <p:txBody>
            <a:bodyPr/>
            <a:lstStyle/>
            <a:p>
              <a:endParaRPr lang="en-US"/>
            </a:p>
          </p:txBody>
        </p:sp>
        <p:sp>
          <p:nvSpPr>
            <p:cNvPr id="967806" name="Freeform 126"/>
            <p:cNvSpPr>
              <a:spLocks/>
            </p:cNvSpPr>
            <p:nvPr/>
          </p:nvSpPr>
          <p:spPr bwMode="auto">
            <a:xfrm>
              <a:off x="3162" y="1277"/>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A8A8A8"/>
            </a:solidFill>
            <a:ln w="12700" cap="rnd" cmpd="sng">
              <a:noFill/>
              <a:prstDash val="solid"/>
              <a:round/>
              <a:headEnd type="none" w="med" len="med"/>
              <a:tailEnd type="none" w="med" len="med"/>
            </a:ln>
            <a:effectLst/>
          </p:spPr>
          <p:txBody>
            <a:bodyPr/>
            <a:lstStyle/>
            <a:p>
              <a:endParaRPr lang="en-US"/>
            </a:p>
          </p:txBody>
        </p:sp>
        <p:sp>
          <p:nvSpPr>
            <p:cNvPr id="967807" name="Freeform 127"/>
            <p:cNvSpPr>
              <a:spLocks/>
            </p:cNvSpPr>
            <p:nvPr/>
          </p:nvSpPr>
          <p:spPr bwMode="auto">
            <a:xfrm>
              <a:off x="3162" y="1282"/>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A4A4A4"/>
            </a:solidFill>
            <a:ln w="12700" cap="rnd" cmpd="sng">
              <a:noFill/>
              <a:prstDash val="solid"/>
              <a:round/>
              <a:headEnd type="none" w="med" len="med"/>
              <a:tailEnd type="none" w="med" len="med"/>
            </a:ln>
            <a:effectLst/>
          </p:spPr>
          <p:txBody>
            <a:bodyPr/>
            <a:lstStyle/>
            <a:p>
              <a:endParaRPr lang="en-US"/>
            </a:p>
          </p:txBody>
        </p:sp>
        <p:sp>
          <p:nvSpPr>
            <p:cNvPr id="967808" name="Freeform 128"/>
            <p:cNvSpPr>
              <a:spLocks/>
            </p:cNvSpPr>
            <p:nvPr/>
          </p:nvSpPr>
          <p:spPr bwMode="auto">
            <a:xfrm>
              <a:off x="3162" y="1288"/>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A0A0A0"/>
            </a:solidFill>
            <a:ln w="12700" cap="rnd" cmpd="sng">
              <a:noFill/>
              <a:prstDash val="solid"/>
              <a:round/>
              <a:headEnd type="none" w="med" len="med"/>
              <a:tailEnd type="none" w="med" len="med"/>
            </a:ln>
            <a:effectLst/>
          </p:spPr>
          <p:txBody>
            <a:bodyPr/>
            <a:lstStyle/>
            <a:p>
              <a:endParaRPr lang="en-US"/>
            </a:p>
          </p:txBody>
        </p:sp>
        <p:sp>
          <p:nvSpPr>
            <p:cNvPr id="967809" name="Freeform 129"/>
            <p:cNvSpPr>
              <a:spLocks/>
            </p:cNvSpPr>
            <p:nvPr/>
          </p:nvSpPr>
          <p:spPr bwMode="auto">
            <a:xfrm>
              <a:off x="3162" y="1293"/>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9C9C9C"/>
            </a:solidFill>
            <a:ln w="12700" cap="rnd" cmpd="sng">
              <a:noFill/>
              <a:prstDash val="solid"/>
              <a:round/>
              <a:headEnd type="none" w="med" len="med"/>
              <a:tailEnd type="none" w="med" len="med"/>
            </a:ln>
            <a:effectLst/>
          </p:spPr>
          <p:txBody>
            <a:bodyPr/>
            <a:lstStyle/>
            <a:p>
              <a:endParaRPr lang="en-US"/>
            </a:p>
          </p:txBody>
        </p:sp>
        <p:sp>
          <p:nvSpPr>
            <p:cNvPr id="967810" name="Freeform 130"/>
            <p:cNvSpPr>
              <a:spLocks/>
            </p:cNvSpPr>
            <p:nvPr/>
          </p:nvSpPr>
          <p:spPr bwMode="auto">
            <a:xfrm>
              <a:off x="3162" y="1300"/>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989898"/>
            </a:solidFill>
            <a:ln w="12700" cap="rnd" cmpd="sng">
              <a:noFill/>
              <a:prstDash val="solid"/>
              <a:round/>
              <a:headEnd type="none" w="med" len="med"/>
              <a:tailEnd type="none" w="med" len="med"/>
            </a:ln>
            <a:effectLst/>
          </p:spPr>
          <p:txBody>
            <a:bodyPr/>
            <a:lstStyle/>
            <a:p>
              <a:endParaRPr lang="en-US"/>
            </a:p>
          </p:txBody>
        </p:sp>
        <p:sp>
          <p:nvSpPr>
            <p:cNvPr id="967811" name="Freeform 131"/>
            <p:cNvSpPr>
              <a:spLocks/>
            </p:cNvSpPr>
            <p:nvPr/>
          </p:nvSpPr>
          <p:spPr bwMode="auto">
            <a:xfrm>
              <a:off x="3162" y="1305"/>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949494"/>
            </a:solidFill>
            <a:ln w="12700" cap="rnd" cmpd="sng">
              <a:noFill/>
              <a:prstDash val="solid"/>
              <a:round/>
              <a:headEnd type="none" w="med" len="med"/>
              <a:tailEnd type="none" w="med" len="med"/>
            </a:ln>
            <a:effectLst/>
          </p:spPr>
          <p:txBody>
            <a:bodyPr/>
            <a:lstStyle/>
            <a:p>
              <a:endParaRPr lang="en-US"/>
            </a:p>
          </p:txBody>
        </p:sp>
        <p:sp>
          <p:nvSpPr>
            <p:cNvPr id="967812" name="Freeform 132"/>
            <p:cNvSpPr>
              <a:spLocks/>
            </p:cNvSpPr>
            <p:nvPr/>
          </p:nvSpPr>
          <p:spPr bwMode="auto">
            <a:xfrm>
              <a:off x="3162" y="1311"/>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909090"/>
            </a:solidFill>
            <a:ln w="12700" cap="rnd" cmpd="sng">
              <a:noFill/>
              <a:prstDash val="solid"/>
              <a:round/>
              <a:headEnd type="none" w="med" len="med"/>
              <a:tailEnd type="none" w="med" len="med"/>
            </a:ln>
            <a:effectLst/>
          </p:spPr>
          <p:txBody>
            <a:bodyPr/>
            <a:lstStyle/>
            <a:p>
              <a:endParaRPr lang="en-US"/>
            </a:p>
          </p:txBody>
        </p:sp>
        <p:sp>
          <p:nvSpPr>
            <p:cNvPr id="967813" name="Freeform 133"/>
            <p:cNvSpPr>
              <a:spLocks/>
            </p:cNvSpPr>
            <p:nvPr/>
          </p:nvSpPr>
          <p:spPr bwMode="auto">
            <a:xfrm>
              <a:off x="3162" y="1316"/>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8C8C8C"/>
            </a:solidFill>
            <a:ln w="12700" cap="rnd" cmpd="sng">
              <a:noFill/>
              <a:prstDash val="solid"/>
              <a:round/>
              <a:headEnd type="none" w="med" len="med"/>
              <a:tailEnd type="none" w="med" len="med"/>
            </a:ln>
            <a:effectLst/>
          </p:spPr>
          <p:txBody>
            <a:bodyPr/>
            <a:lstStyle/>
            <a:p>
              <a:endParaRPr lang="en-US"/>
            </a:p>
          </p:txBody>
        </p:sp>
        <p:sp>
          <p:nvSpPr>
            <p:cNvPr id="967814" name="Freeform 134"/>
            <p:cNvSpPr>
              <a:spLocks/>
            </p:cNvSpPr>
            <p:nvPr/>
          </p:nvSpPr>
          <p:spPr bwMode="auto">
            <a:xfrm>
              <a:off x="3162" y="1323"/>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888888"/>
            </a:solidFill>
            <a:ln w="12700" cap="rnd" cmpd="sng">
              <a:noFill/>
              <a:prstDash val="solid"/>
              <a:round/>
              <a:headEnd type="none" w="med" len="med"/>
              <a:tailEnd type="none" w="med" len="med"/>
            </a:ln>
            <a:effectLst/>
          </p:spPr>
          <p:txBody>
            <a:bodyPr/>
            <a:lstStyle/>
            <a:p>
              <a:endParaRPr lang="en-US"/>
            </a:p>
          </p:txBody>
        </p:sp>
        <p:sp>
          <p:nvSpPr>
            <p:cNvPr id="967815" name="Freeform 135"/>
            <p:cNvSpPr>
              <a:spLocks/>
            </p:cNvSpPr>
            <p:nvPr/>
          </p:nvSpPr>
          <p:spPr bwMode="auto">
            <a:xfrm>
              <a:off x="3162" y="1328"/>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848484"/>
            </a:solidFill>
            <a:ln w="12700" cap="rnd" cmpd="sng">
              <a:noFill/>
              <a:prstDash val="solid"/>
              <a:round/>
              <a:headEnd type="none" w="med" len="med"/>
              <a:tailEnd type="none" w="med" len="med"/>
            </a:ln>
            <a:effectLst/>
          </p:spPr>
          <p:txBody>
            <a:bodyPr/>
            <a:lstStyle/>
            <a:p>
              <a:endParaRPr lang="en-US"/>
            </a:p>
          </p:txBody>
        </p:sp>
        <p:sp>
          <p:nvSpPr>
            <p:cNvPr id="967816" name="Freeform 136"/>
            <p:cNvSpPr>
              <a:spLocks/>
            </p:cNvSpPr>
            <p:nvPr/>
          </p:nvSpPr>
          <p:spPr bwMode="auto">
            <a:xfrm>
              <a:off x="3162" y="1334"/>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808080"/>
            </a:solidFill>
            <a:ln w="12700" cap="rnd" cmpd="sng">
              <a:noFill/>
              <a:prstDash val="solid"/>
              <a:round/>
              <a:headEnd type="none" w="med" len="med"/>
              <a:tailEnd type="none" w="med" len="med"/>
            </a:ln>
            <a:effectLst/>
          </p:spPr>
          <p:txBody>
            <a:bodyPr/>
            <a:lstStyle/>
            <a:p>
              <a:endParaRPr lang="en-US"/>
            </a:p>
          </p:txBody>
        </p:sp>
        <p:sp>
          <p:nvSpPr>
            <p:cNvPr id="967817" name="Freeform 137"/>
            <p:cNvSpPr>
              <a:spLocks/>
            </p:cNvSpPr>
            <p:nvPr/>
          </p:nvSpPr>
          <p:spPr bwMode="auto">
            <a:xfrm>
              <a:off x="3162" y="1339"/>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7C7C7C"/>
            </a:solidFill>
            <a:ln w="12700" cap="rnd" cmpd="sng">
              <a:noFill/>
              <a:prstDash val="solid"/>
              <a:round/>
              <a:headEnd type="none" w="med" len="med"/>
              <a:tailEnd type="none" w="med" len="med"/>
            </a:ln>
            <a:effectLst/>
          </p:spPr>
          <p:txBody>
            <a:bodyPr/>
            <a:lstStyle/>
            <a:p>
              <a:endParaRPr lang="en-US"/>
            </a:p>
          </p:txBody>
        </p:sp>
        <p:sp>
          <p:nvSpPr>
            <p:cNvPr id="967818" name="Freeform 138"/>
            <p:cNvSpPr>
              <a:spLocks/>
            </p:cNvSpPr>
            <p:nvPr/>
          </p:nvSpPr>
          <p:spPr bwMode="auto">
            <a:xfrm>
              <a:off x="3162" y="1344"/>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787878"/>
            </a:solidFill>
            <a:ln w="12700" cap="rnd" cmpd="sng">
              <a:noFill/>
              <a:prstDash val="solid"/>
              <a:round/>
              <a:headEnd type="none" w="med" len="med"/>
              <a:tailEnd type="none" w="med" len="med"/>
            </a:ln>
            <a:effectLst/>
          </p:spPr>
          <p:txBody>
            <a:bodyPr/>
            <a:lstStyle/>
            <a:p>
              <a:endParaRPr lang="en-US"/>
            </a:p>
          </p:txBody>
        </p:sp>
        <p:sp>
          <p:nvSpPr>
            <p:cNvPr id="967819" name="Freeform 139"/>
            <p:cNvSpPr>
              <a:spLocks/>
            </p:cNvSpPr>
            <p:nvPr/>
          </p:nvSpPr>
          <p:spPr bwMode="auto">
            <a:xfrm>
              <a:off x="3162" y="1351"/>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747474"/>
            </a:solidFill>
            <a:ln w="12700" cap="rnd" cmpd="sng">
              <a:noFill/>
              <a:prstDash val="solid"/>
              <a:round/>
              <a:headEnd type="none" w="med" len="med"/>
              <a:tailEnd type="none" w="med" len="med"/>
            </a:ln>
            <a:effectLst/>
          </p:spPr>
          <p:txBody>
            <a:bodyPr/>
            <a:lstStyle/>
            <a:p>
              <a:endParaRPr lang="en-US"/>
            </a:p>
          </p:txBody>
        </p:sp>
        <p:sp>
          <p:nvSpPr>
            <p:cNvPr id="967820" name="Freeform 140"/>
            <p:cNvSpPr>
              <a:spLocks/>
            </p:cNvSpPr>
            <p:nvPr/>
          </p:nvSpPr>
          <p:spPr bwMode="auto">
            <a:xfrm>
              <a:off x="3162" y="1356"/>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707070"/>
            </a:solidFill>
            <a:ln w="12700" cap="rnd" cmpd="sng">
              <a:noFill/>
              <a:prstDash val="solid"/>
              <a:round/>
              <a:headEnd type="none" w="med" len="med"/>
              <a:tailEnd type="none" w="med" len="med"/>
            </a:ln>
            <a:effectLst/>
          </p:spPr>
          <p:txBody>
            <a:bodyPr/>
            <a:lstStyle/>
            <a:p>
              <a:endParaRPr lang="en-US"/>
            </a:p>
          </p:txBody>
        </p:sp>
        <p:sp>
          <p:nvSpPr>
            <p:cNvPr id="967821" name="Freeform 141"/>
            <p:cNvSpPr>
              <a:spLocks/>
            </p:cNvSpPr>
            <p:nvPr/>
          </p:nvSpPr>
          <p:spPr bwMode="auto">
            <a:xfrm>
              <a:off x="3162" y="1362"/>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6C6C6C"/>
            </a:solidFill>
            <a:ln w="12700" cap="rnd" cmpd="sng">
              <a:noFill/>
              <a:prstDash val="solid"/>
              <a:round/>
              <a:headEnd type="none" w="med" len="med"/>
              <a:tailEnd type="none" w="med" len="med"/>
            </a:ln>
            <a:effectLst/>
          </p:spPr>
          <p:txBody>
            <a:bodyPr/>
            <a:lstStyle/>
            <a:p>
              <a:endParaRPr lang="en-US"/>
            </a:p>
          </p:txBody>
        </p:sp>
        <p:sp>
          <p:nvSpPr>
            <p:cNvPr id="967822" name="Freeform 142"/>
            <p:cNvSpPr>
              <a:spLocks/>
            </p:cNvSpPr>
            <p:nvPr/>
          </p:nvSpPr>
          <p:spPr bwMode="auto">
            <a:xfrm>
              <a:off x="3162" y="1367"/>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686868"/>
            </a:solidFill>
            <a:ln w="12700" cap="rnd" cmpd="sng">
              <a:noFill/>
              <a:prstDash val="solid"/>
              <a:round/>
              <a:headEnd type="none" w="med" len="med"/>
              <a:tailEnd type="none" w="med" len="med"/>
            </a:ln>
            <a:effectLst/>
          </p:spPr>
          <p:txBody>
            <a:bodyPr/>
            <a:lstStyle/>
            <a:p>
              <a:endParaRPr lang="en-US"/>
            </a:p>
          </p:txBody>
        </p:sp>
        <p:sp>
          <p:nvSpPr>
            <p:cNvPr id="967823" name="Freeform 143"/>
            <p:cNvSpPr>
              <a:spLocks/>
            </p:cNvSpPr>
            <p:nvPr/>
          </p:nvSpPr>
          <p:spPr bwMode="auto">
            <a:xfrm>
              <a:off x="3162" y="1374"/>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646464"/>
            </a:solidFill>
            <a:ln w="12700" cap="rnd" cmpd="sng">
              <a:noFill/>
              <a:prstDash val="solid"/>
              <a:round/>
              <a:headEnd type="none" w="med" len="med"/>
              <a:tailEnd type="none" w="med" len="med"/>
            </a:ln>
            <a:effectLst/>
          </p:spPr>
          <p:txBody>
            <a:bodyPr/>
            <a:lstStyle/>
            <a:p>
              <a:endParaRPr lang="en-US"/>
            </a:p>
          </p:txBody>
        </p:sp>
        <p:sp>
          <p:nvSpPr>
            <p:cNvPr id="967824" name="Freeform 144"/>
            <p:cNvSpPr>
              <a:spLocks/>
            </p:cNvSpPr>
            <p:nvPr/>
          </p:nvSpPr>
          <p:spPr bwMode="auto">
            <a:xfrm>
              <a:off x="3162" y="1379"/>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606060"/>
            </a:solidFill>
            <a:ln w="12700" cap="rnd" cmpd="sng">
              <a:noFill/>
              <a:prstDash val="solid"/>
              <a:round/>
              <a:headEnd type="none" w="med" len="med"/>
              <a:tailEnd type="none" w="med" len="med"/>
            </a:ln>
            <a:effectLst/>
          </p:spPr>
          <p:txBody>
            <a:bodyPr/>
            <a:lstStyle/>
            <a:p>
              <a:endParaRPr lang="en-US"/>
            </a:p>
          </p:txBody>
        </p:sp>
        <p:sp>
          <p:nvSpPr>
            <p:cNvPr id="967825" name="Freeform 145"/>
            <p:cNvSpPr>
              <a:spLocks/>
            </p:cNvSpPr>
            <p:nvPr/>
          </p:nvSpPr>
          <p:spPr bwMode="auto">
            <a:xfrm>
              <a:off x="3162" y="1385"/>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5C5C5C"/>
            </a:solidFill>
            <a:ln w="12700" cap="rnd" cmpd="sng">
              <a:noFill/>
              <a:prstDash val="solid"/>
              <a:round/>
              <a:headEnd type="none" w="med" len="med"/>
              <a:tailEnd type="none" w="med" len="med"/>
            </a:ln>
            <a:effectLst/>
          </p:spPr>
          <p:txBody>
            <a:bodyPr/>
            <a:lstStyle/>
            <a:p>
              <a:endParaRPr lang="en-US"/>
            </a:p>
          </p:txBody>
        </p:sp>
        <p:sp>
          <p:nvSpPr>
            <p:cNvPr id="967826" name="Freeform 146"/>
            <p:cNvSpPr>
              <a:spLocks/>
            </p:cNvSpPr>
            <p:nvPr/>
          </p:nvSpPr>
          <p:spPr bwMode="auto">
            <a:xfrm>
              <a:off x="3162" y="1390"/>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585858"/>
            </a:solidFill>
            <a:ln w="12700" cap="rnd" cmpd="sng">
              <a:noFill/>
              <a:prstDash val="solid"/>
              <a:round/>
              <a:headEnd type="none" w="med" len="med"/>
              <a:tailEnd type="none" w="med" len="med"/>
            </a:ln>
            <a:effectLst/>
          </p:spPr>
          <p:txBody>
            <a:bodyPr/>
            <a:lstStyle/>
            <a:p>
              <a:endParaRPr lang="en-US"/>
            </a:p>
          </p:txBody>
        </p:sp>
        <p:sp>
          <p:nvSpPr>
            <p:cNvPr id="967827" name="Freeform 147"/>
            <p:cNvSpPr>
              <a:spLocks/>
            </p:cNvSpPr>
            <p:nvPr/>
          </p:nvSpPr>
          <p:spPr bwMode="auto">
            <a:xfrm>
              <a:off x="3162" y="1397"/>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545454"/>
            </a:solidFill>
            <a:ln w="12700" cap="rnd" cmpd="sng">
              <a:noFill/>
              <a:prstDash val="solid"/>
              <a:round/>
              <a:headEnd type="none" w="med" len="med"/>
              <a:tailEnd type="none" w="med" len="med"/>
            </a:ln>
            <a:effectLst/>
          </p:spPr>
          <p:txBody>
            <a:bodyPr/>
            <a:lstStyle/>
            <a:p>
              <a:endParaRPr lang="en-US"/>
            </a:p>
          </p:txBody>
        </p:sp>
        <p:sp>
          <p:nvSpPr>
            <p:cNvPr id="967828" name="Freeform 148"/>
            <p:cNvSpPr>
              <a:spLocks/>
            </p:cNvSpPr>
            <p:nvPr/>
          </p:nvSpPr>
          <p:spPr bwMode="auto">
            <a:xfrm>
              <a:off x="3162" y="1402"/>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505050"/>
            </a:solidFill>
            <a:ln w="12700" cap="rnd" cmpd="sng">
              <a:noFill/>
              <a:prstDash val="solid"/>
              <a:round/>
              <a:headEnd type="none" w="med" len="med"/>
              <a:tailEnd type="none" w="med" len="med"/>
            </a:ln>
            <a:effectLst/>
          </p:spPr>
          <p:txBody>
            <a:bodyPr/>
            <a:lstStyle/>
            <a:p>
              <a:endParaRPr lang="en-US"/>
            </a:p>
          </p:txBody>
        </p:sp>
        <p:sp>
          <p:nvSpPr>
            <p:cNvPr id="967829" name="Freeform 149"/>
            <p:cNvSpPr>
              <a:spLocks/>
            </p:cNvSpPr>
            <p:nvPr/>
          </p:nvSpPr>
          <p:spPr bwMode="auto">
            <a:xfrm>
              <a:off x="3162" y="1408"/>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4C4C4C"/>
            </a:solidFill>
            <a:ln w="12700" cap="rnd" cmpd="sng">
              <a:noFill/>
              <a:prstDash val="solid"/>
              <a:round/>
              <a:headEnd type="none" w="med" len="med"/>
              <a:tailEnd type="none" w="med" len="med"/>
            </a:ln>
            <a:effectLst/>
          </p:spPr>
          <p:txBody>
            <a:bodyPr/>
            <a:lstStyle/>
            <a:p>
              <a:endParaRPr lang="en-US"/>
            </a:p>
          </p:txBody>
        </p:sp>
        <p:sp>
          <p:nvSpPr>
            <p:cNvPr id="967830" name="Freeform 150"/>
            <p:cNvSpPr>
              <a:spLocks/>
            </p:cNvSpPr>
            <p:nvPr/>
          </p:nvSpPr>
          <p:spPr bwMode="auto">
            <a:xfrm>
              <a:off x="3162" y="1413"/>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484848"/>
            </a:solidFill>
            <a:ln w="12700" cap="rnd" cmpd="sng">
              <a:noFill/>
              <a:prstDash val="solid"/>
              <a:round/>
              <a:headEnd type="none" w="med" len="med"/>
              <a:tailEnd type="none" w="med" len="med"/>
            </a:ln>
            <a:effectLst/>
          </p:spPr>
          <p:txBody>
            <a:bodyPr/>
            <a:lstStyle/>
            <a:p>
              <a:endParaRPr lang="en-US"/>
            </a:p>
          </p:txBody>
        </p:sp>
        <p:sp>
          <p:nvSpPr>
            <p:cNvPr id="967831" name="Freeform 151"/>
            <p:cNvSpPr>
              <a:spLocks/>
            </p:cNvSpPr>
            <p:nvPr/>
          </p:nvSpPr>
          <p:spPr bwMode="auto">
            <a:xfrm>
              <a:off x="3162" y="1420"/>
              <a:ext cx="351" cy="17"/>
            </a:xfrm>
            <a:custGeom>
              <a:avLst/>
              <a:gdLst/>
              <a:ahLst/>
              <a:cxnLst>
                <a:cxn ang="0">
                  <a:pos x="0" y="0"/>
                </a:cxn>
                <a:cxn ang="0">
                  <a:pos x="350" y="0"/>
                </a:cxn>
                <a:cxn ang="0">
                  <a:pos x="350" y="16"/>
                </a:cxn>
                <a:cxn ang="0">
                  <a:pos x="0" y="16"/>
                </a:cxn>
                <a:cxn ang="0">
                  <a:pos x="0" y="0"/>
                </a:cxn>
              </a:cxnLst>
              <a:rect l="0" t="0" r="r" b="b"/>
              <a:pathLst>
                <a:path w="351" h="17">
                  <a:moveTo>
                    <a:pt x="0" y="0"/>
                  </a:moveTo>
                  <a:lnTo>
                    <a:pt x="350" y="0"/>
                  </a:lnTo>
                  <a:lnTo>
                    <a:pt x="350" y="16"/>
                  </a:lnTo>
                  <a:lnTo>
                    <a:pt x="0" y="16"/>
                  </a:lnTo>
                  <a:lnTo>
                    <a:pt x="0" y="0"/>
                  </a:lnTo>
                </a:path>
              </a:pathLst>
            </a:custGeom>
            <a:solidFill>
              <a:srgbClr val="444444"/>
            </a:solidFill>
            <a:ln w="12700" cap="rnd" cmpd="sng">
              <a:noFill/>
              <a:prstDash val="solid"/>
              <a:round/>
              <a:headEnd type="none" w="med" len="med"/>
              <a:tailEnd type="none" w="med" len="med"/>
            </a:ln>
            <a:effectLst/>
          </p:spPr>
          <p:txBody>
            <a:bodyPr/>
            <a:lstStyle/>
            <a:p>
              <a:endParaRPr lang="en-US"/>
            </a:p>
          </p:txBody>
        </p:sp>
        <p:sp>
          <p:nvSpPr>
            <p:cNvPr id="967832" name="Rectangle 152"/>
            <p:cNvSpPr>
              <a:spLocks noChangeArrowheads="1"/>
            </p:cNvSpPr>
            <p:nvPr/>
          </p:nvSpPr>
          <p:spPr bwMode="auto">
            <a:xfrm>
              <a:off x="3166" y="1244"/>
              <a:ext cx="342" cy="177"/>
            </a:xfrm>
            <a:prstGeom prst="rect">
              <a:avLst/>
            </a:prstGeom>
            <a:noFill/>
            <a:ln w="12700">
              <a:solidFill>
                <a:srgbClr val="B2B2B2"/>
              </a:solidFill>
              <a:miter lim="800000"/>
              <a:headEnd/>
              <a:tailEnd/>
            </a:ln>
            <a:effectLst/>
          </p:spPr>
          <p:txBody>
            <a:bodyPr wrap="none" anchor="ctr"/>
            <a:lstStyle/>
            <a:p>
              <a:endParaRPr lang="en-US"/>
            </a:p>
          </p:txBody>
        </p:sp>
        <p:sp>
          <p:nvSpPr>
            <p:cNvPr id="967833" name="Freeform 153"/>
            <p:cNvSpPr>
              <a:spLocks/>
            </p:cNvSpPr>
            <p:nvPr/>
          </p:nvSpPr>
          <p:spPr bwMode="auto">
            <a:xfrm>
              <a:off x="3170" y="1859"/>
              <a:ext cx="358" cy="19"/>
            </a:xfrm>
            <a:custGeom>
              <a:avLst/>
              <a:gdLst/>
              <a:ahLst/>
              <a:cxnLst>
                <a:cxn ang="0">
                  <a:pos x="0" y="0"/>
                </a:cxn>
                <a:cxn ang="0">
                  <a:pos x="357" y="0"/>
                </a:cxn>
                <a:cxn ang="0">
                  <a:pos x="357" y="18"/>
                </a:cxn>
                <a:cxn ang="0">
                  <a:pos x="0" y="18"/>
                </a:cxn>
                <a:cxn ang="0">
                  <a:pos x="0" y="0"/>
                </a:cxn>
              </a:cxnLst>
              <a:rect l="0" t="0" r="r" b="b"/>
              <a:pathLst>
                <a:path w="358" h="19">
                  <a:moveTo>
                    <a:pt x="0" y="0"/>
                  </a:moveTo>
                  <a:lnTo>
                    <a:pt x="357" y="0"/>
                  </a:lnTo>
                  <a:lnTo>
                    <a:pt x="357" y="18"/>
                  </a:lnTo>
                  <a:lnTo>
                    <a:pt x="0" y="18"/>
                  </a:lnTo>
                  <a:lnTo>
                    <a:pt x="0" y="0"/>
                  </a:lnTo>
                </a:path>
              </a:pathLst>
            </a:custGeom>
            <a:solidFill>
              <a:srgbClr val="B2B2B2"/>
            </a:solidFill>
            <a:ln w="12700" cap="rnd" cmpd="sng">
              <a:noFill/>
              <a:prstDash val="solid"/>
              <a:round/>
              <a:headEnd type="none" w="med" len="med"/>
              <a:tailEnd type="none" w="med" len="med"/>
            </a:ln>
            <a:effectLst/>
          </p:spPr>
          <p:txBody>
            <a:bodyPr/>
            <a:lstStyle/>
            <a:p>
              <a:endParaRPr lang="en-US"/>
            </a:p>
          </p:txBody>
        </p:sp>
        <p:sp>
          <p:nvSpPr>
            <p:cNvPr id="967834" name="Freeform 154"/>
            <p:cNvSpPr>
              <a:spLocks/>
            </p:cNvSpPr>
            <p:nvPr/>
          </p:nvSpPr>
          <p:spPr bwMode="auto">
            <a:xfrm>
              <a:off x="3170" y="1877"/>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B0B0B0"/>
            </a:solidFill>
            <a:ln w="12700" cap="rnd" cmpd="sng">
              <a:noFill/>
              <a:prstDash val="solid"/>
              <a:round/>
              <a:headEnd type="none" w="med" len="med"/>
              <a:tailEnd type="none" w="med" len="med"/>
            </a:ln>
            <a:effectLst/>
          </p:spPr>
          <p:txBody>
            <a:bodyPr/>
            <a:lstStyle/>
            <a:p>
              <a:endParaRPr lang="en-US"/>
            </a:p>
          </p:txBody>
        </p:sp>
        <p:sp>
          <p:nvSpPr>
            <p:cNvPr id="967835" name="Freeform 155"/>
            <p:cNvSpPr>
              <a:spLocks/>
            </p:cNvSpPr>
            <p:nvPr/>
          </p:nvSpPr>
          <p:spPr bwMode="auto">
            <a:xfrm>
              <a:off x="3170" y="1881"/>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ACACAC"/>
            </a:solidFill>
            <a:ln w="12700" cap="rnd" cmpd="sng">
              <a:noFill/>
              <a:prstDash val="solid"/>
              <a:round/>
              <a:headEnd type="none" w="med" len="med"/>
              <a:tailEnd type="none" w="med" len="med"/>
            </a:ln>
            <a:effectLst/>
          </p:spPr>
          <p:txBody>
            <a:bodyPr/>
            <a:lstStyle/>
            <a:p>
              <a:endParaRPr lang="en-US"/>
            </a:p>
          </p:txBody>
        </p:sp>
        <p:sp>
          <p:nvSpPr>
            <p:cNvPr id="967836" name="Freeform 156"/>
            <p:cNvSpPr>
              <a:spLocks/>
            </p:cNvSpPr>
            <p:nvPr/>
          </p:nvSpPr>
          <p:spPr bwMode="auto">
            <a:xfrm>
              <a:off x="3170" y="1885"/>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A8A8A8"/>
            </a:solidFill>
            <a:ln w="12700" cap="rnd" cmpd="sng">
              <a:noFill/>
              <a:prstDash val="solid"/>
              <a:round/>
              <a:headEnd type="none" w="med" len="med"/>
              <a:tailEnd type="none" w="med" len="med"/>
            </a:ln>
            <a:effectLst/>
          </p:spPr>
          <p:txBody>
            <a:bodyPr/>
            <a:lstStyle/>
            <a:p>
              <a:endParaRPr lang="en-US"/>
            </a:p>
          </p:txBody>
        </p:sp>
        <p:sp>
          <p:nvSpPr>
            <p:cNvPr id="967837" name="Freeform 157"/>
            <p:cNvSpPr>
              <a:spLocks/>
            </p:cNvSpPr>
            <p:nvPr/>
          </p:nvSpPr>
          <p:spPr bwMode="auto">
            <a:xfrm>
              <a:off x="3170" y="1890"/>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A4A4A4"/>
            </a:solidFill>
            <a:ln w="12700" cap="rnd" cmpd="sng">
              <a:noFill/>
              <a:prstDash val="solid"/>
              <a:round/>
              <a:headEnd type="none" w="med" len="med"/>
              <a:tailEnd type="none" w="med" len="med"/>
            </a:ln>
            <a:effectLst/>
          </p:spPr>
          <p:txBody>
            <a:bodyPr/>
            <a:lstStyle/>
            <a:p>
              <a:endParaRPr lang="en-US"/>
            </a:p>
          </p:txBody>
        </p:sp>
        <p:sp>
          <p:nvSpPr>
            <p:cNvPr id="967838" name="Freeform 158"/>
            <p:cNvSpPr>
              <a:spLocks/>
            </p:cNvSpPr>
            <p:nvPr/>
          </p:nvSpPr>
          <p:spPr bwMode="auto">
            <a:xfrm>
              <a:off x="3170" y="1893"/>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A0A0A0"/>
            </a:solidFill>
            <a:ln w="12700" cap="rnd" cmpd="sng">
              <a:noFill/>
              <a:prstDash val="solid"/>
              <a:round/>
              <a:headEnd type="none" w="med" len="med"/>
              <a:tailEnd type="none" w="med" len="med"/>
            </a:ln>
            <a:effectLst/>
          </p:spPr>
          <p:txBody>
            <a:bodyPr/>
            <a:lstStyle/>
            <a:p>
              <a:endParaRPr lang="en-US"/>
            </a:p>
          </p:txBody>
        </p:sp>
        <p:sp>
          <p:nvSpPr>
            <p:cNvPr id="967839" name="Freeform 159"/>
            <p:cNvSpPr>
              <a:spLocks/>
            </p:cNvSpPr>
            <p:nvPr/>
          </p:nvSpPr>
          <p:spPr bwMode="auto">
            <a:xfrm>
              <a:off x="3170" y="1897"/>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9C9C9C"/>
            </a:solidFill>
            <a:ln w="12700" cap="rnd" cmpd="sng">
              <a:noFill/>
              <a:prstDash val="solid"/>
              <a:round/>
              <a:headEnd type="none" w="med" len="med"/>
              <a:tailEnd type="none" w="med" len="med"/>
            </a:ln>
            <a:effectLst/>
          </p:spPr>
          <p:txBody>
            <a:bodyPr/>
            <a:lstStyle/>
            <a:p>
              <a:endParaRPr lang="en-US"/>
            </a:p>
          </p:txBody>
        </p:sp>
        <p:sp>
          <p:nvSpPr>
            <p:cNvPr id="967840" name="Freeform 160"/>
            <p:cNvSpPr>
              <a:spLocks/>
            </p:cNvSpPr>
            <p:nvPr/>
          </p:nvSpPr>
          <p:spPr bwMode="auto">
            <a:xfrm>
              <a:off x="3170" y="1901"/>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989898"/>
            </a:solidFill>
            <a:ln w="12700" cap="rnd" cmpd="sng">
              <a:noFill/>
              <a:prstDash val="solid"/>
              <a:round/>
              <a:headEnd type="none" w="med" len="med"/>
              <a:tailEnd type="none" w="med" len="med"/>
            </a:ln>
            <a:effectLst/>
          </p:spPr>
          <p:txBody>
            <a:bodyPr/>
            <a:lstStyle/>
            <a:p>
              <a:endParaRPr lang="en-US"/>
            </a:p>
          </p:txBody>
        </p:sp>
        <p:sp>
          <p:nvSpPr>
            <p:cNvPr id="967841" name="Freeform 161"/>
            <p:cNvSpPr>
              <a:spLocks/>
            </p:cNvSpPr>
            <p:nvPr/>
          </p:nvSpPr>
          <p:spPr bwMode="auto">
            <a:xfrm>
              <a:off x="3170" y="1905"/>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949494"/>
            </a:solidFill>
            <a:ln w="12700" cap="rnd" cmpd="sng">
              <a:noFill/>
              <a:prstDash val="solid"/>
              <a:round/>
              <a:headEnd type="none" w="med" len="med"/>
              <a:tailEnd type="none" w="med" len="med"/>
            </a:ln>
            <a:effectLst/>
          </p:spPr>
          <p:txBody>
            <a:bodyPr/>
            <a:lstStyle/>
            <a:p>
              <a:endParaRPr lang="en-US"/>
            </a:p>
          </p:txBody>
        </p:sp>
        <p:sp>
          <p:nvSpPr>
            <p:cNvPr id="967842" name="Freeform 162"/>
            <p:cNvSpPr>
              <a:spLocks/>
            </p:cNvSpPr>
            <p:nvPr/>
          </p:nvSpPr>
          <p:spPr bwMode="auto">
            <a:xfrm>
              <a:off x="3170" y="1909"/>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909090"/>
            </a:solidFill>
            <a:ln w="12700" cap="rnd" cmpd="sng">
              <a:noFill/>
              <a:prstDash val="solid"/>
              <a:round/>
              <a:headEnd type="none" w="med" len="med"/>
              <a:tailEnd type="none" w="med" len="med"/>
            </a:ln>
            <a:effectLst/>
          </p:spPr>
          <p:txBody>
            <a:bodyPr/>
            <a:lstStyle/>
            <a:p>
              <a:endParaRPr lang="en-US"/>
            </a:p>
          </p:txBody>
        </p:sp>
        <p:sp>
          <p:nvSpPr>
            <p:cNvPr id="967843" name="Freeform 163"/>
            <p:cNvSpPr>
              <a:spLocks/>
            </p:cNvSpPr>
            <p:nvPr/>
          </p:nvSpPr>
          <p:spPr bwMode="auto">
            <a:xfrm>
              <a:off x="3170" y="1914"/>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8C8C8C"/>
            </a:solidFill>
            <a:ln w="12700" cap="rnd" cmpd="sng">
              <a:noFill/>
              <a:prstDash val="solid"/>
              <a:round/>
              <a:headEnd type="none" w="med" len="med"/>
              <a:tailEnd type="none" w="med" len="med"/>
            </a:ln>
            <a:effectLst/>
          </p:spPr>
          <p:txBody>
            <a:bodyPr/>
            <a:lstStyle/>
            <a:p>
              <a:endParaRPr lang="en-US"/>
            </a:p>
          </p:txBody>
        </p:sp>
        <p:sp>
          <p:nvSpPr>
            <p:cNvPr id="967844" name="Freeform 164"/>
            <p:cNvSpPr>
              <a:spLocks/>
            </p:cNvSpPr>
            <p:nvPr/>
          </p:nvSpPr>
          <p:spPr bwMode="auto">
            <a:xfrm>
              <a:off x="3170" y="1918"/>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888888"/>
            </a:solidFill>
            <a:ln w="12700" cap="rnd" cmpd="sng">
              <a:noFill/>
              <a:prstDash val="solid"/>
              <a:round/>
              <a:headEnd type="none" w="med" len="med"/>
              <a:tailEnd type="none" w="med" len="med"/>
            </a:ln>
            <a:effectLst/>
          </p:spPr>
          <p:txBody>
            <a:bodyPr/>
            <a:lstStyle/>
            <a:p>
              <a:endParaRPr lang="en-US"/>
            </a:p>
          </p:txBody>
        </p:sp>
        <p:sp>
          <p:nvSpPr>
            <p:cNvPr id="967845" name="Freeform 165"/>
            <p:cNvSpPr>
              <a:spLocks/>
            </p:cNvSpPr>
            <p:nvPr/>
          </p:nvSpPr>
          <p:spPr bwMode="auto">
            <a:xfrm>
              <a:off x="3170" y="1921"/>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848484"/>
            </a:solidFill>
            <a:ln w="12700" cap="rnd" cmpd="sng">
              <a:noFill/>
              <a:prstDash val="solid"/>
              <a:round/>
              <a:headEnd type="none" w="med" len="med"/>
              <a:tailEnd type="none" w="med" len="med"/>
            </a:ln>
            <a:effectLst/>
          </p:spPr>
          <p:txBody>
            <a:bodyPr/>
            <a:lstStyle/>
            <a:p>
              <a:endParaRPr lang="en-US"/>
            </a:p>
          </p:txBody>
        </p:sp>
        <p:sp>
          <p:nvSpPr>
            <p:cNvPr id="967846" name="Freeform 166"/>
            <p:cNvSpPr>
              <a:spLocks/>
            </p:cNvSpPr>
            <p:nvPr/>
          </p:nvSpPr>
          <p:spPr bwMode="auto">
            <a:xfrm>
              <a:off x="3170" y="1925"/>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808080"/>
            </a:solidFill>
            <a:ln w="12700" cap="rnd" cmpd="sng">
              <a:noFill/>
              <a:prstDash val="solid"/>
              <a:round/>
              <a:headEnd type="none" w="med" len="med"/>
              <a:tailEnd type="none" w="med" len="med"/>
            </a:ln>
            <a:effectLst/>
          </p:spPr>
          <p:txBody>
            <a:bodyPr/>
            <a:lstStyle/>
            <a:p>
              <a:endParaRPr lang="en-US"/>
            </a:p>
          </p:txBody>
        </p:sp>
        <p:sp>
          <p:nvSpPr>
            <p:cNvPr id="967847" name="Freeform 167"/>
            <p:cNvSpPr>
              <a:spLocks/>
            </p:cNvSpPr>
            <p:nvPr/>
          </p:nvSpPr>
          <p:spPr bwMode="auto">
            <a:xfrm>
              <a:off x="3170" y="1929"/>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7C7C7C"/>
            </a:solidFill>
            <a:ln w="12700" cap="rnd" cmpd="sng">
              <a:noFill/>
              <a:prstDash val="solid"/>
              <a:round/>
              <a:headEnd type="none" w="med" len="med"/>
              <a:tailEnd type="none" w="med" len="med"/>
            </a:ln>
            <a:effectLst/>
          </p:spPr>
          <p:txBody>
            <a:bodyPr/>
            <a:lstStyle/>
            <a:p>
              <a:endParaRPr lang="en-US"/>
            </a:p>
          </p:txBody>
        </p:sp>
        <p:sp>
          <p:nvSpPr>
            <p:cNvPr id="967848" name="Freeform 168"/>
            <p:cNvSpPr>
              <a:spLocks/>
            </p:cNvSpPr>
            <p:nvPr/>
          </p:nvSpPr>
          <p:spPr bwMode="auto">
            <a:xfrm>
              <a:off x="3170" y="1933"/>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787878"/>
            </a:solidFill>
            <a:ln w="12700" cap="rnd" cmpd="sng">
              <a:noFill/>
              <a:prstDash val="solid"/>
              <a:round/>
              <a:headEnd type="none" w="med" len="med"/>
              <a:tailEnd type="none" w="med" len="med"/>
            </a:ln>
            <a:effectLst/>
          </p:spPr>
          <p:txBody>
            <a:bodyPr/>
            <a:lstStyle/>
            <a:p>
              <a:endParaRPr lang="en-US"/>
            </a:p>
          </p:txBody>
        </p:sp>
        <p:sp>
          <p:nvSpPr>
            <p:cNvPr id="967849" name="Freeform 169"/>
            <p:cNvSpPr>
              <a:spLocks/>
            </p:cNvSpPr>
            <p:nvPr/>
          </p:nvSpPr>
          <p:spPr bwMode="auto">
            <a:xfrm>
              <a:off x="3170" y="1938"/>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747474"/>
            </a:solidFill>
            <a:ln w="12700" cap="rnd" cmpd="sng">
              <a:noFill/>
              <a:prstDash val="solid"/>
              <a:round/>
              <a:headEnd type="none" w="med" len="med"/>
              <a:tailEnd type="none" w="med" len="med"/>
            </a:ln>
            <a:effectLst/>
          </p:spPr>
          <p:txBody>
            <a:bodyPr/>
            <a:lstStyle/>
            <a:p>
              <a:endParaRPr lang="en-US"/>
            </a:p>
          </p:txBody>
        </p:sp>
        <p:sp>
          <p:nvSpPr>
            <p:cNvPr id="967850" name="Freeform 170"/>
            <p:cNvSpPr>
              <a:spLocks/>
            </p:cNvSpPr>
            <p:nvPr/>
          </p:nvSpPr>
          <p:spPr bwMode="auto">
            <a:xfrm>
              <a:off x="3170" y="1942"/>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707070"/>
            </a:solidFill>
            <a:ln w="12700" cap="rnd" cmpd="sng">
              <a:noFill/>
              <a:prstDash val="solid"/>
              <a:round/>
              <a:headEnd type="none" w="med" len="med"/>
              <a:tailEnd type="none" w="med" len="med"/>
            </a:ln>
            <a:effectLst/>
          </p:spPr>
          <p:txBody>
            <a:bodyPr/>
            <a:lstStyle/>
            <a:p>
              <a:endParaRPr lang="en-US"/>
            </a:p>
          </p:txBody>
        </p:sp>
        <p:sp>
          <p:nvSpPr>
            <p:cNvPr id="967851" name="Freeform 171"/>
            <p:cNvSpPr>
              <a:spLocks/>
            </p:cNvSpPr>
            <p:nvPr/>
          </p:nvSpPr>
          <p:spPr bwMode="auto">
            <a:xfrm>
              <a:off x="3170" y="1946"/>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6C6C6C"/>
            </a:solidFill>
            <a:ln w="12700" cap="rnd" cmpd="sng">
              <a:noFill/>
              <a:prstDash val="solid"/>
              <a:round/>
              <a:headEnd type="none" w="med" len="med"/>
              <a:tailEnd type="none" w="med" len="med"/>
            </a:ln>
            <a:effectLst/>
          </p:spPr>
          <p:txBody>
            <a:bodyPr/>
            <a:lstStyle/>
            <a:p>
              <a:endParaRPr lang="en-US"/>
            </a:p>
          </p:txBody>
        </p:sp>
        <p:sp>
          <p:nvSpPr>
            <p:cNvPr id="967852" name="Freeform 172"/>
            <p:cNvSpPr>
              <a:spLocks/>
            </p:cNvSpPr>
            <p:nvPr/>
          </p:nvSpPr>
          <p:spPr bwMode="auto">
            <a:xfrm>
              <a:off x="3170" y="1950"/>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686868"/>
            </a:solidFill>
            <a:ln w="12700" cap="rnd" cmpd="sng">
              <a:noFill/>
              <a:prstDash val="solid"/>
              <a:round/>
              <a:headEnd type="none" w="med" len="med"/>
              <a:tailEnd type="none" w="med" len="med"/>
            </a:ln>
            <a:effectLst/>
          </p:spPr>
          <p:txBody>
            <a:bodyPr/>
            <a:lstStyle/>
            <a:p>
              <a:endParaRPr lang="en-US"/>
            </a:p>
          </p:txBody>
        </p:sp>
        <p:sp>
          <p:nvSpPr>
            <p:cNvPr id="967853" name="Freeform 173"/>
            <p:cNvSpPr>
              <a:spLocks/>
            </p:cNvSpPr>
            <p:nvPr/>
          </p:nvSpPr>
          <p:spPr bwMode="auto">
            <a:xfrm>
              <a:off x="3170" y="1953"/>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646464"/>
            </a:solidFill>
            <a:ln w="12700" cap="rnd" cmpd="sng">
              <a:noFill/>
              <a:prstDash val="solid"/>
              <a:round/>
              <a:headEnd type="none" w="med" len="med"/>
              <a:tailEnd type="none" w="med" len="med"/>
            </a:ln>
            <a:effectLst/>
          </p:spPr>
          <p:txBody>
            <a:bodyPr/>
            <a:lstStyle/>
            <a:p>
              <a:endParaRPr lang="en-US"/>
            </a:p>
          </p:txBody>
        </p:sp>
        <p:sp>
          <p:nvSpPr>
            <p:cNvPr id="967854" name="Freeform 174"/>
            <p:cNvSpPr>
              <a:spLocks/>
            </p:cNvSpPr>
            <p:nvPr/>
          </p:nvSpPr>
          <p:spPr bwMode="auto">
            <a:xfrm>
              <a:off x="3170" y="1958"/>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606060"/>
            </a:solidFill>
            <a:ln w="12700" cap="rnd" cmpd="sng">
              <a:noFill/>
              <a:prstDash val="solid"/>
              <a:round/>
              <a:headEnd type="none" w="med" len="med"/>
              <a:tailEnd type="none" w="med" len="med"/>
            </a:ln>
            <a:effectLst/>
          </p:spPr>
          <p:txBody>
            <a:bodyPr/>
            <a:lstStyle/>
            <a:p>
              <a:endParaRPr lang="en-US"/>
            </a:p>
          </p:txBody>
        </p:sp>
        <p:sp>
          <p:nvSpPr>
            <p:cNvPr id="967855" name="Freeform 175"/>
            <p:cNvSpPr>
              <a:spLocks/>
            </p:cNvSpPr>
            <p:nvPr/>
          </p:nvSpPr>
          <p:spPr bwMode="auto">
            <a:xfrm>
              <a:off x="3170" y="1962"/>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5C5C5C"/>
            </a:solidFill>
            <a:ln w="12700" cap="rnd" cmpd="sng">
              <a:noFill/>
              <a:prstDash val="solid"/>
              <a:round/>
              <a:headEnd type="none" w="med" len="med"/>
              <a:tailEnd type="none" w="med" len="med"/>
            </a:ln>
            <a:effectLst/>
          </p:spPr>
          <p:txBody>
            <a:bodyPr/>
            <a:lstStyle/>
            <a:p>
              <a:endParaRPr lang="en-US"/>
            </a:p>
          </p:txBody>
        </p:sp>
        <p:sp>
          <p:nvSpPr>
            <p:cNvPr id="967856" name="Freeform 176"/>
            <p:cNvSpPr>
              <a:spLocks/>
            </p:cNvSpPr>
            <p:nvPr/>
          </p:nvSpPr>
          <p:spPr bwMode="auto">
            <a:xfrm>
              <a:off x="3170" y="1966"/>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585858"/>
            </a:solidFill>
            <a:ln w="12700" cap="rnd" cmpd="sng">
              <a:noFill/>
              <a:prstDash val="solid"/>
              <a:round/>
              <a:headEnd type="none" w="med" len="med"/>
              <a:tailEnd type="none" w="med" len="med"/>
            </a:ln>
            <a:effectLst/>
          </p:spPr>
          <p:txBody>
            <a:bodyPr/>
            <a:lstStyle/>
            <a:p>
              <a:endParaRPr lang="en-US"/>
            </a:p>
          </p:txBody>
        </p:sp>
        <p:sp>
          <p:nvSpPr>
            <p:cNvPr id="967857" name="Freeform 177"/>
            <p:cNvSpPr>
              <a:spLocks/>
            </p:cNvSpPr>
            <p:nvPr/>
          </p:nvSpPr>
          <p:spPr bwMode="auto">
            <a:xfrm>
              <a:off x="3170" y="1970"/>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545454"/>
            </a:solidFill>
            <a:ln w="12700" cap="rnd" cmpd="sng">
              <a:noFill/>
              <a:prstDash val="solid"/>
              <a:round/>
              <a:headEnd type="none" w="med" len="med"/>
              <a:tailEnd type="none" w="med" len="med"/>
            </a:ln>
            <a:effectLst/>
          </p:spPr>
          <p:txBody>
            <a:bodyPr/>
            <a:lstStyle/>
            <a:p>
              <a:endParaRPr lang="en-US"/>
            </a:p>
          </p:txBody>
        </p:sp>
        <p:sp>
          <p:nvSpPr>
            <p:cNvPr id="967858" name="Freeform 178"/>
            <p:cNvSpPr>
              <a:spLocks/>
            </p:cNvSpPr>
            <p:nvPr/>
          </p:nvSpPr>
          <p:spPr bwMode="auto">
            <a:xfrm>
              <a:off x="3170" y="1974"/>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505050"/>
            </a:solidFill>
            <a:ln w="12700" cap="rnd" cmpd="sng">
              <a:noFill/>
              <a:prstDash val="solid"/>
              <a:round/>
              <a:headEnd type="none" w="med" len="med"/>
              <a:tailEnd type="none" w="med" len="med"/>
            </a:ln>
            <a:effectLst/>
          </p:spPr>
          <p:txBody>
            <a:bodyPr/>
            <a:lstStyle/>
            <a:p>
              <a:endParaRPr lang="en-US"/>
            </a:p>
          </p:txBody>
        </p:sp>
        <p:sp>
          <p:nvSpPr>
            <p:cNvPr id="967859" name="Freeform 179"/>
            <p:cNvSpPr>
              <a:spLocks/>
            </p:cNvSpPr>
            <p:nvPr/>
          </p:nvSpPr>
          <p:spPr bwMode="auto">
            <a:xfrm>
              <a:off x="3170" y="1978"/>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4C4C4C"/>
            </a:solidFill>
            <a:ln w="12700" cap="rnd" cmpd="sng">
              <a:noFill/>
              <a:prstDash val="solid"/>
              <a:round/>
              <a:headEnd type="none" w="med" len="med"/>
              <a:tailEnd type="none" w="med" len="med"/>
            </a:ln>
            <a:effectLst/>
          </p:spPr>
          <p:txBody>
            <a:bodyPr/>
            <a:lstStyle/>
            <a:p>
              <a:endParaRPr lang="en-US"/>
            </a:p>
          </p:txBody>
        </p:sp>
        <p:sp>
          <p:nvSpPr>
            <p:cNvPr id="967860" name="Freeform 180"/>
            <p:cNvSpPr>
              <a:spLocks/>
            </p:cNvSpPr>
            <p:nvPr/>
          </p:nvSpPr>
          <p:spPr bwMode="auto">
            <a:xfrm>
              <a:off x="3170" y="1983"/>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484848"/>
            </a:solidFill>
            <a:ln w="12700" cap="rnd" cmpd="sng">
              <a:noFill/>
              <a:prstDash val="solid"/>
              <a:round/>
              <a:headEnd type="none" w="med" len="med"/>
              <a:tailEnd type="none" w="med" len="med"/>
            </a:ln>
            <a:effectLst/>
          </p:spPr>
          <p:txBody>
            <a:bodyPr/>
            <a:lstStyle/>
            <a:p>
              <a:endParaRPr lang="en-US"/>
            </a:p>
          </p:txBody>
        </p:sp>
        <p:sp>
          <p:nvSpPr>
            <p:cNvPr id="967861" name="Freeform 181"/>
            <p:cNvSpPr>
              <a:spLocks/>
            </p:cNvSpPr>
            <p:nvPr/>
          </p:nvSpPr>
          <p:spPr bwMode="auto">
            <a:xfrm>
              <a:off x="3170" y="1986"/>
              <a:ext cx="358" cy="17"/>
            </a:xfrm>
            <a:custGeom>
              <a:avLst/>
              <a:gdLst/>
              <a:ahLst/>
              <a:cxnLst>
                <a:cxn ang="0">
                  <a:pos x="0" y="0"/>
                </a:cxn>
                <a:cxn ang="0">
                  <a:pos x="357" y="0"/>
                </a:cxn>
                <a:cxn ang="0">
                  <a:pos x="357" y="16"/>
                </a:cxn>
                <a:cxn ang="0">
                  <a:pos x="0" y="16"/>
                </a:cxn>
                <a:cxn ang="0">
                  <a:pos x="0" y="0"/>
                </a:cxn>
              </a:cxnLst>
              <a:rect l="0" t="0" r="r" b="b"/>
              <a:pathLst>
                <a:path w="358" h="17">
                  <a:moveTo>
                    <a:pt x="0" y="0"/>
                  </a:moveTo>
                  <a:lnTo>
                    <a:pt x="357" y="0"/>
                  </a:lnTo>
                  <a:lnTo>
                    <a:pt x="357" y="16"/>
                  </a:lnTo>
                  <a:lnTo>
                    <a:pt x="0" y="16"/>
                  </a:lnTo>
                  <a:lnTo>
                    <a:pt x="0" y="0"/>
                  </a:lnTo>
                </a:path>
              </a:pathLst>
            </a:custGeom>
            <a:solidFill>
              <a:srgbClr val="444444"/>
            </a:solidFill>
            <a:ln w="12700" cap="rnd" cmpd="sng">
              <a:noFill/>
              <a:prstDash val="solid"/>
              <a:round/>
              <a:headEnd type="none" w="med" len="med"/>
              <a:tailEnd type="none" w="med" len="med"/>
            </a:ln>
            <a:effectLst/>
          </p:spPr>
          <p:txBody>
            <a:bodyPr/>
            <a:lstStyle/>
            <a:p>
              <a:endParaRPr lang="en-US"/>
            </a:p>
          </p:txBody>
        </p:sp>
        <p:sp>
          <p:nvSpPr>
            <p:cNvPr id="967862" name="Rectangle 182"/>
            <p:cNvSpPr>
              <a:spLocks noChangeArrowheads="1"/>
            </p:cNvSpPr>
            <p:nvPr/>
          </p:nvSpPr>
          <p:spPr bwMode="auto">
            <a:xfrm>
              <a:off x="3174" y="1863"/>
              <a:ext cx="349" cy="123"/>
            </a:xfrm>
            <a:prstGeom prst="rect">
              <a:avLst/>
            </a:prstGeom>
            <a:noFill/>
            <a:ln w="12700">
              <a:solidFill>
                <a:srgbClr val="B2B2B2"/>
              </a:solidFill>
              <a:miter lim="800000"/>
              <a:headEnd/>
              <a:tailEnd/>
            </a:ln>
            <a:effectLst/>
          </p:spPr>
          <p:txBody>
            <a:bodyPr wrap="none" anchor="ctr"/>
            <a:lstStyle/>
            <a:p>
              <a:endParaRPr lang="en-US"/>
            </a:p>
          </p:txBody>
        </p:sp>
        <p:sp>
          <p:nvSpPr>
            <p:cNvPr id="967863" name="Freeform 183"/>
            <p:cNvSpPr>
              <a:spLocks/>
            </p:cNvSpPr>
            <p:nvPr/>
          </p:nvSpPr>
          <p:spPr bwMode="auto">
            <a:xfrm>
              <a:off x="3721" y="1859"/>
              <a:ext cx="531" cy="18"/>
            </a:xfrm>
            <a:custGeom>
              <a:avLst/>
              <a:gdLst/>
              <a:ahLst/>
              <a:cxnLst>
                <a:cxn ang="0">
                  <a:pos x="0" y="0"/>
                </a:cxn>
                <a:cxn ang="0">
                  <a:pos x="530" y="0"/>
                </a:cxn>
                <a:cxn ang="0">
                  <a:pos x="530" y="17"/>
                </a:cxn>
                <a:cxn ang="0">
                  <a:pos x="0" y="17"/>
                </a:cxn>
                <a:cxn ang="0">
                  <a:pos x="0" y="0"/>
                </a:cxn>
              </a:cxnLst>
              <a:rect l="0" t="0" r="r" b="b"/>
              <a:pathLst>
                <a:path w="531" h="18">
                  <a:moveTo>
                    <a:pt x="0" y="0"/>
                  </a:moveTo>
                  <a:lnTo>
                    <a:pt x="530" y="0"/>
                  </a:lnTo>
                  <a:lnTo>
                    <a:pt x="530" y="17"/>
                  </a:lnTo>
                  <a:lnTo>
                    <a:pt x="0" y="17"/>
                  </a:lnTo>
                  <a:lnTo>
                    <a:pt x="0" y="0"/>
                  </a:lnTo>
                </a:path>
              </a:pathLst>
            </a:custGeom>
            <a:solidFill>
              <a:srgbClr val="B2B2B2"/>
            </a:solidFill>
            <a:ln w="12700" cap="rnd" cmpd="sng">
              <a:noFill/>
              <a:prstDash val="solid"/>
              <a:round/>
              <a:headEnd type="none" w="med" len="med"/>
              <a:tailEnd type="none" w="med" len="med"/>
            </a:ln>
            <a:effectLst/>
          </p:spPr>
          <p:txBody>
            <a:bodyPr/>
            <a:lstStyle/>
            <a:p>
              <a:endParaRPr lang="en-US"/>
            </a:p>
          </p:txBody>
        </p:sp>
        <p:sp>
          <p:nvSpPr>
            <p:cNvPr id="967864" name="Freeform 184"/>
            <p:cNvSpPr>
              <a:spLocks/>
            </p:cNvSpPr>
            <p:nvPr/>
          </p:nvSpPr>
          <p:spPr bwMode="auto">
            <a:xfrm>
              <a:off x="3721" y="1876"/>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B0B0B0"/>
            </a:solidFill>
            <a:ln w="12700" cap="rnd" cmpd="sng">
              <a:noFill/>
              <a:prstDash val="solid"/>
              <a:round/>
              <a:headEnd type="none" w="med" len="med"/>
              <a:tailEnd type="none" w="med" len="med"/>
            </a:ln>
            <a:effectLst/>
          </p:spPr>
          <p:txBody>
            <a:bodyPr/>
            <a:lstStyle/>
            <a:p>
              <a:endParaRPr lang="en-US"/>
            </a:p>
          </p:txBody>
        </p:sp>
        <p:sp>
          <p:nvSpPr>
            <p:cNvPr id="967865" name="Freeform 185"/>
            <p:cNvSpPr>
              <a:spLocks/>
            </p:cNvSpPr>
            <p:nvPr/>
          </p:nvSpPr>
          <p:spPr bwMode="auto">
            <a:xfrm>
              <a:off x="3721" y="1879"/>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ACACAC"/>
            </a:solidFill>
            <a:ln w="12700" cap="rnd" cmpd="sng">
              <a:noFill/>
              <a:prstDash val="solid"/>
              <a:round/>
              <a:headEnd type="none" w="med" len="med"/>
              <a:tailEnd type="none" w="med" len="med"/>
            </a:ln>
            <a:effectLst/>
          </p:spPr>
          <p:txBody>
            <a:bodyPr/>
            <a:lstStyle/>
            <a:p>
              <a:endParaRPr lang="en-US"/>
            </a:p>
          </p:txBody>
        </p:sp>
        <p:sp>
          <p:nvSpPr>
            <p:cNvPr id="967866" name="Freeform 186"/>
            <p:cNvSpPr>
              <a:spLocks/>
            </p:cNvSpPr>
            <p:nvPr/>
          </p:nvSpPr>
          <p:spPr bwMode="auto">
            <a:xfrm>
              <a:off x="3721" y="1883"/>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A8A8A8"/>
            </a:solidFill>
            <a:ln w="12700" cap="rnd" cmpd="sng">
              <a:noFill/>
              <a:prstDash val="solid"/>
              <a:round/>
              <a:headEnd type="none" w="med" len="med"/>
              <a:tailEnd type="none" w="med" len="med"/>
            </a:ln>
            <a:effectLst/>
          </p:spPr>
          <p:txBody>
            <a:bodyPr/>
            <a:lstStyle/>
            <a:p>
              <a:endParaRPr lang="en-US"/>
            </a:p>
          </p:txBody>
        </p:sp>
        <p:sp>
          <p:nvSpPr>
            <p:cNvPr id="967867" name="Freeform 187"/>
            <p:cNvSpPr>
              <a:spLocks/>
            </p:cNvSpPr>
            <p:nvPr/>
          </p:nvSpPr>
          <p:spPr bwMode="auto">
            <a:xfrm>
              <a:off x="3721" y="1886"/>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A4A4A4"/>
            </a:solidFill>
            <a:ln w="12700" cap="rnd" cmpd="sng">
              <a:noFill/>
              <a:prstDash val="solid"/>
              <a:round/>
              <a:headEnd type="none" w="med" len="med"/>
              <a:tailEnd type="none" w="med" len="med"/>
            </a:ln>
            <a:effectLst/>
          </p:spPr>
          <p:txBody>
            <a:bodyPr/>
            <a:lstStyle/>
            <a:p>
              <a:endParaRPr lang="en-US"/>
            </a:p>
          </p:txBody>
        </p:sp>
        <p:sp>
          <p:nvSpPr>
            <p:cNvPr id="967868" name="Freeform 188"/>
            <p:cNvSpPr>
              <a:spLocks/>
            </p:cNvSpPr>
            <p:nvPr/>
          </p:nvSpPr>
          <p:spPr bwMode="auto">
            <a:xfrm>
              <a:off x="3721" y="1890"/>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A0A0A0"/>
            </a:solidFill>
            <a:ln w="12700" cap="rnd" cmpd="sng">
              <a:noFill/>
              <a:prstDash val="solid"/>
              <a:round/>
              <a:headEnd type="none" w="med" len="med"/>
              <a:tailEnd type="none" w="med" len="med"/>
            </a:ln>
            <a:effectLst/>
          </p:spPr>
          <p:txBody>
            <a:bodyPr/>
            <a:lstStyle/>
            <a:p>
              <a:endParaRPr lang="en-US"/>
            </a:p>
          </p:txBody>
        </p:sp>
        <p:sp>
          <p:nvSpPr>
            <p:cNvPr id="967869" name="Freeform 189"/>
            <p:cNvSpPr>
              <a:spLocks/>
            </p:cNvSpPr>
            <p:nvPr/>
          </p:nvSpPr>
          <p:spPr bwMode="auto">
            <a:xfrm>
              <a:off x="3721" y="1893"/>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9C9C9C"/>
            </a:solidFill>
            <a:ln w="12700" cap="rnd" cmpd="sng">
              <a:noFill/>
              <a:prstDash val="solid"/>
              <a:round/>
              <a:headEnd type="none" w="med" len="med"/>
              <a:tailEnd type="none" w="med" len="med"/>
            </a:ln>
            <a:effectLst/>
          </p:spPr>
          <p:txBody>
            <a:bodyPr/>
            <a:lstStyle/>
            <a:p>
              <a:endParaRPr lang="en-US"/>
            </a:p>
          </p:txBody>
        </p:sp>
        <p:sp>
          <p:nvSpPr>
            <p:cNvPr id="967870" name="Freeform 190"/>
            <p:cNvSpPr>
              <a:spLocks/>
            </p:cNvSpPr>
            <p:nvPr/>
          </p:nvSpPr>
          <p:spPr bwMode="auto">
            <a:xfrm>
              <a:off x="3721" y="1897"/>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989898"/>
            </a:solidFill>
            <a:ln w="12700" cap="rnd" cmpd="sng">
              <a:noFill/>
              <a:prstDash val="solid"/>
              <a:round/>
              <a:headEnd type="none" w="med" len="med"/>
              <a:tailEnd type="none" w="med" len="med"/>
            </a:ln>
            <a:effectLst/>
          </p:spPr>
          <p:txBody>
            <a:bodyPr/>
            <a:lstStyle/>
            <a:p>
              <a:endParaRPr lang="en-US"/>
            </a:p>
          </p:txBody>
        </p:sp>
        <p:sp>
          <p:nvSpPr>
            <p:cNvPr id="967871" name="Freeform 191"/>
            <p:cNvSpPr>
              <a:spLocks/>
            </p:cNvSpPr>
            <p:nvPr/>
          </p:nvSpPr>
          <p:spPr bwMode="auto">
            <a:xfrm>
              <a:off x="3721" y="1900"/>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949494"/>
            </a:solidFill>
            <a:ln w="12700" cap="rnd" cmpd="sng">
              <a:noFill/>
              <a:prstDash val="solid"/>
              <a:round/>
              <a:headEnd type="none" w="med" len="med"/>
              <a:tailEnd type="none" w="med" len="med"/>
            </a:ln>
            <a:effectLst/>
          </p:spPr>
          <p:txBody>
            <a:bodyPr/>
            <a:lstStyle/>
            <a:p>
              <a:endParaRPr lang="en-US"/>
            </a:p>
          </p:txBody>
        </p:sp>
        <p:sp>
          <p:nvSpPr>
            <p:cNvPr id="967872" name="Freeform 192"/>
            <p:cNvSpPr>
              <a:spLocks/>
            </p:cNvSpPr>
            <p:nvPr/>
          </p:nvSpPr>
          <p:spPr bwMode="auto">
            <a:xfrm>
              <a:off x="3721" y="1904"/>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909090"/>
            </a:solidFill>
            <a:ln w="12700" cap="rnd" cmpd="sng">
              <a:noFill/>
              <a:prstDash val="solid"/>
              <a:round/>
              <a:headEnd type="none" w="med" len="med"/>
              <a:tailEnd type="none" w="med" len="med"/>
            </a:ln>
            <a:effectLst/>
          </p:spPr>
          <p:txBody>
            <a:bodyPr/>
            <a:lstStyle/>
            <a:p>
              <a:endParaRPr lang="en-US"/>
            </a:p>
          </p:txBody>
        </p:sp>
        <p:sp>
          <p:nvSpPr>
            <p:cNvPr id="967873" name="Freeform 193"/>
            <p:cNvSpPr>
              <a:spLocks/>
            </p:cNvSpPr>
            <p:nvPr/>
          </p:nvSpPr>
          <p:spPr bwMode="auto">
            <a:xfrm>
              <a:off x="3721" y="1907"/>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8C8C8C"/>
            </a:solidFill>
            <a:ln w="12700" cap="rnd" cmpd="sng">
              <a:noFill/>
              <a:prstDash val="solid"/>
              <a:round/>
              <a:headEnd type="none" w="med" len="med"/>
              <a:tailEnd type="none" w="med" len="med"/>
            </a:ln>
            <a:effectLst/>
          </p:spPr>
          <p:txBody>
            <a:bodyPr/>
            <a:lstStyle/>
            <a:p>
              <a:endParaRPr lang="en-US"/>
            </a:p>
          </p:txBody>
        </p:sp>
        <p:sp>
          <p:nvSpPr>
            <p:cNvPr id="967874" name="Freeform 194"/>
            <p:cNvSpPr>
              <a:spLocks/>
            </p:cNvSpPr>
            <p:nvPr/>
          </p:nvSpPr>
          <p:spPr bwMode="auto">
            <a:xfrm>
              <a:off x="3721" y="1911"/>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888888"/>
            </a:solidFill>
            <a:ln w="12700" cap="rnd" cmpd="sng">
              <a:noFill/>
              <a:prstDash val="solid"/>
              <a:round/>
              <a:headEnd type="none" w="med" len="med"/>
              <a:tailEnd type="none" w="med" len="med"/>
            </a:ln>
            <a:effectLst/>
          </p:spPr>
          <p:txBody>
            <a:bodyPr/>
            <a:lstStyle/>
            <a:p>
              <a:endParaRPr lang="en-US"/>
            </a:p>
          </p:txBody>
        </p:sp>
        <p:sp>
          <p:nvSpPr>
            <p:cNvPr id="967875" name="Freeform 195"/>
            <p:cNvSpPr>
              <a:spLocks/>
            </p:cNvSpPr>
            <p:nvPr/>
          </p:nvSpPr>
          <p:spPr bwMode="auto">
            <a:xfrm>
              <a:off x="3721" y="1915"/>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848484"/>
            </a:solidFill>
            <a:ln w="12700" cap="rnd" cmpd="sng">
              <a:noFill/>
              <a:prstDash val="solid"/>
              <a:round/>
              <a:headEnd type="none" w="med" len="med"/>
              <a:tailEnd type="none" w="med" len="med"/>
            </a:ln>
            <a:effectLst/>
          </p:spPr>
          <p:txBody>
            <a:bodyPr/>
            <a:lstStyle/>
            <a:p>
              <a:endParaRPr lang="en-US"/>
            </a:p>
          </p:txBody>
        </p:sp>
        <p:sp>
          <p:nvSpPr>
            <p:cNvPr id="967876" name="Freeform 196"/>
            <p:cNvSpPr>
              <a:spLocks/>
            </p:cNvSpPr>
            <p:nvPr/>
          </p:nvSpPr>
          <p:spPr bwMode="auto">
            <a:xfrm>
              <a:off x="3721" y="1918"/>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808080"/>
            </a:solidFill>
            <a:ln w="12700" cap="rnd" cmpd="sng">
              <a:noFill/>
              <a:prstDash val="solid"/>
              <a:round/>
              <a:headEnd type="none" w="med" len="med"/>
              <a:tailEnd type="none" w="med" len="med"/>
            </a:ln>
            <a:effectLst/>
          </p:spPr>
          <p:txBody>
            <a:bodyPr/>
            <a:lstStyle/>
            <a:p>
              <a:endParaRPr lang="en-US"/>
            </a:p>
          </p:txBody>
        </p:sp>
        <p:sp>
          <p:nvSpPr>
            <p:cNvPr id="967877" name="Freeform 197"/>
            <p:cNvSpPr>
              <a:spLocks/>
            </p:cNvSpPr>
            <p:nvPr/>
          </p:nvSpPr>
          <p:spPr bwMode="auto">
            <a:xfrm>
              <a:off x="3721" y="1921"/>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7C7C7C"/>
            </a:solidFill>
            <a:ln w="12700" cap="rnd" cmpd="sng">
              <a:noFill/>
              <a:prstDash val="solid"/>
              <a:round/>
              <a:headEnd type="none" w="med" len="med"/>
              <a:tailEnd type="none" w="med" len="med"/>
            </a:ln>
            <a:effectLst/>
          </p:spPr>
          <p:txBody>
            <a:bodyPr/>
            <a:lstStyle/>
            <a:p>
              <a:endParaRPr lang="en-US"/>
            </a:p>
          </p:txBody>
        </p:sp>
        <p:sp>
          <p:nvSpPr>
            <p:cNvPr id="967878" name="Freeform 198"/>
            <p:cNvSpPr>
              <a:spLocks/>
            </p:cNvSpPr>
            <p:nvPr/>
          </p:nvSpPr>
          <p:spPr bwMode="auto">
            <a:xfrm>
              <a:off x="3721" y="1925"/>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787878"/>
            </a:solidFill>
            <a:ln w="12700" cap="rnd" cmpd="sng">
              <a:noFill/>
              <a:prstDash val="solid"/>
              <a:round/>
              <a:headEnd type="none" w="med" len="med"/>
              <a:tailEnd type="none" w="med" len="med"/>
            </a:ln>
            <a:effectLst/>
          </p:spPr>
          <p:txBody>
            <a:bodyPr/>
            <a:lstStyle/>
            <a:p>
              <a:endParaRPr lang="en-US"/>
            </a:p>
          </p:txBody>
        </p:sp>
        <p:sp>
          <p:nvSpPr>
            <p:cNvPr id="967879" name="Freeform 199"/>
            <p:cNvSpPr>
              <a:spLocks/>
            </p:cNvSpPr>
            <p:nvPr/>
          </p:nvSpPr>
          <p:spPr bwMode="auto">
            <a:xfrm>
              <a:off x="3721" y="1929"/>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747474"/>
            </a:solidFill>
            <a:ln w="12700" cap="rnd" cmpd="sng">
              <a:noFill/>
              <a:prstDash val="solid"/>
              <a:round/>
              <a:headEnd type="none" w="med" len="med"/>
              <a:tailEnd type="none" w="med" len="med"/>
            </a:ln>
            <a:effectLst/>
          </p:spPr>
          <p:txBody>
            <a:bodyPr/>
            <a:lstStyle/>
            <a:p>
              <a:endParaRPr lang="en-US"/>
            </a:p>
          </p:txBody>
        </p:sp>
        <p:sp>
          <p:nvSpPr>
            <p:cNvPr id="967880" name="Freeform 200"/>
            <p:cNvSpPr>
              <a:spLocks/>
            </p:cNvSpPr>
            <p:nvPr/>
          </p:nvSpPr>
          <p:spPr bwMode="auto">
            <a:xfrm>
              <a:off x="3721" y="1933"/>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707070"/>
            </a:solidFill>
            <a:ln w="12700" cap="rnd" cmpd="sng">
              <a:noFill/>
              <a:prstDash val="solid"/>
              <a:round/>
              <a:headEnd type="none" w="med" len="med"/>
              <a:tailEnd type="none" w="med" len="med"/>
            </a:ln>
            <a:effectLst/>
          </p:spPr>
          <p:txBody>
            <a:bodyPr/>
            <a:lstStyle/>
            <a:p>
              <a:endParaRPr lang="en-US"/>
            </a:p>
          </p:txBody>
        </p:sp>
        <p:sp>
          <p:nvSpPr>
            <p:cNvPr id="967881" name="Freeform 201"/>
            <p:cNvSpPr>
              <a:spLocks/>
            </p:cNvSpPr>
            <p:nvPr/>
          </p:nvSpPr>
          <p:spPr bwMode="auto">
            <a:xfrm>
              <a:off x="3721" y="1935"/>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6C6C6C"/>
            </a:solidFill>
            <a:ln w="12700" cap="rnd" cmpd="sng">
              <a:noFill/>
              <a:prstDash val="solid"/>
              <a:round/>
              <a:headEnd type="none" w="med" len="med"/>
              <a:tailEnd type="none" w="med" len="med"/>
            </a:ln>
            <a:effectLst/>
          </p:spPr>
          <p:txBody>
            <a:bodyPr/>
            <a:lstStyle/>
            <a:p>
              <a:endParaRPr lang="en-US"/>
            </a:p>
          </p:txBody>
        </p:sp>
        <p:sp>
          <p:nvSpPr>
            <p:cNvPr id="967882" name="Freeform 202"/>
            <p:cNvSpPr>
              <a:spLocks/>
            </p:cNvSpPr>
            <p:nvPr/>
          </p:nvSpPr>
          <p:spPr bwMode="auto">
            <a:xfrm>
              <a:off x="3721" y="1939"/>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686868"/>
            </a:solidFill>
            <a:ln w="12700" cap="rnd" cmpd="sng">
              <a:noFill/>
              <a:prstDash val="solid"/>
              <a:round/>
              <a:headEnd type="none" w="med" len="med"/>
              <a:tailEnd type="none" w="med" len="med"/>
            </a:ln>
            <a:effectLst/>
          </p:spPr>
          <p:txBody>
            <a:bodyPr/>
            <a:lstStyle/>
            <a:p>
              <a:endParaRPr lang="en-US"/>
            </a:p>
          </p:txBody>
        </p:sp>
        <p:sp>
          <p:nvSpPr>
            <p:cNvPr id="967883" name="Freeform 203"/>
            <p:cNvSpPr>
              <a:spLocks/>
            </p:cNvSpPr>
            <p:nvPr/>
          </p:nvSpPr>
          <p:spPr bwMode="auto">
            <a:xfrm>
              <a:off x="3721" y="1943"/>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646464"/>
            </a:solidFill>
            <a:ln w="12700" cap="rnd" cmpd="sng">
              <a:noFill/>
              <a:prstDash val="solid"/>
              <a:round/>
              <a:headEnd type="none" w="med" len="med"/>
              <a:tailEnd type="none" w="med" len="med"/>
            </a:ln>
            <a:effectLst/>
          </p:spPr>
          <p:txBody>
            <a:bodyPr/>
            <a:lstStyle/>
            <a:p>
              <a:endParaRPr lang="en-US"/>
            </a:p>
          </p:txBody>
        </p:sp>
        <p:sp>
          <p:nvSpPr>
            <p:cNvPr id="967884" name="Freeform 204"/>
            <p:cNvSpPr>
              <a:spLocks/>
            </p:cNvSpPr>
            <p:nvPr/>
          </p:nvSpPr>
          <p:spPr bwMode="auto">
            <a:xfrm>
              <a:off x="3721" y="1947"/>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606060"/>
            </a:solidFill>
            <a:ln w="12700" cap="rnd" cmpd="sng">
              <a:noFill/>
              <a:prstDash val="solid"/>
              <a:round/>
              <a:headEnd type="none" w="med" len="med"/>
              <a:tailEnd type="none" w="med" len="med"/>
            </a:ln>
            <a:effectLst/>
          </p:spPr>
          <p:txBody>
            <a:bodyPr/>
            <a:lstStyle/>
            <a:p>
              <a:endParaRPr lang="en-US"/>
            </a:p>
          </p:txBody>
        </p:sp>
        <p:sp>
          <p:nvSpPr>
            <p:cNvPr id="967885" name="Freeform 205"/>
            <p:cNvSpPr>
              <a:spLocks/>
            </p:cNvSpPr>
            <p:nvPr/>
          </p:nvSpPr>
          <p:spPr bwMode="auto">
            <a:xfrm>
              <a:off x="3721" y="1950"/>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5C5C5C"/>
            </a:solidFill>
            <a:ln w="12700" cap="rnd" cmpd="sng">
              <a:noFill/>
              <a:prstDash val="solid"/>
              <a:round/>
              <a:headEnd type="none" w="med" len="med"/>
              <a:tailEnd type="none" w="med" len="med"/>
            </a:ln>
            <a:effectLst/>
          </p:spPr>
          <p:txBody>
            <a:bodyPr/>
            <a:lstStyle/>
            <a:p>
              <a:endParaRPr lang="en-US"/>
            </a:p>
          </p:txBody>
        </p:sp>
        <p:sp>
          <p:nvSpPr>
            <p:cNvPr id="967886" name="Freeform 206"/>
            <p:cNvSpPr>
              <a:spLocks/>
            </p:cNvSpPr>
            <p:nvPr/>
          </p:nvSpPr>
          <p:spPr bwMode="auto">
            <a:xfrm>
              <a:off x="3721" y="1953"/>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585858"/>
            </a:solidFill>
            <a:ln w="12700" cap="rnd" cmpd="sng">
              <a:noFill/>
              <a:prstDash val="solid"/>
              <a:round/>
              <a:headEnd type="none" w="med" len="med"/>
              <a:tailEnd type="none" w="med" len="med"/>
            </a:ln>
            <a:effectLst/>
          </p:spPr>
          <p:txBody>
            <a:bodyPr/>
            <a:lstStyle/>
            <a:p>
              <a:endParaRPr lang="en-US"/>
            </a:p>
          </p:txBody>
        </p:sp>
        <p:sp>
          <p:nvSpPr>
            <p:cNvPr id="967887" name="Freeform 207"/>
            <p:cNvSpPr>
              <a:spLocks/>
            </p:cNvSpPr>
            <p:nvPr/>
          </p:nvSpPr>
          <p:spPr bwMode="auto">
            <a:xfrm>
              <a:off x="3721" y="1957"/>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545454"/>
            </a:solidFill>
            <a:ln w="12700" cap="rnd" cmpd="sng">
              <a:noFill/>
              <a:prstDash val="solid"/>
              <a:round/>
              <a:headEnd type="none" w="med" len="med"/>
              <a:tailEnd type="none" w="med" len="med"/>
            </a:ln>
            <a:effectLst/>
          </p:spPr>
          <p:txBody>
            <a:bodyPr/>
            <a:lstStyle/>
            <a:p>
              <a:endParaRPr lang="en-US"/>
            </a:p>
          </p:txBody>
        </p:sp>
        <p:sp>
          <p:nvSpPr>
            <p:cNvPr id="967888" name="Freeform 208"/>
            <p:cNvSpPr>
              <a:spLocks/>
            </p:cNvSpPr>
            <p:nvPr/>
          </p:nvSpPr>
          <p:spPr bwMode="auto">
            <a:xfrm>
              <a:off x="3721" y="1961"/>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505050"/>
            </a:solidFill>
            <a:ln w="12700" cap="rnd" cmpd="sng">
              <a:noFill/>
              <a:prstDash val="solid"/>
              <a:round/>
              <a:headEnd type="none" w="med" len="med"/>
              <a:tailEnd type="none" w="med" len="med"/>
            </a:ln>
            <a:effectLst/>
          </p:spPr>
          <p:txBody>
            <a:bodyPr/>
            <a:lstStyle/>
            <a:p>
              <a:endParaRPr lang="en-US"/>
            </a:p>
          </p:txBody>
        </p:sp>
        <p:sp>
          <p:nvSpPr>
            <p:cNvPr id="967889" name="Freeform 209"/>
            <p:cNvSpPr>
              <a:spLocks/>
            </p:cNvSpPr>
            <p:nvPr/>
          </p:nvSpPr>
          <p:spPr bwMode="auto">
            <a:xfrm>
              <a:off x="3721" y="1965"/>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4C4C4C"/>
            </a:solidFill>
            <a:ln w="12700" cap="rnd" cmpd="sng">
              <a:noFill/>
              <a:prstDash val="solid"/>
              <a:round/>
              <a:headEnd type="none" w="med" len="med"/>
              <a:tailEnd type="none" w="med" len="med"/>
            </a:ln>
            <a:effectLst/>
          </p:spPr>
          <p:txBody>
            <a:bodyPr/>
            <a:lstStyle/>
            <a:p>
              <a:endParaRPr lang="en-US"/>
            </a:p>
          </p:txBody>
        </p:sp>
        <p:sp>
          <p:nvSpPr>
            <p:cNvPr id="967890" name="Freeform 210"/>
            <p:cNvSpPr>
              <a:spLocks/>
            </p:cNvSpPr>
            <p:nvPr/>
          </p:nvSpPr>
          <p:spPr bwMode="auto">
            <a:xfrm>
              <a:off x="3721" y="1967"/>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484848"/>
            </a:solidFill>
            <a:ln w="12700" cap="rnd" cmpd="sng">
              <a:noFill/>
              <a:prstDash val="solid"/>
              <a:round/>
              <a:headEnd type="none" w="med" len="med"/>
              <a:tailEnd type="none" w="med" len="med"/>
            </a:ln>
            <a:effectLst/>
          </p:spPr>
          <p:txBody>
            <a:bodyPr/>
            <a:lstStyle/>
            <a:p>
              <a:endParaRPr lang="en-US"/>
            </a:p>
          </p:txBody>
        </p:sp>
        <p:sp>
          <p:nvSpPr>
            <p:cNvPr id="967891" name="Freeform 211"/>
            <p:cNvSpPr>
              <a:spLocks/>
            </p:cNvSpPr>
            <p:nvPr/>
          </p:nvSpPr>
          <p:spPr bwMode="auto">
            <a:xfrm>
              <a:off x="3721" y="1971"/>
              <a:ext cx="531" cy="17"/>
            </a:xfrm>
            <a:custGeom>
              <a:avLst/>
              <a:gdLst/>
              <a:ahLst/>
              <a:cxnLst>
                <a:cxn ang="0">
                  <a:pos x="0" y="0"/>
                </a:cxn>
                <a:cxn ang="0">
                  <a:pos x="530" y="0"/>
                </a:cxn>
                <a:cxn ang="0">
                  <a:pos x="530" y="16"/>
                </a:cxn>
                <a:cxn ang="0">
                  <a:pos x="0" y="16"/>
                </a:cxn>
                <a:cxn ang="0">
                  <a:pos x="0" y="0"/>
                </a:cxn>
              </a:cxnLst>
              <a:rect l="0" t="0" r="r" b="b"/>
              <a:pathLst>
                <a:path w="531" h="17">
                  <a:moveTo>
                    <a:pt x="0" y="0"/>
                  </a:moveTo>
                  <a:lnTo>
                    <a:pt x="530" y="0"/>
                  </a:lnTo>
                  <a:lnTo>
                    <a:pt x="530" y="16"/>
                  </a:lnTo>
                  <a:lnTo>
                    <a:pt x="0" y="16"/>
                  </a:lnTo>
                  <a:lnTo>
                    <a:pt x="0" y="0"/>
                  </a:lnTo>
                </a:path>
              </a:pathLst>
            </a:custGeom>
            <a:solidFill>
              <a:srgbClr val="444444"/>
            </a:solidFill>
            <a:ln w="12700" cap="rnd" cmpd="sng">
              <a:noFill/>
              <a:prstDash val="solid"/>
              <a:round/>
              <a:headEnd type="none" w="med" len="med"/>
              <a:tailEnd type="none" w="med" len="med"/>
            </a:ln>
            <a:effectLst/>
          </p:spPr>
          <p:txBody>
            <a:bodyPr/>
            <a:lstStyle/>
            <a:p>
              <a:endParaRPr lang="en-US"/>
            </a:p>
          </p:txBody>
        </p:sp>
        <p:sp>
          <p:nvSpPr>
            <p:cNvPr id="967892" name="Rectangle 212"/>
            <p:cNvSpPr>
              <a:spLocks noChangeArrowheads="1"/>
            </p:cNvSpPr>
            <p:nvPr/>
          </p:nvSpPr>
          <p:spPr bwMode="auto">
            <a:xfrm>
              <a:off x="3725" y="1863"/>
              <a:ext cx="522" cy="108"/>
            </a:xfrm>
            <a:prstGeom prst="rect">
              <a:avLst/>
            </a:prstGeom>
            <a:noFill/>
            <a:ln w="12700">
              <a:solidFill>
                <a:srgbClr val="B2B2B2"/>
              </a:solidFill>
              <a:miter lim="800000"/>
              <a:headEnd/>
              <a:tailEnd/>
            </a:ln>
            <a:effectLst/>
          </p:spPr>
          <p:txBody>
            <a:bodyPr wrap="none" anchor="ctr"/>
            <a:lstStyle/>
            <a:p>
              <a:endParaRPr lang="en-US"/>
            </a:p>
          </p:txBody>
        </p:sp>
        <p:sp>
          <p:nvSpPr>
            <p:cNvPr id="967893" name="Line 213"/>
            <p:cNvSpPr>
              <a:spLocks noChangeShapeType="1"/>
            </p:cNvSpPr>
            <p:nvPr/>
          </p:nvSpPr>
          <p:spPr bwMode="auto">
            <a:xfrm>
              <a:off x="2241" y="797"/>
              <a:ext cx="1363" cy="0"/>
            </a:xfrm>
            <a:prstGeom prst="line">
              <a:avLst/>
            </a:prstGeom>
            <a:noFill/>
            <a:ln w="76200">
              <a:solidFill>
                <a:srgbClr val="969696"/>
              </a:solidFill>
              <a:round/>
              <a:headEnd/>
              <a:tailEnd/>
            </a:ln>
            <a:effectLst/>
          </p:spPr>
          <p:txBody>
            <a:bodyPr wrap="none" anchor="ctr"/>
            <a:lstStyle/>
            <a:p>
              <a:endParaRPr lang="en-US"/>
            </a:p>
          </p:txBody>
        </p:sp>
        <p:sp>
          <p:nvSpPr>
            <p:cNvPr id="967894" name="Line 214"/>
            <p:cNvSpPr>
              <a:spLocks noChangeShapeType="1"/>
            </p:cNvSpPr>
            <p:nvPr/>
          </p:nvSpPr>
          <p:spPr bwMode="auto">
            <a:xfrm>
              <a:off x="2241" y="2295"/>
              <a:ext cx="1363" cy="0"/>
            </a:xfrm>
            <a:prstGeom prst="line">
              <a:avLst/>
            </a:prstGeom>
            <a:noFill/>
            <a:ln w="76200">
              <a:solidFill>
                <a:srgbClr val="969696"/>
              </a:solidFill>
              <a:round/>
              <a:headEnd/>
              <a:tailEnd/>
            </a:ln>
            <a:effectLst/>
          </p:spPr>
          <p:txBody>
            <a:bodyPr wrap="none" anchor="ctr"/>
            <a:lstStyle/>
            <a:p>
              <a:endParaRPr lang="en-US"/>
            </a:p>
          </p:txBody>
        </p:sp>
        <p:sp>
          <p:nvSpPr>
            <p:cNvPr id="967895" name="Line 215"/>
            <p:cNvSpPr>
              <a:spLocks noChangeShapeType="1"/>
            </p:cNvSpPr>
            <p:nvPr/>
          </p:nvSpPr>
          <p:spPr bwMode="auto">
            <a:xfrm>
              <a:off x="2834" y="970"/>
              <a:ext cx="175" cy="67"/>
            </a:xfrm>
            <a:prstGeom prst="line">
              <a:avLst/>
            </a:prstGeom>
            <a:noFill/>
            <a:ln w="12700">
              <a:solidFill>
                <a:srgbClr val="969696"/>
              </a:solidFill>
              <a:round/>
              <a:headEnd/>
              <a:tailEnd/>
            </a:ln>
            <a:effectLst/>
          </p:spPr>
          <p:txBody>
            <a:bodyPr wrap="none" anchor="ctr"/>
            <a:lstStyle/>
            <a:p>
              <a:endParaRPr lang="en-US"/>
            </a:p>
          </p:txBody>
        </p:sp>
        <p:sp>
          <p:nvSpPr>
            <p:cNvPr id="967896" name="Line 216"/>
            <p:cNvSpPr>
              <a:spLocks noChangeShapeType="1"/>
            </p:cNvSpPr>
            <p:nvPr/>
          </p:nvSpPr>
          <p:spPr bwMode="auto">
            <a:xfrm>
              <a:off x="2834" y="1039"/>
              <a:ext cx="175" cy="67"/>
            </a:xfrm>
            <a:prstGeom prst="line">
              <a:avLst/>
            </a:prstGeom>
            <a:noFill/>
            <a:ln w="12700">
              <a:solidFill>
                <a:srgbClr val="969696"/>
              </a:solidFill>
              <a:round/>
              <a:headEnd/>
              <a:tailEnd/>
            </a:ln>
            <a:effectLst/>
          </p:spPr>
          <p:txBody>
            <a:bodyPr wrap="none" anchor="ctr"/>
            <a:lstStyle/>
            <a:p>
              <a:endParaRPr lang="en-US"/>
            </a:p>
          </p:txBody>
        </p:sp>
        <p:sp>
          <p:nvSpPr>
            <p:cNvPr id="967897" name="Line 217"/>
            <p:cNvSpPr>
              <a:spLocks noChangeShapeType="1"/>
            </p:cNvSpPr>
            <p:nvPr/>
          </p:nvSpPr>
          <p:spPr bwMode="auto">
            <a:xfrm>
              <a:off x="2834" y="1115"/>
              <a:ext cx="175" cy="67"/>
            </a:xfrm>
            <a:prstGeom prst="line">
              <a:avLst/>
            </a:prstGeom>
            <a:noFill/>
            <a:ln w="12700">
              <a:solidFill>
                <a:srgbClr val="969696"/>
              </a:solidFill>
              <a:round/>
              <a:headEnd/>
              <a:tailEnd/>
            </a:ln>
            <a:effectLst/>
          </p:spPr>
          <p:txBody>
            <a:bodyPr wrap="none" anchor="ctr"/>
            <a:lstStyle/>
            <a:p>
              <a:endParaRPr lang="en-US"/>
            </a:p>
          </p:txBody>
        </p:sp>
        <p:sp>
          <p:nvSpPr>
            <p:cNvPr id="967898" name="Line 218"/>
            <p:cNvSpPr>
              <a:spLocks noChangeShapeType="1"/>
            </p:cNvSpPr>
            <p:nvPr/>
          </p:nvSpPr>
          <p:spPr bwMode="auto">
            <a:xfrm>
              <a:off x="2834" y="1199"/>
              <a:ext cx="175" cy="68"/>
            </a:xfrm>
            <a:prstGeom prst="line">
              <a:avLst/>
            </a:prstGeom>
            <a:noFill/>
            <a:ln w="12700">
              <a:solidFill>
                <a:srgbClr val="969696"/>
              </a:solidFill>
              <a:round/>
              <a:headEnd/>
              <a:tailEnd/>
            </a:ln>
            <a:effectLst/>
          </p:spPr>
          <p:txBody>
            <a:bodyPr wrap="none" anchor="ctr"/>
            <a:lstStyle/>
            <a:p>
              <a:endParaRPr lang="en-US"/>
            </a:p>
          </p:txBody>
        </p:sp>
        <p:sp>
          <p:nvSpPr>
            <p:cNvPr id="967899" name="Line 219"/>
            <p:cNvSpPr>
              <a:spLocks noChangeShapeType="1"/>
            </p:cNvSpPr>
            <p:nvPr/>
          </p:nvSpPr>
          <p:spPr bwMode="auto">
            <a:xfrm>
              <a:off x="2834" y="1276"/>
              <a:ext cx="175" cy="67"/>
            </a:xfrm>
            <a:prstGeom prst="line">
              <a:avLst/>
            </a:prstGeom>
            <a:noFill/>
            <a:ln w="12700">
              <a:solidFill>
                <a:srgbClr val="969696"/>
              </a:solidFill>
              <a:round/>
              <a:headEnd/>
              <a:tailEnd/>
            </a:ln>
            <a:effectLst/>
          </p:spPr>
          <p:txBody>
            <a:bodyPr wrap="none" anchor="ctr"/>
            <a:lstStyle/>
            <a:p>
              <a:endParaRPr lang="en-US"/>
            </a:p>
          </p:txBody>
        </p:sp>
        <p:sp>
          <p:nvSpPr>
            <p:cNvPr id="967900" name="Line 220"/>
            <p:cNvSpPr>
              <a:spLocks noChangeShapeType="1"/>
            </p:cNvSpPr>
            <p:nvPr/>
          </p:nvSpPr>
          <p:spPr bwMode="auto">
            <a:xfrm>
              <a:off x="2834" y="1344"/>
              <a:ext cx="175" cy="68"/>
            </a:xfrm>
            <a:prstGeom prst="line">
              <a:avLst/>
            </a:prstGeom>
            <a:noFill/>
            <a:ln w="12700">
              <a:solidFill>
                <a:srgbClr val="969696"/>
              </a:solidFill>
              <a:round/>
              <a:headEnd/>
              <a:tailEnd/>
            </a:ln>
            <a:effectLst/>
          </p:spPr>
          <p:txBody>
            <a:bodyPr wrap="none" anchor="ctr"/>
            <a:lstStyle/>
            <a:p>
              <a:endParaRPr lang="en-US"/>
            </a:p>
          </p:txBody>
        </p:sp>
        <p:sp>
          <p:nvSpPr>
            <p:cNvPr id="967901" name="Line 221"/>
            <p:cNvSpPr>
              <a:spLocks noChangeShapeType="1"/>
            </p:cNvSpPr>
            <p:nvPr/>
          </p:nvSpPr>
          <p:spPr bwMode="auto">
            <a:xfrm>
              <a:off x="2834" y="1421"/>
              <a:ext cx="175" cy="67"/>
            </a:xfrm>
            <a:prstGeom prst="line">
              <a:avLst/>
            </a:prstGeom>
            <a:noFill/>
            <a:ln w="12700">
              <a:solidFill>
                <a:srgbClr val="969696"/>
              </a:solidFill>
              <a:round/>
              <a:headEnd/>
              <a:tailEnd/>
            </a:ln>
            <a:effectLst/>
          </p:spPr>
          <p:txBody>
            <a:bodyPr wrap="none" anchor="ctr"/>
            <a:lstStyle/>
            <a:p>
              <a:endParaRPr lang="en-US"/>
            </a:p>
          </p:txBody>
        </p:sp>
        <p:sp>
          <p:nvSpPr>
            <p:cNvPr id="967902" name="Line 222"/>
            <p:cNvSpPr>
              <a:spLocks noChangeShapeType="1"/>
            </p:cNvSpPr>
            <p:nvPr/>
          </p:nvSpPr>
          <p:spPr bwMode="auto">
            <a:xfrm>
              <a:off x="2834" y="1482"/>
              <a:ext cx="175" cy="67"/>
            </a:xfrm>
            <a:prstGeom prst="line">
              <a:avLst/>
            </a:prstGeom>
            <a:noFill/>
            <a:ln w="12700">
              <a:solidFill>
                <a:srgbClr val="969696"/>
              </a:solidFill>
              <a:round/>
              <a:headEnd/>
              <a:tailEnd/>
            </a:ln>
            <a:effectLst/>
          </p:spPr>
          <p:txBody>
            <a:bodyPr wrap="none" anchor="ctr"/>
            <a:lstStyle/>
            <a:p>
              <a:endParaRPr lang="en-US"/>
            </a:p>
          </p:txBody>
        </p:sp>
        <p:sp>
          <p:nvSpPr>
            <p:cNvPr id="967903" name="Line 223"/>
            <p:cNvSpPr>
              <a:spLocks noChangeShapeType="1"/>
            </p:cNvSpPr>
            <p:nvPr/>
          </p:nvSpPr>
          <p:spPr bwMode="auto">
            <a:xfrm>
              <a:off x="2825" y="1555"/>
              <a:ext cx="184" cy="71"/>
            </a:xfrm>
            <a:prstGeom prst="line">
              <a:avLst/>
            </a:prstGeom>
            <a:noFill/>
            <a:ln w="12700">
              <a:solidFill>
                <a:srgbClr val="969696"/>
              </a:solidFill>
              <a:round/>
              <a:headEnd/>
              <a:tailEnd/>
            </a:ln>
            <a:effectLst/>
          </p:spPr>
          <p:txBody>
            <a:bodyPr wrap="none" anchor="ctr"/>
            <a:lstStyle/>
            <a:p>
              <a:endParaRPr lang="en-US"/>
            </a:p>
          </p:txBody>
        </p:sp>
        <p:sp>
          <p:nvSpPr>
            <p:cNvPr id="967904" name="Line 224"/>
            <p:cNvSpPr>
              <a:spLocks noChangeShapeType="1"/>
            </p:cNvSpPr>
            <p:nvPr/>
          </p:nvSpPr>
          <p:spPr bwMode="auto">
            <a:xfrm flipV="1">
              <a:off x="2841" y="1687"/>
              <a:ext cx="175" cy="68"/>
            </a:xfrm>
            <a:prstGeom prst="line">
              <a:avLst/>
            </a:prstGeom>
            <a:noFill/>
            <a:ln w="12700">
              <a:solidFill>
                <a:srgbClr val="969696"/>
              </a:solidFill>
              <a:round/>
              <a:headEnd/>
              <a:tailEnd/>
            </a:ln>
            <a:effectLst/>
          </p:spPr>
          <p:txBody>
            <a:bodyPr wrap="none" anchor="ctr"/>
            <a:lstStyle/>
            <a:p>
              <a:endParaRPr lang="en-US"/>
            </a:p>
          </p:txBody>
        </p:sp>
        <p:sp>
          <p:nvSpPr>
            <p:cNvPr id="967905" name="Line 225"/>
            <p:cNvSpPr>
              <a:spLocks noChangeShapeType="1"/>
            </p:cNvSpPr>
            <p:nvPr/>
          </p:nvSpPr>
          <p:spPr bwMode="auto">
            <a:xfrm flipV="1">
              <a:off x="2841" y="1756"/>
              <a:ext cx="175" cy="68"/>
            </a:xfrm>
            <a:prstGeom prst="line">
              <a:avLst/>
            </a:prstGeom>
            <a:noFill/>
            <a:ln w="12700">
              <a:solidFill>
                <a:srgbClr val="969696"/>
              </a:solidFill>
              <a:round/>
              <a:headEnd/>
              <a:tailEnd/>
            </a:ln>
            <a:effectLst/>
          </p:spPr>
          <p:txBody>
            <a:bodyPr wrap="none" anchor="ctr"/>
            <a:lstStyle/>
            <a:p>
              <a:endParaRPr lang="en-US"/>
            </a:p>
          </p:txBody>
        </p:sp>
        <p:sp>
          <p:nvSpPr>
            <p:cNvPr id="967906" name="Line 226"/>
            <p:cNvSpPr>
              <a:spLocks noChangeShapeType="1"/>
            </p:cNvSpPr>
            <p:nvPr/>
          </p:nvSpPr>
          <p:spPr bwMode="auto">
            <a:xfrm flipV="1">
              <a:off x="2841" y="1832"/>
              <a:ext cx="175" cy="68"/>
            </a:xfrm>
            <a:prstGeom prst="line">
              <a:avLst/>
            </a:prstGeom>
            <a:noFill/>
            <a:ln w="12700">
              <a:solidFill>
                <a:srgbClr val="969696"/>
              </a:solidFill>
              <a:round/>
              <a:headEnd/>
              <a:tailEnd/>
            </a:ln>
            <a:effectLst/>
          </p:spPr>
          <p:txBody>
            <a:bodyPr wrap="none" anchor="ctr"/>
            <a:lstStyle/>
            <a:p>
              <a:endParaRPr lang="en-US"/>
            </a:p>
          </p:txBody>
        </p:sp>
        <p:sp>
          <p:nvSpPr>
            <p:cNvPr id="967907" name="Line 227"/>
            <p:cNvSpPr>
              <a:spLocks noChangeShapeType="1"/>
            </p:cNvSpPr>
            <p:nvPr/>
          </p:nvSpPr>
          <p:spPr bwMode="auto">
            <a:xfrm flipV="1">
              <a:off x="2841" y="1901"/>
              <a:ext cx="175" cy="68"/>
            </a:xfrm>
            <a:prstGeom prst="line">
              <a:avLst/>
            </a:prstGeom>
            <a:noFill/>
            <a:ln w="12700">
              <a:solidFill>
                <a:srgbClr val="969696"/>
              </a:solidFill>
              <a:round/>
              <a:headEnd/>
              <a:tailEnd/>
            </a:ln>
            <a:effectLst/>
          </p:spPr>
          <p:txBody>
            <a:bodyPr wrap="none" anchor="ctr"/>
            <a:lstStyle/>
            <a:p>
              <a:endParaRPr lang="en-US"/>
            </a:p>
          </p:txBody>
        </p:sp>
        <p:sp>
          <p:nvSpPr>
            <p:cNvPr id="967908" name="Line 228"/>
            <p:cNvSpPr>
              <a:spLocks noChangeShapeType="1"/>
            </p:cNvSpPr>
            <p:nvPr/>
          </p:nvSpPr>
          <p:spPr bwMode="auto">
            <a:xfrm flipV="1">
              <a:off x="2841" y="1977"/>
              <a:ext cx="175" cy="68"/>
            </a:xfrm>
            <a:prstGeom prst="line">
              <a:avLst/>
            </a:prstGeom>
            <a:noFill/>
            <a:ln w="12700">
              <a:solidFill>
                <a:srgbClr val="969696"/>
              </a:solidFill>
              <a:round/>
              <a:headEnd/>
              <a:tailEnd/>
            </a:ln>
            <a:effectLst/>
          </p:spPr>
          <p:txBody>
            <a:bodyPr wrap="none" anchor="ctr"/>
            <a:lstStyle/>
            <a:p>
              <a:endParaRPr lang="en-US"/>
            </a:p>
          </p:txBody>
        </p:sp>
        <p:sp>
          <p:nvSpPr>
            <p:cNvPr id="967909" name="Line 229"/>
            <p:cNvSpPr>
              <a:spLocks noChangeShapeType="1"/>
            </p:cNvSpPr>
            <p:nvPr/>
          </p:nvSpPr>
          <p:spPr bwMode="auto">
            <a:xfrm flipV="1">
              <a:off x="2841" y="2039"/>
              <a:ext cx="175" cy="69"/>
            </a:xfrm>
            <a:prstGeom prst="line">
              <a:avLst/>
            </a:prstGeom>
            <a:noFill/>
            <a:ln w="12700">
              <a:solidFill>
                <a:srgbClr val="969696"/>
              </a:solidFill>
              <a:round/>
              <a:headEnd/>
              <a:tailEnd/>
            </a:ln>
            <a:effectLst/>
          </p:spPr>
          <p:txBody>
            <a:bodyPr wrap="none" anchor="ctr"/>
            <a:lstStyle/>
            <a:p>
              <a:endParaRPr lang="en-US"/>
            </a:p>
          </p:txBody>
        </p:sp>
        <p:sp>
          <p:nvSpPr>
            <p:cNvPr id="967910" name="Line 230"/>
            <p:cNvSpPr>
              <a:spLocks noChangeShapeType="1"/>
            </p:cNvSpPr>
            <p:nvPr/>
          </p:nvSpPr>
          <p:spPr bwMode="auto">
            <a:xfrm>
              <a:off x="2834" y="1619"/>
              <a:ext cx="144" cy="55"/>
            </a:xfrm>
            <a:prstGeom prst="line">
              <a:avLst/>
            </a:prstGeom>
            <a:noFill/>
            <a:ln w="12700">
              <a:solidFill>
                <a:srgbClr val="969696"/>
              </a:solidFill>
              <a:round/>
              <a:headEnd/>
              <a:tailEnd/>
            </a:ln>
            <a:effectLst/>
          </p:spPr>
          <p:txBody>
            <a:bodyPr wrap="none" anchor="ctr"/>
            <a:lstStyle/>
            <a:p>
              <a:endParaRPr lang="en-US"/>
            </a:p>
          </p:txBody>
        </p:sp>
      </p:grpSp>
      <p:sp>
        <p:nvSpPr>
          <p:cNvPr id="967911" name="Rectangle 231"/>
          <p:cNvSpPr>
            <a:spLocks noChangeArrowheads="1"/>
          </p:cNvSpPr>
          <p:nvPr/>
        </p:nvSpPr>
        <p:spPr bwMode="auto">
          <a:xfrm>
            <a:off x="1739900" y="4117975"/>
            <a:ext cx="5703888" cy="1246188"/>
          </a:xfrm>
          <a:prstGeom prst="rect">
            <a:avLst/>
          </a:prstGeom>
          <a:noFill/>
          <a:ln w="12700">
            <a:noFill/>
            <a:miter lim="800000"/>
            <a:headEnd/>
            <a:tailEnd/>
          </a:ln>
          <a:effectLst/>
        </p:spPr>
        <p:txBody>
          <a:bodyPr wrap="none" lIns="90488" tIns="44450" rIns="90488" bIns="44450">
            <a:spAutoFit/>
          </a:bodyPr>
          <a:lstStyle/>
          <a:p>
            <a:pPr algn="ctr"/>
            <a:r>
              <a:rPr lang="en-US" sz="2800" b="1" i="1"/>
              <a:t>GMF (Gear Mesh Frequency)</a:t>
            </a:r>
            <a:endParaRPr lang="en-US" b="1" i="1"/>
          </a:p>
          <a:p>
            <a:pPr algn="ctr"/>
            <a:r>
              <a:rPr lang="en-US" b="1" i="1"/>
              <a:t>Z1 </a:t>
            </a:r>
            <a:r>
              <a:rPr lang="en-US" b="1" i="1" baseline="30000"/>
              <a:t>.</a:t>
            </a:r>
            <a:r>
              <a:rPr lang="en-US" b="1" i="1"/>
              <a:t>RPM1 = Z2 </a:t>
            </a:r>
            <a:r>
              <a:rPr lang="en-US" b="1" i="1" baseline="30000"/>
              <a:t>.</a:t>
            </a:r>
            <a:r>
              <a:rPr lang="en-US" b="1" i="1"/>
              <a:t>RPM2</a:t>
            </a:r>
          </a:p>
          <a:p>
            <a:pPr algn="ctr"/>
            <a:r>
              <a:rPr lang="en-US" b="1" i="1"/>
              <a:t>where Z = no. of teeth and RPM shaft speed</a:t>
            </a:r>
          </a:p>
        </p:txBody>
      </p:sp>
      <p:sp>
        <p:nvSpPr>
          <p:cNvPr id="967912" name="Rectangle 232"/>
          <p:cNvSpPr>
            <a:spLocks noChangeArrowheads="1"/>
          </p:cNvSpPr>
          <p:nvPr/>
        </p:nvSpPr>
        <p:spPr bwMode="auto">
          <a:xfrm>
            <a:off x="3679825" y="306388"/>
            <a:ext cx="1795463" cy="576262"/>
          </a:xfrm>
          <a:prstGeom prst="rect">
            <a:avLst/>
          </a:prstGeom>
          <a:noFill/>
          <a:ln w="12700">
            <a:noFill/>
            <a:miter lim="800000"/>
            <a:headEnd/>
            <a:tailEnd/>
          </a:ln>
          <a:effectLst/>
        </p:spPr>
        <p:txBody>
          <a:bodyPr wrap="none" lIns="90488" tIns="44450" rIns="90488" bIns="44450">
            <a:spAutoFit/>
          </a:bodyPr>
          <a:lstStyle/>
          <a:p>
            <a:r>
              <a:rPr lang="en-US" sz="3200" b="1"/>
              <a:t>Gear box</a:t>
            </a:r>
          </a:p>
        </p:txBody>
      </p:sp>
      <p:sp>
        <p:nvSpPr>
          <p:cNvPr id="967913" name="Rectangle 233"/>
          <p:cNvSpPr>
            <a:spLocks noChangeArrowheads="1"/>
          </p:cNvSpPr>
          <p:nvPr/>
        </p:nvSpPr>
        <p:spPr bwMode="auto">
          <a:xfrm>
            <a:off x="990600" y="5494338"/>
            <a:ext cx="7200900" cy="454025"/>
          </a:xfrm>
          <a:prstGeom prst="rect">
            <a:avLst/>
          </a:prstGeom>
          <a:noFill/>
          <a:ln w="12700">
            <a:noFill/>
            <a:miter lim="800000"/>
            <a:headEnd/>
            <a:tailEnd/>
          </a:ln>
          <a:effectLst/>
        </p:spPr>
        <p:txBody>
          <a:bodyPr wrap="none" lIns="90488" tIns="44450" rIns="90488" bIns="44450">
            <a:spAutoFit/>
          </a:bodyPr>
          <a:lstStyle/>
          <a:p>
            <a:pPr algn="ctr"/>
            <a:r>
              <a:rPr lang="en-US" b="1" i="1"/>
              <a:t>Mating gears produce only one ‘Gear Mesh Frequency’</a:t>
            </a:r>
          </a:p>
        </p:txBody>
      </p:sp>
    </p:spTree>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8706" name="Rectangle 2"/>
          <p:cNvSpPr>
            <a:spLocks noGrp="1" noChangeArrowheads="1"/>
          </p:cNvSpPr>
          <p:nvPr>
            <p:ph type="title"/>
          </p:nvPr>
        </p:nvSpPr>
        <p:spPr>
          <a:xfrm>
            <a:off x="685800" y="390525"/>
            <a:ext cx="7772400" cy="387350"/>
          </a:xfrm>
          <a:noFill/>
          <a:ln/>
        </p:spPr>
        <p:txBody>
          <a:bodyPr lIns="90488" tIns="44450" rIns="90488" bIns="44450" anchor="ctr"/>
          <a:lstStyle/>
          <a:p>
            <a:r>
              <a:rPr lang="en-US" sz="3200" b="0"/>
              <a:t>Gear Box Defects</a:t>
            </a:r>
          </a:p>
        </p:txBody>
      </p:sp>
      <p:sp>
        <p:nvSpPr>
          <p:cNvPr id="968707" name="Rectangle 3"/>
          <p:cNvSpPr>
            <a:spLocks noGrp="1" noChangeArrowheads="1"/>
          </p:cNvSpPr>
          <p:nvPr>
            <p:ph type="body" idx="1"/>
          </p:nvPr>
        </p:nvSpPr>
        <p:spPr>
          <a:xfrm>
            <a:off x="1524000" y="1447800"/>
            <a:ext cx="5867400" cy="4044950"/>
          </a:xfrm>
          <a:noFill/>
          <a:ln/>
        </p:spPr>
        <p:txBody>
          <a:bodyPr lIns="90488" tIns="44450" rIns="90488" bIns="44450"/>
          <a:lstStyle/>
          <a:p>
            <a:r>
              <a:rPr lang="en-US"/>
              <a:t>Tooth wear</a:t>
            </a:r>
          </a:p>
          <a:p>
            <a:r>
              <a:rPr lang="en-US"/>
              <a:t>Gear eccentricity &amp; backlash</a:t>
            </a:r>
          </a:p>
          <a:p>
            <a:r>
              <a:rPr lang="en-US"/>
              <a:t>Gear misalignment</a:t>
            </a:r>
          </a:p>
          <a:p>
            <a:r>
              <a:rPr lang="en-US"/>
              <a:t>Cracked or broken tooth</a:t>
            </a:r>
          </a:p>
          <a:p>
            <a:r>
              <a:rPr lang="en-US"/>
              <a:t>Hunting tooth</a:t>
            </a:r>
          </a:p>
        </p:txBody>
      </p:sp>
    </p:spTree>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730" name="Rectangle 2050"/>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969731" name="Rectangle 2051"/>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grpSp>
        <p:nvGrpSpPr>
          <p:cNvPr id="969732" name="Group 2052"/>
          <p:cNvGrpSpPr>
            <a:grpSpLocks/>
          </p:cNvGrpSpPr>
          <p:nvPr/>
        </p:nvGrpSpPr>
        <p:grpSpPr bwMode="auto">
          <a:xfrm>
            <a:off x="698500" y="1165225"/>
            <a:ext cx="3754438" cy="1870075"/>
            <a:chOff x="440" y="734"/>
            <a:chExt cx="2365" cy="1178"/>
          </a:xfrm>
        </p:grpSpPr>
        <p:sp>
          <p:nvSpPr>
            <p:cNvPr id="969733" name="Line 2053"/>
            <p:cNvSpPr>
              <a:spLocks noChangeShapeType="1"/>
            </p:cNvSpPr>
            <p:nvPr/>
          </p:nvSpPr>
          <p:spPr bwMode="auto">
            <a:xfrm>
              <a:off x="649" y="742"/>
              <a:ext cx="0" cy="39"/>
            </a:xfrm>
            <a:prstGeom prst="line">
              <a:avLst/>
            </a:prstGeom>
            <a:noFill/>
            <a:ln w="12700">
              <a:solidFill>
                <a:srgbClr val="000000"/>
              </a:solidFill>
              <a:round/>
              <a:headEnd/>
              <a:tailEnd/>
            </a:ln>
            <a:effectLst/>
          </p:spPr>
          <p:txBody>
            <a:bodyPr wrap="none" anchor="ctr"/>
            <a:lstStyle/>
            <a:p>
              <a:endParaRPr lang="en-US"/>
            </a:p>
          </p:txBody>
        </p:sp>
        <p:sp>
          <p:nvSpPr>
            <p:cNvPr id="969734" name="Line 2054"/>
            <p:cNvSpPr>
              <a:spLocks noChangeShapeType="1"/>
            </p:cNvSpPr>
            <p:nvPr/>
          </p:nvSpPr>
          <p:spPr bwMode="auto">
            <a:xfrm>
              <a:off x="649" y="1746"/>
              <a:ext cx="0" cy="39"/>
            </a:xfrm>
            <a:prstGeom prst="line">
              <a:avLst/>
            </a:prstGeom>
            <a:noFill/>
            <a:ln w="12700">
              <a:solidFill>
                <a:srgbClr val="000000"/>
              </a:solidFill>
              <a:round/>
              <a:headEnd/>
              <a:tailEnd/>
            </a:ln>
            <a:effectLst/>
          </p:spPr>
          <p:txBody>
            <a:bodyPr wrap="none" anchor="ctr"/>
            <a:lstStyle/>
            <a:p>
              <a:endParaRPr lang="en-US"/>
            </a:p>
          </p:txBody>
        </p:sp>
        <p:sp>
          <p:nvSpPr>
            <p:cNvPr id="969735" name="Line 2055"/>
            <p:cNvSpPr>
              <a:spLocks noChangeShapeType="1"/>
            </p:cNvSpPr>
            <p:nvPr/>
          </p:nvSpPr>
          <p:spPr bwMode="auto">
            <a:xfrm>
              <a:off x="996" y="742"/>
              <a:ext cx="0" cy="39"/>
            </a:xfrm>
            <a:prstGeom prst="line">
              <a:avLst/>
            </a:prstGeom>
            <a:noFill/>
            <a:ln w="12700">
              <a:solidFill>
                <a:srgbClr val="000000"/>
              </a:solidFill>
              <a:round/>
              <a:headEnd/>
              <a:tailEnd/>
            </a:ln>
            <a:effectLst/>
          </p:spPr>
          <p:txBody>
            <a:bodyPr wrap="none" anchor="ctr"/>
            <a:lstStyle/>
            <a:p>
              <a:endParaRPr lang="en-US"/>
            </a:p>
          </p:txBody>
        </p:sp>
        <p:sp>
          <p:nvSpPr>
            <p:cNvPr id="969736" name="Line 2056"/>
            <p:cNvSpPr>
              <a:spLocks noChangeShapeType="1"/>
            </p:cNvSpPr>
            <p:nvPr/>
          </p:nvSpPr>
          <p:spPr bwMode="auto">
            <a:xfrm>
              <a:off x="996" y="1746"/>
              <a:ext cx="0" cy="39"/>
            </a:xfrm>
            <a:prstGeom prst="line">
              <a:avLst/>
            </a:prstGeom>
            <a:noFill/>
            <a:ln w="12700">
              <a:solidFill>
                <a:srgbClr val="000000"/>
              </a:solidFill>
              <a:round/>
              <a:headEnd/>
              <a:tailEnd/>
            </a:ln>
            <a:effectLst/>
          </p:spPr>
          <p:txBody>
            <a:bodyPr wrap="none" anchor="ctr"/>
            <a:lstStyle/>
            <a:p>
              <a:endParaRPr lang="en-US"/>
            </a:p>
          </p:txBody>
        </p:sp>
        <p:sp>
          <p:nvSpPr>
            <p:cNvPr id="969737" name="Line 2057"/>
            <p:cNvSpPr>
              <a:spLocks noChangeShapeType="1"/>
            </p:cNvSpPr>
            <p:nvPr/>
          </p:nvSpPr>
          <p:spPr bwMode="auto">
            <a:xfrm>
              <a:off x="1349" y="742"/>
              <a:ext cx="0" cy="39"/>
            </a:xfrm>
            <a:prstGeom prst="line">
              <a:avLst/>
            </a:prstGeom>
            <a:noFill/>
            <a:ln w="12700">
              <a:solidFill>
                <a:srgbClr val="000000"/>
              </a:solidFill>
              <a:round/>
              <a:headEnd/>
              <a:tailEnd/>
            </a:ln>
            <a:effectLst/>
          </p:spPr>
          <p:txBody>
            <a:bodyPr wrap="none" anchor="ctr"/>
            <a:lstStyle/>
            <a:p>
              <a:endParaRPr lang="en-US"/>
            </a:p>
          </p:txBody>
        </p:sp>
        <p:sp>
          <p:nvSpPr>
            <p:cNvPr id="969738" name="Line 2058"/>
            <p:cNvSpPr>
              <a:spLocks noChangeShapeType="1"/>
            </p:cNvSpPr>
            <p:nvPr/>
          </p:nvSpPr>
          <p:spPr bwMode="auto">
            <a:xfrm>
              <a:off x="1349" y="1746"/>
              <a:ext cx="0" cy="39"/>
            </a:xfrm>
            <a:prstGeom prst="line">
              <a:avLst/>
            </a:prstGeom>
            <a:noFill/>
            <a:ln w="12700">
              <a:solidFill>
                <a:srgbClr val="000000"/>
              </a:solidFill>
              <a:round/>
              <a:headEnd/>
              <a:tailEnd/>
            </a:ln>
            <a:effectLst/>
          </p:spPr>
          <p:txBody>
            <a:bodyPr wrap="none" anchor="ctr"/>
            <a:lstStyle/>
            <a:p>
              <a:endParaRPr lang="en-US"/>
            </a:p>
          </p:txBody>
        </p:sp>
        <p:sp>
          <p:nvSpPr>
            <p:cNvPr id="969739" name="Line 2059"/>
            <p:cNvSpPr>
              <a:spLocks noChangeShapeType="1"/>
            </p:cNvSpPr>
            <p:nvPr/>
          </p:nvSpPr>
          <p:spPr bwMode="auto">
            <a:xfrm>
              <a:off x="1703" y="742"/>
              <a:ext cx="0" cy="39"/>
            </a:xfrm>
            <a:prstGeom prst="line">
              <a:avLst/>
            </a:prstGeom>
            <a:noFill/>
            <a:ln w="12700">
              <a:solidFill>
                <a:srgbClr val="000000"/>
              </a:solidFill>
              <a:round/>
              <a:headEnd/>
              <a:tailEnd/>
            </a:ln>
            <a:effectLst/>
          </p:spPr>
          <p:txBody>
            <a:bodyPr wrap="none" anchor="ctr"/>
            <a:lstStyle/>
            <a:p>
              <a:endParaRPr lang="en-US"/>
            </a:p>
          </p:txBody>
        </p:sp>
        <p:sp>
          <p:nvSpPr>
            <p:cNvPr id="969740" name="Line 2060"/>
            <p:cNvSpPr>
              <a:spLocks noChangeShapeType="1"/>
            </p:cNvSpPr>
            <p:nvPr/>
          </p:nvSpPr>
          <p:spPr bwMode="auto">
            <a:xfrm>
              <a:off x="1703" y="1746"/>
              <a:ext cx="0" cy="39"/>
            </a:xfrm>
            <a:prstGeom prst="line">
              <a:avLst/>
            </a:prstGeom>
            <a:noFill/>
            <a:ln w="12700">
              <a:solidFill>
                <a:srgbClr val="000000"/>
              </a:solidFill>
              <a:round/>
              <a:headEnd/>
              <a:tailEnd/>
            </a:ln>
            <a:effectLst/>
          </p:spPr>
          <p:txBody>
            <a:bodyPr wrap="none" anchor="ctr"/>
            <a:lstStyle/>
            <a:p>
              <a:endParaRPr lang="en-US"/>
            </a:p>
          </p:txBody>
        </p:sp>
        <p:sp>
          <p:nvSpPr>
            <p:cNvPr id="969741" name="Line 2061"/>
            <p:cNvSpPr>
              <a:spLocks noChangeShapeType="1"/>
            </p:cNvSpPr>
            <p:nvPr/>
          </p:nvSpPr>
          <p:spPr bwMode="auto">
            <a:xfrm>
              <a:off x="2056" y="742"/>
              <a:ext cx="0" cy="39"/>
            </a:xfrm>
            <a:prstGeom prst="line">
              <a:avLst/>
            </a:prstGeom>
            <a:noFill/>
            <a:ln w="12700">
              <a:solidFill>
                <a:srgbClr val="000000"/>
              </a:solidFill>
              <a:round/>
              <a:headEnd/>
              <a:tailEnd/>
            </a:ln>
            <a:effectLst/>
          </p:spPr>
          <p:txBody>
            <a:bodyPr wrap="none" anchor="ctr"/>
            <a:lstStyle/>
            <a:p>
              <a:endParaRPr lang="en-US"/>
            </a:p>
          </p:txBody>
        </p:sp>
        <p:sp>
          <p:nvSpPr>
            <p:cNvPr id="969742" name="Line 2062"/>
            <p:cNvSpPr>
              <a:spLocks noChangeShapeType="1"/>
            </p:cNvSpPr>
            <p:nvPr/>
          </p:nvSpPr>
          <p:spPr bwMode="auto">
            <a:xfrm>
              <a:off x="2056" y="1746"/>
              <a:ext cx="0" cy="39"/>
            </a:xfrm>
            <a:prstGeom prst="line">
              <a:avLst/>
            </a:prstGeom>
            <a:noFill/>
            <a:ln w="12700">
              <a:solidFill>
                <a:srgbClr val="000000"/>
              </a:solidFill>
              <a:round/>
              <a:headEnd/>
              <a:tailEnd/>
            </a:ln>
            <a:effectLst/>
          </p:spPr>
          <p:txBody>
            <a:bodyPr wrap="none" anchor="ctr"/>
            <a:lstStyle/>
            <a:p>
              <a:endParaRPr lang="en-US"/>
            </a:p>
          </p:txBody>
        </p:sp>
        <p:sp>
          <p:nvSpPr>
            <p:cNvPr id="969743" name="Line 2063"/>
            <p:cNvSpPr>
              <a:spLocks noChangeShapeType="1"/>
            </p:cNvSpPr>
            <p:nvPr/>
          </p:nvSpPr>
          <p:spPr bwMode="auto">
            <a:xfrm>
              <a:off x="2415" y="742"/>
              <a:ext cx="0" cy="39"/>
            </a:xfrm>
            <a:prstGeom prst="line">
              <a:avLst/>
            </a:prstGeom>
            <a:noFill/>
            <a:ln w="12700">
              <a:solidFill>
                <a:srgbClr val="000000"/>
              </a:solidFill>
              <a:round/>
              <a:headEnd/>
              <a:tailEnd/>
            </a:ln>
            <a:effectLst/>
          </p:spPr>
          <p:txBody>
            <a:bodyPr wrap="none" anchor="ctr"/>
            <a:lstStyle/>
            <a:p>
              <a:endParaRPr lang="en-US"/>
            </a:p>
          </p:txBody>
        </p:sp>
        <p:sp>
          <p:nvSpPr>
            <p:cNvPr id="969744" name="Line 2064"/>
            <p:cNvSpPr>
              <a:spLocks noChangeShapeType="1"/>
            </p:cNvSpPr>
            <p:nvPr/>
          </p:nvSpPr>
          <p:spPr bwMode="auto">
            <a:xfrm>
              <a:off x="2415" y="1746"/>
              <a:ext cx="0" cy="39"/>
            </a:xfrm>
            <a:prstGeom prst="line">
              <a:avLst/>
            </a:prstGeom>
            <a:noFill/>
            <a:ln w="12700">
              <a:solidFill>
                <a:srgbClr val="000000"/>
              </a:solidFill>
              <a:round/>
              <a:headEnd/>
              <a:tailEnd/>
            </a:ln>
            <a:effectLst/>
          </p:spPr>
          <p:txBody>
            <a:bodyPr wrap="none" anchor="ctr"/>
            <a:lstStyle/>
            <a:p>
              <a:endParaRPr lang="en-US"/>
            </a:p>
          </p:txBody>
        </p:sp>
        <p:sp>
          <p:nvSpPr>
            <p:cNvPr id="969745" name="Line 2065"/>
            <p:cNvSpPr>
              <a:spLocks noChangeShapeType="1"/>
            </p:cNvSpPr>
            <p:nvPr/>
          </p:nvSpPr>
          <p:spPr bwMode="auto">
            <a:xfrm>
              <a:off x="2762" y="742"/>
              <a:ext cx="0" cy="39"/>
            </a:xfrm>
            <a:prstGeom prst="line">
              <a:avLst/>
            </a:prstGeom>
            <a:noFill/>
            <a:ln w="12700">
              <a:solidFill>
                <a:srgbClr val="000000"/>
              </a:solidFill>
              <a:round/>
              <a:headEnd/>
              <a:tailEnd/>
            </a:ln>
            <a:effectLst/>
          </p:spPr>
          <p:txBody>
            <a:bodyPr wrap="none" anchor="ctr"/>
            <a:lstStyle/>
            <a:p>
              <a:endParaRPr lang="en-US"/>
            </a:p>
          </p:txBody>
        </p:sp>
        <p:sp>
          <p:nvSpPr>
            <p:cNvPr id="969746" name="Line 2066"/>
            <p:cNvSpPr>
              <a:spLocks noChangeShapeType="1"/>
            </p:cNvSpPr>
            <p:nvPr/>
          </p:nvSpPr>
          <p:spPr bwMode="auto">
            <a:xfrm>
              <a:off x="2762" y="1746"/>
              <a:ext cx="0" cy="39"/>
            </a:xfrm>
            <a:prstGeom prst="line">
              <a:avLst/>
            </a:prstGeom>
            <a:noFill/>
            <a:ln w="12700">
              <a:solidFill>
                <a:srgbClr val="000000"/>
              </a:solidFill>
              <a:round/>
              <a:headEnd/>
              <a:tailEnd/>
            </a:ln>
            <a:effectLst/>
          </p:spPr>
          <p:txBody>
            <a:bodyPr wrap="none" anchor="ctr"/>
            <a:lstStyle/>
            <a:p>
              <a:endParaRPr lang="en-US"/>
            </a:p>
          </p:txBody>
        </p:sp>
        <p:sp>
          <p:nvSpPr>
            <p:cNvPr id="969747" name="Line 2067"/>
            <p:cNvSpPr>
              <a:spLocks noChangeShapeType="1"/>
            </p:cNvSpPr>
            <p:nvPr/>
          </p:nvSpPr>
          <p:spPr bwMode="auto">
            <a:xfrm>
              <a:off x="654" y="1789"/>
              <a:ext cx="39" cy="0"/>
            </a:xfrm>
            <a:prstGeom prst="line">
              <a:avLst/>
            </a:prstGeom>
            <a:noFill/>
            <a:ln w="12700">
              <a:solidFill>
                <a:srgbClr val="000000"/>
              </a:solidFill>
              <a:round/>
              <a:headEnd/>
              <a:tailEnd/>
            </a:ln>
            <a:effectLst/>
          </p:spPr>
          <p:txBody>
            <a:bodyPr wrap="none" anchor="ctr"/>
            <a:lstStyle/>
            <a:p>
              <a:endParaRPr lang="en-US"/>
            </a:p>
          </p:txBody>
        </p:sp>
        <p:sp>
          <p:nvSpPr>
            <p:cNvPr id="969748" name="Line 2068"/>
            <p:cNvSpPr>
              <a:spLocks noChangeShapeType="1"/>
            </p:cNvSpPr>
            <p:nvPr/>
          </p:nvSpPr>
          <p:spPr bwMode="auto">
            <a:xfrm>
              <a:off x="2725" y="1789"/>
              <a:ext cx="39" cy="0"/>
            </a:xfrm>
            <a:prstGeom prst="line">
              <a:avLst/>
            </a:prstGeom>
            <a:noFill/>
            <a:ln w="12700">
              <a:solidFill>
                <a:srgbClr val="000000"/>
              </a:solidFill>
              <a:round/>
              <a:headEnd/>
              <a:tailEnd/>
            </a:ln>
            <a:effectLst/>
          </p:spPr>
          <p:txBody>
            <a:bodyPr wrap="none" anchor="ctr"/>
            <a:lstStyle/>
            <a:p>
              <a:endParaRPr lang="en-US"/>
            </a:p>
          </p:txBody>
        </p:sp>
        <p:sp>
          <p:nvSpPr>
            <p:cNvPr id="969749" name="Line 2069"/>
            <p:cNvSpPr>
              <a:spLocks noChangeShapeType="1"/>
            </p:cNvSpPr>
            <p:nvPr/>
          </p:nvSpPr>
          <p:spPr bwMode="auto">
            <a:xfrm>
              <a:off x="654" y="1687"/>
              <a:ext cx="39" cy="0"/>
            </a:xfrm>
            <a:prstGeom prst="line">
              <a:avLst/>
            </a:prstGeom>
            <a:noFill/>
            <a:ln w="12700">
              <a:solidFill>
                <a:srgbClr val="000000"/>
              </a:solidFill>
              <a:round/>
              <a:headEnd/>
              <a:tailEnd/>
            </a:ln>
            <a:effectLst/>
          </p:spPr>
          <p:txBody>
            <a:bodyPr wrap="none" anchor="ctr"/>
            <a:lstStyle/>
            <a:p>
              <a:endParaRPr lang="en-US"/>
            </a:p>
          </p:txBody>
        </p:sp>
        <p:sp>
          <p:nvSpPr>
            <p:cNvPr id="969750" name="Line 2070"/>
            <p:cNvSpPr>
              <a:spLocks noChangeShapeType="1"/>
            </p:cNvSpPr>
            <p:nvPr/>
          </p:nvSpPr>
          <p:spPr bwMode="auto">
            <a:xfrm>
              <a:off x="2725" y="1687"/>
              <a:ext cx="39" cy="0"/>
            </a:xfrm>
            <a:prstGeom prst="line">
              <a:avLst/>
            </a:prstGeom>
            <a:noFill/>
            <a:ln w="12700">
              <a:solidFill>
                <a:srgbClr val="000000"/>
              </a:solidFill>
              <a:round/>
              <a:headEnd/>
              <a:tailEnd/>
            </a:ln>
            <a:effectLst/>
          </p:spPr>
          <p:txBody>
            <a:bodyPr wrap="none" anchor="ctr"/>
            <a:lstStyle/>
            <a:p>
              <a:endParaRPr lang="en-US"/>
            </a:p>
          </p:txBody>
        </p:sp>
        <p:sp>
          <p:nvSpPr>
            <p:cNvPr id="969751" name="Line 2071"/>
            <p:cNvSpPr>
              <a:spLocks noChangeShapeType="1"/>
            </p:cNvSpPr>
            <p:nvPr/>
          </p:nvSpPr>
          <p:spPr bwMode="auto">
            <a:xfrm>
              <a:off x="654" y="1580"/>
              <a:ext cx="39" cy="0"/>
            </a:xfrm>
            <a:prstGeom prst="line">
              <a:avLst/>
            </a:prstGeom>
            <a:noFill/>
            <a:ln w="12700">
              <a:solidFill>
                <a:srgbClr val="000000"/>
              </a:solidFill>
              <a:round/>
              <a:headEnd/>
              <a:tailEnd/>
            </a:ln>
            <a:effectLst/>
          </p:spPr>
          <p:txBody>
            <a:bodyPr wrap="none" anchor="ctr"/>
            <a:lstStyle/>
            <a:p>
              <a:endParaRPr lang="en-US"/>
            </a:p>
          </p:txBody>
        </p:sp>
        <p:sp>
          <p:nvSpPr>
            <p:cNvPr id="969752" name="Line 2072"/>
            <p:cNvSpPr>
              <a:spLocks noChangeShapeType="1"/>
            </p:cNvSpPr>
            <p:nvPr/>
          </p:nvSpPr>
          <p:spPr bwMode="auto">
            <a:xfrm>
              <a:off x="2725" y="1580"/>
              <a:ext cx="39" cy="0"/>
            </a:xfrm>
            <a:prstGeom prst="line">
              <a:avLst/>
            </a:prstGeom>
            <a:noFill/>
            <a:ln w="12700">
              <a:solidFill>
                <a:srgbClr val="000000"/>
              </a:solidFill>
              <a:round/>
              <a:headEnd/>
              <a:tailEnd/>
            </a:ln>
            <a:effectLst/>
          </p:spPr>
          <p:txBody>
            <a:bodyPr wrap="none" anchor="ctr"/>
            <a:lstStyle/>
            <a:p>
              <a:endParaRPr lang="en-US"/>
            </a:p>
          </p:txBody>
        </p:sp>
        <p:sp>
          <p:nvSpPr>
            <p:cNvPr id="969753" name="Line 2073"/>
            <p:cNvSpPr>
              <a:spLocks noChangeShapeType="1"/>
            </p:cNvSpPr>
            <p:nvPr/>
          </p:nvSpPr>
          <p:spPr bwMode="auto">
            <a:xfrm>
              <a:off x="654" y="1478"/>
              <a:ext cx="39" cy="0"/>
            </a:xfrm>
            <a:prstGeom prst="line">
              <a:avLst/>
            </a:prstGeom>
            <a:noFill/>
            <a:ln w="12700">
              <a:solidFill>
                <a:srgbClr val="000000"/>
              </a:solidFill>
              <a:round/>
              <a:headEnd/>
              <a:tailEnd/>
            </a:ln>
            <a:effectLst/>
          </p:spPr>
          <p:txBody>
            <a:bodyPr wrap="none" anchor="ctr"/>
            <a:lstStyle/>
            <a:p>
              <a:endParaRPr lang="en-US"/>
            </a:p>
          </p:txBody>
        </p:sp>
        <p:sp>
          <p:nvSpPr>
            <p:cNvPr id="969754" name="Line 2074"/>
            <p:cNvSpPr>
              <a:spLocks noChangeShapeType="1"/>
            </p:cNvSpPr>
            <p:nvPr/>
          </p:nvSpPr>
          <p:spPr bwMode="auto">
            <a:xfrm>
              <a:off x="2725" y="1478"/>
              <a:ext cx="39" cy="0"/>
            </a:xfrm>
            <a:prstGeom prst="line">
              <a:avLst/>
            </a:prstGeom>
            <a:noFill/>
            <a:ln w="12700">
              <a:solidFill>
                <a:srgbClr val="000000"/>
              </a:solidFill>
              <a:round/>
              <a:headEnd/>
              <a:tailEnd/>
            </a:ln>
            <a:effectLst/>
          </p:spPr>
          <p:txBody>
            <a:bodyPr wrap="none" anchor="ctr"/>
            <a:lstStyle/>
            <a:p>
              <a:endParaRPr lang="en-US"/>
            </a:p>
          </p:txBody>
        </p:sp>
        <p:sp>
          <p:nvSpPr>
            <p:cNvPr id="969755" name="Line 2075"/>
            <p:cNvSpPr>
              <a:spLocks noChangeShapeType="1"/>
            </p:cNvSpPr>
            <p:nvPr/>
          </p:nvSpPr>
          <p:spPr bwMode="auto">
            <a:xfrm>
              <a:off x="654" y="1371"/>
              <a:ext cx="39" cy="0"/>
            </a:xfrm>
            <a:prstGeom prst="line">
              <a:avLst/>
            </a:prstGeom>
            <a:noFill/>
            <a:ln w="12700">
              <a:solidFill>
                <a:srgbClr val="000000"/>
              </a:solidFill>
              <a:round/>
              <a:headEnd/>
              <a:tailEnd/>
            </a:ln>
            <a:effectLst/>
          </p:spPr>
          <p:txBody>
            <a:bodyPr wrap="none" anchor="ctr"/>
            <a:lstStyle/>
            <a:p>
              <a:endParaRPr lang="en-US"/>
            </a:p>
          </p:txBody>
        </p:sp>
        <p:sp>
          <p:nvSpPr>
            <p:cNvPr id="969756" name="Line 2076"/>
            <p:cNvSpPr>
              <a:spLocks noChangeShapeType="1"/>
            </p:cNvSpPr>
            <p:nvPr/>
          </p:nvSpPr>
          <p:spPr bwMode="auto">
            <a:xfrm>
              <a:off x="2725" y="1371"/>
              <a:ext cx="39" cy="0"/>
            </a:xfrm>
            <a:prstGeom prst="line">
              <a:avLst/>
            </a:prstGeom>
            <a:noFill/>
            <a:ln w="12700">
              <a:solidFill>
                <a:srgbClr val="000000"/>
              </a:solidFill>
              <a:round/>
              <a:headEnd/>
              <a:tailEnd/>
            </a:ln>
            <a:effectLst/>
          </p:spPr>
          <p:txBody>
            <a:bodyPr wrap="none" anchor="ctr"/>
            <a:lstStyle/>
            <a:p>
              <a:endParaRPr lang="en-US"/>
            </a:p>
          </p:txBody>
        </p:sp>
        <p:sp>
          <p:nvSpPr>
            <p:cNvPr id="969757" name="Line 2077"/>
            <p:cNvSpPr>
              <a:spLocks noChangeShapeType="1"/>
            </p:cNvSpPr>
            <p:nvPr/>
          </p:nvSpPr>
          <p:spPr bwMode="auto">
            <a:xfrm>
              <a:off x="654" y="1263"/>
              <a:ext cx="39" cy="0"/>
            </a:xfrm>
            <a:prstGeom prst="line">
              <a:avLst/>
            </a:prstGeom>
            <a:noFill/>
            <a:ln w="12700">
              <a:solidFill>
                <a:srgbClr val="000000"/>
              </a:solidFill>
              <a:round/>
              <a:headEnd/>
              <a:tailEnd/>
            </a:ln>
            <a:effectLst/>
          </p:spPr>
          <p:txBody>
            <a:bodyPr wrap="none" anchor="ctr"/>
            <a:lstStyle/>
            <a:p>
              <a:endParaRPr lang="en-US"/>
            </a:p>
          </p:txBody>
        </p:sp>
        <p:sp>
          <p:nvSpPr>
            <p:cNvPr id="969758" name="Line 2078"/>
            <p:cNvSpPr>
              <a:spLocks noChangeShapeType="1"/>
            </p:cNvSpPr>
            <p:nvPr/>
          </p:nvSpPr>
          <p:spPr bwMode="auto">
            <a:xfrm>
              <a:off x="2725" y="1263"/>
              <a:ext cx="39" cy="0"/>
            </a:xfrm>
            <a:prstGeom prst="line">
              <a:avLst/>
            </a:prstGeom>
            <a:noFill/>
            <a:ln w="12700">
              <a:solidFill>
                <a:srgbClr val="000000"/>
              </a:solidFill>
              <a:round/>
              <a:headEnd/>
              <a:tailEnd/>
            </a:ln>
            <a:effectLst/>
          </p:spPr>
          <p:txBody>
            <a:bodyPr wrap="none" anchor="ctr"/>
            <a:lstStyle/>
            <a:p>
              <a:endParaRPr lang="en-US"/>
            </a:p>
          </p:txBody>
        </p:sp>
        <p:sp>
          <p:nvSpPr>
            <p:cNvPr id="969759" name="Line 2079"/>
            <p:cNvSpPr>
              <a:spLocks noChangeShapeType="1"/>
            </p:cNvSpPr>
            <p:nvPr/>
          </p:nvSpPr>
          <p:spPr bwMode="auto">
            <a:xfrm>
              <a:off x="654" y="1162"/>
              <a:ext cx="39" cy="0"/>
            </a:xfrm>
            <a:prstGeom prst="line">
              <a:avLst/>
            </a:prstGeom>
            <a:noFill/>
            <a:ln w="12700">
              <a:solidFill>
                <a:srgbClr val="000000"/>
              </a:solidFill>
              <a:round/>
              <a:headEnd/>
              <a:tailEnd/>
            </a:ln>
            <a:effectLst/>
          </p:spPr>
          <p:txBody>
            <a:bodyPr wrap="none" anchor="ctr"/>
            <a:lstStyle/>
            <a:p>
              <a:endParaRPr lang="en-US"/>
            </a:p>
          </p:txBody>
        </p:sp>
        <p:sp>
          <p:nvSpPr>
            <p:cNvPr id="969760" name="Line 2080"/>
            <p:cNvSpPr>
              <a:spLocks noChangeShapeType="1"/>
            </p:cNvSpPr>
            <p:nvPr/>
          </p:nvSpPr>
          <p:spPr bwMode="auto">
            <a:xfrm>
              <a:off x="2725" y="1162"/>
              <a:ext cx="39" cy="0"/>
            </a:xfrm>
            <a:prstGeom prst="line">
              <a:avLst/>
            </a:prstGeom>
            <a:noFill/>
            <a:ln w="12700">
              <a:solidFill>
                <a:srgbClr val="000000"/>
              </a:solidFill>
              <a:round/>
              <a:headEnd/>
              <a:tailEnd/>
            </a:ln>
            <a:effectLst/>
          </p:spPr>
          <p:txBody>
            <a:bodyPr wrap="none" anchor="ctr"/>
            <a:lstStyle/>
            <a:p>
              <a:endParaRPr lang="en-US"/>
            </a:p>
          </p:txBody>
        </p:sp>
        <p:sp>
          <p:nvSpPr>
            <p:cNvPr id="969761" name="Line 2081"/>
            <p:cNvSpPr>
              <a:spLocks noChangeShapeType="1"/>
            </p:cNvSpPr>
            <p:nvPr/>
          </p:nvSpPr>
          <p:spPr bwMode="auto">
            <a:xfrm>
              <a:off x="654" y="1054"/>
              <a:ext cx="39" cy="0"/>
            </a:xfrm>
            <a:prstGeom prst="line">
              <a:avLst/>
            </a:prstGeom>
            <a:noFill/>
            <a:ln w="12700">
              <a:solidFill>
                <a:srgbClr val="000000"/>
              </a:solidFill>
              <a:round/>
              <a:headEnd/>
              <a:tailEnd/>
            </a:ln>
            <a:effectLst/>
          </p:spPr>
          <p:txBody>
            <a:bodyPr wrap="none" anchor="ctr"/>
            <a:lstStyle/>
            <a:p>
              <a:endParaRPr lang="en-US"/>
            </a:p>
          </p:txBody>
        </p:sp>
        <p:sp>
          <p:nvSpPr>
            <p:cNvPr id="969762" name="Line 2082"/>
            <p:cNvSpPr>
              <a:spLocks noChangeShapeType="1"/>
            </p:cNvSpPr>
            <p:nvPr/>
          </p:nvSpPr>
          <p:spPr bwMode="auto">
            <a:xfrm>
              <a:off x="2725" y="1054"/>
              <a:ext cx="39" cy="0"/>
            </a:xfrm>
            <a:prstGeom prst="line">
              <a:avLst/>
            </a:prstGeom>
            <a:noFill/>
            <a:ln w="12700">
              <a:solidFill>
                <a:srgbClr val="000000"/>
              </a:solidFill>
              <a:round/>
              <a:headEnd/>
              <a:tailEnd/>
            </a:ln>
            <a:effectLst/>
          </p:spPr>
          <p:txBody>
            <a:bodyPr wrap="none" anchor="ctr"/>
            <a:lstStyle/>
            <a:p>
              <a:endParaRPr lang="en-US"/>
            </a:p>
          </p:txBody>
        </p:sp>
        <p:sp>
          <p:nvSpPr>
            <p:cNvPr id="969763" name="Line 2083"/>
            <p:cNvSpPr>
              <a:spLocks noChangeShapeType="1"/>
            </p:cNvSpPr>
            <p:nvPr/>
          </p:nvSpPr>
          <p:spPr bwMode="auto">
            <a:xfrm>
              <a:off x="654" y="953"/>
              <a:ext cx="39" cy="0"/>
            </a:xfrm>
            <a:prstGeom prst="line">
              <a:avLst/>
            </a:prstGeom>
            <a:noFill/>
            <a:ln w="12700">
              <a:solidFill>
                <a:srgbClr val="000000"/>
              </a:solidFill>
              <a:round/>
              <a:headEnd/>
              <a:tailEnd/>
            </a:ln>
            <a:effectLst/>
          </p:spPr>
          <p:txBody>
            <a:bodyPr wrap="none" anchor="ctr"/>
            <a:lstStyle/>
            <a:p>
              <a:endParaRPr lang="en-US"/>
            </a:p>
          </p:txBody>
        </p:sp>
        <p:sp>
          <p:nvSpPr>
            <p:cNvPr id="969764" name="Line 2084"/>
            <p:cNvSpPr>
              <a:spLocks noChangeShapeType="1"/>
            </p:cNvSpPr>
            <p:nvPr/>
          </p:nvSpPr>
          <p:spPr bwMode="auto">
            <a:xfrm>
              <a:off x="2725" y="953"/>
              <a:ext cx="39" cy="0"/>
            </a:xfrm>
            <a:prstGeom prst="line">
              <a:avLst/>
            </a:prstGeom>
            <a:noFill/>
            <a:ln w="12700">
              <a:solidFill>
                <a:srgbClr val="000000"/>
              </a:solidFill>
              <a:round/>
              <a:headEnd/>
              <a:tailEnd/>
            </a:ln>
            <a:effectLst/>
          </p:spPr>
          <p:txBody>
            <a:bodyPr wrap="none" anchor="ctr"/>
            <a:lstStyle/>
            <a:p>
              <a:endParaRPr lang="en-US"/>
            </a:p>
          </p:txBody>
        </p:sp>
        <p:sp>
          <p:nvSpPr>
            <p:cNvPr id="969765" name="Line 2085"/>
            <p:cNvSpPr>
              <a:spLocks noChangeShapeType="1"/>
            </p:cNvSpPr>
            <p:nvPr/>
          </p:nvSpPr>
          <p:spPr bwMode="auto">
            <a:xfrm>
              <a:off x="654" y="845"/>
              <a:ext cx="39" cy="0"/>
            </a:xfrm>
            <a:prstGeom prst="line">
              <a:avLst/>
            </a:prstGeom>
            <a:noFill/>
            <a:ln w="12700">
              <a:solidFill>
                <a:srgbClr val="000000"/>
              </a:solidFill>
              <a:round/>
              <a:headEnd/>
              <a:tailEnd/>
            </a:ln>
            <a:effectLst/>
          </p:spPr>
          <p:txBody>
            <a:bodyPr wrap="none" anchor="ctr"/>
            <a:lstStyle/>
            <a:p>
              <a:endParaRPr lang="en-US"/>
            </a:p>
          </p:txBody>
        </p:sp>
        <p:sp>
          <p:nvSpPr>
            <p:cNvPr id="969766" name="Line 2086"/>
            <p:cNvSpPr>
              <a:spLocks noChangeShapeType="1"/>
            </p:cNvSpPr>
            <p:nvPr/>
          </p:nvSpPr>
          <p:spPr bwMode="auto">
            <a:xfrm>
              <a:off x="2725" y="845"/>
              <a:ext cx="39" cy="0"/>
            </a:xfrm>
            <a:prstGeom prst="line">
              <a:avLst/>
            </a:prstGeom>
            <a:noFill/>
            <a:ln w="12700">
              <a:solidFill>
                <a:srgbClr val="000000"/>
              </a:solidFill>
              <a:round/>
              <a:headEnd/>
              <a:tailEnd/>
            </a:ln>
            <a:effectLst/>
          </p:spPr>
          <p:txBody>
            <a:bodyPr wrap="none" anchor="ctr"/>
            <a:lstStyle/>
            <a:p>
              <a:endParaRPr lang="en-US"/>
            </a:p>
          </p:txBody>
        </p:sp>
        <p:sp>
          <p:nvSpPr>
            <p:cNvPr id="969767" name="Line 2087"/>
            <p:cNvSpPr>
              <a:spLocks noChangeShapeType="1"/>
            </p:cNvSpPr>
            <p:nvPr/>
          </p:nvSpPr>
          <p:spPr bwMode="auto">
            <a:xfrm>
              <a:off x="654" y="737"/>
              <a:ext cx="39" cy="0"/>
            </a:xfrm>
            <a:prstGeom prst="line">
              <a:avLst/>
            </a:prstGeom>
            <a:noFill/>
            <a:ln w="12700">
              <a:solidFill>
                <a:srgbClr val="000000"/>
              </a:solidFill>
              <a:round/>
              <a:headEnd/>
              <a:tailEnd/>
            </a:ln>
            <a:effectLst/>
          </p:spPr>
          <p:txBody>
            <a:bodyPr wrap="none" anchor="ctr"/>
            <a:lstStyle/>
            <a:p>
              <a:endParaRPr lang="en-US"/>
            </a:p>
          </p:txBody>
        </p:sp>
        <p:sp>
          <p:nvSpPr>
            <p:cNvPr id="969768" name="Line 2088"/>
            <p:cNvSpPr>
              <a:spLocks noChangeShapeType="1"/>
            </p:cNvSpPr>
            <p:nvPr/>
          </p:nvSpPr>
          <p:spPr bwMode="auto">
            <a:xfrm>
              <a:off x="2725" y="737"/>
              <a:ext cx="39" cy="0"/>
            </a:xfrm>
            <a:prstGeom prst="line">
              <a:avLst/>
            </a:prstGeom>
            <a:noFill/>
            <a:ln w="12700">
              <a:solidFill>
                <a:srgbClr val="000000"/>
              </a:solidFill>
              <a:round/>
              <a:headEnd/>
              <a:tailEnd/>
            </a:ln>
            <a:effectLst/>
          </p:spPr>
          <p:txBody>
            <a:bodyPr wrap="none" anchor="ctr"/>
            <a:lstStyle/>
            <a:p>
              <a:endParaRPr lang="en-US"/>
            </a:p>
          </p:txBody>
        </p:sp>
        <p:sp>
          <p:nvSpPr>
            <p:cNvPr id="969769" name="Freeform 2089"/>
            <p:cNvSpPr>
              <a:spLocks/>
            </p:cNvSpPr>
            <p:nvPr/>
          </p:nvSpPr>
          <p:spPr bwMode="auto">
            <a:xfrm>
              <a:off x="649" y="1472"/>
              <a:ext cx="725" cy="318"/>
            </a:xfrm>
            <a:custGeom>
              <a:avLst/>
              <a:gdLst/>
              <a:ahLst/>
              <a:cxnLst>
                <a:cxn ang="0">
                  <a:pos x="6" y="305"/>
                </a:cxn>
                <a:cxn ang="0">
                  <a:pos x="18" y="299"/>
                </a:cxn>
                <a:cxn ang="0">
                  <a:pos x="30" y="275"/>
                </a:cxn>
                <a:cxn ang="0">
                  <a:pos x="36" y="239"/>
                </a:cxn>
                <a:cxn ang="0">
                  <a:pos x="48" y="299"/>
                </a:cxn>
                <a:cxn ang="0">
                  <a:pos x="54" y="311"/>
                </a:cxn>
                <a:cxn ang="0">
                  <a:pos x="66" y="311"/>
                </a:cxn>
                <a:cxn ang="0">
                  <a:pos x="72" y="317"/>
                </a:cxn>
                <a:cxn ang="0">
                  <a:pos x="90" y="311"/>
                </a:cxn>
                <a:cxn ang="0">
                  <a:pos x="102" y="311"/>
                </a:cxn>
                <a:cxn ang="0">
                  <a:pos x="120" y="311"/>
                </a:cxn>
                <a:cxn ang="0">
                  <a:pos x="132" y="311"/>
                </a:cxn>
                <a:cxn ang="0">
                  <a:pos x="138" y="311"/>
                </a:cxn>
                <a:cxn ang="0">
                  <a:pos x="150" y="311"/>
                </a:cxn>
                <a:cxn ang="0">
                  <a:pos x="162" y="311"/>
                </a:cxn>
                <a:cxn ang="0">
                  <a:pos x="174" y="311"/>
                </a:cxn>
                <a:cxn ang="0">
                  <a:pos x="185" y="317"/>
                </a:cxn>
                <a:cxn ang="0">
                  <a:pos x="197" y="311"/>
                </a:cxn>
                <a:cxn ang="0">
                  <a:pos x="203" y="311"/>
                </a:cxn>
                <a:cxn ang="0">
                  <a:pos x="215" y="311"/>
                </a:cxn>
                <a:cxn ang="0">
                  <a:pos x="227" y="311"/>
                </a:cxn>
                <a:cxn ang="0">
                  <a:pos x="245" y="311"/>
                </a:cxn>
                <a:cxn ang="0">
                  <a:pos x="251" y="311"/>
                </a:cxn>
                <a:cxn ang="0">
                  <a:pos x="263" y="317"/>
                </a:cxn>
                <a:cxn ang="0">
                  <a:pos x="281" y="311"/>
                </a:cxn>
                <a:cxn ang="0">
                  <a:pos x="287" y="317"/>
                </a:cxn>
                <a:cxn ang="0">
                  <a:pos x="299" y="317"/>
                </a:cxn>
                <a:cxn ang="0">
                  <a:pos x="311" y="311"/>
                </a:cxn>
                <a:cxn ang="0">
                  <a:pos x="323" y="311"/>
                </a:cxn>
                <a:cxn ang="0">
                  <a:pos x="347" y="311"/>
                </a:cxn>
                <a:cxn ang="0">
                  <a:pos x="359" y="317"/>
                </a:cxn>
                <a:cxn ang="0">
                  <a:pos x="365" y="311"/>
                </a:cxn>
                <a:cxn ang="0">
                  <a:pos x="377" y="311"/>
                </a:cxn>
                <a:cxn ang="0">
                  <a:pos x="389" y="311"/>
                </a:cxn>
                <a:cxn ang="0">
                  <a:pos x="407" y="317"/>
                </a:cxn>
                <a:cxn ang="0">
                  <a:pos x="413" y="317"/>
                </a:cxn>
                <a:cxn ang="0">
                  <a:pos x="425" y="305"/>
                </a:cxn>
                <a:cxn ang="0">
                  <a:pos x="437" y="305"/>
                </a:cxn>
                <a:cxn ang="0">
                  <a:pos x="449" y="317"/>
                </a:cxn>
                <a:cxn ang="0">
                  <a:pos x="461" y="317"/>
                </a:cxn>
                <a:cxn ang="0">
                  <a:pos x="479" y="311"/>
                </a:cxn>
                <a:cxn ang="0">
                  <a:pos x="491" y="317"/>
                </a:cxn>
                <a:cxn ang="0">
                  <a:pos x="503" y="311"/>
                </a:cxn>
                <a:cxn ang="0">
                  <a:pos x="515" y="311"/>
                </a:cxn>
                <a:cxn ang="0">
                  <a:pos x="521" y="317"/>
                </a:cxn>
                <a:cxn ang="0">
                  <a:pos x="533" y="311"/>
                </a:cxn>
                <a:cxn ang="0">
                  <a:pos x="545" y="317"/>
                </a:cxn>
                <a:cxn ang="0">
                  <a:pos x="551" y="317"/>
                </a:cxn>
                <a:cxn ang="0">
                  <a:pos x="563" y="311"/>
                </a:cxn>
                <a:cxn ang="0">
                  <a:pos x="569" y="317"/>
                </a:cxn>
                <a:cxn ang="0">
                  <a:pos x="581" y="311"/>
                </a:cxn>
                <a:cxn ang="0">
                  <a:pos x="593" y="317"/>
                </a:cxn>
                <a:cxn ang="0">
                  <a:pos x="605" y="317"/>
                </a:cxn>
                <a:cxn ang="0">
                  <a:pos x="611" y="311"/>
                </a:cxn>
                <a:cxn ang="0">
                  <a:pos x="629" y="311"/>
                </a:cxn>
                <a:cxn ang="0">
                  <a:pos x="641" y="311"/>
                </a:cxn>
                <a:cxn ang="0">
                  <a:pos x="652" y="311"/>
                </a:cxn>
                <a:cxn ang="0">
                  <a:pos x="670" y="311"/>
                </a:cxn>
                <a:cxn ang="0">
                  <a:pos x="682" y="299"/>
                </a:cxn>
                <a:cxn ang="0">
                  <a:pos x="688" y="233"/>
                </a:cxn>
                <a:cxn ang="0">
                  <a:pos x="700" y="275"/>
                </a:cxn>
                <a:cxn ang="0">
                  <a:pos x="706" y="305"/>
                </a:cxn>
                <a:cxn ang="0">
                  <a:pos x="718" y="305"/>
                </a:cxn>
              </a:cxnLst>
              <a:rect l="0" t="0" r="r" b="b"/>
              <a:pathLst>
                <a:path w="725" h="318">
                  <a:moveTo>
                    <a:pt x="0" y="317"/>
                  </a:moveTo>
                  <a:lnTo>
                    <a:pt x="6" y="305"/>
                  </a:lnTo>
                  <a:lnTo>
                    <a:pt x="6" y="311"/>
                  </a:lnTo>
                  <a:lnTo>
                    <a:pt x="6" y="305"/>
                  </a:lnTo>
                  <a:lnTo>
                    <a:pt x="12" y="305"/>
                  </a:lnTo>
                  <a:lnTo>
                    <a:pt x="12" y="299"/>
                  </a:lnTo>
                  <a:lnTo>
                    <a:pt x="18" y="305"/>
                  </a:lnTo>
                  <a:lnTo>
                    <a:pt x="18" y="299"/>
                  </a:lnTo>
                  <a:lnTo>
                    <a:pt x="24" y="299"/>
                  </a:lnTo>
                  <a:lnTo>
                    <a:pt x="24" y="293"/>
                  </a:lnTo>
                  <a:lnTo>
                    <a:pt x="30" y="281"/>
                  </a:lnTo>
                  <a:lnTo>
                    <a:pt x="30" y="275"/>
                  </a:lnTo>
                  <a:lnTo>
                    <a:pt x="30" y="245"/>
                  </a:lnTo>
                  <a:lnTo>
                    <a:pt x="36" y="144"/>
                  </a:lnTo>
                  <a:lnTo>
                    <a:pt x="36" y="54"/>
                  </a:lnTo>
                  <a:lnTo>
                    <a:pt x="36" y="239"/>
                  </a:lnTo>
                  <a:lnTo>
                    <a:pt x="36" y="275"/>
                  </a:lnTo>
                  <a:lnTo>
                    <a:pt x="42" y="287"/>
                  </a:lnTo>
                  <a:lnTo>
                    <a:pt x="42" y="299"/>
                  </a:lnTo>
                  <a:lnTo>
                    <a:pt x="48" y="299"/>
                  </a:lnTo>
                  <a:lnTo>
                    <a:pt x="48" y="305"/>
                  </a:lnTo>
                  <a:lnTo>
                    <a:pt x="48" y="311"/>
                  </a:lnTo>
                  <a:lnTo>
                    <a:pt x="54" y="305"/>
                  </a:lnTo>
                  <a:lnTo>
                    <a:pt x="54" y="311"/>
                  </a:lnTo>
                  <a:lnTo>
                    <a:pt x="54" y="317"/>
                  </a:lnTo>
                  <a:lnTo>
                    <a:pt x="54" y="305"/>
                  </a:lnTo>
                  <a:lnTo>
                    <a:pt x="60" y="311"/>
                  </a:lnTo>
                  <a:lnTo>
                    <a:pt x="66" y="311"/>
                  </a:lnTo>
                  <a:lnTo>
                    <a:pt x="66" y="317"/>
                  </a:lnTo>
                  <a:lnTo>
                    <a:pt x="66" y="311"/>
                  </a:lnTo>
                  <a:lnTo>
                    <a:pt x="72" y="311"/>
                  </a:lnTo>
                  <a:lnTo>
                    <a:pt x="72" y="317"/>
                  </a:lnTo>
                  <a:lnTo>
                    <a:pt x="78" y="311"/>
                  </a:lnTo>
                  <a:lnTo>
                    <a:pt x="84" y="311"/>
                  </a:lnTo>
                  <a:lnTo>
                    <a:pt x="84" y="317"/>
                  </a:lnTo>
                  <a:lnTo>
                    <a:pt x="90" y="311"/>
                  </a:lnTo>
                  <a:lnTo>
                    <a:pt x="96" y="317"/>
                  </a:lnTo>
                  <a:lnTo>
                    <a:pt x="96" y="311"/>
                  </a:lnTo>
                  <a:lnTo>
                    <a:pt x="102" y="305"/>
                  </a:lnTo>
                  <a:lnTo>
                    <a:pt x="102" y="311"/>
                  </a:lnTo>
                  <a:lnTo>
                    <a:pt x="102" y="317"/>
                  </a:lnTo>
                  <a:lnTo>
                    <a:pt x="108" y="311"/>
                  </a:lnTo>
                  <a:lnTo>
                    <a:pt x="114" y="311"/>
                  </a:lnTo>
                  <a:lnTo>
                    <a:pt x="120" y="311"/>
                  </a:lnTo>
                  <a:lnTo>
                    <a:pt x="120" y="317"/>
                  </a:lnTo>
                  <a:lnTo>
                    <a:pt x="120" y="311"/>
                  </a:lnTo>
                  <a:lnTo>
                    <a:pt x="126" y="311"/>
                  </a:lnTo>
                  <a:lnTo>
                    <a:pt x="132" y="311"/>
                  </a:lnTo>
                  <a:lnTo>
                    <a:pt x="132" y="317"/>
                  </a:lnTo>
                  <a:lnTo>
                    <a:pt x="132" y="311"/>
                  </a:lnTo>
                  <a:lnTo>
                    <a:pt x="138" y="317"/>
                  </a:lnTo>
                  <a:lnTo>
                    <a:pt x="138" y="311"/>
                  </a:lnTo>
                  <a:lnTo>
                    <a:pt x="138" y="317"/>
                  </a:lnTo>
                  <a:lnTo>
                    <a:pt x="144" y="311"/>
                  </a:lnTo>
                  <a:lnTo>
                    <a:pt x="144" y="317"/>
                  </a:lnTo>
                  <a:lnTo>
                    <a:pt x="150" y="311"/>
                  </a:lnTo>
                  <a:lnTo>
                    <a:pt x="156" y="311"/>
                  </a:lnTo>
                  <a:lnTo>
                    <a:pt x="156" y="317"/>
                  </a:lnTo>
                  <a:lnTo>
                    <a:pt x="162" y="317"/>
                  </a:lnTo>
                  <a:lnTo>
                    <a:pt x="162" y="311"/>
                  </a:lnTo>
                  <a:lnTo>
                    <a:pt x="162" y="317"/>
                  </a:lnTo>
                  <a:lnTo>
                    <a:pt x="168" y="311"/>
                  </a:lnTo>
                  <a:lnTo>
                    <a:pt x="174" y="317"/>
                  </a:lnTo>
                  <a:lnTo>
                    <a:pt x="174" y="311"/>
                  </a:lnTo>
                  <a:lnTo>
                    <a:pt x="179" y="311"/>
                  </a:lnTo>
                  <a:lnTo>
                    <a:pt x="179" y="317"/>
                  </a:lnTo>
                  <a:lnTo>
                    <a:pt x="185" y="311"/>
                  </a:lnTo>
                  <a:lnTo>
                    <a:pt x="185" y="317"/>
                  </a:lnTo>
                  <a:lnTo>
                    <a:pt x="191" y="311"/>
                  </a:lnTo>
                  <a:lnTo>
                    <a:pt x="191" y="317"/>
                  </a:lnTo>
                  <a:lnTo>
                    <a:pt x="191" y="311"/>
                  </a:lnTo>
                  <a:lnTo>
                    <a:pt x="197" y="311"/>
                  </a:lnTo>
                  <a:lnTo>
                    <a:pt x="197" y="317"/>
                  </a:lnTo>
                  <a:lnTo>
                    <a:pt x="197" y="311"/>
                  </a:lnTo>
                  <a:lnTo>
                    <a:pt x="203" y="317"/>
                  </a:lnTo>
                  <a:lnTo>
                    <a:pt x="203" y="311"/>
                  </a:lnTo>
                  <a:lnTo>
                    <a:pt x="209" y="311"/>
                  </a:lnTo>
                  <a:lnTo>
                    <a:pt x="209" y="317"/>
                  </a:lnTo>
                  <a:lnTo>
                    <a:pt x="209" y="311"/>
                  </a:lnTo>
                  <a:lnTo>
                    <a:pt x="215" y="311"/>
                  </a:lnTo>
                  <a:lnTo>
                    <a:pt x="221" y="317"/>
                  </a:lnTo>
                  <a:lnTo>
                    <a:pt x="221" y="311"/>
                  </a:lnTo>
                  <a:lnTo>
                    <a:pt x="221" y="305"/>
                  </a:lnTo>
                  <a:lnTo>
                    <a:pt x="227" y="311"/>
                  </a:lnTo>
                  <a:lnTo>
                    <a:pt x="233" y="317"/>
                  </a:lnTo>
                  <a:lnTo>
                    <a:pt x="239" y="311"/>
                  </a:lnTo>
                  <a:lnTo>
                    <a:pt x="239" y="317"/>
                  </a:lnTo>
                  <a:lnTo>
                    <a:pt x="245" y="311"/>
                  </a:lnTo>
                  <a:lnTo>
                    <a:pt x="245" y="305"/>
                  </a:lnTo>
                  <a:lnTo>
                    <a:pt x="245" y="311"/>
                  </a:lnTo>
                  <a:lnTo>
                    <a:pt x="251" y="317"/>
                  </a:lnTo>
                  <a:lnTo>
                    <a:pt x="251" y="311"/>
                  </a:lnTo>
                  <a:lnTo>
                    <a:pt x="257" y="317"/>
                  </a:lnTo>
                  <a:lnTo>
                    <a:pt x="257" y="311"/>
                  </a:lnTo>
                  <a:lnTo>
                    <a:pt x="263" y="311"/>
                  </a:lnTo>
                  <a:lnTo>
                    <a:pt x="263" y="317"/>
                  </a:lnTo>
                  <a:lnTo>
                    <a:pt x="269" y="317"/>
                  </a:lnTo>
                  <a:lnTo>
                    <a:pt x="275" y="311"/>
                  </a:lnTo>
                  <a:lnTo>
                    <a:pt x="281" y="317"/>
                  </a:lnTo>
                  <a:lnTo>
                    <a:pt x="281" y="311"/>
                  </a:lnTo>
                  <a:lnTo>
                    <a:pt x="281" y="317"/>
                  </a:lnTo>
                  <a:lnTo>
                    <a:pt x="281" y="311"/>
                  </a:lnTo>
                  <a:lnTo>
                    <a:pt x="287" y="311"/>
                  </a:lnTo>
                  <a:lnTo>
                    <a:pt x="287" y="317"/>
                  </a:lnTo>
                  <a:lnTo>
                    <a:pt x="293" y="317"/>
                  </a:lnTo>
                  <a:lnTo>
                    <a:pt x="293" y="311"/>
                  </a:lnTo>
                  <a:lnTo>
                    <a:pt x="299" y="311"/>
                  </a:lnTo>
                  <a:lnTo>
                    <a:pt x="299" y="317"/>
                  </a:lnTo>
                  <a:lnTo>
                    <a:pt x="299" y="311"/>
                  </a:lnTo>
                  <a:lnTo>
                    <a:pt x="305" y="317"/>
                  </a:lnTo>
                  <a:lnTo>
                    <a:pt x="305" y="311"/>
                  </a:lnTo>
                  <a:lnTo>
                    <a:pt x="311" y="311"/>
                  </a:lnTo>
                  <a:lnTo>
                    <a:pt x="311" y="317"/>
                  </a:lnTo>
                  <a:lnTo>
                    <a:pt x="317" y="311"/>
                  </a:lnTo>
                  <a:lnTo>
                    <a:pt x="323" y="317"/>
                  </a:lnTo>
                  <a:lnTo>
                    <a:pt x="323" y="311"/>
                  </a:lnTo>
                  <a:lnTo>
                    <a:pt x="329" y="311"/>
                  </a:lnTo>
                  <a:lnTo>
                    <a:pt x="335" y="317"/>
                  </a:lnTo>
                  <a:lnTo>
                    <a:pt x="341" y="311"/>
                  </a:lnTo>
                  <a:lnTo>
                    <a:pt x="347" y="311"/>
                  </a:lnTo>
                  <a:lnTo>
                    <a:pt x="347" y="317"/>
                  </a:lnTo>
                  <a:lnTo>
                    <a:pt x="353" y="311"/>
                  </a:lnTo>
                  <a:lnTo>
                    <a:pt x="353" y="317"/>
                  </a:lnTo>
                  <a:lnTo>
                    <a:pt x="359" y="317"/>
                  </a:lnTo>
                  <a:lnTo>
                    <a:pt x="359" y="305"/>
                  </a:lnTo>
                  <a:lnTo>
                    <a:pt x="359" y="317"/>
                  </a:lnTo>
                  <a:lnTo>
                    <a:pt x="365" y="305"/>
                  </a:lnTo>
                  <a:lnTo>
                    <a:pt x="365" y="311"/>
                  </a:lnTo>
                  <a:lnTo>
                    <a:pt x="365" y="317"/>
                  </a:lnTo>
                  <a:lnTo>
                    <a:pt x="371" y="305"/>
                  </a:lnTo>
                  <a:lnTo>
                    <a:pt x="371" y="311"/>
                  </a:lnTo>
                  <a:lnTo>
                    <a:pt x="377" y="311"/>
                  </a:lnTo>
                  <a:lnTo>
                    <a:pt x="377" y="317"/>
                  </a:lnTo>
                  <a:lnTo>
                    <a:pt x="383" y="311"/>
                  </a:lnTo>
                  <a:lnTo>
                    <a:pt x="389" y="317"/>
                  </a:lnTo>
                  <a:lnTo>
                    <a:pt x="389" y="311"/>
                  </a:lnTo>
                  <a:lnTo>
                    <a:pt x="389" y="317"/>
                  </a:lnTo>
                  <a:lnTo>
                    <a:pt x="395" y="311"/>
                  </a:lnTo>
                  <a:lnTo>
                    <a:pt x="401" y="311"/>
                  </a:lnTo>
                  <a:lnTo>
                    <a:pt x="407" y="317"/>
                  </a:lnTo>
                  <a:lnTo>
                    <a:pt x="407" y="311"/>
                  </a:lnTo>
                  <a:lnTo>
                    <a:pt x="407" y="317"/>
                  </a:lnTo>
                  <a:lnTo>
                    <a:pt x="413" y="311"/>
                  </a:lnTo>
                  <a:lnTo>
                    <a:pt x="413" y="317"/>
                  </a:lnTo>
                  <a:lnTo>
                    <a:pt x="419" y="311"/>
                  </a:lnTo>
                  <a:lnTo>
                    <a:pt x="425" y="311"/>
                  </a:lnTo>
                  <a:lnTo>
                    <a:pt x="425" y="317"/>
                  </a:lnTo>
                  <a:lnTo>
                    <a:pt x="425" y="305"/>
                  </a:lnTo>
                  <a:lnTo>
                    <a:pt x="431" y="317"/>
                  </a:lnTo>
                  <a:lnTo>
                    <a:pt x="431" y="311"/>
                  </a:lnTo>
                  <a:lnTo>
                    <a:pt x="437" y="311"/>
                  </a:lnTo>
                  <a:lnTo>
                    <a:pt x="437" y="305"/>
                  </a:lnTo>
                  <a:lnTo>
                    <a:pt x="437" y="317"/>
                  </a:lnTo>
                  <a:lnTo>
                    <a:pt x="443" y="311"/>
                  </a:lnTo>
                  <a:lnTo>
                    <a:pt x="443" y="317"/>
                  </a:lnTo>
                  <a:lnTo>
                    <a:pt x="449" y="317"/>
                  </a:lnTo>
                  <a:lnTo>
                    <a:pt x="449" y="311"/>
                  </a:lnTo>
                  <a:lnTo>
                    <a:pt x="455" y="311"/>
                  </a:lnTo>
                  <a:lnTo>
                    <a:pt x="461" y="311"/>
                  </a:lnTo>
                  <a:lnTo>
                    <a:pt x="461" y="317"/>
                  </a:lnTo>
                  <a:lnTo>
                    <a:pt x="461" y="311"/>
                  </a:lnTo>
                  <a:lnTo>
                    <a:pt x="467" y="311"/>
                  </a:lnTo>
                  <a:lnTo>
                    <a:pt x="473" y="311"/>
                  </a:lnTo>
                  <a:lnTo>
                    <a:pt x="479" y="311"/>
                  </a:lnTo>
                  <a:lnTo>
                    <a:pt x="479" y="317"/>
                  </a:lnTo>
                  <a:lnTo>
                    <a:pt x="485" y="311"/>
                  </a:lnTo>
                  <a:lnTo>
                    <a:pt x="491" y="311"/>
                  </a:lnTo>
                  <a:lnTo>
                    <a:pt x="491" y="317"/>
                  </a:lnTo>
                  <a:lnTo>
                    <a:pt x="497" y="311"/>
                  </a:lnTo>
                  <a:lnTo>
                    <a:pt x="497" y="317"/>
                  </a:lnTo>
                  <a:lnTo>
                    <a:pt x="497" y="311"/>
                  </a:lnTo>
                  <a:lnTo>
                    <a:pt x="503" y="311"/>
                  </a:lnTo>
                  <a:lnTo>
                    <a:pt x="509" y="305"/>
                  </a:lnTo>
                  <a:lnTo>
                    <a:pt x="509" y="317"/>
                  </a:lnTo>
                  <a:lnTo>
                    <a:pt x="509" y="311"/>
                  </a:lnTo>
                  <a:lnTo>
                    <a:pt x="515" y="311"/>
                  </a:lnTo>
                  <a:lnTo>
                    <a:pt x="515" y="317"/>
                  </a:lnTo>
                  <a:lnTo>
                    <a:pt x="515" y="311"/>
                  </a:lnTo>
                  <a:lnTo>
                    <a:pt x="521" y="311"/>
                  </a:lnTo>
                  <a:lnTo>
                    <a:pt x="521" y="317"/>
                  </a:lnTo>
                  <a:lnTo>
                    <a:pt x="521" y="305"/>
                  </a:lnTo>
                  <a:lnTo>
                    <a:pt x="527" y="311"/>
                  </a:lnTo>
                  <a:lnTo>
                    <a:pt x="533" y="317"/>
                  </a:lnTo>
                  <a:lnTo>
                    <a:pt x="533" y="311"/>
                  </a:lnTo>
                  <a:lnTo>
                    <a:pt x="539" y="311"/>
                  </a:lnTo>
                  <a:lnTo>
                    <a:pt x="539" y="317"/>
                  </a:lnTo>
                  <a:lnTo>
                    <a:pt x="539" y="311"/>
                  </a:lnTo>
                  <a:lnTo>
                    <a:pt x="545" y="317"/>
                  </a:lnTo>
                  <a:lnTo>
                    <a:pt x="545" y="311"/>
                  </a:lnTo>
                  <a:lnTo>
                    <a:pt x="545" y="317"/>
                  </a:lnTo>
                  <a:lnTo>
                    <a:pt x="545" y="311"/>
                  </a:lnTo>
                  <a:lnTo>
                    <a:pt x="551" y="317"/>
                  </a:lnTo>
                  <a:lnTo>
                    <a:pt x="551" y="311"/>
                  </a:lnTo>
                  <a:lnTo>
                    <a:pt x="557" y="317"/>
                  </a:lnTo>
                  <a:lnTo>
                    <a:pt x="557" y="311"/>
                  </a:lnTo>
                  <a:lnTo>
                    <a:pt x="563" y="311"/>
                  </a:lnTo>
                  <a:lnTo>
                    <a:pt x="563" y="317"/>
                  </a:lnTo>
                  <a:lnTo>
                    <a:pt x="563" y="311"/>
                  </a:lnTo>
                  <a:lnTo>
                    <a:pt x="569" y="311"/>
                  </a:lnTo>
                  <a:lnTo>
                    <a:pt x="569" y="317"/>
                  </a:lnTo>
                  <a:lnTo>
                    <a:pt x="575" y="317"/>
                  </a:lnTo>
                  <a:lnTo>
                    <a:pt x="575" y="311"/>
                  </a:lnTo>
                  <a:lnTo>
                    <a:pt x="581" y="317"/>
                  </a:lnTo>
                  <a:lnTo>
                    <a:pt x="581" y="311"/>
                  </a:lnTo>
                  <a:lnTo>
                    <a:pt x="587" y="317"/>
                  </a:lnTo>
                  <a:lnTo>
                    <a:pt x="587" y="311"/>
                  </a:lnTo>
                  <a:lnTo>
                    <a:pt x="593" y="311"/>
                  </a:lnTo>
                  <a:lnTo>
                    <a:pt x="593" y="317"/>
                  </a:lnTo>
                  <a:lnTo>
                    <a:pt x="593" y="311"/>
                  </a:lnTo>
                  <a:lnTo>
                    <a:pt x="599" y="311"/>
                  </a:lnTo>
                  <a:lnTo>
                    <a:pt x="605" y="311"/>
                  </a:lnTo>
                  <a:lnTo>
                    <a:pt x="605" y="317"/>
                  </a:lnTo>
                  <a:lnTo>
                    <a:pt x="605" y="311"/>
                  </a:lnTo>
                  <a:lnTo>
                    <a:pt x="611" y="311"/>
                  </a:lnTo>
                  <a:lnTo>
                    <a:pt x="611" y="317"/>
                  </a:lnTo>
                  <a:lnTo>
                    <a:pt x="611" y="311"/>
                  </a:lnTo>
                  <a:lnTo>
                    <a:pt x="617" y="311"/>
                  </a:lnTo>
                  <a:lnTo>
                    <a:pt x="623" y="311"/>
                  </a:lnTo>
                  <a:lnTo>
                    <a:pt x="629" y="317"/>
                  </a:lnTo>
                  <a:lnTo>
                    <a:pt x="629" y="311"/>
                  </a:lnTo>
                  <a:lnTo>
                    <a:pt x="635" y="317"/>
                  </a:lnTo>
                  <a:lnTo>
                    <a:pt x="635" y="311"/>
                  </a:lnTo>
                  <a:lnTo>
                    <a:pt x="635" y="305"/>
                  </a:lnTo>
                  <a:lnTo>
                    <a:pt x="641" y="311"/>
                  </a:lnTo>
                  <a:lnTo>
                    <a:pt x="646" y="311"/>
                  </a:lnTo>
                  <a:lnTo>
                    <a:pt x="652" y="311"/>
                  </a:lnTo>
                  <a:lnTo>
                    <a:pt x="652" y="317"/>
                  </a:lnTo>
                  <a:lnTo>
                    <a:pt x="652" y="311"/>
                  </a:lnTo>
                  <a:lnTo>
                    <a:pt x="658" y="311"/>
                  </a:lnTo>
                  <a:lnTo>
                    <a:pt x="658" y="305"/>
                  </a:lnTo>
                  <a:lnTo>
                    <a:pt x="664" y="311"/>
                  </a:lnTo>
                  <a:lnTo>
                    <a:pt x="670" y="311"/>
                  </a:lnTo>
                  <a:lnTo>
                    <a:pt x="670" y="305"/>
                  </a:lnTo>
                  <a:lnTo>
                    <a:pt x="676" y="305"/>
                  </a:lnTo>
                  <a:lnTo>
                    <a:pt x="682" y="305"/>
                  </a:lnTo>
                  <a:lnTo>
                    <a:pt x="682" y="299"/>
                  </a:lnTo>
                  <a:lnTo>
                    <a:pt x="682" y="293"/>
                  </a:lnTo>
                  <a:lnTo>
                    <a:pt x="688" y="281"/>
                  </a:lnTo>
                  <a:lnTo>
                    <a:pt x="688" y="269"/>
                  </a:lnTo>
                  <a:lnTo>
                    <a:pt x="688" y="233"/>
                  </a:lnTo>
                  <a:lnTo>
                    <a:pt x="694" y="0"/>
                  </a:lnTo>
                  <a:lnTo>
                    <a:pt x="694" y="156"/>
                  </a:lnTo>
                  <a:lnTo>
                    <a:pt x="694" y="257"/>
                  </a:lnTo>
                  <a:lnTo>
                    <a:pt x="700" y="275"/>
                  </a:lnTo>
                  <a:lnTo>
                    <a:pt x="700" y="287"/>
                  </a:lnTo>
                  <a:lnTo>
                    <a:pt x="700" y="299"/>
                  </a:lnTo>
                  <a:lnTo>
                    <a:pt x="700" y="287"/>
                  </a:lnTo>
                  <a:lnTo>
                    <a:pt x="706" y="305"/>
                  </a:lnTo>
                  <a:lnTo>
                    <a:pt x="712" y="305"/>
                  </a:lnTo>
                  <a:lnTo>
                    <a:pt x="712" y="311"/>
                  </a:lnTo>
                  <a:lnTo>
                    <a:pt x="718" y="311"/>
                  </a:lnTo>
                  <a:lnTo>
                    <a:pt x="718" y="305"/>
                  </a:lnTo>
                  <a:lnTo>
                    <a:pt x="724" y="311"/>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969770" name="Freeform 2090"/>
            <p:cNvSpPr>
              <a:spLocks/>
            </p:cNvSpPr>
            <p:nvPr/>
          </p:nvSpPr>
          <p:spPr bwMode="auto">
            <a:xfrm>
              <a:off x="1373" y="1371"/>
              <a:ext cx="660" cy="419"/>
            </a:xfrm>
            <a:custGeom>
              <a:avLst/>
              <a:gdLst/>
              <a:ahLst/>
              <a:cxnLst>
                <a:cxn ang="0">
                  <a:pos x="6" y="412"/>
                </a:cxn>
                <a:cxn ang="0">
                  <a:pos x="18" y="418"/>
                </a:cxn>
                <a:cxn ang="0">
                  <a:pos x="36" y="418"/>
                </a:cxn>
                <a:cxn ang="0">
                  <a:pos x="42" y="418"/>
                </a:cxn>
                <a:cxn ang="0">
                  <a:pos x="54" y="412"/>
                </a:cxn>
                <a:cxn ang="0">
                  <a:pos x="72" y="412"/>
                </a:cxn>
                <a:cxn ang="0">
                  <a:pos x="84" y="412"/>
                </a:cxn>
                <a:cxn ang="0">
                  <a:pos x="96" y="412"/>
                </a:cxn>
                <a:cxn ang="0">
                  <a:pos x="102" y="418"/>
                </a:cxn>
                <a:cxn ang="0">
                  <a:pos x="114" y="412"/>
                </a:cxn>
                <a:cxn ang="0">
                  <a:pos x="126" y="412"/>
                </a:cxn>
                <a:cxn ang="0">
                  <a:pos x="138" y="412"/>
                </a:cxn>
                <a:cxn ang="0">
                  <a:pos x="144" y="418"/>
                </a:cxn>
                <a:cxn ang="0">
                  <a:pos x="150" y="418"/>
                </a:cxn>
                <a:cxn ang="0">
                  <a:pos x="156" y="418"/>
                </a:cxn>
                <a:cxn ang="0">
                  <a:pos x="174" y="412"/>
                </a:cxn>
                <a:cxn ang="0">
                  <a:pos x="180" y="412"/>
                </a:cxn>
                <a:cxn ang="0">
                  <a:pos x="192" y="418"/>
                </a:cxn>
                <a:cxn ang="0">
                  <a:pos x="198" y="412"/>
                </a:cxn>
                <a:cxn ang="0">
                  <a:pos x="204" y="418"/>
                </a:cxn>
                <a:cxn ang="0">
                  <a:pos x="216" y="412"/>
                </a:cxn>
                <a:cxn ang="0">
                  <a:pos x="222" y="412"/>
                </a:cxn>
                <a:cxn ang="0">
                  <a:pos x="240" y="418"/>
                </a:cxn>
                <a:cxn ang="0">
                  <a:pos x="252" y="418"/>
                </a:cxn>
                <a:cxn ang="0">
                  <a:pos x="264" y="412"/>
                </a:cxn>
                <a:cxn ang="0">
                  <a:pos x="276" y="412"/>
                </a:cxn>
                <a:cxn ang="0">
                  <a:pos x="282" y="418"/>
                </a:cxn>
                <a:cxn ang="0">
                  <a:pos x="294" y="412"/>
                </a:cxn>
                <a:cxn ang="0">
                  <a:pos x="300" y="406"/>
                </a:cxn>
                <a:cxn ang="0">
                  <a:pos x="312" y="418"/>
                </a:cxn>
                <a:cxn ang="0">
                  <a:pos x="324" y="418"/>
                </a:cxn>
                <a:cxn ang="0">
                  <a:pos x="336" y="412"/>
                </a:cxn>
                <a:cxn ang="0">
                  <a:pos x="348" y="418"/>
                </a:cxn>
                <a:cxn ang="0">
                  <a:pos x="354" y="418"/>
                </a:cxn>
                <a:cxn ang="0">
                  <a:pos x="372" y="418"/>
                </a:cxn>
                <a:cxn ang="0">
                  <a:pos x="390" y="412"/>
                </a:cxn>
                <a:cxn ang="0">
                  <a:pos x="401" y="406"/>
                </a:cxn>
                <a:cxn ang="0">
                  <a:pos x="413" y="412"/>
                </a:cxn>
                <a:cxn ang="0">
                  <a:pos x="425" y="418"/>
                </a:cxn>
                <a:cxn ang="0">
                  <a:pos x="437" y="418"/>
                </a:cxn>
                <a:cxn ang="0">
                  <a:pos x="449" y="412"/>
                </a:cxn>
                <a:cxn ang="0">
                  <a:pos x="455" y="418"/>
                </a:cxn>
                <a:cxn ang="0">
                  <a:pos x="467" y="412"/>
                </a:cxn>
                <a:cxn ang="0">
                  <a:pos x="473" y="406"/>
                </a:cxn>
                <a:cxn ang="0">
                  <a:pos x="485" y="412"/>
                </a:cxn>
                <a:cxn ang="0">
                  <a:pos x="497" y="412"/>
                </a:cxn>
                <a:cxn ang="0">
                  <a:pos x="515" y="418"/>
                </a:cxn>
                <a:cxn ang="0">
                  <a:pos x="521" y="406"/>
                </a:cxn>
                <a:cxn ang="0">
                  <a:pos x="533" y="412"/>
                </a:cxn>
                <a:cxn ang="0">
                  <a:pos x="539" y="412"/>
                </a:cxn>
                <a:cxn ang="0">
                  <a:pos x="551" y="406"/>
                </a:cxn>
                <a:cxn ang="0">
                  <a:pos x="557" y="406"/>
                </a:cxn>
                <a:cxn ang="0">
                  <a:pos x="569" y="406"/>
                </a:cxn>
                <a:cxn ang="0">
                  <a:pos x="581" y="394"/>
                </a:cxn>
                <a:cxn ang="0">
                  <a:pos x="587" y="370"/>
                </a:cxn>
                <a:cxn ang="0">
                  <a:pos x="593" y="364"/>
                </a:cxn>
                <a:cxn ang="0">
                  <a:pos x="605" y="412"/>
                </a:cxn>
                <a:cxn ang="0">
                  <a:pos x="611" y="418"/>
                </a:cxn>
                <a:cxn ang="0">
                  <a:pos x="623" y="406"/>
                </a:cxn>
                <a:cxn ang="0">
                  <a:pos x="629" y="400"/>
                </a:cxn>
                <a:cxn ang="0">
                  <a:pos x="635" y="394"/>
                </a:cxn>
                <a:cxn ang="0">
                  <a:pos x="647" y="382"/>
                </a:cxn>
                <a:cxn ang="0">
                  <a:pos x="653" y="352"/>
                </a:cxn>
              </a:cxnLst>
              <a:rect l="0" t="0" r="r" b="b"/>
              <a:pathLst>
                <a:path w="660" h="419">
                  <a:moveTo>
                    <a:pt x="0" y="412"/>
                  </a:moveTo>
                  <a:lnTo>
                    <a:pt x="6" y="412"/>
                  </a:lnTo>
                  <a:lnTo>
                    <a:pt x="6" y="406"/>
                  </a:lnTo>
                  <a:lnTo>
                    <a:pt x="6" y="412"/>
                  </a:lnTo>
                  <a:lnTo>
                    <a:pt x="12" y="412"/>
                  </a:lnTo>
                  <a:lnTo>
                    <a:pt x="18" y="418"/>
                  </a:lnTo>
                  <a:lnTo>
                    <a:pt x="18" y="412"/>
                  </a:lnTo>
                  <a:lnTo>
                    <a:pt x="18" y="418"/>
                  </a:lnTo>
                  <a:lnTo>
                    <a:pt x="24" y="412"/>
                  </a:lnTo>
                  <a:lnTo>
                    <a:pt x="30" y="412"/>
                  </a:lnTo>
                  <a:lnTo>
                    <a:pt x="36" y="412"/>
                  </a:lnTo>
                  <a:lnTo>
                    <a:pt x="36" y="418"/>
                  </a:lnTo>
                  <a:lnTo>
                    <a:pt x="36" y="412"/>
                  </a:lnTo>
                  <a:lnTo>
                    <a:pt x="42" y="418"/>
                  </a:lnTo>
                  <a:lnTo>
                    <a:pt x="42" y="412"/>
                  </a:lnTo>
                  <a:lnTo>
                    <a:pt x="42" y="418"/>
                  </a:lnTo>
                  <a:lnTo>
                    <a:pt x="48" y="412"/>
                  </a:lnTo>
                  <a:lnTo>
                    <a:pt x="48" y="418"/>
                  </a:lnTo>
                  <a:lnTo>
                    <a:pt x="54" y="418"/>
                  </a:lnTo>
                  <a:lnTo>
                    <a:pt x="54" y="412"/>
                  </a:lnTo>
                  <a:lnTo>
                    <a:pt x="60" y="418"/>
                  </a:lnTo>
                  <a:lnTo>
                    <a:pt x="66" y="412"/>
                  </a:lnTo>
                  <a:lnTo>
                    <a:pt x="72" y="418"/>
                  </a:lnTo>
                  <a:lnTo>
                    <a:pt x="72" y="412"/>
                  </a:lnTo>
                  <a:lnTo>
                    <a:pt x="78" y="412"/>
                  </a:lnTo>
                  <a:lnTo>
                    <a:pt x="84" y="412"/>
                  </a:lnTo>
                  <a:lnTo>
                    <a:pt x="84" y="418"/>
                  </a:lnTo>
                  <a:lnTo>
                    <a:pt x="84" y="412"/>
                  </a:lnTo>
                  <a:lnTo>
                    <a:pt x="90" y="418"/>
                  </a:lnTo>
                  <a:lnTo>
                    <a:pt x="90" y="412"/>
                  </a:lnTo>
                  <a:lnTo>
                    <a:pt x="90" y="418"/>
                  </a:lnTo>
                  <a:lnTo>
                    <a:pt x="96" y="412"/>
                  </a:lnTo>
                  <a:lnTo>
                    <a:pt x="96" y="418"/>
                  </a:lnTo>
                  <a:lnTo>
                    <a:pt x="96" y="406"/>
                  </a:lnTo>
                  <a:lnTo>
                    <a:pt x="102" y="412"/>
                  </a:lnTo>
                  <a:lnTo>
                    <a:pt x="102" y="418"/>
                  </a:lnTo>
                  <a:lnTo>
                    <a:pt x="108" y="418"/>
                  </a:lnTo>
                  <a:lnTo>
                    <a:pt x="108" y="412"/>
                  </a:lnTo>
                  <a:lnTo>
                    <a:pt x="114" y="418"/>
                  </a:lnTo>
                  <a:lnTo>
                    <a:pt x="114" y="412"/>
                  </a:lnTo>
                  <a:lnTo>
                    <a:pt x="120" y="418"/>
                  </a:lnTo>
                  <a:lnTo>
                    <a:pt x="126" y="412"/>
                  </a:lnTo>
                  <a:lnTo>
                    <a:pt x="126" y="418"/>
                  </a:lnTo>
                  <a:lnTo>
                    <a:pt x="126" y="412"/>
                  </a:lnTo>
                  <a:lnTo>
                    <a:pt x="126" y="418"/>
                  </a:lnTo>
                  <a:lnTo>
                    <a:pt x="132" y="412"/>
                  </a:lnTo>
                  <a:lnTo>
                    <a:pt x="132" y="418"/>
                  </a:lnTo>
                  <a:lnTo>
                    <a:pt x="138" y="412"/>
                  </a:lnTo>
                  <a:lnTo>
                    <a:pt x="138" y="418"/>
                  </a:lnTo>
                  <a:lnTo>
                    <a:pt x="138" y="412"/>
                  </a:lnTo>
                  <a:lnTo>
                    <a:pt x="144" y="412"/>
                  </a:lnTo>
                  <a:lnTo>
                    <a:pt x="144" y="418"/>
                  </a:lnTo>
                  <a:lnTo>
                    <a:pt x="144" y="412"/>
                  </a:lnTo>
                  <a:lnTo>
                    <a:pt x="144" y="418"/>
                  </a:lnTo>
                  <a:lnTo>
                    <a:pt x="150" y="412"/>
                  </a:lnTo>
                  <a:lnTo>
                    <a:pt x="150" y="418"/>
                  </a:lnTo>
                  <a:lnTo>
                    <a:pt x="150" y="412"/>
                  </a:lnTo>
                  <a:lnTo>
                    <a:pt x="156" y="418"/>
                  </a:lnTo>
                  <a:lnTo>
                    <a:pt x="156" y="412"/>
                  </a:lnTo>
                  <a:lnTo>
                    <a:pt x="156" y="418"/>
                  </a:lnTo>
                  <a:lnTo>
                    <a:pt x="162" y="412"/>
                  </a:lnTo>
                  <a:lnTo>
                    <a:pt x="168" y="418"/>
                  </a:lnTo>
                  <a:lnTo>
                    <a:pt x="168" y="412"/>
                  </a:lnTo>
                  <a:lnTo>
                    <a:pt x="174" y="412"/>
                  </a:lnTo>
                  <a:lnTo>
                    <a:pt x="174" y="418"/>
                  </a:lnTo>
                  <a:lnTo>
                    <a:pt x="174" y="406"/>
                  </a:lnTo>
                  <a:lnTo>
                    <a:pt x="174" y="412"/>
                  </a:lnTo>
                  <a:lnTo>
                    <a:pt x="180" y="412"/>
                  </a:lnTo>
                  <a:lnTo>
                    <a:pt x="186" y="412"/>
                  </a:lnTo>
                  <a:lnTo>
                    <a:pt x="186" y="406"/>
                  </a:lnTo>
                  <a:lnTo>
                    <a:pt x="186" y="418"/>
                  </a:lnTo>
                  <a:lnTo>
                    <a:pt x="192" y="418"/>
                  </a:lnTo>
                  <a:lnTo>
                    <a:pt x="192" y="412"/>
                  </a:lnTo>
                  <a:lnTo>
                    <a:pt x="192" y="418"/>
                  </a:lnTo>
                  <a:lnTo>
                    <a:pt x="192" y="412"/>
                  </a:lnTo>
                  <a:lnTo>
                    <a:pt x="198" y="412"/>
                  </a:lnTo>
                  <a:lnTo>
                    <a:pt x="198" y="418"/>
                  </a:lnTo>
                  <a:lnTo>
                    <a:pt x="198" y="412"/>
                  </a:lnTo>
                  <a:lnTo>
                    <a:pt x="204" y="412"/>
                  </a:lnTo>
                  <a:lnTo>
                    <a:pt x="204" y="418"/>
                  </a:lnTo>
                  <a:lnTo>
                    <a:pt x="204" y="412"/>
                  </a:lnTo>
                  <a:lnTo>
                    <a:pt x="204" y="418"/>
                  </a:lnTo>
                  <a:lnTo>
                    <a:pt x="210" y="412"/>
                  </a:lnTo>
                  <a:lnTo>
                    <a:pt x="216" y="412"/>
                  </a:lnTo>
                  <a:lnTo>
                    <a:pt x="216" y="418"/>
                  </a:lnTo>
                  <a:lnTo>
                    <a:pt x="222" y="412"/>
                  </a:lnTo>
                  <a:lnTo>
                    <a:pt x="222" y="406"/>
                  </a:lnTo>
                  <a:lnTo>
                    <a:pt x="222" y="412"/>
                  </a:lnTo>
                  <a:lnTo>
                    <a:pt x="228" y="412"/>
                  </a:lnTo>
                  <a:lnTo>
                    <a:pt x="234" y="418"/>
                  </a:lnTo>
                  <a:lnTo>
                    <a:pt x="234" y="412"/>
                  </a:lnTo>
                  <a:lnTo>
                    <a:pt x="240" y="418"/>
                  </a:lnTo>
                  <a:lnTo>
                    <a:pt x="240" y="406"/>
                  </a:lnTo>
                  <a:lnTo>
                    <a:pt x="246" y="412"/>
                  </a:lnTo>
                  <a:lnTo>
                    <a:pt x="252" y="412"/>
                  </a:lnTo>
                  <a:lnTo>
                    <a:pt x="252" y="418"/>
                  </a:lnTo>
                  <a:lnTo>
                    <a:pt x="252" y="412"/>
                  </a:lnTo>
                  <a:lnTo>
                    <a:pt x="258" y="412"/>
                  </a:lnTo>
                  <a:lnTo>
                    <a:pt x="264" y="418"/>
                  </a:lnTo>
                  <a:lnTo>
                    <a:pt x="264" y="412"/>
                  </a:lnTo>
                  <a:lnTo>
                    <a:pt x="264" y="418"/>
                  </a:lnTo>
                  <a:lnTo>
                    <a:pt x="270" y="412"/>
                  </a:lnTo>
                  <a:lnTo>
                    <a:pt x="270" y="418"/>
                  </a:lnTo>
                  <a:lnTo>
                    <a:pt x="276" y="412"/>
                  </a:lnTo>
                  <a:lnTo>
                    <a:pt x="282" y="412"/>
                  </a:lnTo>
                  <a:lnTo>
                    <a:pt x="282" y="418"/>
                  </a:lnTo>
                  <a:lnTo>
                    <a:pt x="282" y="412"/>
                  </a:lnTo>
                  <a:lnTo>
                    <a:pt x="282" y="418"/>
                  </a:lnTo>
                  <a:lnTo>
                    <a:pt x="288" y="412"/>
                  </a:lnTo>
                  <a:lnTo>
                    <a:pt x="288" y="418"/>
                  </a:lnTo>
                  <a:lnTo>
                    <a:pt x="288" y="412"/>
                  </a:lnTo>
                  <a:lnTo>
                    <a:pt x="294" y="412"/>
                  </a:lnTo>
                  <a:lnTo>
                    <a:pt x="294" y="406"/>
                  </a:lnTo>
                  <a:lnTo>
                    <a:pt x="294" y="412"/>
                  </a:lnTo>
                  <a:lnTo>
                    <a:pt x="300" y="412"/>
                  </a:lnTo>
                  <a:lnTo>
                    <a:pt x="300" y="406"/>
                  </a:lnTo>
                  <a:lnTo>
                    <a:pt x="300" y="412"/>
                  </a:lnTo>
                  <a:lnTo>
                    <a:pt x="306" y="418"/>
                  </a:lnTo>
                  <a:lnTo>
                    <a:pt x="312" y="412"/>
                  </a:lnTo>
                  <a:lnTo>
                    <a:pt x="312" y="418"/>
                  </a:lnTo>
                  <a:lnTo>
                    <a:pt x="312" y="412"/>
                  </a:lnTo>
                  <a:lnTo>
                    <a:pt x="318" y="412"/>
                  </a:lnTo>
                  <a:lnTo>
                    <a:pt x="324" y="412"/>
                  </a:lnTo>
                  <a:lnTo>
                    <a:pt x="324" y="418"/>
                  </a:lnTo>
                  <a:lnTo>
                    <a:pt x="324" y="412"/>
                  </a:lnTo>
                  <a:lnTo>
                    <a:pt x="330" y="418"/>
                  </a:lnTo>
                  <a:lnTo>
                    <a:pt x="330" y="412"/>
                  </a:lnTo>
                  <a:lnTo>
                    <a:pt x="336" y="412"/>
                  </a:lnTo>
                  <a:lnTo>
                    <a:pt x="342" y="412"/>
                  </a:lnTo>
                  <a:lnTo>
                    <a:pt x="342" y="418"/>
                  </a:lnTo>
                  <a:lnTo>
                    <a:pt x="342" y="412"/>
                  </a:lnTo>
                  <a:lnTo>
                    <a:pt x="348" y="418"/>
                  </a:lnTo>
                  <a:lnTo>
                    <a:pt x="348" y="412"/>
                  </a:lnTo>
                  <a:lnTo>
                    <a:pt x="348" y="418"/>
                  </a:lnTo>
                  <a:lnTo>
                    <a:pt x="354" y="412"/>
                  </a:lnTo>
                  <a:lnTo>
                    <a:pt x="354" y="418"/>
                  </a:lnTo>
                  <a:lnTo>
                    <a:pt x="360" y="412"/>
                  </a:lnTo>
                  <a:lnTo>
                    <a:pt x="366" y="412"/>
                  </a:lnTo>
                  <a:lnTo>
                    <a:pt x="372" y="412"/>
                  </a:lnTo>
                  <a:lnTo>
                    <a:pt x="372" y="418"/>
                  </a:lnTo>
                  <a:lnTo>
                    <a:pt x="372" y="412"/>
                  </a:lnTo>
                  <a:lnTo>
                    <a:pt x="378" y="412"/>
                  </a:lnTo>
                  <a:lnTo>
                    <a:pt x="384" y="412"/>
                  </a:lnTo>
                  <a:lnTo>
                    <a:pt x="390" y="412"/>
                  </a:lnTo>
                  <a:lnTo>
                    <a:pt x="395" y="412"/>
                  </a:lnTo>
                  <a:lnTo>
                    <a:pt x="395" y="418"/>
                  </a:lnTo>
                  <a:lnTo>
                    <a:pt x="401" y="412"/>
                  </a:lnTo>
                  <a:lnTo>
                    <a:pt x="401" y="406"/>
                  </a:lnTo>
                  <a:lnTo>
                    <a:pt x="401" y="412"/>
                  </a:lnTo>
                  <a:lnTo>
                    <a:pt x="407" y="412"/>
                  </a:lnTo>
                  <a:lnTo>
                    <a:pt x="407" y="418"/>
                  </a:lnTo>
                  <a:lnTo>
                    <a:pt x="413" y="412"/>
                  </a:lnTo>
                  <a:lnTo>
                    <a:pt x="419" y="418"/>
                  </a:lnTo>
                  <a:lnTo>
                    <a:pt x="419" y="412"/>
                  </a:lnTo>
                  <a:lnTo>
                    <a:pt x="425" y="412"/>
                  </a:lnTo>
                  <a:lnTo>
                    <a:pt x="425" y="418"/>
                  </a:lnTo>
                  <a:lnTo>
                    <a:pt x="431" y="412"/>
                  </a:lnTo>
                  <a:lnTo>
                    <a:pt x="431" y="418"/>
                  </a:lnTo>
                  <a:lnTo>
                    <a:pt x="431" y="412"/>
                  </a:lnTo>
                  <a:lnTo>
                    <a:pt x="437" y="418"/>
                  </a:lnTo>
                  <a:lnTo>
                    <a:pt x="437" y="412"/>
                  </a:lnTo>
                  <a:lnTo>
                    <a:pt x="443" y="418"/>
                  </a:lnTo>
                  <a:lnTo>
                    <a:pt x="443" y="412"/>
                  </a:lnTo>
                  <a:lnTo>
                    <a:pt x="449" y="412"/>
                  </a:lnTo>
                  <a:lnTo>
                    <a:pt x="449" y="418"/>
                  </a:lnTo>
                  <a:lnTo>
                    <a:pt x="449" y="412"/>
                  </a:lnTo>
                  <a:lnTo>
                    <a:pt x="455" y="412"/>
                  </a:lnTo>
                  <a:lnTo>
                    <a:pt x="455" y="418"/>
                  </a:lnTo>
                  <a:lnTo>
                    <a:pt x="455" y="412"/>
                  </a:lnTo>
                  <a:lnTo>
                    <a:pt x="461" y="412"/>
                  </a:lnTo>
                  <a:lnTo>
                    <a:pt x="461" y="418"/>
                  </a:lnTo>
                  <a:lnTo>
                    <a:pt x="467" y="412"/>
                  </a:lnTo>
                  <a:lnTo>
                    <a:pt x="467" y="418"/>
                  </a:lnTo>
                  <a:lnTo>
                    <a:pt x="467" y="412"/>
                  </a:lnTo>
                  <a:lnTo>
                    <a:pt x="473" y="412"/>
                  </a:lnTo>
                  <a:lnTo>
                    <a:pt x="473" y="406"/>
                  </a:lnTo>
                  <a:lnTo>
                    <a:pt x="473" y="412"/>
                  </a:lnTo>
                  <a:lnTo>
                    <a:pt x="479" y="412"/>
                  </a:lnTo>
                  <a:lnTo>
                    <a:pt x="485" y="418"/>
                  </a:lnTo>
                  <a:lnTo>
                    <a:pt x="485" y="412"/>
                  </a:lnTo>
                  <a:lnTo>
                    <a:pt x="491" y="412"/>
                  </a:lnTo>
                  <a:lnTo>
                    <a:pt x="491" y="418"/>
                  </a:lnTo>
                  <a:lnTo>
                    <a:pt x="491" y="406"/>
                  </a:lnTo>
                  <a:lnTo>
                    <a:pt x="497" y="412"/>
                  </a:lnTo>
                  <a:lnTo>
                    <a:pt x="503" y="412"/>
                  </a:lnTo>
                  <a:lnTo>
                    <a:pt x="509" y="412"/>
                  </a:lnTo>
                  <a:lnTo>
                    <a:pt x="515" y="412"/>
                  </a:lnTo>
                  <a:lnTo>
                    <a:pt x="515" y="418"/>
                  </a:lnTo>
                  <a:lnTo>
                    <a:pt x="515" y="412"/>
                  </a:lnTo>
                  <a:lnTo>
                    <a:pt x="521" y="412"/>
                  </a:lnTo>
                  <a:lnTo>
                    <a:pt x="521" y="418"/>
                  </a:lnTo>
                  <a:lnTo>
                    <a:pt x="521" y="406"/>
                  </a:lnTo>
                  <a:lnTo>
                    <a:pt x="527" y="412"/>
                  </a:lnTo>
                  <a:lnTo>
                    <a:pt x="527" y="406"/>
                  </a:lnTo>
                  <a:lnTo>
                    <a:pt x="527" y="412"/>
                  </a:lnTo>
                  <a:lnTo>
                    <a:pt x="533" y="412"/>
                  </a:lnTo>
                  <a:lnTo>
                    <a:pt x="533" y="418"/>
                  </a:lnTo>
                  <a:lnTo>
                    <a:pt x="533" y="406"/>
                  </a:lnTo>
                  <a:lnTo>
                    <a:pt x="539" y="406"/>
                  </a:lnTo>
                  <a:lnTo>
                    <a:pt x="539" y="412"/>
                  </a:lnTo>
                  <a:lnTo>
                    <a:pt x="545" y="412"/>
                  </a:lnTo>
                  <a:lnTo>
                    <a:pt x="545" y="406"/>
                  </a:lnTo>
                  <a:lnTo>
                    <a:pt x="551" y="412"/>
                  </a:lnTo>
                  <a:lnTo>
                    <a:pt x="551" y="406"/>
                  </a:lnTo>
                  <a:lnTo>
                    <a:pt x="557" y="406"/>
                  </a:lnTo>
                  <a:lnTo>
                    <a:pt x="557" y="412"/>
                  </a:lnTo>
                  <a:lnTo>
                    <a:pt x="557" y="400"/>
                  </a:lnTo>
                  <a:lnTo>
                    <a:pt x="557" y="406"/>
                  </a:lnTo>
                  <a:lnTo>
                    <a:pt x="563" y="400"/>
                  </a:lnTo>
                  <a:lnTo>
                    <a:pt x="563" y="412"/>
                  </a:lnTo>
                  <a:lnTo>
                    <a:pt x="563" y="406"/>
                  </a:lnTo>
                  <a:lnTo>
                    <a:pt x="569" y="406"/>
                  </a:lnTo>
                  <a:lnTo>
                    <a:pt x="569" y="394"/>
                  </a:lnTo>
                  <a:lnTo>
                    <a:pt x="575" y="406"/>
                  </a:lnTo>
                  <a:lnTo>
                    <a:pt x="575" y="400"/>
                  </a:lnTo>
                  <a:lnTo>
                    <a:pt x="581" y="394"/>
                  </a:lnTo>
                  <a:lnTo>
                    <a:pt x="581" y="400"/>
                  </a:lnTo>
                  <a:lnTo>
                    <a:pt x="587" y="394"/>
                  </a:lnTo>
                  <a:lnTo>
                    <a:pt x="587" y="382"/>
                  </a:lnTo>
                  <a:lnTo>
                    <a:pt x="587" y="370"/>
                  </a:lnTo>
                  <a:lnTo>
                    <a:pt x="587" y="352"/>
                  </a:lnTo>
                  <a:lnTo>
                    <a:pt x="593" y="209"/>
                  </a:lnTo>
                  <a:lnTo>
                    <a:pt x="593" y="269"/>
                  </a:lnTo>
                  <a:lnTo>
                    <a:pt x="593" y="364"/>
                  </a:lnTo>
                  <a:lnTo>
                    <a:pt x="599" y="394"/>
                  </a:lnTo>
                  <a:lnTo>
                    <a:pt x="599" y="406"/>
                  </a:lnTo>
                  <a:lnTo>
                    <a:pt x="605" y="406"/>
                  </a:lnTo>
                  <a:lnTo>
                    <a:pt x="605" y="412"/>
                  </a:lnTo>
                  <a:lnTo>
                    <a:pt x="605" y="406"/>
                  </a:lnTo>
                  <a:lnTo>
                    <a:pt x="605" y="412"/>
                  </a:lnTo>
                  <a:lnTo>
                    <a:pt x="611" y="412"/>
                  </a:lnTo>
                  <a:lnTo>
                    <a:pt x="611" y="418"/>
                  </a:lnTo>
                  <a:lnTo>
                    <a:pt x="617" y="406"/>
                  </a:lnTo>
                  <a:lnTo>
                    <a:pt x="617" y="412"/>
                  </a:lnTo>
                  <a:lnTo>
                    <a:pt x="623" y="412"/>
                  </a:lnTo>
                  <a:lnTo>
                    <a:pt x="623" y="406"/>
                  </a:lnTo>
                  <a:lnTo>
                    <a:pt x="623" y="394"/>
                  </a:lnTo>
                  <a:lnTo>
                    <a:pt x="629" y="0"/>
                  </a:lnTo>
                  <a:lnTo>
                    <a:pt x="629" y="388"/>
                  </a:lnTo>
                  <a:lnTo>
                    <a:pt x="629" y="400"/>
                  </a:lnTo>
                  <a:lnTo>
                    <a:pt x="635" y="400"/>
                  </a:lnTo>
                  <a:lnTo>
                    <a:pt x="635" y="406"/>
                  </a:lnTo>
                  <a:lnTo>
                    <a:pt x="635" y="400"/>
                  </a:lnTo>
                  <a:lnTo>
                    <a:pt x="635" y="394"/>
                  </a:lnTo>
                  <a:lnTo>
                    <a:pt x="641" y="400"/>
                  </a:lnTo>
                  <a:lnTo>
                    <a:pt x="641" y="394"/>
                  </a:lnTo>
                  <a:lnTo>
                    <a:pt x="647" y="394"/>
                  </a:lnTo>
                  <a:lnTo>
                    <a:pt x="647" y="382"/>
                  </a:lnTo>
                  <a:lnTo>
                    <a:pt x="653" y="382"/>
                  </a:lnTo>
                  <a:lnTo>
                    <a:pt x="653" y="376"/>
                  </a:lnTo>
                  <a:lnTo>
                    <a:pt x="653" y="370"/>
                  </a:lnTo>
                  <a:lnTo>
                    <a:pt x="653" y="352"/>
                  </a:lnTo>
                  <a:lnTo>
                    <a:pt x="659" y="328"/>
                  </a:lnTo>
                  <a:lnTo>
                    <a:pt x="659" y="269"/>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969771" name="Freeform 2091"/>
            <p:cNvSpPr>
              <a:spLocks/>
            </p:cNvSpPr>
            <p:nvPr/>
          </p:nvSpPr>
          <p:spPr bwMode="auto">
            <a:xfrm>
              <a:off x="2032" y="1084"/>
              <a:ext cx="701" cy="706"/>
            </a:xfrm>
            <a:custGeom>
              <a:avLst/>
              <a:gdLst/>
              <a:ahLst/>
              <a:cxnLst>
                <a:cxn ang="0">
                  <a:pos x="6" y="538"/>
                </a:cxn>
                <a:cxn ang="0">
                  <a:pos x="12" y="663"/>
                </a:cxn>
                <a:cxn ang="0">
                  <a:pos x="24" y="687"/>
                </a:cxn>
                <a:cxn ang="0">
                  <a:pos x="30" y="675"/>
                </a:cxn>
                <a:cxn ang="0">
                  <a:pos x="36" y="155"/>
                </a:cxn>
                <a:cxn ang="0">
                  <a:pos x="42" y="657"/>
                </a:cxn>
                <a:cxn ang="0">
                  <a:pos x="54" y="675"/>
                </a:cxn>
                <a:cxn ang="0">
                  <a:pos x="66" y="681"/>
                </a:cxn>
                <a:cxn ang="0">
                  <a:pos x="78" y="681"/>
                </a:cxn>
                <a:cxn ang="0">
                  <a:pos x="84" y="687"/>
                </a:cxn>
                <a:cxn ang="0">
                  <a:pos x="96" y="687"/>
                </a:cxn>
                <a:cxn ang="0">
                  <a:pos x="108" y="705"/>
                </a:cxn>
                <a:cxn ang="0">
                  <a:pos x="114" y="699"/>
                </a:cxn>
                <a:cxn ang="0">
                  <a:pos x="126" y="705"/>
                </a:cxn>
                <a:cxn ang="0">
                  <a:pos x="138" y="699"/>
                </a:cxn>
                <a:cxn ang="0">
                  <a:pos x="144" y="705"/>
                </a:cxn>
                <a:cxn ang="0">
                  <a:pos x="162" y="699"/>
                </a:cxn>
                <a:cxn ang="0">
                  <a:pos x="180" y="699"/>
                </a:cxn>
                <a:cxn ang="0">
                  <a:pos x="198" y="699"/>
                </a:cxn>
                <a:cxn ang="0">
                  <a:pos x="204" y="705"/>
                </a:cxn>
                <a:cxn ang="0">
                  <a:pos x="209" y="705"/>
                </a:cxn>
                <a:cxn ang="0">
                  <a:pos x="221" y="699"/>
                </a:cxn>
                <a:cxn ang="0">
                  <a:pos x="227" y="699"/>
                </a:cxn>
                <a:cxn ang="0">
                  <a:pos x="239" y="705"/>
                </a:cxn>
                <a:cxn ang="0">
                  <a:pos x="251" y="699"/>
                </a:cxn>
                <a:cxn ang="0">
                  <a:pos x="263" y="705"/>
                </a:cxn>
                <a:cxn ang="0">
                  <a:pos x="275" y="705"/>
                </a:cxn>
                <a:cxn ang="0">
                  <a:pos x="287" y="699"/>
                </a:cxn>
                <a:cxn ang="0">
                  <a:pos x="299" y="705"/>
                </a:cxn>
                <a:cxn ang="0">
                  <a:pos x="311" y="705"/>
                </a:cxn>
                <a:cxn ang="0">
                  <a:pos x="329" y="699"/>
                </a:cxn>
                <a:cxn ang="0">
                  <a:pos x="335" y="699"/>
                </a:cxn>
                <a:cxn ang="0">
                  <a:pos x="341" y="699"/>
                </a:cxn>
                <a:cxn ang="0">
                  <a:pos x="359" y="699"/>
                </a:cxn>
                <a:cxn ang="0">
                  <a:pos x="371" y="705"/>
                </a:cxn>
                <a:cxn ang="0">
                  <a:pos x="383" y="699"/>
                </a:cxn>
                <a:cxn ang="0">
                  <a:pos x="401" y="699"/>
                </a:cxn>
                <a:cxn ang="0">
                  <a:pos x="413" y="699"/>
                </a:cxn>
                <a:cxn ang="0">
                  <a:pos x="419" y="699"/>
                </a:cxn>
                <a:cxn ang="0">
                  <a:pos x="431" y="699"/>
                </a:cxn>
                <a:cxn ang="0">
                  <a:pos x="443" y="705"/>
                </a:cxn>
                <a:cxn ang="0">
                  <a:pos x="455" y="699"/>
                </a:cxn>
                <a:cxn ang="0">
                  <a:pos x="473" y="699"/>
                </a:cxn>
                <a:cxn ang="0">
                  <a:pos x="485" y="699"/>
                </a:cxn>
                <a:cxn ang="0">
                  <a:pos x="503" y="705"/>
                </a:cxn>
                <a:cxn ang="0">
                  <a:pos x="515" y="699"/>
                </a:cxn>
                <a:cxn ang="0">
                  <a:pos x="527" y="699"/>
                </a:cxn>
                <a:cxn ang="0">
                  <a:pos x="539" y="699"/>
                </a:cxn>
                <a:cxn ang="0">
                  <a:pos x="545" y="699"/>
                </a:cxn>
                <a:cxn ang="0">
                  <a:pos x="557" y="705"/>
                </a:cxn>
                <a:cxn ang="0">
                  <a:pos x="563" y="699"/>
                </a:cxn>
                <a:cxn ang="0">
                  <a:pos x="575" y="699"/>
                </a:cxn>
                <a:cxn ang="0">
                  <a:pos x="587" y="699"/>
                </a:cxn>
                <a:cxn ang="0">
                  <a:pos x="599" y="693"/>
                </a:cxn>
                <a:cxn ang="0">
                  <a:pos x="611" y="699"/>
                </a:cxn>
                <a:cxn ang="0">
                  <a:pos x="623" y="705"/>
                </a:cxn>
                <a:cxn ang="0">
                  <a:pos x="629" y="705"/>
                </a:cxn>
                <a:cxn ang="0">
                  <a:pos x="641" y="705"/>
                </a:cxn>
                <a:cxn ang="0">
                  <a:pos x="653" y="699"/>
                </a:cxn>
                <a:cxn ang="0">
                  <a:pos x="659" y="705"/>
                </a:cxn>
                <a:cxn ang="0">
                  <a:pos x="671" y="705"/>
                </a:cxn>
                <a:cxn ang="0">
                  <a:pos x="682" y="699"/>
                </a:cxn>
                <a:cxn ang="0">
                  <a:pos x="694" y="705"/>
                </a:cxn>
              </a:cxnLst>
              <a:rect l="0" t="0" r="r" b="b"/>
              <a:pathLst>
                <a:path w="701" h="706">
                  <a:moveTo>
                    <a:pt x="0" y="556"/>
                  </a:moveTo>
                  <a:lnTo>
                    <a:pt x="0" y="364"/>
                  </a:lnTo>
                  <a:lnTo>
                    <a:pt x="6" y="0"/>
                  </a:lnTo>
                  <a:lnTo>
                    <a:pt x="6" y="538"/>
                  </a:lnTo>
                  <a:lnTo>
                    <a:pt x="6" y="609"/>
                  </a:lnTo>
                  <a:lnTo>
                    <a:pt x="6" y="633"/>
                  </a:lnTo>
                  <a:lnTo>
                    <a:pt x="12" y="657"/>
                  </a:lnTo>
                  <a:lnTo>
                    <a:pt x="12" y="663"/>
                  </a:lnTo>
                  <a:lnTo>
                    <a:pt x="12" y="675"/>
                  </a:lnTo>
                  <a:lnTo>
                    <a:pt x="18" y="675"/>
                  </a:lnTo>
                  <a:lnTo>
                    <a:pt x="18" y="681"/>
                  </a:lnTo>
                  <a:lnTo>
                    <a:pt x="24" y="687"/>
                  </a:lnTo>
                  <a:lnTo>
                    <a:pt x="24" y="681"/>
                  </a:lnTo>
                  <a:lnTo>
                    <a:pt x="24" y="687"/>
                  </a:lnTo>
                  <a:lnTo>
                    <a:pt x="30" y="681"/>
                  </a:lnTo>
                  <a:lnTo>
                    <a:pt x="30" y="675"/>
                  </a:lnTo>
                  <a:lnTo>
                    <a:pt x="30" y="657"/>
                  </a:lnTo>
                  <a:lnTo>
                    <a:pt x="36" y="639"/>
                  </a:lnTo>
                  <a:lnTo>
                    <a:pt x="36" y="591"/>
                  </a:lnTo>
                  <a:lnTo>
                    <a:pt x="36" y="155"/>
                  </a:lnTo>
                  <a:lnTo>
                    <a:pt x="36" y="478"/>
                  </a:lnTo>
                  <a:lnTo>
                    <a:pt x="42" y="609"/>
                  </a:lnTo>
                  <a:lnTo>
                    <a:pt x="42" y="633"/>
                  </a:lnTo>
                  <a:lnTo>
                    <a:pt x="42" y="657"/>
                  </a:lnTo>
                  <a:lnTo>
                    <a:pt x="48" y="663"/>
                  </a:lnTo>
                  <a:lnTo>
                    <a:pt x="48" y="675"/>
                  </a:lnTo>
                  <a:lnTo>
                    <a:pt x="54" y="669"/>
                  </a:lnTo>
                  <a:lnTo>
                    <a:pt x="54" y="675"/>
                  </a:lnTo>
                  <a:lnTo>
                    <a:pt x="54" y="687"/>
                  </a:lnTo>
                  <a:lnTo>
                    <a:pt x="60" y="693"/>
                  </a:lnTo>
                  <a:lnTo>
                    <a:pt x="66" y="687"/>
                  </a:lnTo>
                  <a:lnTo>
                    <a:pt x="66" y="681"/>
                  </a:lnTo>
                  <a:lnTo>
                    <a:pt x="72" y="663"/>
                  </a:lnTo>
                  <a:lnTo>
                    <a:pt x="72" y="293"/>
                  </a:lnTo>
                  <a:lnTo>
                    <a:pt x="72" y="663"/>
                  </a:lnTo>
                  <a:lnTo>
                    <a:pt x="78" y="681"/>
                  </a:lnTo>
                  <a:lnTo>
                    <a:pt x="78" y="687"/>
                  </a:lnTo>
                  <a:lnTo>
                    <a:pt x="78" y="693"/>
                  </a:lnTo>
                  <a:lnTo>
                    <a:pt x="84" y="693"/>
                  </a:lnTo>
                  <a:lnTo>
                    <a:pt x="84" y="687"/>
                  </a:lnTo>
                  <a:lnTo>
                    <a:pt x="84" y="693"/>
                  </a:lnTo>
                  <a:lnTo>
                    <a:pt x="90" y="693"/>
                  </a:lnTo>
                  <a:lnTo>
                    <a:pt x="96" y="693"/>
                  </a:lnTo>
                  <a:lnTo>
                    <a:pt x="96" y="687"/>
                  </a:lnTo>
                  <a:lnTo>
                    <a:pt x="96" y="693"/>
                  </a:lnTo>
                  <a:lnTo>
                    <a:pt x="102" y="699"/>
                  </a:lnTo>
                  <a:lnTo>
                    <a:pt x="102" y="693"/>
                  </a:lnTo>
                  <a:lnTo>
                    <a:pt x="108" y="705"/>
                  </a:lnTo>
                  <a:lnTo>
                    <a:pt x="108" y="699"/>
                  </a:lnTo>
                  <a:lnTo>
                    <a:pt x="114" y="699"/>
                  </a:lnTo>
                  <a:lnTo>
                    <a:pt x="114" y="693"/>
                  </a:lnTo>
                  <a:lnTo>
                    <a:pt x="114" y="699"/>
                  </a:lnTo>
                  <a:lnTo>
                    <a:pt x="120" y="693"/>
                  </a:lnTo>
                  <a:lnTo>
                    <a:pt x="120" y="699"/>
                  </a:lnTo>
                  <a:lnTo>
                    <a:pt x="126" y="699"/>
                  </a:lnTo>
                  <a:lnTo>
                    <a:pt x="126" y="705"/>
                  </a:lnTo>
                  <a:lnTo>
                    <a:pt x="126" y="693"/>
                  </a:lnTo>
                  <a:lnTo>
                    <a:pt x="132" y="693"/>
                  </a:lnTo>
                  <a:lnTo>
                    <a:pt x="132" y="699"/>
                  </a:lnTo>
                  <a:lnTo>
                    <a:pt x="138" y="699"/>
                  </a:lnTo>
                  <a:lnTo>
                    <a:pt x="138" y="693"/>
                  </a:lnTo>
                  <a:lnTo>
                    <a:pt x="144" y="693"/>
                  </a:lnTo>
                  <a:lnTo>
                    <a:pt x="144" y="699"/>
                  </a:lnTo>
                  <a:lnTo>
                    <a:pt x="144" y="705"/>
                  </a:lnTo>
                  <a:lnTo>
                    <a:pt x="150" y="693"/>
                  </a:lnTo>
                  <a:lnTo>
                    <a:pt x="150" y="699"/>
                  </a:lnTo>
                  <a:lnTo>
                    <a:pt x="156" y="699"/>
                  </a:lnTo>
                  <a:lnTo>
                    <a:pt x="162" y="699"/>
                  </a:lnTo>
                  <a:lnTo>
                    <a:pt x="162" y="705"/>
                  </a:lnTo>
                  <a:lnTo>
                    <a:pt x="168" y="699"/>
                  </a:lnTo>
                  <a:lnTo>
                    <a:pt x="174" y="699"/>
                  </a:lnTo>
                  <a:lnTo>
                    <a:pt x="180" y="699"/>
                  </a:lnTo>
                  <a:lnTo>
                    <a:pt x="186" y="699"/>
                  </a:lnTo>
                  <a:lnTo>
                    <a:pt x="192" y="693"/>
                  </a:lnTo>
                  <a:lnTo>
                    <a:pt x="192" y="699"/>
                  </a:lnTo>
                  <a:lnTo>
                    <a:pt x="198" y="699"/>
                  </a:lnTo>
                  <a:lnTo>
                    <a:pt x="198" y="693"/>
                  </a:lnTo>
                  <a:lnTo>
                    <a:pt x="198" y="699"/>
                  </a:lnTo>
                  <a:lnTo>
                    <a:pt x="204" y="693"/>
                  </a:lnTo>
                  <a:lnTo>
                    <a:pt x="204" y="705"/>
                  </a:lnTo>
                  <a:lnTo>
                    <a:pt x="204" y="699"/>
                  </a:lnTo>
                  <a:lnTo>
                    <a:pt x="209" y="705"/>
                  </a:lnTo>
                  <a:lnTo>
                    <a:pt x="209" y="699"/>
                  </a:lnTo>
                  <a:lnTo>
                    <a:pt x="209" y="705"/>
                  </a:lnTo>
                  <a:lnTo>
                    <a:pt x="209" y="699"/>
                  </a:lnTo>
                  <a:lnTo>
                    <a:pt x="215" y="705"/>
                  </a:lnTo>
                  <a:lnTo>
                    <a:pt x="215" y="699"/>
                  </a:lnTo>
                  <a:lnTo>
                    <a:pt x="221" y="699"/>
                  </a:lnTo>
                  <a:lnTo>
                    <a:pt x="221" y="705"/>
                  </a:lnTo>
                  <a:lnTo>
                    <a:pt x="227" y="699"/>
                  </a:lnTo>
                  <a:lnTo>
                    <a:pt x="227" y="693"/>
                  </a:lnTo>
                  <a:lnTo>
                    <a:pt x="227" y="699"/>
                  </a:lnTo>
                  <a:lnTo>
                    <a:pt x="233" y="693"/>
                  </a:lnTo>
                  <a:lnTo>
                    <a:pt x="233" y="699"/>
                  </a:lnTo>
                  <a:lnTo>
                    <a:pt x="239" y="699"/>
                  </a:lnTo>
                  <a:lnTo>
                    <a:pt x="239" y="705"/>
                  </a:lnTo>
                  <a:lnTo>
                    <a:pt x="245" y="699"/>
                  </a:lnTo>
                  <a:lnTo>
                    <a:pt x="245" y="693"/>
                  </a:lnTo>
                  <a:lnTo>
                    <a:pt x="251" y="693"/>
                  </a:lnTo>
                  <a:lnTo>
                    <a:pt x="251" y="699"/>
                  </a:lnTo>
                  <a:lnTo>
                    <a:pt x="257" y="699"/>
                  </a:lnTo>
                  <a:lnTo>
                    <a:pt x="257" y="705"/>
                  </a:lnTo>
                  <a:lnTo>
                    <a:pt x="257" y="699"/>
                  </a:lnTo>
                  <a:lnTo>
                    <a:pt x="263" y="705"/>
                  </a:lnTo>
                  <a:lnTo>
                    <a:pt x="263" y="699"/>
                  </a:lnTo>
                  <a:lnTo>
                    <a:pt x="263" y="705"/>
                  </a:lnTo>
                  <a:lnTo>
                    <a:pt x="269" y="699"/>
                  </a:lnTo>
                  <a:lnTo>
                    <a:pt x="275" y="705"/>
                  </a:lnTo>
                  <a:lnTo>
                    <a:pt x="275" y="699"/>
                  </a:lnTo>
                  <a:lnTo>
                    <a:pt x="281" y="699"/>
                  </a:lnTo>
                  <a:lnTo>
                    <a:pt x="281" y="705"/>
                  </a:lnTo>
                  <a:lnTo>
                    <a:pt x="287" y="699"/>
                  </a:lnTo>
                  <a:lnTo>
                    <a:pt x="287" y="705"/>
                  </a:lnTo>
                  <a:lnTo>
                    <a:pt x="293" y="699"/>
                  </a:lnTo>
                  <a:lnTo>
                    <a:pt x="299" y="699"/>
                  </a:lnTo>
                  <a:lnTo>
                    <a:pt x="299" y="705"/>
                  </a:lnTo>
                  <a:lnTo>
                    <a:pt x="305" y="705"/>
                  </a:lnTo>
                  <a:lnTo>
                    <a:pt x="305" y="699"/>
                  </a:lnTo>
                  <a:lnTo>
                    <a:pt x="311" y="699"/>
                  </a:lnTo>
                  <a:lnTo>
                    <a:pt x="311" y="705"/>
                  </a:lnTo>
                  <a:lnTo>
                    <a:pt x="311" y="699"/>
                  </a:lnTo>
                  <a:lnTo>
                    <a:pt x="317" y="699"/>
                  </a:lnTo>
                  <a:lnTo>
                    <a:pt x="323" y="699"/>
                  </a:lnTo>
                  <a:lnTo>
                    <a:pt x="329" y="699"/>
                  </a:lnTo>
                  <a:lnTo>
                    <a:pt x="329" y="705"/>
                  </a:lnTo>
                  <a:lnTo>
                    <a:pt x="329" y="699"/>
                  </a:lnTo>
                  <a:lnTo>
                    <a:pt x="329" y="705"/>
                  </a:lnTo>
                  <a:lnTo>
                    <a:pt x="335" y="699"/>
                  </a:lnTo>
                  <a:lnTo>
                    <a:pt x="335" y="705"/>
                  </a:lnTo>
                  <a:lnTo>
                    <a:pt x="341" y="699"/>
                  </a:lnTo>
                  <a:lnTo>
                    <a:pt x="341" y="705"/>
                  </a:lnTo>
                  <a:lnTo>
                    <a:pt x="341" y="699"/>
                  </a:lnTo>
                  <a:lnTo>
                    <a:pt x="347" y="699"/>
                  </a:lnTo>
                  <a:lnTo>
                    <a:pt x="353" y="705"/>
                  </a:lnTo>
                  <a:lnTo>
                    <a:pt x="353" y="699"/>
                  </a:lnTo>
                  <a:lnTo>
                    <a:pt x="359" y="699"/>
                  </a:lnTo>
                  <a:lnTo>
                    <a:pt x="365" y="705"/>
                  </a:lnTo>
                  <a:lnTo>
                    <a:pt x="365" y="699"/>
                  </a:lnTo>
                  <a:lnTo>
                    <a:pt x="371" y="699"/>
                  </a:lnTo>
                  <a:lnTo>
                    <a:pt x="371" y="705"/>
                  </a:lnTo>
                  <a:lnTo>
                    <a:pt x="371" y="699"/>
                  </a:lnTo>
                  <a:lnTo>
                    <a:pt x="377" y="705"/>
                  </a:lnTo>
                  <a:lnTo>
                    <a:pt x="377" y="699"/>
                  </a:lnTo>
                  <a:lnTo>
                    <a:pt x="383" y="699"/>
                  </a:lnTo>
                  <a:lnTo>
                    <a:pt x="389" y="699"/>
                  </a:lnTo>
                  <a:lnTo>
                    <a:pt x="395" y="693"/>
                  </a:lnTo>
                  <a:lnTo>
                    <a:pt x="395" y="699"/>
                  </a:lnTo>
                  <a:lnTo>
                    <a:pt x="401" y="699"/>
                  </a:lnTo>
                  <a:lnTo>
                    <a:pt x="407" y="699"/>
                  </a:lnTo>
                  <a:lnTo>
                    <a:pt x="407" y="705"/>
                  </a:lnTo>
                  <a:lnTo>
                    <a:pt x="407" y="699"/>
                  </a:lnTo>
                  <a:lnTo>
                    <a:pt x="413" y="699"/>
                  </a:lnTo>
                  <a:lnTo>
                    <a:pt x="413" y="705"/>
                  </a:lnTo>
                  <a:lnTo>
                    <a:pt x="413" y="699"/>
                  </a:lnTo>
                  <a:lnTo>
                    <a:pt x="419" y="705"/>
                  </a:lnTo>
                  <a:lnTo>
                    <a:pt x="419" y="699"/>
                  </a:lnTo>
                  <a:lnTo>
                    <a:pt x="425" y="705"/>
                  </a:lnTo>
                  <a:lnTo>
                    <a:pt x="425" y="693"/>
                  </a:lnTo>
                  <a:lnTo>
                    <a:pt x="431" y="693"/>
                  </a:lnTo>
                  <a:lnTo>
                    <a:pt x="431" y="699"/>
                  </a:lnTo>
                  <a:lnTo>
                    <a:pt x="437" y="705"/>
                  </a:lnTo>
                  <a:lnTo>
                    <a:pt x="437" y="699"/>
                  </a:lnTo>
                  <a:lnTo>
                    <a:pt x="443" y="699"/>
                  </a:lnTo>
                  <a:lnTo>
                    <a:pt x="443" y="705"/>
                  </a:lnTo>
                  <a:lnTo>
                    <a:pt x="449" y="699"/>
                  </a:lnTo>
                  <a:lnTo>
                    <a:pt x="449" y="705"/>
                  </a:lnTo>
                  <a:lnTo>
                    <a:pt x="455" y="705"/>
                  </a:lnTo>
                  <a:lnTo>
                    <a:pt x="455" y="699"/>
                  </a:lnTo>
                  <a:lnTo>
                    <a:pt x="461" y="705"/>
                  </a:lnTo>
                  <a:lnTo>
                    <a:pt x="461" y="699"/>
                  </a:lnTo>
                  <a:lnTo>
                    <a:pt x="467" y="699"/>
                  </a:lnTo>
                  <a:lnTo>
                    <a:pt x="473" y="699"/>
                  </a:lnTo>
                  <a:lnTo>
                    <a:pt x="479" y="699"/>
                  </a:lnTo>
                  <a:lnTo>
                    <a:pt x="485" y="699"/>
                  </a:lnTo>
                  <a:lnTo>
                    <a:pt x="485" y="705"/>
                  </a:lnTo>
                  <a:lnTo>
                    <a:pt x="485" y="699"/>
                  </a:lnTo>
                  <a:lnTo>
                    <a:pt x="491" y="699"/>
                  </a:lnTo>
                  <a:lnTo>
                    <a:pt x="497" y="699"/>
                  </a:lnTo>
                  <a:lnTo>
                    <a:pt x="497" y="705"/>
                  </a:lnTo>
                  <a:lnTo>
                    <a:pt x="503" y="705"/>
                  </a:lnTo>
                  <a:lnTo>
                    <a:pt x="503" y="699"/>
                  </a:lnTo>
                  <a:lnTo>
                    <a:pt x="509" y="699"/>
                  </a:lnTo>
                  <a:lnTo>
                    <a:pt x="509" y="705"/>
                  </a:lnTo>
                  <a:lnTo>
                    <a:pt x="515" y="699"/>
                  </a:lnTo>
                  <a:lnTo>
                    <a:pt x="515" y="705"/>
                  </a:lnTo>
                  <a:lnTo>
                    <a:pt x="521" y="699"/>
                  </a:lnTo>
                  <a:lnTo>
                    <a:pt x="527" y="705"/>
                  </a:lnTo>
                  <a:lnTo>
                    <a:pt x="527" y="699"/>
                  </a:lnTo>
                  <a:lnTo>
                    <a:pt x="527" y="705"/>
                  </a:lnTo>
                  <a:lnTo>
                    <a:pt x="533" y="705"/>
                  </a:lnTo>
                  <a:lnTo>
                    <a:pt x="533" y="699"/>
                  </a:lnTo>
                  <a:lnTo>
                    <a:pt x="539" y="699"/>
                  </a:lnTo>
                  <a:lnTo>
                    <a:pt x="539" y="705"/>
                  </a:lnTo>
                  <a:lnTo>
                    <a:pt x="545" y="699"/>
                  </a:lnTo>
                  <a:lnTo>
                    <a:pt x="545" y="705"/>
                  </a:lnTo>
                  <a:lnTo>
                    <a:pt x="545" y="699"/>
                  </a:lnTo>
                  <a:lnTo>
                    <a:pt x="551" y="699"/>
                  </a:lnTo>
                  <a:lnTo>
                    <a:pt x="551" y="705"/>
                  </a:lnTo>
                  <a:lnTo>
                    <a:pt x="551" y="693"/>
                  </a:lnTo>
                  <a:lnTo>
                    <a:pt x="557" y="705"/>
                  </a:lnTo>
                  <a:lnTo>
                    <a:pt x="557" y="699"/>
                  </a:lnTo>
                  <a:lnTo>
                    <a:pt x="563" y="699"/>
                  </a:lnTo>
                  <a:lnTo>
                    <a:pt x="563" y="705"/>
                  </a:lnTo>
                  <a:lnTo>
                    <a:pt x="563" y="699"/>
                  </a:lnTo>
                  <a:lnTo>
                    <a:pt x="569" y="705"/>
                  </a:lnTo>
                  <a:lnTo>
                    <a:pt x="569" y="699"/>
                  </a:lnTo>
                  <a:lnTo>
                    <a:pt x="575" y="705"/>
                  </a:lnTo>
                  <a:lnTo>
                    <a:pt x="575" y="699"/>
                  </a:lnTo>
                  <a:lnTo>
                    <a:pt x="581" y="699"/>
                  </a:lnTo>
                  <a:lnTo>
                    <a:pt x="581" y="705"/>
                  </a:lnTo>
                  <a:lnTo>
                    <a:pt x="587" y="705"/>
                  </a:lnTo>
                  <a:lnTo>
                    <a:pt x="587" y="699"/>
                  </a:lnTo>
                  <a:lnTo>
                    <a:pt x="593" y="705"/>
                  </a:lnTo>
                  <a:lnTo>
                    <a:pt x="593" y="699"/>
                  </a:lnTo>
                  <a:lnTo>
                    <a:pt x="599" y="705"/>
                  </a:lnTo>
                  <a:lnTo>
                    <a:pt x="599" y="693"/>
                  </a:lnTo>
                  <a:lnTo>
                    <a:pt x="599" y="705"/>
                  </a:lnTo>
                  <a:lnTo>
                    <a:pt x="605" y="699"/>
                  </a:lnTo>
                  <a:lnTo>
                    <a:pt x="605" y="705"/>
                  </a:lnTo>
                  <a:lnTo>
                    <a:pt x="611" y="699"/>
                  </a:lnTo>
                  <a:lnTo>
                    <a:pt x="611" y="705"/>
                  </a:lnTo>
                  <a:lnTo>
                    <a:pt x="617" y="699"/>
                  </a:lnTo>
                  <a:lnTo>
                    <a:pt x="617" y="705"/>
                  </a:lnTo>
                  <a:lnTo>
                    <a:pt x="623" y="705"/>
                  </a:lnTo>
                  <a:lnTo>
                    <a:pt x="623" y="699"/>
                  </a:lnTo>
                  <a:lnTo>
                    <a:pt x="623" y="705"/>
                  </a:lnTo>
                  <a:lnTo>
                    <a:pt x="629" y="699"/>
                  </a:lnTo>
                  <a:lnTo>
                    <a:pt x="629" y="705"/>
                  </a:lnTo>
                  <a:lnTo>
                    <a:pt x="629" y="699"/>
                  </a:lnTo>
                  <a:lnTo>
                    <a:pt x="635" y="699"/>
                  </a:lnTo>
                  <a:lnTo>
                    <a:pt x="635" y="705"/>
                  </a:lnTo>
                  <a:lnTo>
                    <a:pt x="641" y="705"/>
                  </a:lnTo>
                  <a:lnTo>
                    <a:pt x="641" y="699"/>
                  </a:lnTo>
                  <a:lnTo>
                    <a:pt x="647" y="705"/>
                  </a:lnTo>
                  <a:lnTo>
                    <a:pt x="647" y="699"/>
                  </a:lnTo>
                  <a:lnTo>
                    <a:pt x="653" y="699"/>
                  </a:lnTo>
                  <a:lnTo>
                    <a:pt x="653" y="705"/>
                  </a:lnTo>
                  <a:lnTo>
                    <a:pt x="659" y="699"/>
                  </a:lnTo>
                  <a:lnTo>
                    <a:pt x="659" y="693"/>
                  </a:lnTo>
                  <a:lnTo>
                    <a:pt x="659" y="705"/>
                  </a:lnTo>
                  <a:lnTo>
                    <a:pt x="665" y="699"/>
                  </a:lnTo>
                  <a:lnTo>
                    <a:pt x="665" y="705"/>
                  </a:lnTo>
                  <a:lnTo>
                    <a:pt x="665" y="699"/>
                  </a:lnTo>
                  <a:lnTo>
                    <a:pt x="671" y="705"/>
                  </a:lnTo>
                  <a:lnTo>
                    <a:pt x="671" y="699"/>
                  </a:lnTo>
                  <a:lnTo>
                    <a:pt x="671" y="705"/>
                  </a:lnTo>
                  <a:lnTo>
                    <a:pt x="676" y="699"/>
                  </a:lnTo>
                  <a:lnTo>
                    <a:pt x="682" y="699"/>
                  </a:lnTo>
                  <a:lnTo>
                    <a:pt x="688" y="705"/>
                  </a:lnTo>
                  <a:lnTo>
                    <a:pt x="688" y="699"/>
                  </a:lnTo>
                  <a:lnTo>
                    <a:pt x="694" y="699"/>
                  </a:lnTo>
                  <a:lnTo>
                    <a:pt x="694" y="705"/>
                  </a:lnTo>
                  <a:lnTo>
                    <a:pt x="694" y="699"/>
                  </a:lnTo>
                  <a:lnTo>
                    <a:pt x="700" y="705"/>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969772" name="Freeform 2092"/>
            <p:cNvSpPr>
              <a:spLocks/>
            </p:cNvSpPr>
            <p:nvPr/>
          </p:nvSpPr>
          <p:spPr bwMode="auto">
            <a:xfrm>
              <a:off x="2732" y="1777"/>
              <a:ext cx="73" cy="49"/>
            </a:xfrm>
            <a:custGeom>
              <a:avLst/>
              <a:gdLst/>
              <a:ahLst/>
              <a:cxnLst>
                <a:cxn ang="0">
                  <a:pos x="0" y="12"/>
                </a:cxn>
                <a:cxn ang="0">
                  <a:pos x="0" y="6"/>
                </a:cxn>
                <a:cxn ang="0">
                  <a:pos x="6" y="12"/>
                </a:cxn>
                <a:cxn ang="0">
                  <a:pos x="6" y="6"/>
                </a:cxn>
                <a:cxn ang="0">
                  <a:pos x="6" y="0"/>
                </a:cxn>
                <a:cxn ang="0">
                  <a:pos x="12" y="12"/>
                </a:cxn>
                <a:cxn ang="0">
                  <a:pos x="12" y="6"/>
                </a:cxn>
                <a:cxn ang="0">
                  <a:pos x="12" y="12"/>
                </a:cxn>
                <a:cxn ang="0">
                  <a:pos x="18" y="6"/>
                </a:cxn>
                <a:cxn ang="0">
                  <a:pos x="18" y="12"/>
                </a:cxn>
                <a:cxn ang="0">
                  <a:pos x="18" y="6"/>
                </a:cxn>
                <a:cxn ang="0">
                  <a:pos x="24" y="6"/>
                </a:cxn>
                <a:cxn ang="0">
                  <a:pos x="24" y="12"/>
                </a:cxn>
                <a:cxn ang="0">
                  <a:pos x="24" y="6"/>
                </a:cxn>
                <a:cxn ang="0">
                  <a:pos x="30" y="6"/>
                </a:cxn>
                <a:cxn ang="0">
                  <a:pos x="30" y="12"/>
                </a:cxn>
                <a:cxn ang="0">
                  <a:pos x="30" y="6"/>
                </a:cxn>
                <a:cxn ang="0">
                  <a:pos x="36" y="6"/>
                </a:cxn>
                <a:cxn ang="0">
                  <a:pos x="36" y="12"/>
                </a:cxn>
                <a:cxn ang="0">
                  <a:pos x="42" y="6"/>
                </a:cxn>
                <a:cxn ang="0">
                  <a:pos x="42" y="12"/>
                </a:cxn>
                <a:cxn ang="0">
                  <a:pos x="42" y="6"/>
                </a:cxn>
                <a:cxn ang="0">
                  <a:pos x="42" y="12"/>
                </a:cxn>
                <a:cxn ang="0">
                  <a:pos x="48" y="6"/>
                </a:cxn>
                <a:cxn ang="0">
                  <a:pos x="48" y="12"/>
                </a:cxn>
                <a:cxn ang="0">
                  <a:pos x="48" y="6"/>
                </a:cxn>
                <a:cxn ang="0">
                  <a:pos x="54" y="12"/>
                </a:cxn>
                <a:cxn ang="0">
                  <a:pos x="54" y="6"/>
                </a:cxn>
                <a:cxn ang="0">
                  <a:pos x="60" y="12"/>
                </a:cxn>
                <a:cxn ang="0">
                  <a:pos x="60" y="6"/>
                </a:cxn>
                <a:cxn ang="0">
                  <a:pos x="60" y="0"/>
                </a:cxn>
                <a:cxn ang="0">
                  <a:pos x="60" y="12"/>
                </a:cxn>
                <a:cxn ang="0">
                  <a:pos x="66" y="6"/>
                </a:cxn>
                <a:cxn ang="0">
                  <a:pos x="72" y="12"/>
                </a:cxn>
                <a:cxn ang="0">
                  <a:pos x="72" y="6"/>
                </a:cxn>
                <a:cxn ang="0">
                  <a:pos x="72" y="48"/>
                </a:cxn>
              </a:cxnLst>
              <a:rect l="0" t="0" r="r" b="b"/>
              <a:pathLst>
                <a:path w="73" h="49">
                  <a:moveTo>
                    <a:pt x="0" y="12"/>
                  </a:moveTo>
                  <a:lnTo>
                    <a:pt x="0" y="6"/>
                  </a:lnTo>
                  <a:lnTo>
                    <a:pt x="6" y="12"/>
                  </a:lnTo>
                  <a:lnTo>
                    <a:pt x="6" y="6"/>
                  </a:lnTo>
                  <a:lnTo>
                    <a:pt x="6" y="0"/>
                  </a:lnTo>
                  <a:lnTo>
                    <a:pt x="12" y="12"/>
                  </a:lnTo>
                  <a:lnTo>
                    <a:pt x="12" y="6"/>
                  </a:lnTo>
                  <a:lnTo>
                    <a:pt x="12" y="12"/>
                  </a:lnTo>
                  <a:lnTo>
                    <a:pt x="18" y="6"/>
                  </a:lnTo>
                  <a:lnTo>
                    <a:pt x="18" y="12"/>
                  </a:lnTo>
                  <a:lnTo>
                    <a:pt x="18" y="6"/>
                  </a:lnTo>
                  <a:lnTo>
                    <a:pt x="24" y="6"/>
                  </a:lnTo>
                  <a:lnTo>
                    <a:pt x="24" y="12"/>
                  </a:lnTo>
                  <a:lnTo>
                    <a:pt x="24" y="6"/>
                  </a:lnTo>
                  <a:lnTo>
                    <a:pt x="30" y="6"/>
                  </a:lnTo>
                  <a:lnTo>
                    <a:pt x="30" y="12"/>
                  </a:lnTo>
                  <a:lnTo>
                    <a:pt x="30" y="6"/>
                  </a:lnTo>
                  <a:lnTo>
                    <a:pt x="36" y="6"/>
                  </a:lnTo>
                  <a:lnTo>
                    <a:pt x="36" y="12"/>
                  </a:lnTo>
                  <a:lnTo>
                    <a:pt x="42" y="6"/>
                  </a:lnTo>
                  <a:lnTo>
                    <a:pt x="42" y="12"/>
                  </a:lnTo>
                  <a:lnTo>
                    <a:pt x="42" y="6"/>
                  </a:lnTo>
                  <a:lnTo>
                    <a:pt x="42" y="12"/>
                  </a:lnTo>
                  <a:lnTo>
                    <a:pt x="48" y="6"/>
                  </a:lnTo>
                  <a:lnTo>
                    <a:pt x="48" y="12"/>
                  </a:lnTo>
                  <a:lnTo>
                    <a:pt x="48" y="6"/>
                  </a:lnTo>
                  <a:lnTo>
                    <a:pt x="54" y="12"/>
                  </a:lnTo>
                  <a:lnTo>
                    <a:pt x="54" y="6"/>
                  </a:lnTo>
                  <a:lnTo>
                    <a:pt x="60" y="12"/>
                  </a:lnTo>
                  <a:lnTo>
                    <a:pt x="60" y="6"/>
                  </a:lnTo>
                  <a:lnTo>
                    <a:pt x="60" y="0"/>
                  </a:lnTo>
                  <a:lnTo>
                    <a:pt x="60" y="12"/>
                  </a:lnTo>
                  <a:lnTo>
                    <a:pt x="66" y="6"/>
                  </a:lnTo>
                  <a:lnTo>
                    <a:pt x="72" y="12"/>
                  </a:lnTo>
                  <a:lnTo>
                    <a:pt x="72" y="6"/>
                  </a:lnTo>
                  <a:lnTo>
                    <a:pt x="72" y="48"/>
                  </a:lnTo>
                </a:path>
              </a:pathLst>
            </a:custGeom>
            <a:noFill/>
            <a:ln w="12700" cap="rnd" cmpd="sng">
              <a:solidFill>
                <a:srgbClr val="000000"/>
              </a:solidFill>
              <a:prstDash val="solid"/>
              <a:round/>
              <a:headEnd type="none" w="med" len="med"/>
              <a:tailEnd type="none" w="med" len="med"/>
            </a:ln>
            <a:effectLst/>
          </p:spPr>
          <p:txBody>
            <a:bodyPr/>
            <a:lstStyle/>
            <a:p>
              <a:endParaRPr lang="en-US"/>
            </a:p>
          </p:txBody>
        </p:sp>
        <p:sp>
          <p:nvSpPr>
            <p:cNvPr id="969773" name="Line 2093"/>
            <p:cNvSpPr>
              <a:spLocks noChangeShapeType="1"/>
            </p:cNvSpPr>
            <p:nvPr/>
          </p:nvSpPr>
          <p:spPr bwMode="auto">
            <a:xfrm>
              <a:off x="654" y="737"/>
              <a:ext cx="2110" cy="0"/>
            </a:xfrm>
            <a:prstGeom prst="line">
              <a:avLst/>
            </a:prstGeom>
            <a:noFill/>
            <a:ln w="12700">
              <a:solidFill>
                <a:srgbClr val="000000"/>
              </a:solidFill>
              <a:round/>
              <a:headEnd/>
              <a:tailEnd/>
            </a:ln>
            <a:effectLst/>
          </p:spPr>
          <p:txBody>
            <a:bodyPr wrap="none" anchor="ctr"/>
            <a:lstStyle/>
            <a:p>
              <a:endParaRPr lang="en-US"/>
            </a:p>
          </p:txBody>
        </p:sp>
        <p:sp>
          <p:nvSpPr>
            <p:cNvPr id="969774" name="Line 2094"/>
            <p:cNvSpPr>
              <a:spLocks noChangeShapeType="1"/>
            </p:cNvSpPr>
            <p:nvPr/>
          </p:nvSpPr>
          <p:spPr bwMode="auto">
            <a:xfrm>
              <a:off x="2768" y="742"/>
              <a:ext cx="0" cy="1043"/>
            </a:xfrm>
            <a:prstGeom prst="line">
              <a:avLst/>
            </a:prstGeom>
            <a:noFill/>
            <a:ln w="12700">
              <a:solidFill>
                <a:srgbClr val="000000"/>
              </a:solidFill>
              <a:round/>
              <a:headEnd/>
              <a:tailEnd/>
            </a:ln>
            <a:effectLst/>
          </p:spPr>
          <p:txBody>
            <a:bodyPr wrap="none" anchor="ctr"/>
            <a:lstStyle/>
            <a:p>
              <a:endParaRPr lang="en-US"/>
            </a:p>
          </p:txBody>
        </p:sp>
        <p:sp>
          <p:nvSpPr>
            <p:cNvPr id="969775" name="Line 2095"/>
            <p:cNvSpPr>
              <a:spLocks noChangeShapeType="1"/>
            </p:cNvSpPr>
            <p:nvPr/>
          </p:nvSpPr>
          <p:spPr bwMode="auto">
            <a:xfrm flipH="1">
              <a:off x="646" y="1789"/>
              <a:ext cx="2126" cy="0"/>
            </a:xfrm>
            <a:prstGeom prst="line">
              <a:avLst/>
            </a:prstGeom>
            <a:noFill/>
            <a:ln w="12700">
              <a:solidFill>
                <a:srgbClr val="000000"/>
              </a:solidFill>
              <a:round/>
              <a:headEnd/>
              <a:tailEnd/>
            </a:ln>
            <a:effectLst/>
          </p:spPr>
          <p:txBody>
            <a:bodyPr wrap="none" anchor="ctr"/>
            <a:lstStyle/>
            <a:p>
              <a:endParaRPr lang="en-US"/>
            </a:p>
          </p:txBody>
        </p:sp>
        <p:sp>
          <p:nvSpPr>
            <p:cNvPr id="969776" name="Line 2096"/>
            <p:cNvSpPr>
              <a:spLocks noChangeShapeType="1"/>
            </p:cNvSpPr>
            <p:nvPr/>
          </p:nvSpPr>
          <p:spPr bwMode="auto">
            <a:xfrm flipV="1">
              <a:off x="649" y="734"/>
              <a:ext cx="0" cy="1059"/>
            </a:xfrm>
            <a:prstGeom prst="line">
              <a:avLst/>
            </a:prstGeom>
            <a:noFill/>
            <a:ln w="12700">
              <a:solidFill>
                <a:srgbClr val="000000"/>
              </a:solidFill>
              <a:round/>
              <a:headEnd/>
              <a:tailEnd/>
            </a:ln>
            <a:effectLst/>
          </p:spPr>
          <p:txBody>
            <a:bodyPr wrap="none" anchor="ctr"/>
            <a:lstStyle/>
            <a:p>
              <a:endParaRPr lang="en-US"/>
            </a:p>
          </p:txBody>
        </p:sp>
        <p:sp>
          <p:nvSpPr>
            <p:cNvPr id="969777" name="Rectangle 2097"/>
            <p:cNvSpPr>
              <a:spLocks noChangeArrowheads="1"/>
            </p:cNvSpPr>
            <p:nvPr/>
          </p:nvSpPr>
          <p:spPr bwMode="auto">
            <a:xfrm>
              <a:off x="1486" y="1760"/>
              <a:ext cx="436" cy="152"/>
            </a:xfrm>
            <a:prstGeom prst="rect">
              <a:avLst/>
            </a:prstGeom>
            <a:noFill/>
            <a:ln w="12700">
              <a:noFill/>
              <a:miter lim="800000"/>
              <a:headEnd/>
              <a:tailEnd/>
            </a:ln>
            <a:effectLst/>
          </p:spPr>
          <p:txBody>
            <a:bodyPr wrap="none" lIns="90488" tIns="44450" rIns="90488" bIns="44450">
              <a:spAutoFit/>
            </a:bodyPr>
            <a:lstStyle/>
            <a:p>
              <a:r>
                <a:rPr lang="en-US" sz="1000">
                  <a:solidFill>
                    <a:srgbClr val="000000"/>
                  </a:solidFill>
                </a:rPr>
                <a:t>frequency</a:t>
              </a:r>
            </a:p>
          </p:txBody>
        </p:sp>
        <p:sp>
          <p:nvSpPr>
            <p:cNvPr id="969778" name="Rectangle 2098"/>
            <p:cNvSpPr>
              <a:spLocks noChangeArrowheads="1"/>
            </p:cNvSpPr>
            <p:nvPr/>
          </p:nvSpPr>
          <p:spPr bwMode="auto">
            <a:xfrm rot="16200000">
              <a:off x="330" y="1215"/>
              <a:ext cx="372" cy="152"/>
            </a:xfrm>
            <a:prstGeom prst="rect">
              <a:avLst/>
            </a:prstGeom>
            <a:noFill/>
            <a:ln w="12700">
              <a:noFill/>
              <a:miter lim="800000"/>
              <a:headEnd/>
              <a:tailEnd/>
            </a:ln>
            <a:effectLst/>
          </p:spPr>
          <p:txBody>
            <a:bodyPr wrap="none" lIns="90488" tIns="44450" rIns="90488" bIns="44450">
              <a:spAutoFit/>
            </a:bodyPr>
            <a:lstStyle/>
            <a:p>
              <a:r>
                <a:rPr lang="en-US" sz="1000">
                  <a:solidFill>
                    <a:srgbClr val="000000"/>
                  </a:solidFill>
                </a:rPr>
                <a:t>velocity</a:t>
              </a:r>
            </a:p>
          </p:txBody>
        </p:sp>
      </p:grpSp>
      <p:grpSp>
        <p:nvGrpSpPr>
          <p:cNvPr id="969779" name="Group 2099"/>
          <p:cNvGrpSpPr>
            <a:grpSpLocks/>
          </p:cNvGrpSpPr>
          <p:nvPr/>
        </p:nvGrpSpPr>
        <p:grpSpPr bwMode="auto">
          <a:xfrm>
            <a:off x="4908550" y="1171575"/>
            <a:ext cx="2998788" cy="1893888"/>
            <a:chOff x="3092" y="738"/>
            <a:chExt cx="1889" cy="1193"/>
          </a:xfrm>
        </p:grpSpPr>
        <p:sp>
          <p:nvSpPr>
            <p:cNvPr id="969780" name="Freeform 2100"/>
            <p:cNvSpPr>
              <a:spLocks/>
            </p:cNvSpPr>
            <p:nvPr/>
          </p:nvSpPr>
          <p:spPr bwMode="auto">
            <a:xfrm>
              <a:off x="3286" y="875"/>
              <a:ext cx="1695" cy="765"/>
            </a:xfrm>
            <a:custGeom>
              <a:avLst/>
              <a:gdLst/>
              <a:ahLst/>
              <a:cxnLst>
                <a:cxn ang="0">
                  <a:pos x="0" y="0"/>
                </a:cxn>
                <a:cxn ang="0">
                  <a:pos x="1694" y="0"/>
                </a:cxn>
                <a:cxn ang="0">
                  <a:pos x="1694" y="764"/>
                </a:cxn>
                <a:cxn ang="0">
                  <a:pos x="0" y="764"/>
                </a:cxn>
                <a:cxn ang="0">
                  <a:pos x="0" y="0"/>
                </a:cxn>
              </a:cxnLst>
              <a:rect l="0" t="0" r="r" b="b"/>
              <a:pathLst>
                <a:path w="1695" h="765">
                  <a:moveTo>
                    <a:pt x="0" y="0"/>
                  </a:moveTo>
                  <a:lnTo>
                    <a:pt x="1694" y="0"/>
                  </a:lnTo>
                  <a:lnTo>
                    <a:pt x="1694" y="764"/>
                  </a:lnTo>
                  <a:lnTo>
                    <a:pt x="0" y="764"/>
                  </a:lnTo>
                  <a:lnTo>
                    <a:pt x="0" y="0"/>
                  </a:lnTo>
                </a:path>
              </a:pathLst>
            </a:custGeom>
            <a:noFill/>
            <a:ln w="12700" cap="rnd" cmpd="sng">
              <a:noFill/>
              <a:prstDash val="solid"/>
              <a:round/>
              <a:headEnd type="none" w="med" len="med"/>
              <a:tailEnd type="none" w="med" len="med"/>
            </a:ln>
            <a:effectLst/>
          </p:spPr>
          <p:txBody>
            <a:bodyPr/>
            <a:lstStyle/>
            <a:p>
              <a:endParaRPr lang="en-US"/>
            </a:p>
          </p:txBody>
        </p:sp>
        <p:sp>
          <p:nvSpPr>
            <p:cNvPr id="969781" name="Freeform 2101"/>
            <p:cNvSpPr>
              <a:spLocks/>
            </p:cNvSpPr>
            <p:nvPr/>
          </p:nvSpPr>
          <p:spPr bwMode="auto">
            <a:xfrm>
              <a:off x="3286" y="738"/>
              <a:ext cx="1695" cy="1033"/>
            </a:xfrm>
            <a:custGeom>
              <a:avLst/>
              <a:gdLst/>
              <a:ahLst/>
              <a:cxnLst>
                <a:cxn ang="0">
                  <a:pos x="0" y="0"/>
                </a:cxn>
                <a:cxn ang="0">
                  <a:pos x="1694" y="0"/>
                </a:cxn>
                <a:cxn ang="0">
                  <a:pos x="1694" y="1032"/>
                </a:cxn>
                <a:cxn ang="0">
                  <a:pos x="0" y="1032"/>
                </a:cxn>
                <a:cxn ang="0">
                  <a:pos x="0" y="0"/>
                </a:cxn>
              </a:cxnLst>
              <a:rect l="0" t="0" r="r" b="b"/>
              <a:pathLst>
                <a:path w="1695" h="1033">
                  <a:moveTo>
                    <a:pt x="0" y="0"/>
                  </a:moveTo>
                  <a:lnTo>
                    <a:pt x="1694" y="0"/>
                  </a:lnTo>
                  <a:lnTo>
                    <a:pt x="1694" y="1032"/>
                  </a:lnTo>
                  <a:lnTo>
                    <a:pt x="0" y="1032"/>
                  </a:lnTo>
                  <a:lnTo>
                    <a:pt x="0" y="0"/>
                  </a:lnTo>
                </a:path>
              </a:pathLst>
            </a:custGeom>
            <a:noFill/>
            <a:ln w="12700" cap="rnd" cmpd="sng">
              <a:solidFill>
                <a:schemeClr val="tx1"/>
              </a:solidFill>
              <a:prstDash val="solid"/>
              <a:round/>
              <a:headEnd type="none" w="med" len="med"/>
              <a:tailEnd type="none" w="med" len="med"/>
            </a:ln>
            <a:effectLst/>
          </p:spPr>
          <p:txBody>
            <a:bodyPr/>
            <a:lstStyle/>
            <a:p>
              <a:endParaRPr lang="en-US"/>
            </a:p>
          </p:txBody>
        </p:sp>
        <p:sp>
          <p:nvSpPr>
            <p:cNvPr id="969782" name="Line 2102"/>
            <p:cNvSpPr>
              <a:spLocks noChangeShapeType="1"/>
            </p:cNvSpPr>
            <p:nvPr/>
          </p:nvSpPr>
          <p:spPr bwMode="auto">
            <a:xfrm>
              <a:off x="3272" y="1639"/>
              <a:ext cx="29" cy="0"/>
            </a:xfrm>
            <a:prstGeom prst="line">
              <a:avLst/>
            </a:prstGeom>
            <a:noFill/>
            <a:ln w="12700">
              <a:solidFill>
                <a:srgbClr val="000000"/>
              </a:solidFill>
              <a:round/>
              <a:headEnd/>
              <a:tailEnd/>
            </a:ln>
            <a:effectLst/>
          </p:spPr>
          <p:txBody>
            <a:bodyPr wrap="none" anchor="ctr"/>
            <a:lstStyle/>
            <a:p>
              <a:endParaRPr lang="en-US"/>
            </a:p>
          </p:txBody>
        </p:sp>
        <p:sp>
          <p:nvSpPr>
            <p:cNvPr id="969783" name="Line 2103"/>
            <p:cNvSpPr>
              <a:spLocks noChangeShapeType="1"/>
            </p:cNvSpPr>
            <p:nvPr/>
          </p:nvSpPr>
          <p:spPr bwMode="auto">
            <a:xfrm>
              <a:off x="3272" y="1448"/>
              <a:ext cx="29" cy="0"/>
            </a:xfrm>
            <a:prstGeom prst="line">
              <a:avLst/>
            </a:prstGeom>
            <a:noFill/>
            <a:ln w="12700">
              <a:solidFill>
                <a:srgbClr val="000000"/>
              </a:solidFill>
              <a:round/>
              <a:headEnd/>
              <a:tailEnd/>
            </a:ln>
            <a:effectLst/>
          </p:spPr>
          <p:txBody>
            <a:bodyPr wrap="none" anchor="ctr"/>
            <a:lstStyle/>
            <a:p>
              <a:endParaRPr lang="en-US"/>
            </a:p>
          </p:txBody>
        </p:sp>
        <p:sp>
          <p:nvSpPr>
            <p:cNvPr id="969784" name="Line 2104"/>
            <p:cNvSpPr>
              <a:spLocks noChangeShapeType="1"/>
            </p:cNvSpPr>
            <p:nvPr/>
          </p:nvSpPr>
          <p:spPr bwMode="auto">
            <a:xfrm>
              <a:off x="3272" y="1257"/>
              <a:ext cx="29" cy="0"/>
            </a:xfrm>
            <a:prstGeom prst="line">
              <a:avLst/>
            </a:prstGeom>
            <a:noFill/>
            <a:ln w="12700">
              <a:solidFill>
                <a:srgbClr val="000000"/>
              </a:solidFill>
              <a:round/>
              <a:headEnd/>
              <a:tailEnd/>
            </a:ln>
            <a:effectLst/>
          </p:spPr>
          <p:txBody>
            <a:bodyPr wrap="none" anchor="ctr"/>
            <a:lstStyle/>
            <a:p>
              <a:endParaRPr lang="en-US"/>
            </a:p>
          </p:txBody>
        </p:sp>
        <p:sp>
          <p:nvSpPr>
            <p:cNvPr id="969785" name="Line 2105"/>
            <p:cNvSpPr>
              <a:spLocks noChangeShapeType="1"/>
            </p:cNvSpPr>
            <p:nvPr/>
          </p:nvSpPr>
          <p:spPr bwMode="auto">
            <a:xfrm>
              <a:off x="3272" y="1066"/>
              <a:ext cx="29" cy="0"/>
            </a:xfrm>
            <a:prstGeom prst="line">
              <a:avLst/>
            </a:prstGeom>
            <a:noFill/>
            <a:ln w="12700">
              <a:solidFill>
                <a:srgbClr val="000000"/>
              </a:solidFill>
              <a:round/>
              <a:headEnd/>
              <a:tailEnd/>
            </a:ln>
            <a:effectLst/>
          </p:spPr>
          <p:txBody>
            <a:bodyPr wrap="none" anchor="ctr"/>
            <a:lstStyle/>
            <a:p>
              <a:endParaRPr lang="en-US"/>
            </a:p>
          </p:txBody>
        </p:sp>
        <p:sp>
          <p:nvSpPr>
            <p:cNvPr id="969786" name="Line 2106"/>
            <p:cNvSpPr>
              <a:spLocks noChangeShapeType="1"/>
            </p:cNvSpPr>
            <p:nvPr/>
          </p:nvSpPr>
          <p:spPr bwMode="auto">
            <a:xfrm>
              <a:off x="3272" y="875"/>
              <a:ext cx="29" cy="0"/>
            </a:xfrm>
            <a:prstGeom prst="line">
              <a:avLst/>
            </a:prstGeom>
            <a:noFill/>
            <a:ln w="12700">
              <a:solidFill>
                <a:srgbClr val="000000"/>
              </a:solidFill>
              <a:round/>
              <a:headEnd/>
              <a:tailEnd/>
            </a:ln>
            <a:effectLst/>
          </p:spPr>
          <p:txBody>
            <a:bodyPr wrap="none" anchor="ctr"/>
            <a:lstStyle/>
            <a:p>
              <a:endParaRPr lang="en-US"/>
            </a:p>
          </p:txBody>
        </p:sp>
        <p:sp>
          <p:nvSpPr>
            <p:cNvPr id="969787" name="Line 2107"/>
            <p:cNvSpPr>
              <a:spLocks noChangeShapeType="1"/>
            </p:cNvSpPr>
            <p:nvPr/>
          </p:nvSpPr>
          <p:spPr bwMode="auto">
            <a:xfrm>
              <a:off x="3291" y="1257"/>
              <a:ext cx="1685" cy="0"/>
            </a:xfrm>
            <a:prstGeom prst="line">
              <a:avLst/>
            </a:prstGeom>
            <a:noFill/>
            <a:ln w="12700">
              <a:solidFill>
                <a:srgbClr val="000000"/>
              </a:solidFill>
              <a:round/>
              <a:headEnd/>
              <a:tailEnd/>
            </a:ln>
            <a:effectLst/>
          </p:spPr>
          <p:txBody>
            <a:bodyPr wrap="none" anchor="ctr"/>
            <a:lstStyle/>
            <a:p>
              <a:endParaRPr lang="en-US"/>
            </a:p>
          </p:txBody>
        </p:sp>
        <p:sp>
          <p:nvSpPr>
            <p:cNvPr id="969788" name="Freeform 2108"/>
            <p:cNvSpPr>
              <a:spLocks/>
            </p:cNvSpPr>
            <p:nvPr/>
          </p:nvSpPr>
          <p:spPr bwMode="auto">
            <a:xfrm>
              <a:off x="3286" y="911"/>
              <a:ext cx="1695" cy="729"/>
            </a:xfrm>
            <a:custGeom>
              <a:avLst/>
              <a:gdLst/>
              <a:ahLst/>
              <a:cxnLst>
                <a:cxn ang="0">
                  <a:pos x="25" y="257"/>
                </a:cxn>
                <a:cxn ang="0">
                  <a:pos x="50" y="471"/>
                </a:cxn>
                <a:cxn ang="0">
                  <a:pos x="75" y="418"/>
                </a:cxn>
                <a:cxn ang="0">
                  <a:pos x="106" y="430"/>
                </a:cxn>
                <a:cxn ang="0">
                  <a:pos x="131" y="292"/>
                </a:cxn>
                <a:cxn ang="0">
                  <a:pos x="156" y="358"/>
                </a:cxn>
                <a:cxn ang="0">
                  <a:pos x="188" y="310"/>
                </a:cxn>
                <a:cxn ang="0">
                  <a:pos x="213" y="358"/>
                </a:cxn>
                <a:cxn ang="0">
                  <a:pos x="238" y="430"/>
                </a:cxn>
                <a:cxn ang="0">
                  <a:pos x="269" y="328"/>
                </a:cxn>
                <a:cxn ang="0">
                  <a:pos x="294" y="609"/>
                </a:cxn>
                <a:cxn ang="0">
                  <a:pos x="319" y="364"/>
                </a:cxn>
                <a:cxn ang="0">
                  <a:pos x="350" y="435"/>
                </a:cxn>
                <a:cxn ang="0">
                  <a:pos x="375" y="316"/>
                </a:cxn>
                <a:cxn ang="0">
                  <a:pos x="400" y="227"/>
                </a:cxn>
                <a:cxn ang="0">
                  <a:pos x="431" y="328"/>
                </a:cxn>
                <a:cxn ang="0">
                  <a:pos x="456" y="388"/>
                </a:cxn>
                <a:cxn ang="0">
                  <a:pos x="481" y="245"/>
                </a:cxn>
                <a:cxn ang="0">
                  <a:pos x="513" y="245"/>
                </a:cxn>
                <a:cxn ang="0">
                  <a:pos x="538" y="412"/>
                </a:cxn>
                <a:cxn ang="0">
                  <a:pos x="569" y="113"/>
                </a:cxn>
                <a:cxn ang="0">
                  <a:pos x="594" y="215"/>
                </a:cxn>
                <a:cxn ang="0">
                  <a:pos x="619" y="274"/>
                </a:cxn>
                <a:cxn ang="0">
                  <a:pos x="650" y="233"/>
                </a:cxn>
                <a:cxn ang="0">
                  <a:pos x="675" y="304"/>
                </a:cxn>
                <a:cxn ang="0">
                  <a:pos x="700" y="370"/>
                </a:cxn>
                <a:cxn ang="0">
                  <a:pos x="725" y="310"/>
                </a:cxn>
                <a:cxn ang="0">
                  <a:pos x="756" y="316"/>
                </a:cxn>
                <a:cxn ang="0">
                  <a:pos x="781" y="251"/>
                </a:cxn>
                <a:cxn ang="0">
                  <a:pos x="806" y="459"/>
                </a:cxn>
                <a:cxn ang="0">
                  <a:pos x="838" y="322"/>
                </a:cxn>
                <a:cxn ang="0">
                  <a:pos x="863" y="418"/>
                </a:cxn>
                <a:cxn ang="0">
                  <a:pos x="888" y="406"/>
                </a:cxn>
                <a:cxn ang="0">
                  <a:pos x="913" y="441"/>
                </a:cxn>
                <a:cxn ang="0">
                  <a:pos x="938" y="388"/>
                </a:cxn>
                <a:cxn ang="0">
                  <a:pos x="969" y="304"/>
                </a:cxn>
                <a:cxn ang="0">
                  <a:pos x="994" y="394"/>
                </a:cxn>
                <a:cxn ang="0">
                  <a:pos x="1019" y="352"/>
                </a:cxn>
                <a:cxn ang="0">
                  <a:pos x="1044" y="537"/>
                </a:cxn>
                <a:cxn ang="0">
                  <a:pos x="1075" y="418"/>
                </a:cxn>
                <a:cxn ang="0">
                  <a:pos x="1100" y="310"/>
                </a:cxn>
                <a:cxn ang="0">
                  <a:pos x="1125" y="406"/>
                </a:cxn>
                <a:cxn ang="0">
                  <a:pos x="1150" y="400"/>
                </a:cxn>
                <a:cxn ang="0">
                  <a:pos x="1181" y="394"/>
                </a:cxn>
                <a:cxn ang="0">
                  <a:pos x="1206" y="388"/>
                </a:cxn>
                <a:cxn ang="0">
                  <a:pos x="1238" y="340"/>
                </a:cxn>
                <a:cxn ang="0">
                  <a:pos x="1263" y="441"/>
                </a:cxn>
                <a:cxn ang="0">
                  <a:pos x="1288" y="465"/>
                </a:cxn>
                <a:cxn ang="0">
                  <a:pos x="1313" y="376"/>
                </a:cxn>
                <a:cxn ang="0">
                  <a:pos x="1344" y="316"/>
                </a:cxn>
                <a:cxn ang="0">
                  <a:pos x="1369" y="227"/>
                </a:cxn>
                <a:cxn ang="0">
                  <a:pos x="1394" y="286"/>
                </a:cxn>
                <a:cxn ang="0">
                  <a:pos x="1425" y="388"/>
                </a:cxn>
                <a:cxn ang="0">
                  <a:pos x="1450" y="352"/>
                </a:cxn>
                <a:cxn ang="0">
                  <a:pos x="1475" y="376"/>
                </a:cxn>
                <a:cxn ang="0">
                  <a:pos x="1500" y="441"/>
                </a:cxn>
                <a:cxn ang="0">
                  <a:pos x="1531" y="233"/>
                </a:cxn>
                <a:cxn ang="0">
                  <a:pos x="1556" y="227"/>
                </a:cxn>
                <a:cxn ang="0">
                  <a:pos x="1581" y="412"/>
                </a:cxn>
                <a:cxn ang="0">
                  <a:pos x="1606" y="340"/>
                </a:cxn>
                <a:cxn ang="0">
                  <a:pos x="1631" y="400"/>
                </a:cxn>
                <a:cxn ang="0">
                  <a:pos x="1663" y="322"/>
                </a:cxn>
                <a:cxn ang="0">
                  <a:pos x="1688" y="245"/>
                </a:cxn>
              </a:cxnLst>
              <a:rect l="0" t="0" r="r" b="b"/>
              <a:pathLst>
                <a:path w="1695" h="729">
                  <a:moveTo>
                    <a:pt x="0" y="286"/>
                  </a:moveTo>
                  <a:lnTo>
                    <a:pt x="0" y="447"/>
                  </a:lnTo>
                  <a:lnTo>
                    <a:pt x="6" y="382"/>
                  </a:lnTo>
                  <a:lnTo>
                    <a:pt x="6" y="340"/>
                  </a:lnTo>
                  <a:lnTo>
                    <a:pt x="6" y="322"/>
                  </a:lnTo>
                  <a:lnTo>
                    <a:pt x="6" y="257"/>
                  </a:lnTo>
                  <a:lnTo>
                    <a:pt x="13" y="257"/>
                  </a:lnTo>
                  <a:lnTo>
                    <a:pt x="13" y="292"/>
                  </a:lnTo>
                  <a:lnTo>
                    <a:pt x="13" y="447"/>
                  </a:lnTo>
                  <a:lnTo>
                    <a:pt x="13" y="262"/>
                  </a:lnTo>
                  <a:lnTo>
                    <a:pt x="19" y="346"/>
                  </a:lnTo>
                  <a:lnTo>
                    <a:pt x="19" y="370"/>
                  </a:lnTo>
                  <a:lnTo>
                    <a:pt x="19" y="310"/>
                  </a:lnTo>
                  <a:lnTo>
                    <a:pt x="19" y="274"/>
                  </a:lnTo>
                  <a:lnTo>
                    <a:pt x="25" y="298"/>
                  </a:lnTo>
                  <a:lnTo>
                    <a:pt x="25" y="257"/>
                  </a:lnTo>
                  <a:lnTo>
                    <a:pt x="25" y="310"/>
                  </a:lnTo>
                  <a:lnTo>
                    <a:pt x="31" y="316"/>
                  </a:lnTo>
                  <a:lnTo>
                    <a:pt x="31" y="328"/>
                  </a:lnTo>
                  <a:lnTo>
                    <a:pt x="31" y="334"/>
                  </a:lnTo>
                  <a:lnTo>
                    <a:pt x="31" y="430"/>
                  </a:lnTo>
                  <a:lnTo>
                    <a:pt x="38" y="245"/>
                  </a:lnTo>
                  <a:lnTo>
                    <a:pt x="38" y="334"/>
                  </a:lnTo>
                  <a:lnTo>
                    <a:pt x="38" y="412"/>
                  </a:lnTo>
                  <a:lnTo>
                    <a:pt x="38" y="430"/>
                  </a:lnTo>
                  <a:lnTo>
                    <a:pt x="44" y="614"/>
                  </a:lnTo>
                  <a:lnTo>
                    <a:pt x="44" y="632"/>
                  </a:lnTo>
                  <a:lnTo>
                    <a:pt x="44" y="543"/>
                  </a:lnTo>
                  <a:lnTo>
                    <a:pt x="44" y="549"/>
                  </a:lnTo>
                  <a:lnTo>
                    <a:pt x="50" y="495"/>
                  </a:lnTo>
                  <a:lnTo>
                    <a:pt x="50" y="537"/>
                  </a:lnTo>
                  <a:lnTo>
                    <a:pt x="50" y="471"/>
                  </a:lnTo>
                  <a:lnTo>
                    <a:pt x="50" y="262"/>
                  </a:lnTo>
                  <a:lnTo>
                    <a:pt x="56" y="322"/>
                  </a:lnTo>
                  <a:lnTo>
                    <a:pt x="56" y="191"/>
                  </a:lnTo>
                  <a:lnTo>
                    <a:pt x="56" y="233"/>
                  </a:lnTo>
                  <a:lnTo>
                    <a:pt x="63" y="113"/>
                  </a:lnTo>
                  <a:lnTo>
                    <a:pt x="63" y="143"/>
                  </a:lnTo>
                  <a:lnTo>
                    <a:pt x="63" y="72"/>
                  </a:lnTo>
                  <a:lnTo>
                    <a:pt x="63" y="89"/>
                  </a:lnTo>
                  <a:lnTo>
                    <a:pt x="69" y="346"/>
                  </a:lnTo>
                  <a:lnTo>
                    <a:pt x="69" y="364"/>
                  </a:lnTo>
                  <a:lnTo>
                    <a:pt x="69" y="346"/>
                  </a:lnTo>
                  <a:lnTo>
                    <a:pt x="69" y="513"/>
                  </a:lnTo>
                  <a:lnTo>
                    <a:pt x="75" y="489"/>
                  </a:lnTo>
                  <a:lnTo>
                    <a:pt x="75" y="567"/>
                  </a:lnTo>
                  <a:lnTo>
                    <a:pt x="75" y="430"/>
                  </a:lnTo>
                  <a:lnTo>
                    <a:pt x="75" y="418"/>
                  </a:lnTo>
                  <a:lnTo>
                    <a:pt x="81" y="441"/>
                  </a:lnTo>
                  <a:lnTo>
                    <a:pt x="81" y="459"/>
                  </a:lnTo>
                  <a:lnTo>
                    <a:pt x="81" y="364"/>
                  </a:lnTo>
                  <a:lnTo>
                    <a:pt x="88" y="340"/>
                  </a:lnTo>
                  <a:lnTo>
                    <a:pt x="88" y="262"/>
                  </a:lnTo>
                  <a:lnTo>
                    <a:pt x="88" y="203"/>
                  </a:lnTo>
                  <a:lnTo>
                    <a:pt x="88" y="107"/>
                  </a:lnTo>
                  <a:lnTo>
                    <a:pt x="94" y="268"/>
                  </a:lnTo>
                  <a:lnTo>
                    <a:pt x="94" y="227"/>
                  </a:lnTo>
                  <a:lnTo>
                    <a:pt x="94" y="203"/>
                  </a:lnTo>
                  <a:lnTo>
                    <a:pt x="94" y="328"/>
                  </a:lnTo>
                  <a:lnTo>
                    <a:pt x="100" y="400"/>
                  </a:lnTo>
                  <a:lnTo>
                    <a:pt x="100" y="292"/>
                  </a:lnTo>
                  <a:lnTo>
                    <a:pt x="100" y="471"/>
                  </a:lnTo>
                  <a:lnTo>
                    <a:pt x="100" y="489"/>
                  </a:lnTo>
                  <a:lnTo>
                    <a:pt x="106" y="430"/>
                  </a:lnTo>
                  <a:lnTo>
                    <a:pt x="106" y="495"/>
                  </a:lnTo>
                  <a:lnTo>
                    <a:pt x="106" y="292"/>
                  </a:lnTo>
                  <a:lnTo>
                    <a:pt x="106" y="453"/>
                  </a:lnTo>
                  <a:lnTo>
                    <a:pt x="113" y="268"/>
                  </a:lnTo>
                  <a:lnTo>
                    <a:pt x="113" y="334"/>
                  </a:lnTo>
                  <a:lnTo>
                    <a:pt x="113" y="286"/>
                  </a:lnTo>
                  <a:lnTo>
                    <a:pt x="119" y="304"/>
                  </a:lnTo>
                  <a:lnTo>
                    <a:pt x="119" y="340"/>
                  </a:lnTo>
                  <a:lnTo>
                    <a:pt x="119" y="298"/>
                  </a:lnTo>
                  <a:lnTo>
                    <a:pt x="119" y="334"/>
                  </a:lnTo>
                  <a:lnTo>
                    <a:pt x="125" y="268"/>
                  </a:lnTo>
                  <a:lnTo>
                    <a:pt x="125" y="394"/>
                  </a:lnTo>
                  <a:lnTo>
                    <a:pt x="125" y="364"/>
                  </a:lnTo>
                  <a:lnTo>
                    <a:pt x="125" y="358"/>
                  </a:lnTo>
                  <a:lnTo>
                    <a:pt x="131" y="418"/>
                  </a:lnTo>
                  <a:lnTo>
                    <a:pt x="131" y="292"/>
                  </a:lnTo>
                  <a:lnTo>
                    <a:pt x="131" y="412"/>
                  </a:lnTo>
                  <a:lnTo>
                    <a:pt x="131" y="453"/>
                  </a:lnTo>
                  <a:lnTo>
                    <a:pt x="138" y="286"/>
                  </a:lnTo>
                  <a:lnTo>
                    <a:pt x="138" y="304"/>
                  </a:lnTo>
                  <a:lnTo>
                    <a:pt x="138" y="430"/>
                  </a:lnTo>
                  <a:lnTo>
                    <a:pt x="144" y="310"/>
                  </a:lnTo>
                  <a:lnTo>
                    <a:pt x="144" y="221"/>
                  </a:lnTo>
                  <a:lnTo>
                    <a:pt x="144" y="328"/>
                  </a:lnTo>
                  <a:lnTo>
                    <a:pt x="150" y="280"/>
                  </a:lnTo>
                  <a:lnTo>
                    <a:pt x="150" y="227"/>
                  </a:lnTo>
                  <a:lnTo>
                    <a:pt x="150" y="215"/>
                  </a:lnTo>
                  <a:lnTo>
                    <a:pt x="150" y="352"/>
                  </a:lnTo>
                  <a:lnTo>
                    <a:pt x="156" y="382"/>
                  </a:lnTo>
                  <a:lnTo>
                    <a:pt x="156" y="322"/>
                  </a:lnTo>
                  <a:lnTo>
                    <a:pt x="156" y="424"/>
                  </a:lnTo>
                  <a:lnTo>
                    <a:pt x="156" y="358"/>
                  </a:lnTo>
                  <a:lnTo>
                    <a:pt x="163" y="262"/>
                  </a:lnTo>
                  <a:lnTo>
                    <a:pt x="163" y="322"/>
                  </a:lnTo>
                  <a:lnTo>
                    <a:pt x="163" y="304"/>
                  </a:lnTo>
                  <a:lnTo>
                    <a:pt x="163" y="394"/>
                  </a:lnTo>
                  <a:lnTo>
                    <a:pt x="169" y="441"/>
                  </a:lnTo>
                  <a:lnTo>
                    <a:pt x="169" y="424"/>
                  </a:lnTo>
                  <a:lnTo>
                    <a:pt x="169" y="286"/>
                  </a:lnTo>
                  <a:lnTo>
                    <a:pt x="175" y="251"/>
                  </a:lnTo>
                  <a:lnTo>
                    <a:pt x="175" y="304"/>
                  </a:lnTo>
                  <a:lnTo>
                    <a:pt x="175" y="328"/>
                  </a:lnTo>
                  <a:lnTo>
                    <a:pt x="175" y="352"/>
                  </a:lnTo>
                  <a:lnTo>
                    <a:pt x="181" y="358"/>
                  </a:lnTo>
                  <a:lnTo>
                    <a:pt x="181" y="197"/>
                  </a:lnTo>
                  <a:lnTo>
                    <a:pt x="181" y="280"/>
                  </a:lnTo>
                  <a:lnTo>
                    <a:pt x="181" y="340"/>
                  </a:lnTo>
                  <a:lnTo>
                    <a:pt x="188" y="310"/>
                  </a:lnTo>
                  <a:lnTo>
                    <a:pt x="188" y="394"/>
                  </a:lnTo>
                  <a:lnTo>
                    <a:pt x="188" y="316"/>
                  </a:lnTo>
                  <a:lnTo>
                    <a:pt x="188" y="257"/>
                  </a:lnTo>
                  <a:lnTo>
                    <a:pt x="194" y="257"/>
                  </a:lnTo>
                  <a:lnTo>
                    <a:pt x="194" y="286"/>
                  </a:lnTo>
                  <a:lnTo>
                    <a:pt x="194" y="430"/>
                  </a:lnTo>
                  <a:lnTo>
                    <a:pt x="200" y="370"/>
                  </a:lnTo>
                  <a:lnTo>
                    <a:pt x="200" y="310"/>
                  </a:lnTo>
                  <a:lnTo>
                    <a:pt x="200" y="328"/>
                  </a:lnTo>
                  <a:lnTo>
                    <a:pt x="200" y="382"/>
                  </a:lnTo>
                  <a:lnTo>
                    <a:pt x="206" y="358"/>
                  </a:lnTo>
                  <a:lnTo>
                    <a:pt x="206" y="364"/>
                  </a:lnTo>
                  <a:lnTo>
                    <a:pt x="206" y="400"/>
                  </a:lnTo>
                  <a:lnTo>
                    <a:pt x="206" y="304"/>
                  </a:lnTo>
                  <a:lnTo>
                    <a:pt x="213" y="406"/>
                  </a:lnTo>
                  <a:lnTo>
                    <a:pt x="213" y="358"/>
                  </a:lnTo>
                  <a:lnTo>
                    <a:pt x="213" y="388"/>
                  </a:lnTo>
                  <a:lnTo>
                    <a:pt x="213" y="382"/>
                  </a:lnTo>
                  <a:lnTo>
                    <a:pt x="219" y="352"/>
                  </a:lnTo>
                  <a:lnTo>
                    <a:pt x="219" y="394"/>
                  </a:lnTo>
                  <a:lnTo>
                    <a:pt x="219" y="304"/>
                  </a:lnTo>
                  <a:lnTo>
                    <a:pt x="219" y="239"/>
                  </a:lnTo>
                  <a:lnTo>
                    <a:pt x="225" y="239"/>
                  </a:lnTo>
                  <a:lnTo>
                    <a:pt x="225" y="412"/>
                  </a:lnTo>
                  <a:lnTo>
                    <a:pt x="225" y="280"/>
                  </a:lnTo>
                  <a:lnTo>
                    <a:pt x="231" y="406"/>
                  </a:lnTo>
                  <a:lnTo>
                    <a:pt x="231" y="257"/>
                  </a:lnTo>
                  <a:lnTo>
                    <a:pt x="231" y="304"/>
                  </a:lnTo>
                  <a:lnTo>
                    <a:pt x="231" y="340"/>
                  </a:lnTo>
                  <a:lnTo>
                    <a:pt x="238" y="280"/>
                  </a:lnTo>
                  <a:lnTo>
                    <a:pt x="238" y="268"/>
                  </a:lnTo>
                  <a:lnTo>
                    <a:pt x="238" y="430"/>
                  </a:lnTo>
                  <a:lnTo>
                    <a:pt x="238" y="412"/>
                  </a:lnTo>
                  <a:lnTo>
                    <a:pt x="244" y="322"/>
                  </a:lnTo>
                  <a:lnTo>
                    <a:pt x="244" y="418"/>
                  </a:lnTo>
                  <a:lnTo>
                    <a:pt x="244" y="328"/>
                  </a:lnTo>
                  <a:lnTo>
                    <a:pt x="250" y="340"/>
                  </a:lnTo>
                  <a:lnTo>
                    <a:pt x="250" y="418"/>
                  </a:lnTo>
                  <a:lnTo>
                    <a:pt x="250" y="304"/>
                  </a:lnTo>
                  <a:lnTo>
                    <a:pt x="256" y="388"/>
                  </a:lnTo>
                  <a:lnTo>
                    <a:pt x="256" y="435"/>
                  </a:lnTo>
                  <a:lnTo>
                    <a:pt x="256" y="239"/>
                  </a:lnTo>
                  <a:lnTo>
                    <a:pt x="256" y="435"/>
                  </a:lnTo>
                  <a:lnTo>
                    <a:pt x="263" y="262"/>
                  </a:lnTo>
                  <a:lnTo>
                    <a:pt x="263" y="274"/>
                  </a:lnTo>
                  <a:lnTo>
                    <a:pt x="263" y="376"/>
                  </a:lnTo>
                  <a:lnTo>
                    <a:pt x="263" y="257"/>
                  </a:lnTo>
                  <a:lnTo>
                    <a:pt x="269" y="328"/>
                  </a:lnTo>
                  <a:lnTo>
                    <a:pt x="269" y="447"/>
                  </a:lnTo>
                  <a:lnTo>
                    <a:pt x="269" y="394"/>
                  </a:lnTo>
                  <a:lnTo>
                    <a:pt x="269" y="400"/>
                  </a:lnTo>
                  <a:lnTo>
                    <a:pt x="275" y="274"/>
                  </a:lnTo>
                  <a:lnTo>
                    <a:pt x="275" y="239"/>
                  </a:lnTo>
                  <a:lnTo>
                    <a:pt x="275" y="352"/>
                  </a:lnTo>
                  <a:lnTo>
                    <a:pt x="281" y="364"/>
                  </a:lnTo>
                  <a:lnTo>
                    <a:pt x="281" y="316"/>
                  </a:lnTo>
                  <a:lnTo>
                    <a:pt x="281" y="257"/>
                  </a:lnTo>
                  <a:lnTo>
                    <a:pt x="281" y="400"/>
                  </a:lnTo>
                  <a:lnTo>
                    <a:pt x="288" y="346"/>
                  </a:lnTo>
                  <a:lnTo>
                    <a:pt x="288" y="400"/>
                  </a:lnTo>
                  <a:lnTo>
                    <a:pt x="288" y="316"/>
                  </a:lnTo>
                  <a:lnTo>
                    <a:pt x="288" y="430"/>
                  </a:lnTo>
                  <a:lnTo>
                    <a:pt x="294" y="597"/>
                  </a:lnTo>
                  <a:lnTo>
                    <a:pt x="294" y="609"/>
                  </a:lnTo>
                  <a:lnTo>
                    <a:pt x="294" y="549"/>
                  </a:lnTo>
                  <a:lnTo>
                    <a:pt x="300" y="555"/>
                  </a:lnTo>
                  <a:lnTo>
                    <a:pt x="300" y="495"/>
                  </a:lnTo>
                  <a:lnTo>
                    <a:pt x="300" y="441"/>
                  </a:lnTo>
                  <a:lnTo>
                    <a:pt x="300" y="447"/>
                  </a:lnTo>
                  <a:lnTo>
                    <a:pt x="306" y="257"/>
                  </a:lnTo>
                  <a:lnTo>
                    <a:pt x="306" y="292"/>
                  </a:lnTo>
                  <a:lnTo>
                    <a:pt x="306" y="78"/>
                  </a:lnTo>
                  <a:lnTo>
                    <a:pt x="313" y="36"/>
                  </a:lnTo>
                  <a:lnTo>
                    <a:pt x="313" y="215"/>
                  </a:lnTo>
                  <a:lnTo>
                    <a:pt x="313" y="161"/>
                  </a:lnTo>
                  <a:lnTo>
                    <a:pt x="313" y="262"/>
                  </a:lnTo>
                  <a:lnTo>
                    <a:pt x="319" y="352"/>
                  </a:lnTo>
                  <a:lnTo>
                    <a:pt x="319" y="227"/>
                  </a:lnTo>
                  <a:lnTo>
                    <a:pt x="319" y="268"/>
                  </a:lnTo>
                  <a:lnTo>
                    <a:pt x="319" y="364"/>
                  </a:lnTo>
                  <a:lnTo>
                    <a:pt x="325" y="495"/>
                  </a:lnTo>
                  <a:lnTo>
                    <a:pt x="325" y="483"/>
                  </a:lnTo>
                  <a:lnTo>
                    <a:pt x="325" y="579"/>
                  </a:lnTo>
                  <a:lnTo>
                    <a:pt x="325" y="394"/>
                  </a:lnTo>
                  <a:lnTo>
                    <a:pt x="331" y="507"/>
                  </a:lnTo>
                  <a:lnTo>
                    <a:pt x="331" y="406"/>
                  </a:lnTo>
                  <a:lnTo>
                    <a:pt x="331" y="316"/>
                  </a:lnTo>
                  <a:lnTo>
                    <a:pt x="338" y="346"/>
                  </a:lnTo>
                  <a:lnTo>
                    <a:pt x="338" y="322"/>
                  </a:lnTo>
                  <a:lnTo>
                    <a:pt x="338" y="280"/>
                  </a:lnTo>
                  <a:lnTo>
                    <a:pt x="338" y="185"/>
                  </a:lnTo>
                  <a:lnTo>
                    <a:pt x="344" y="149"/>
                  </a:lnTo>
                  <a:lnTo>
                    <a:pt x="344" y="316"/>
                  </a:lnTo>
                  <a:lnTo>
                    <a:pt x="344" y="191"/>
                  </a:lnTo>
                  <a:lnTo>
                    <a:pt x="344" y="268"/>
                  </a:lnTo>
                  <a:lnTo>
                    <a:pt x="350" y="435"/>
                  </a:lnTo>
                  <a:lnTo>
                    <a:pt x="350" y="292"/>
                  </a:lnTo>
                  <a:lnTo>
                    <a:pt x="350" y="483"/>
                  </a:lnTo>
                  <a:lnTo>
                    <a:pt x="350" y="418"/>
                  </a:lnTo>
                  <a:lnTo>
                    <a:pt x="356" y="352"/>
                  </a:lnTo>
                  <a:lnTo>
                    <a:pt x="356" y="525"/>
                  </a:lnTo>
                  <a:lnTo>
                    <a:pt x="356" y="364"/>
                  </a:lnTo>
                  <a:lnTo>
                    <a:pt x="356" y="424"/>
                  </a:lnTo>
                  <a:lnTo>
                    <a:pt x="363" y="382"/>
                  </a:lnTo>
                  <a:lnTo>
                    <a:pt x="363" y="286"/>
                  </a:lnTo>
                  <a:lnTo>
                    <a:pt x="363" y="310"/>
                  </a:lnTo>
                  <a:lnTo>
                    <a:pt x="369" y="268"/>
                  </a:lnTo>
                  <a:lnTo>
                    <a:pt x="369" y="233"/>
                  </a:lnTo>
                  <a:lnTo>
                    <a:pt x="369" y="257"/>
                  </a:lnTo>
                  <a:lnTo>
                    <a:pt x="369" y="239"/>
                  </a:lnTo>
                  <a:lnTo>
                    <a:pt x="375" y="376"/>
                  </a:lnTo>
                  <a:lnTo>
                    <a:pt x="375" y="316"/>
                  </a:lnTo>
                  <a:lnTo>
                    <a:pt x="375" y="292"/>
                  </a:lnTo>
                  <a:lnTo>
                    <a:pt x="375" y="334"/>
                  </a:lnTo>
                  <a:lnTo>
                    <a:pt x="381" y="453"/>
                  </a:lnTo>
                  <a:lnTo>
                    <a:pt x="381" y="430"/>
                  </a:lnTo>
                  <a:lnTo>
                    <a:pt x="381" y="477"/>
                  </a:lnTo>
                  <a:lnTo>
                    <a:pt x="381" y="412"/>
                  </a:lnTo>
                  <a:lnTo>
                    <a:pt x="388" y="430"/>
                  </a:lnTo>
                  <a:lnTo>
                    <a:pt x="388" y="322"/>
                  </a:lnTo>
                  <a:lnTo>
                    <a:pt x="388" y="370"/>
                  </a:lnTo>
                  <a:lnTo>
                    <a:pt x="394" y="382"/>
                  </a:lnTo>
                  <a:lnTo>
                    <a:pt x="394" y="400"/>
                  </a:lnTo>
                  <a:lnTo>
                    <a:pt x="394" y="203"/>
                  </a:lnTo>
                  <a:lnTo>
                    <a:pt x="400" y="239"/>
                  </a:lnTo>
                  <a:lnTo>
                    <a:pt x="400" y="358"/>
                  </a:lnTo>
                  <a:lnTo>
                    <a:pt x="400" y="185"/>
                  </a:lnTo>
                  <a:lnTo>
                    <a:pt x="400" y="227"/>
                  </a:lnTo>
                  <a:lnTo>
                    <a:pt x="406" y="358"/>
                  </a:lnTo>
                  <a:lnTo>
                    <a:pt x="406" y="286"/>
                  </a:lnTo>
                  <a:lnTo>
                    <a:pt x="406" y="364"/>
                  </a:lnTo>
                  <a:lnTo>
                    <a:pt x="406" y="430"/>
                  </a:lnTo>
                  <a:lnTo>
                    <a:pt x="413" y="430"/>
                  </a:lnTo>
                  <a:lnTo>
                    <a:pt x="413" y="471"/>
                  </a:lnTo>
                  <a:lnTo>
                    <a:pt x="413" y="298"/>
                  </a:lnTo>
                  <a:lnTo>
                    <a:pt x="413" y="274"/>
                  </a:lnTo>
                  <a:lnTo>
                    <a:pt x="419" y="280"/>
                  </a:lnTo>
                  <a:lnTo>
                    <a:pt x="419" y="412"/>
                  </a:lnTo>
                  <a:lnTo>
                    <a:pt x="419" y="262"/>
                  </a:lnTo>
                  <a:lnTo>
                    <a:pt x="425" y="358"/>
                  </a:lnTo>
                  <a:lnTo>
                    <a:pt x="425" y="203"/>
                  </a:lnTo>
                  <a:lnTo>
                    <a:pt x="425" y="245"/>
                  </a:lnTo>
                  <a:lnTo>
                    <a:pt x="425" y="352"/>
                  </a:lnTo>
                  <a:lnTo>
                    <a:pt x="431" y="328"/>
                  </a:lnTo>
                  <a:lnTo>
                    <a:pt x="431" y="322"/>
                  </a:lnTo>
                  <a:lnTo>
                    <a:pt x="431" y="376"/>
                  </a:lnTo>
                  <a:lnTo>
                    <a:pt x="431" y="316"/>
                  </a:lnTo>
                  <a:lnTo>
                    <a:pt x="438" y="346"/>
                  </a:lnTo>
                  <a:lnTo>
                    <a:pt x="438" y="376"/>
                  </a:lnTo>
                  <a:lnTo>
                    <a:pt x="438" y="441"/>
                  </a:lnTo>
                  <a:lnTo>
                    <a:pt x="438" y="292"/>
                  </a:lnTo>
                  <a:lnTo>
                    <a:pt x="444" y="441"/>
                  </a:lnTo>
                  <a:lnTo>
                    <a:pt x="444" y="394"/>
                  </a:lnTo>
                  <a:lnTo>
                    <a:pt x="444" y="441"/>
                  </a:lnTo>
                  <a:lnTo>
                    <a:pt x="450" y="280"/>
                  </a:lnTo>
                  <a:lnTo>
                    <a:pt x="450" y="239"/>
                  </a:lnTo>
                  <a:lnTo>
                    <a:pt x="450" y="424"/>
                  </a:lnTo>
                  <a:lnTo>
                    <a:pt x="450" y="239"/>
                  </a:lnTo>
                  <a:lnTo>
                    <a:pt x="456" y="400"/>
                  </a:lnTo>
                  <a:lnTo>
                    <a:pt x="456" y="388"/>
                  </a:lnTo>
                  <a:lnTo>
                    <a:pt x="456" y="370"/>
                  </a:lnTo>
                  <a:lnTo>
                    <a:pt x="456" y="310"/>
                  </a:lnTo>
                  <a:lnTo>
                    <a:pt x="463" y="280"/>
                  </a:lnTo>
                  <a:lnTo>
                    <a:pt x="463" y="245"/>
                  </a:lnTo>
                  <a:lnTo>
                    <a:pt x="463" y="274"/>
                  </a:lnTo>
                  <a:lnTo>
                    <a:pt x="469" y="239"/>
                  </a:lnTo>
                  <a:lnTo>
                    <a:pt x="469" y="286"/>
                  </a:lnTo>
                  <a:lnTo>
                    <a:pt x="469" y="292"/>
                  </a:lnTo>
                  <a:lnTo>
                    <a:pt x="469" y="400"/>
                  </a:lnTo>
                  <a:lnTo>
                    <a:pt x="475" y="328"/>
                  </a:lnTo>
                  <a:lnTo>
                    <a:pt x="475" y="358"/>
                  </a:lnTo>
                  <a:lnTo>
                    <a:pt x="475" y="334"/>
                  </a:lnTo>
                  <a:lnTo>
                    <a:pt x="481" y="310"/>
                  </a:lnTo>
                  <a:lnTo>
                    <a:pt x="481" y="227"/>
                  </a:lnTo>
                  <a:lnTo>
                    <a:pt x="481" y="418"/>
                  </a:lnTo>
                  <a:lnTo>
                    <a:pt x="481" y="245"/>
                  </a:lnTo>
                  <a:lnTo>
                    <a:pt x="488" y="233"/>
                  </a:lnTo>
                  <a:lnTo>
                    <a:pt x="488" y="394"/>
                  </a:lnTo>
                  <a:lnTo>
                    <a:pt x="488" y="262"/>
                  </a:lnTo>
                  <a:lnTo>
                    <a:pt x="488" y="280"/>
                  </a:lnTo>
                  <a:lnTo>
                    <a:pt x="494" y="298"/>
                  </a:lnTo>
                  <a:lnTo>
                    <a:pt x="494" y="316"/>
                  </a:lnTo>
                  <a:lnTo>
                    <a:pt x="494" y="334"/>
                  </a:lnTo>
                  <a:lnTo>
                    <a:pt x="494" y="286"/>
                  </a:lnTo>
                  <a:lnTo>
                    <a:pt x="500" y="274"/>
                  </a:lnTo>
                  <a:lnTo>
                    <a:pt x="500" y="400"/>
                  </a:lnTo>
                  <a:lnTo>
                    <a:pt x="500" y="304"/>
                  </a:lnTo>
                  <a:lnTo>
                    <a:pt x="506" y="298"/>
                  </a:lnTo>
                  <a:lnTo>
                    <a:pt x="506" y="268"/>
                  </a:lnTo>
                  <a:lnTo>
                    <a:pt x="506" y="280"/>
                  </a:lnTo>
                  <a:lnTo>
                    <a:pt x="506" y="447"/>
                  </a:lnTo>
                  <a:lnTo>
                    <a:pt x="513" y="245"/>
                  </a:lnTo>
                  <a:lnTo>
                    <a:pt x="513" y="322"/>
                  </a:lnTo>
                  <a:lnTo>
                    <a:pt x="513" y="370"/>
                  </a:lnTo>
                  <a:lnTo>
                    <a:pt x="513" y="298"/>
                  </a:lnTo>
                  <a:lnTo>
                    <a:pt x="519" y="447"/>
                  </a:lnTo>
                  <a:lnTo>
                    <a:pt x="519" y="346"/>
                  </a:lnTo>
                  <a:lnTo>
                    <a:pt x="519" y="435"/>
                  </a:lnTo>
                  <a:lnTo>
                    <a:pt x="525" y="257"/>
                  </a:lnTo>
                  <a:lnTo>
                    <a:pt x="525" y="364"/>
                  </a:lnTo>
                  <a:lnTo>
                    <a:pt x="525" y="239"/>
                  </a:lnTo>
                  <a:lnTo>
                    <a:pt x="531" y="310"/>
                  </a:lnTo>
                  <a:lnTo>
                    <a:pt x="531" y="400"/>
                  </a:lnTo>
                  <a:lnTo>
                    <a:pt x="531" y="322"/>
                  </a:lnTo>
                  <a:lnTo>
                    <a:pt x="538" y="334"/>
                  </a:lnTo>
                  <a:lnTo>
                    <a:pt x="538" y="394"/>
                  </a:lnTo>
                  <a:lnTo>
                    <a:pt x="538" y="310"/>
                  </a:lnTo>
                  <a:lnTo>
                    <a:pt x="538" y="412"/>
                  </a:lnTo>
                  <a:lnTo>
                    <a:pt x="544" y="257"/>
                  </a:lnTo>
                  <a:lnTo>
                    <a:pt x="544" y="251"/>
                  </a:lnTo>
                  <a:lnTo>
                    <a:pt x="544" y="435"/>
                  </a:lnTo>
                  <a:lnTo>
                    <a:pt x="544" y="507"/>
                  </a:lnTo>
                  <a:lnTo>
                    <a:pt x="550" y="650"/>
                  </a:lnTo>
                  <a:lnTo>
                    <a:pt x="550" y="620"/>
                  </a:lnTo>
                  <a:lnTo>
                    <a:pt x="550" y="597"/>
                  </a:lnTo>
                  <a:lnTo>
                    <a:pt x="556" y="477"/>
                  </a:lnTo>
                  <a:lnTo>
                    <a:pt x="556" y="346"/>
                  </a:lnTo>
                  <a:lnTo>
                    <a:pt x="556" y="274"/>
                  </a:lnTo>
                  <a:lnTo>
                    <a:pt x="563" y="328"/>
                  </a:lnTo>
                  <a:lnTo>
                    <a:pt x="563" y="251"/>
                  </a:lnTo>
                  <a:lnTo>
                    <a:pt x="563" y="131"/>
                  </a:lnTo>
                  <a:lnTo>
                    <a:pt x="563" y="149"/>
                  </a:lnTo>
                  <a:lnTo>
                    <a:pt x="569" y="78"/>
                  </a:lnTo>
                  <a:lnTo>
                    <a:pt x="569" y="113"/>
                  </a:lnTo>
                  <a:lnTo>
                    <a:pt x="569" y="155"/>
                  </a:lnTo>
                  <a:lnTo>
                    <a:pt x="569" y="209"/>
                  </a:lnTo>
                  <a:lnTo>
                    <a:pt x="575" y="418"/>
                  </a:lnTo>
                  <a:lnTo>
                    <a:pt x="575" y="340"/>
                  </a:lnTo>
                  <a:lnTo>
                    <a:pt x="575" y="537"/>
                  </a:lnTo>
                  <a:lnTo>
                    <a:pt x="575" y="459"/>
                  </a:lnTo>
                  <a:lnTo>
                    <a:pt x="581" y="459"/>
                  </a:lnTo>
                  <a:lnTo>
                    <a:pt x="581" y="507"/>
                  </a:lnTo>
                  <a:lnTo>
                    <a:pt x="581" y="358"/>
                  </a:lnTo>
                  <a:lnTo>
                    <a:pt x="588" y="513"/>
                  </a:lnTo>
                  <a:lnTo>
                    <a:pt x="588" y="394"/>
                  </a:lnTo>
                  <a:lnTo>
                    <a:pt x="588" y="322"/>
                  </a:lnTo>
                  <a:lnTo>
                    <a:pt x="588" y="286"/>
                  </a:lnTo>
                  <a:lnTo>
                    <a:pt x="594" y="167"/>
                  </a:lnTo>
                  <a:lnTo>
                    <a:pt x="594" y="173"/>
                  </a:lnTo>
                  <a:lnTo>
                    <a:pt x="594" y="215"/>
                  </a:lnTo>
                  <a:lnTo>
                    <a:pt x="594" y="268"/>
                  </a:lnTo>
                  <a:lnTo>
                    <a:pt x="600" y="185"/>
                  </a:lnTo>
                  <a:lnTo>
                    <a:pt x="600" y="316"/>
                  </a:lnTo>
                  <a:lnTo>
                    <a:pt x="600" y="197"/>
                  </a:lnTo>
                  <a:lnTo>
                    <a:pt x="600" y="382"/>
                  </a:lnTo>
                  <a:lnTo>
                    <a:pt x="606" y="304"/>
                  </a:lnTo>
                  <a:lnTo>
                    <a:pt x="606" y="370"/>
                  </a:lnTo>
                  <a:lnTo>
                    <a:pt x="606" y="531"/>
                  </a:lnTo>
                  <a:lnTo>
                    <a:pt x="606" y="340"/>
                  </a:lnTo>
                  <a:lnTo>
                    <a:pt x="613" y="525"/>
                  </a:lnTo>
                  <a:lnTo>
                    <a:pt x="613" y="424"/>
                  </a:lnTo>
                  <a:lnTo>
                    <a:pt x="613" y="430"/>
                  </a:lnTo>
                  <a:lnTo>
                    <a:pt x="619" y="412"/>
                  </a:lnTo>
                  <a:lnTo>
                    <a:pt x="619" y="209"/>
                  </a:lnTo>
                  <a:lnTo>
                    <a:pt x="619" y="221"/>
                  </a:lnTo>
                  <a:lnTo>
                    <a:pt x="619" y="274"/>
                  </a:lnTo>
                  <a:lnTo>
                    <a:pt x="625" y="352"/>
                  </a:lnTo>
                  <a:lnTo>
                    <a:pt x="625" y="334"/>
                  </a:lnTo>
                  <a:lnTo>
                    <a:pt x="625" y="179"/>
                  </a:lnTo>
                  <a:lnTo>
                    <a:pt x="625" y="221"/>
                  </a:lnTo>
                  <a:lnTo>
                    <a:pt x="631" y="370"/>
                  </a:lnTo>
                  <a:lnTo>
                    <a:pt x="631" y="334"/>
                  </a:lnTo>
                  <a:lnTo>
                    <a:pt x="631" y="322"/>
                  </a:lnTo>
                  <a:lnTo>
                    <a:pt x="631" y="435"/>
                  </a:lnTo>
                  <a:lnTo>
                    <a:pt x="638" y="280"/>
                  </a:lnTo>
                  <a:lnTo>
                    <a:pt x="638" y="471"/>
                  </a:lnTo>
                  <a:lnTo>
                    <a:pt x="638" y="418"/>
                  </a:lnTo>
                  <a:lnTo>
                    <a:pt x="644" y="406"/>
                  </a:lnTo>
                  <a:lnTo>
                    <a:pt x="644" y="447"/>
                  </a:lnTo>
                  <a:lnTo>
                    <a:pt x="644" y="298"/>
                  </a:lnTo>
                  <a:lnTo>
                    <a:pt x="644" y="364"/>
                  </a:lnTo>
                  <a:lnTo>
                    <a:pt x="650" y="233"/>
                  </a:lnTo>
                  <a:lnTo>
                    <a:pt x="650" y="364"/>
                  </a:lnTo>
                  <a:lnTo>
                    <a:pt x="650" y="209"/>
                  </a:lnTo>
                  <a:lnTo>
                    <a:pt x="650" y="251"/>
                  </a:lnTo>
                  <a:lnTo>
                    <a:pt x="656" y="280"/>
                  </a:lnTo>
                  <a:lnTo>
                    <a:pt x="656" y="388"/>
                  </a:lnTo>
                  <a:lnTo>
                    <a:pt x="656" y="310"/>
                  </a:lnTo>
                  <a:lnTo>
                    <a:pt x="656" y="382"/>
                  </a:lnTo>
                  <a:lnTo>
                    <a:pt x="663" y="310"/>
                  </a:lnTo>
                  <a:lnTo>
                    <a:pt x="663" y="239"/>
                  </a:lnTo>
                  <a:lnTo>
                    <a:pt x="663" y="453"/>
                  </a:lnTo>
                  <a:lnTo>
                    <a:pt x="663" y="435"/>
                  </a:lnTo>
                  <a:lnTo>
                    <a:pt x="669" y="382"/>
                  </a:lnTo>
                  <a:lnTo>
                    <a:pt x="669" y="412"/>
                  </a:lnTo>
                  <a:lnTo>
                    <a:pt x="669" y="257"/>
                  </a:lnTo>
                  <a:lnTo>
                    <a:pt x="675" y="310"/>
                  </a:lnTo>
                  <a:lnTo>
                    <a:pt x="675" y="304"/>
                  </a:lnTo>
                  <a:lnTo>
                    <a:pt x="675" y="316"/>
                  </a:lnTo>
                  <a:lnTo>
                    <a:pt x="675" y="358"/>
                  </a:lnTo>
                  <a:lnTo>
                    <a:pt x="681" y="376"/>
                  </a:lnTo>
                  <a:lnTo>
                    <a:pt x="681" y="328"/>
                  </a:lnTo>
                  <a:lnTo>
                    <a:pt x="681" y="400"/>
                  </a:lnTo>
                  <a:lnTo>
                    <a:pt x="681" y="262"/>
                  </a:lnTo>
                  <a:lnTo>
                    <a:pt x="688" y="245"/>
                  </a:lnTo>
                  <a:lnTo>
                    <a:pt x="688" y="304"/>
                  </a:lnTo>
                  <a:lnTo>
                    <a:pt x="688" y="233"/>
                  </a:lnTo>
                  <a:lnTo>
                    <a:pt x="688" y="251"/>
                  </a:lnTo>
                  <a:lnTo>
                    <a:pt x="694" y="424"/>
                  </a:lnTo>
                  <a:lnTo>
                    <a:pt x="694" y="400"/>
                  </a:lnTo>
                  <a:lnTo>
                    <a:pt x="694" y="430"/>
                  </a:lnTo>
                  <a:lnTo>
                    <a:pt x="700" y="280"/>
                  </a:lnTo>
                  <a:lnTo>
                    <a:pt x="700" y="435"/>
                  </a:lnTo>
                  <a:lnTo>
                    <a:pt x="700" y="370"/>
                  </a:lnTo>
                  <a:lnTo>
                    <a:pt x="700" y="274"/>
                  </a:lnTo>
                  <a:lnTo>
                    <a:pt x="706" y="340"/>
                  </a:lnTo>
                  <a:lnTo>
                    <a:pt x="706" y="358"/>
                  </a:lnTo>
                  <a:lnTo>
                    <a:pt x="706" y="340"/>
                  </a:lnTo>
                  <a:lnTo>
                    <a:pt x="706" y="239"/>
                  </a:lnTo>
                  <a:lnTo>
                    <a:pt x="713" y="227"/>
                  </a:lnTo>
                  <a:lnTo>
                    <a:pt x="713" y="388"/>
                  </a:lnTo>
                  <a:lnTo>
                    <a:pt x="713" y="274"/>
                  </a:lnTo>
                  <a:lnTo>
                    <a:pt x="713" y="340"/>
                  </a:lnTo>
                  <a:lnTo>
                    <a:pt x="719" y="215"/>
                  </a:lnTo>
                  <a:lnTo>
                    <a:pt x="719" y="376"/>
                  </a:lnTo>
                  <a:lnTo>
                    <a:pt x="719" y="292"/>
                  </a:lnTo>
                  <a:lnTo>
                    <a:pt x="719" y="424"/>
                  </a:lnTo>
                  <a:lnTo>
                    <a:pt x="725" y="316"/>
                  </a:lnTo>
                  <a:lnTo>
                    <a:pt x="725" y="388"/>
                  </a:lnTo>
                  <a:lnTo>
                    <a:pt x="725" y="310"/>
                  </a:lnTo>
                  <a:lnTo>
                    <a:pt x="731" y="280"/>
                  </a:lnTo>
                  <a:lnTo>
                    <a:pt x="731" y="430"/>
                  </a:lnTo>
                  <a:lnTo>
                    <a:pt x="731" y="412"/>
                  </a:lnTo>
                  <a:lnTo>
                    <a:pt x="731" y="364"/>
                  </a:lnTo>
                  <a:lnTo>
                    <a:pt x="738" y="233"/>
                  </a:lnTo>
                  <a:lnTo>
                    <a:pt x="738" y="418"/>
                  </a:lnTo>
                  <a:lnTo>
                    <a:pt x="738" y="215"/>
                  </a:lnTo>
                  <a:lnTo>
                    <a:pt x="738" y="328"/>
                  </a:lnTo>
                  <a:lnTo>
                    <a:pt x="744" y="334"/>
                  </a:lnTo>
                  <a:lnTo>
                    <a:pt x="744" y="382"/>
                  </a:lnTo>
                  <a:lnTo>
                    <a:pt x="744" y="358"/>
                  </a:lnTo>
                  <a:lnTo>
                    <a:pt x="744" y="233"/>
                  </a:lnTo>
                  <a:lnTo>
                    <a:pt x="750" y="364"/>
                  </a:lnTo>
                  <a:lnTo>
                    <a:pt x="750" y="400"/>
                  </a:lnTo>
                  <a:lnTo>
                    <a:pt x="750" y="418"/>
                  </a:lnTo>
                  <a:lnTo>
                    <a:pt x="756" y="316"/>
                  </a:lnTo>
                  <a:lnTo>
                    <a:pt x="756" y="376"/>
                  </a:lnTo>
                  <a:lnTo>
                    <a:pt x="756" y="328"/>
                  </a:lnTo>
                  <a:lnTo>
                    <a:pt x="756" y="257"/>
                  </a:lnTo>
                  <a:lnTo>
                    <a:pt x="763" y="316"/>
                  </a:lnTo>
                  <a:lnTo>
                    <a:pt x="763" y="304"/>
                  </a:lnTo>
                  <a:lnTo>
                    <a:pt x="763" y="394"/>
                  </a:lnTo>
                  <a:lnTo>
                    <a:pt x="763" y="292"/>
                  </a:lnTo>
                  <a:lnTo>
                    <a:pt x="769" y="262"/>
                  </a:lnTo>
                  <a:lnTo>
                    <a:pt x="769" y="447"/>
                  </a:lnTo>
                  <a:lnTo>
                    <a:pt x="769" y="376"/>
                  </a:lnTo>
                  <a:lnTo>
                    <a:pt x="775" y="292"/>
                  </a:lnTo>
                  <a:lnTo>
                    <a:pt x="775" y="394"/>
                  </a:lnTo>
                  <a:lnTo>
                    <a:pt x="775" y="430"/>
                  </a:lnTo>
                  <a:lnTo>
                    <a:pt x="781" y="418"/>
                  </a:lnTo>
                  <a:lnTo>
                    <a:pt x="781" y="447"/>
                  </a:lnTo>
                  <a:lnTo>
                    <a:pt x="781" y="251"/>
                  </a:lnTo>
                  <a:lnTo>
                    <a:pt x="781" y="310"/>
                  </a:lnTo>
                  <a:lnTo>
                    <a:pt x="788" y="340"/>
                  </a:lnTo>
                  <a:lnTo>
                    <a:pt x="788" y="394"/>
                  </a:lnTo>
                  <a:lnTo>
                    <a:pt x="788" y="292"/>
                  </a:lnTo>
                  <a:lnTo>
                    <a:pt x="788" y="406"/>
                  </a:lnTo>
                  <a:lnTo>
                    <a:pt x="794" y="430"/>
                  </a:lnTo>
                  <a:lnTo>
                    <a:pt x="794" y="424"/>
                  </a:lnTo>
                  <a:lnTo>
                    <a:pt x="794" y="364"/>
                  </a:lnTo>
                  <a:lnTo>
                    <a:pt x="794" y="483"/>
                  </a:lnTo>
                  <a:lnTo>
                    <a:pt x="800" y="519"/>
                  </a:lnTo>
                  <a:lnTo>
                    <a:pt x="800" y="698"/>
                  </a:lnTo>
                  <a:lnTo>
                    <a:pt x="800" y="728"/>
                  </a:lnTo>
                  <a:lnTo>
                    <a:pt x="800" y="614"/>
                  </a:lnTo>
                  <a:lnTo>
                    <a:pt x="806" y="585"/>
                  </a:lnTo>
                  <a:lnTo>
                    <a:pt x="806" y="465"/>
                  </a:lnTo>
                  <a:lnTo>
                    <a:pt x="806" y="459"/>
                  </a:lnTo>
                  <a:lnTo>
                    <a:pt x="813" y="203"/>
                  </a:lnTo>
                  <a:lnTo>
                    <a:pt x="813" y="185"/>
                  </a:lnTo>
                  <a:lnTo>
                    <a:pt x="813" y="209"/>
                  </a:lnTo>
                  <a:lnTo>
                    <a:pt x="813" y="42"/>
                  </a:lnTo>
                  <a:lnTo>
                    <a:pt x="819" y="60"/>
                  </a:lnTo>
                  <a:lnTo>
                    <a:pt x="819" y="131"/>
                  </a:lnTo>
                  <a:lnTo>
                    <a:pt x="819" y="89"/>
                  </a:lnTo>
                  <a:lnTo>
                    <a:pt x="819" y="316"/>
                  </a:lnTo>
                  <a:lnTo>
                    <a:pt x="825" y="358"/>
                  </a:lnTo>
                  <a:lnTo>
                    <a:pt x="825" y="322"/>
                  </a:lnTo>
                  <a:lnTo>
                    <a:pt x="825" y="549"/>
                  </a:lnTo>
                  <a:lnTo>
                    <a:pt x="825" y="513"/>
                  </a:lnTo>
                  <a:lnTo>
                    <a:pt x="831" y="418"/>
                  </a:lnTo>
                  <a:lnTo>
                    <a:pt x="831" y="579"/>
                  </a:lnTo>
                  <a:lnTo>
                    <a:pt x="831" y="376"/>
                  </a:lnTo>
                  <a:lnTo>
                    <a:pt x="838" y="322"/>
                  </a:lnTo>
                  <a:lnTo>
                    <a:pt x="838" y="292"/>
                  </a:lnTo>
                  <a:lnTo>
                    <a:pt x="838" y="406"/>
                  </a:lnTo>
                  <a:lnTo>
                    <a:pt x="838" y="328"/>
                  </a:lnTo>
                  <a:lnTo>
                    <a:pt x="844" y="155"/>
                  </a:lnTo>
                  <a:lnTo>
                    <a:pt x="844" y="179"/>
                  </a:lnTo>
                  <a:lnTo>
                    <a:pt x="844" y="280"/>
                  </a:lnTo>
                  <a:lnTo>
                    <a:pt x="844" y="161"/>
                  </a:lnTo>
                  <a:lnTo>
                    <a:pt x="850" y="310"/>
                  </a:lnTo>
                  <a:lnTo>
                    <a:pt x="850" y="221"/>
                  </a:lnTo>
                  <a:lnTo>
                    <a:pt x="850" y="298"/>
                  </a:lnTo>
                  <a:lnTo>
                    <a:pt x="850" y="441"/>
                  </a:lnTo>
                  <a:lnTo>
                    <a:pt x="856" y="441"/>
                  </a:lnTo>
                  <a:lnTo>
                    <a:pt x="856" y="400"/>
                  </a:lnTo>
                  <a:lnTo>
                    <a:pt x="856" y="477"/>
                  </a:lnTo>
                  <a:lnTo>
                    <a:pt x="856" y="364"/>
                  </a:lnTo>
                  <a:lnTo>
                    <a:pt x="863" y="418"/>
                  </a:lnTo>
                  <a:lnTo>
                    <a:pt x="863" y="501"/>
                  </a:lnTo>
                  <a:lnTo>
                    <a:pt x="863" y="388"/>
                  </a:lnTo>
                  <a:lnTo>
                    <a:pt x="869" y="328"/>
                  </a:lnTo>
                  <a:lnTo>
                    <a:pt x="869" y="322"/>
                  </a:lnTo>
                  <a:lnTo>
                    <a:pt x="869" y="334"/>
                  </a:lnTo>
                  <a:lnTo>
                    <a:pt x="869" y="304"/>
                  </a:lnTo>
                  <a:lnTo>
                    <a:pt x="875" y="209"/>
                  </a:lnTo>
                  <a:lnTo>
                    <a:pt x="875" y="197"/>
                  </a:lnTo>
                  <a:lnTo>
                    <a:pt x="875" y="322"/>
                  </a:lnTo>
                  <a:lnTo>
                    <a:pt x="875" y="227"/>
                  </a:lnTo>
                  <a:lnTo>
                    <a:pt x="881" y="257"/>
                  </a:lnTo>
                  <a:lnTo>
                    <a:pt x="881" y="435"/>
                  </a:lnTo>
                  <a:lnTo>
                    <a:pt x="881" y="447"/>
                  </a:lnTo>
                  <a:lnTo>
                    <a:pt x="881" y="424"/>
                  </a:lnTo>
                  <a:lnTo>
                    <a:pt x="888" y="430"/>
                  </a:lnTo>
                  <a:lnTo>
                    <a:pt x="888" y="406"/>
                  </a:lnTo>
                  <a:lnTo>
                    <a:pt x="888" y="274"/>
                  </a:lnTo>
                  <a:lnTo>
                    <a:pt x="894" y="370"/>
                  </a:lnTo>
                  <a:lnTo>
                    <a:pt x="894" y="400"/>
                  </a:lnTo>
                  <a:lnTo>
                    <a:pt x="894" y="328"/>
                  </a:lnTo>
                  <a:lnTo>
                    <a:pt x="894" y="430"/>
                  </a:lnTo>
                  <a:lnTo>
                    <a:pt x="900" y="203"/>
                  </a:lnTo>
                  <a:lnTo>
                    <a:pt x="900" y="215"/>
                  </a:lnTo>
                  <a:lnTo>
                    <a:pt x="900" y="364"/>
                  </a:lnTo>
                  <a:lnTo>
                    <a:pt x="900" y="245"/>
                  </a:lnTo>
                  <a:lnTo>
                    <a:pt x="906" y="251"/>
                  </a:lnTo>
                  <a:lnTo>
                    <a:pt x="906" y="268"/>
                  </a:lnTo>
                  <a:lnTo>
                    <a:pt x="906" y="191"/>
                  </a:lnTo>
                  <a:lnTo>
                    <a:pt x="906" y="274"/>
                  </a:lnTo>
                  <a:lnTo>
                    <a:pt x="913" y="316"/>
                  </a:lnTo>
                  <a:lnTo>
                    <a:pt x="913" y="251"/>
                  </a:lnTo>
                  <a:lnTo>
                    <a:pt x="913" y="441"/>
                  </a:lnTo>
                  <a:lnTo>
                    <a:pt x="913" y="280"/>
                  </a:lnTo>
                  <a:lnTo>
                    <a:pt x="919" y="334"/>
                  </a:lnTo>
                  <a:lnTo>
                    <a:pt x="919" y="447"/>
                  </a:lnTo>
                  <a:lnTo>
                    <a:pt x="919" y="459"/>
                  </a:lnTo>
                  <a:lnTo>
                    <a:pt x="925" y="430"/>
                  </a:lnTo>
                  <a:lnTo>
                    <a:pt x="925" y="322"/>
                  </a:lnTo>
                  <a:lnTo>
                    <a:pt x="925" y="334"/>
                  </a:lnTo>
                  <a:lnTo>
                    <a:pt x="925" y="346"/>
                  </a:lnTo>
                  <a:lnTo>
                    <a:pt x="931" y="382"/>
                  </a:lnTo>
                  <a:lnTo>
                    <a:pt x="931" y="340"/>
                  </a:lnTo>
                  <a:lnTo>
                    <a:pt x="931" y="298"/>
                  </a:lnTo>
                  <a:lnTo>
                    <a:pt x="931" y="418"/>
                  </a:lnTo>
                  <a:lnTo>
                    <a:pt x="938" y="257"/>
                  </a:lnTo>
                  <a:lnTo>
                    <a:pt x="938" y="203"/>
                  </a:lnTo>
                  <a:lnTo>
                    <a:pt x="938" y="328"/>
                  </a:lnTo>
                  <a:lnTo>
                    <a:pt x="938" y="388"/>
                  </a:lnTo>
                  <a:lnTo>
                    <a:pt x="944" y="298"/>
                  </a:lnTo>
                  <a:lnTo>
                    <a:pt x="944" y="424"/>
                  </a:lnTo>
                  <a:lnTo>
                    <a:pt x="944" y="447"/>
                  </a:lnTo>
                  <a:lnTo>
                    <a:pt x="950" y="376"/>
                  </a:lnTo>
                  <a:lnTo>
                    <a:pt x="950" y="233"/>
                  </a:lnTo>
                  <a:lnTo>
                    <a:pt x="950" y="358"/>
                  </a:lnTo>
                  <a:lnTo>
                    <a:pt x="950" y="346"/>
                  </a:lnTo>
                  <a:lnTo>
                    <a:pt x="956" y="316"/>
                  </a:lnTo>
                  <a:lnTo>
                    <a:pt x="956" y="358"/>
                  </a:lnTo>
                  <a:lnTo>
                    <a:pt x="956" y="340"/>
                  </a:lnTo>
                  <a:lnTo>
                    <a:pt x="956" y="292"/>
                  </a:lnTo>
                  <a:lnTo>
                    <a:pt x="963" y="239"/>
                  </a:lnTo>
                  <a:lnTo>
                    <a:pt x="963" y="388"/>
                  </a:lnTo>
                  <a:lnTo>
                    <a:pt x="963" y="280"/>
                  </a:lnTo>
                  <a:lnTo>
                    <a:pt x="963" y="376"/>
                  </a:lnTo>
                  <a:lnTo>
                    <a:pt x="969" y="304"/>
                  </a:lnTo>
                  <a:lnTo>
                    <a:pt x="969" y="400"/>
                  </a:lnTo>
                  <a:lnTo>
                    <a:pt x="969" y="233"/>
                  </a:lnTo>
                  <a:lnTo>
                    <a:pt x="975" y="268"/>
                  </a:lnTo>
                  <a:lnTo>
                    <a:pt x="975" y="435"/>
                  </a:lnTo>
                  <a:lnTo>
                    <a:pt x="975" y="400"/>
                  </a:lnTo>
                  <a:lnTo>
                    <a:pt x="975" y="274"/>
                  </a:lnTo>
                  <a:lnTo>
                    <a:pt x="981" y="322"/>
                  </a:lnTo>
                  <a:lnTo>
                    <a:pt x="981" y="412"/>
                  </a:lnTo>
                  <a:lnTo>
                    <a:pt x="981" y="310"/>
                  </a:lnTo>
                  <a:lnTo>
                    <a:pt x="981" y="328"/>
                  </a:lnTo>
                  <a:lnTo>
                    <a:pt x="988" y="388"/>
                  </a:lnTo>
                  <a:lnTo>
                    <a:pt x="988" y="376"/>
                  </a:lnTo>
                  <a:lnTo>
                    <a:pt x="988" y="382"/>
                  </a:lnTo>
                  <a:lnTo>
                    <a:pt x="988" y="388"/>
                  </a:lnTo>
                  <a:lnTo>
                    <a:pt x="994" y="412"/>
                  </a:lnTo>
                  <a:lnTo>
                    <a:pt x="994" y="394"/>
                  </a:lnTo>
                  <a:lnTo>
                    <a:pt x="994" y="418"/>
                  </a:lnTo>
                  <a:lnTo>
                    <a:pt x="994" y="394"/>
                  </a:lnTo>
                  <a:lnTo>
                    <a:pt x="1000" y="262"/>
                  </a:lnTo>
                  <a:lnTo>
                    <a:pt x="1000" y="298"/>
                  </a:lnTo>
                  <a:lnTo>
                    <a:pt x="1000" y="245"/>
                  </a:lnTo>
                  <a:lnTo>
                    <a:pt x="1006" y="268"/>
                  </a:lnTo>
                  <a:lnTo>
                    <a:pt x="1006" y="364"/>
                  </a:lnTo>
                  <a:lnTo>
                    <a:pt x="1006" y="274"/>
                  </a:lnTo>
                  <a:lnTo>
                    <a:pt x="1006" y="257"/>
                  </a:lnTo>
                  <a:lnTo>
                    <a:pt x="1013" y="346"/>
                  </a:lnTo>
                  <a:lnTo>
                    <a:pt x="1013" y="358"/>
                  </a:lnTo>
                  <a:lnTo>
                    <a:pt x="1013" y="418"/>
                  </a:lnTo>
                  <a:lnTo>
                    <a:pt x="1013" y="430"/>
                  </a:lnTo>
                  <a:lnTo>
                    <a:pt x="1019" y="298"/>
                  </a:lnTo>
                  <a:lnTo>
                    <a:pt x="1019" y="328"/>
                  </a:lnTo>
                  <a:lnTo>
                    <a:pt x="1019" y="352"/>
                  </a:lnTo>
                  <a:lnTo>
                    <a:pt x="1019" y="358"/>
                  </a:lnTo>
                  <a:lnTo>
                    <a:pt x="1025" y="441"/>
                  </a:lnTo>
                  <a:lnTo>
                    <a:pt x="1025" y="364"/>
                  </a:lnTo>
                  <a:lnTo>
                    <a:pt x="1025" y="447"/>
                  </a:lnTo>
                  <a:lnTo>
                    <a:pt x="1031" y="322"/>
                  </a:lnTo>
                  <a:lnTo>
                    <a:pt x="1031" y="245"/>
                  </a:lnTo>
                  <a:lnTo>
                    <a:pt x="1031" y="310"/>
                  </a:lnTo>
                  <a:lnTo>
                    <a:pt x="1031" y="251"/>
                  </a:lnTo>
                  <a:lnTo>
                    <a:pt x="1038" y="358"/>
                  </a:lnTo>
                  <a:lnTo>
                    <a:pt x="1038" y="477"/>
                  </a:lnTo>
                  <a:lnTo>
                    <a:pt x="1038" y="406"/>
                  </a:lnTo>
                  <a:lnTo>
                    <a:pt x="1038" y="531"/>
                  </a:lnTo>
                  <a:lnTo>
                    <a:pt x="1044" y="597"/>
                  </a:lnTo>
                  <a:lnTo>
                    <a:pt x="1044" y="722"/>
                  </a:lnTo>
                  <a:lnTo>
                    <a:pt x="1044" y="483"/>
                  </a:lnTo>
                  <a:lnTo>
                    <a:pt x="1044" y="537"/>
                  </a:lnTo>
                  <a:lnTo>
                    <a:pt x="1050" y="537"/>
                  </a:lnTo>
                  <a:lnTo>
                    <a:pt x="1050" y="465"/>
                  </a:lnTo>
                  <a:lnTo>
                    <a:pt x="1050" y="179"/>
                  </a:lnTo>
                  <a:lnTo>
                    <a:pt x="1050" y="251"/>
                  </a:lnTo>
                  <a:lnTo>
                    <a:pt x="1056" y="143"/>
                  </a:lnTo>
                  <a:lnTo>
                    <a:pt x="1056" y="42"/>
                  </a:lnTo>
                  <a:lnTo>
                    <a:pt x="1056" y="0"/>
                  </a:lnTo>
                  <a:lnTo>
                    <a:pt x="1063" y="30"/>
                  </a:lnTo>
                  <a:lnTo>
                    <a:pt x="1063" y="83"/>
                  </a:lnTo>
                  <a:lnTo>
                    <a:pt x="1063" y="203"/>
                  </a:lnTo>
                  <a:lnTo>
                    <a:pt x="1063" y="358"/>
                  </a:lnTo>
                  <a:lnTo>
                    <a:pt x="1069" y="388"/>
                  </a:lnTo>
                  <a:lnTo>
                    <a:pt x="1069" y="418"/>
                  </a:lnTo>
                  <a:lnTo>
                    <a:pt x="1069" y="591"/>
                  </a:lnTo>
                  <a:lnTo>
                    <a:pt x="1069" y="447"/>
                  </a:lnTo>
                  <a:lnTo>
                    <a:pt x="1075" y="418"/>
                  </a:lnTo>
                  <a:lnTo>
                    <a:pt x="1075" y="453"/>
                  </a:lnTo>
                  <a:lnTo>
                    <a:pt x="1075" y="406"/>
                  </a:lnTo>
                  <a:lnTo>
                    <a:pt x="1075" y="394"/>
                  </a:lnTo>
                  <a:lnTo>
                    <a:pt x="1081" y="274"/>
                  </a:lnTo>
                  <a:lnTo>
                    <a:pt x="1081" y="328"/>
                  </a:lnTo>
                  <a:lnTo>
                    <a:pt x="1081" y="262"/>
                  </a:lnTo>
                  <a:lnTo>
                    <a:pt x="1088" y="227"/>
                  </a:lnTo>
                  <a:lnTo>
                    <a:pt x="1088" y="155"/>
                  </a:lnTo>
                  <a:lnTo>
                    <a:pt x="1088" y="119"/>
                  </a:lnTo>
                  <a:lnTo>
                    <a:pt x="1088" y="167"/>
                  </a:lnTo>
                  <a:lnTo>
                    <a:pt x="1094" y="185"/>
                  </a:lnTo>
                  <a:lnTo>
                    <a:pt x="1094" y="310"/>
                  </a:lnTo>
                  <a:lnTo>
                    <a:pt x="1094" y="239"/>
                  </a:lnTo>
                  <a:lnTo>
                    <a:pt x="1094" y="447"/>
                  </a:lnTo>
                  <a:lnTo>
                    <a:pt x="1100" y="477"/>
                  </a:lnTo>
                  <a:lnTo>
                    <a:pt x="1100" y="310"/>
                  </a:lnTo>
                  <a:lnTo>
                    <a:pt x="1100" y="394"/>
                  </a:lnTo>
                  <a:lnTo>
                    <a:pt x="1100" y="459"/>
                  </a:lnTo>
                  <a:lnTo>
                    <a:pt x="1106" y="316"/>
                  </a:lnTo>
                  <a:lnTo>
                    <a:pt x="1106" y="346"/>
                  </a:lnTo>
                  <a:lnTo>
                    <a:pt x="1106" y="239"/>
                  </a:lnTo>
                  <a:lnTo>
                    <a:pt x="1106" y="358"/>
                  </a:lnTo>
                  <a:lnTo>
                    <a:pt x="1113" y="280"/>
                  </a:lnTo>
                  <a:lnTo>
                    <a:pt x="1113" y="262"/>
                  </a:lnTo>
                  <a:lnTo>
                    <a:pt x="1113" y="239"/>
                  </a:lnTo>
                  <a:lnTo>
                    <a:pt x="1119" y="245"/>
                  </a:lnTo>
                  <a:lnTo>
                    <a:pt x="1119" y="370"/>
                  </a:lnTo>
                  <a:lnTo>
                    <a:pt x="1119" y="310"/>
                  </a:lnTo>
                  <a:lnTo>
                    <a:pt x="1119" y="233"/>
                  </a:lnTo>
                  <a:lnTo>
                    <a:pt x="1125" y="388"/>
                  </a:lnTo>
                  <a:lnTo>
                    <a:pt x="1125" y="262"/>
                  </a:lnTo>
                  <a:lnTo>
                    <a:pt x="1125" y="406"/>
                  </a:lnTo>
                  <a:lnTo>
                    <a:pt x="1125" y="298"/>
                  </a:lnTo>
                  <a:lnTo>
                    <a:pt x="1131" y="292"/>
                  </a:lnTo>
                  <a:lnTo>
                    <a:pt x="1131" y="274"/>
                  </a:lnTo>
                  <a:lnTo>
                    <a:pt x="1131" y="322"/>
                  </a:lnTo>
                  <a:lnTo>
                    <a:pt x="1131" y="441"/>
                  </a:lnTo>
                  <a:lnTo>
                    <a:pt x="1138" y="304"/>
                  </a:lnTo>
                  <a:lnTo>
                    <a:pt x="1138" y="424"/>
                  </a:lnTo>
                  <a:lnTo>
                    <a:pt x="1138" y="257"/>
                  </a:lnTo>
                  <a:lnTo>
                    <a:pt x="1144" y="197"/>
                  </a:lnTo>
                  <a:lnTo>
                    <a:pt x="1144" y="209"/>
                  </a:lnTo>
                  <a:lnTo>
                    <a:pt x="1144" y="286"/>
                  </a:lnTo>
                  <a:lnTo>
                    <a:pt x="1144" y="274"/>
                  </a:lnTo>
                  <a:lnTo>
                    <a:pt x="1150" y="334"/>
                  </a:lnTo>
                  <a:lnTo>
                    <a:pt x="1150" y="370"/>
                  </a:lnTo>
                  <a:lnTo>
                    <a:pt x="1150" y="268"/>
                  </a:lnTo>
                  <a:lnTo>
                    <a:pt x="1150" y="400"/>
                  </a:lnTo>
                  <a:lnTo>
                    <a:pt x="1156" y="382"/>
                  </a:lnTo>
                  <a:lnTo>
                    <a:pt x="1156" y="447"/>
                  </a:lnTo>
                  <a:lnTo>
                    <a:pt x="1156" y="382"/>
                  </a:lnTo>
                  <a:lnTo>
                    <a:pt x="1156" y="310"/>
                  </a:lnTo>
                  <a:lnTo>
                    <a:pt x="1163" y="268"/>
                  </a:lnTo>
                  <a:lnTo>
                    <a:pt x="1163" y="334"/>
                  </a:lnTo>
                  <a:lnTo>
                    <a:pt x="1163" y="274"/>
                  </a:lnTo>
                  <a:lnTo>
                    <a:pt x="1163" y="268"/>
                  </a:lnTo>
                  <a:lnTo>
                    <a:pt x="1169" y="352"/>
                  </a:lnTo>
                  <a:lnTo>
                    <a:pt x="1169" y="340"/>
                  </a:lnTo>
                  <a:lnTo>
                    <a:pt x="1169" y="376"/>
                  </a:lnTo>
                  <a:lnTo>
                    <a:pt x="1175" y="304"/>
                  </a:lnTo>
                  <a:lnTo>
                    <a:pt x="1175" y="286"/>
                  </a:lnTo>
                  <a:lnTo>
                    <a:pt x="1175" y="340"/>
                  </a:lnTo>
                  <a:lnTo>
                    <a:pt x="1175" y="370"/>
                  </a:lnTo>
                  <a:lnTo>
                    <a:pt x="1181" y="394"/>
                  </a:lnTo>
                  <a:lnTo>
                    <a:pt x="1181" y="412"/>
                  </a:lnTo>
                  <a:lnTo>
                    <a:pt x="1181" y="233"/>
                  </a:lnTo>
                  <a:lnTo>
                    <a:pt x="1188" y="441"/>
                  </a:lnTo>
                  <a:lnTo>
                    <a:pt x="1188" y="418"/>
                  </a:lnTo>
                  <a:lnTo>
                    <a:pt x="1188" y="257"/>
                  </a:lnTo>
                  <a:lnTo>
                    <a:pt x="1188" y="262"/>
                  </a:lnTo>
                  <a:lnTo>
                    <a:pt x="1194" y="358"/>
                  </a:lnTo>
                  <a:lnTo>
                    <a:pt x="1194" y="447"/>
                  </a:lnTo>
                  <a:lnTo>
                    <a:pt x="1194" y="274"/>
                  </a:lnTo>
                  <a:lnTo>
                    <a:pt x="1200" y="340"/>
                  </a:lnTo>
                  <a:lnTo>
                    <a:pt x="1200" y="346"/>
                  </a:lnTo>
                  <a:lnTo>
                    <a:pt x="1200" y="251"/>
                  </a:lnTo>
                  <a:lnTo>
                    <a:pt x="1200" y="322"/>
                  </a:lnTo>
                  <a:lnTo>
                    <a:pt x="1206" y="376"/>
                  </a:lnTo>
                  <a:lnTo>
                    <a:pt x="1206" y="424"/>
                  </a:lnTo>
                  <a:lnTo>
                    <a:pt x="1206" y="388"/>
                  </a:lnTo>
                  <a:lnTo>
                    <a:pt x="1206" y="257"/>
                  </a:lnTo>
                  <a:lnTo>
                    <a:pt x="1213" y="286"/>
                  </a:lnTo>
                  <a:lnTo>
                    <a:pt x="1213" y="358"/>
                  </a:lnTo>
                  <a:lnTo>
                    <a:pt x="1213" y="304"/>
                  </a:lnTo>
                  <a:lnTo>
                    <a:pt x="1213" y="346"/>
                  </a:lnTo>
                  <a:lnTo>
                    <a:pt x="1219" y="310"/>
                  </a:lnTo>
                  <a:lnTo>
                    <a:pt x="1219" y="334"/>
                  </a:lnTo>
                  <a:lnTo>
                    <a:pt x="1225" y="322"/>
                  </a:lnTo>
                  <a:lnTo>
                    <a:pt x="1225" y="406"/>
                  </a:lnTo>
                  <a:lnTo>
                    <a:pt x="1225" y="292"/>
                  </a:lnTo>
                  <a:lnTo>
                    <a:pt x="1225" y="406"/>
                  </a:lnTo>
                  <a:lnTo>
                    <a:pt x="1231" y="245"/>
                  </a:lnTo>
                  <a:lnTo>
                    <a:pt x="1231" y="322"/>
                  </a:lnTo>
                  <a:lnTo>
                    <a:pt x="1231" y="406"/>
                  </a:lnTo>
                  <a:lnTo>
                    <a:pt x="1231" y="286"/>
                  </a:lnTo>
                  <a:lnTo>
                    <a:pt x="1238" y="340"/>
                  </a:lnTo>
                  <a:lnTo>
                    <a:pt x="1238" y="453"/>
                  </a:lnTo>
                  <a:lnTo>
                    <a:pt x="1238" y="334"/>
                  </a:lnTo>
                  <a:lnTo>
                    <a:pt x="1238" y="412"/>
                  </a:lnTo>
                  <a:lnTo>
                    <a:pt x="1244" y="388"/>
                  </a:lnTo>
                  <a:lnTo>
                    <a:pt x="1244" y="412"/>
                  </a:lnTo>
                  <a:lnTo>
                    <a:pt x="1244" y="257"/>
                  </a:lnTo>
                  <a:lnTo>
                    <a:pt x="1244" y="292"/>
                  </a:lnTo>
                  <a:lnTo>
                    <a:pt x="1250" y="322"/>
                  </a:lnTo>
                  <a:lnTo>
                    <a:pt x="1250" y="262"/>
                  </a:lnTo>
                  <a:lnTo>
                    <a:pt x="1250" y="418"/>
                  </a:lnTo>
                  <a:lnTo>
                    <a:pt x="1256" y="382"/>
                  </a:lnTo>
                  <a:lnTo>
                    <a:pt x="1256" y="346"/>
                  </a:lnTo>
                  <a:lnTo>
                    <a:pt x="1256" y="382"/>
                  </a:lnTo>
                  <a:lnTo>
                    <a:pt x="1256" y="406"/>
                  </a:lnTo>
                  <a:lnTo>
                    <a:pt x="1263" y="262"/>
                  </a:lnTo>
                  <a:lnTo>
                    <a:pt x="1263" y="441"/>
                  </a:lnTo>
                  <a:lnTo>
                    <a:pt x="1263" y="286"/>
                  </a:lnTo>
                  <a:lnTo>
                    <a:pt x="1263" y="310"/>
                  </a:lnTo>
                  <a:lnTo>
                    <a:pt x="1269" y="322"/>
                  </a:lnTo>
                  <a:lnTo>
                    <a:pt x="1269" y="280"/>
                  </a:lnTo>
                  <a:lnTo>
                    <a:pt x="1269" y="435"/>
                  </a:lnTo>
                  <a:lnTo>
                    <a:pt x="1269" y="376"/>
                  </a:lnTo>
                  <a:lnTo>
                    <a:pt x="1275" y="376"/>
                  </a:lnTo>
                  <a:lnTo>
                    <a:pt x="1275" y="453"/>
                  </a:lnTo>
                  <a:lnTo>
                    <a:pt x="1275" y="239"/>
                  </a:lnTo>
                  <a:lnTo>
                    <a:pt x="1281" y="257"/>
                  </a:lnTo>
                  <a:lnTo>
                    <a:pt x="1281" y="376"/>
                  </a:lnTo>
                  <a:lnTo>
                    <a:pt x="1281" y="370"/>
                  </a:lnTo>
                  <a:lnTo>
                    <a:pt x="1281" y="352"/>
                  </a:lnTo>
                  <a:lnTo>
                    <a:pt x="1288" y="262"/>
                  </a:lnTo>
                  <a:lnTo>
                    <a:pt x="1288" y="441"/>
                  </a:lnTo>
                  <a:lnTo>
                    <a:pt x="1288" y="465"/>
                  </a:lnTo>
                  <a:lnTo>
                    <a:pt x="1288" y="585"/>
                  </a:lnTo>
                  <a:lnTo>
                    <a:pt x="1294" y="668"/>
                  </a:lnTo>
                  <a:lnTo>
                    <a:pt x="1294" y="716"/>
                  </a:lnTo>
                  <a:lnTo>
                    <a:pt x="1294" y="567"/>
                  </a:lnTo>
                  <a:lnTo>
                    <a:pt x="1294" y="459"/>
                  </a:lnTo>
                  <a:lnTo>
                    <a:pt x="1300" y="370"/>
                  </a:lnTo>
                  <a:lnTo>
                    <a:pt x="1300" y="376"/>
                  </a:lnTo>
                  <a:lnTo>
                    <a:pt x="1300" y="286"/>
                  </a:lnTo>
                  <a:lnTo>
                    <a:pt x="1300" y="161"/>
                  </a:lnTo>
                  <a:lnTo>
                    <a:pt x="1306" y="149"/>
                  </a:lnTo>
                  <a:lnTo>
                    <a:pt x="1306" y="6"/>
                  </a:lnTo>
                  <a:lnTo>
                    <a:pt x="1306" y="179"/>
                  </a:lnTo>
                  <a:lnTo>
                    <a:pt x="1313" y="36"/>
                  </a:lnTo>
                  <a:lnTo>
                    <a:pt x="1313" y="286"/>
                  </a:lnTo>
                  <a:lnTo>
                    <a:pt x="1313" y="292"/>
                  </a:lnTo>
                  <a:lnTo>
                    <a:pt x="1313" y="376"/>
                  </a:lnTo>
                  <a:lnTo>
                    <a:pt x="1319" y="424"/>
                  </a:lnTo>
                  <a:lnTo>
                    <a:pt x="1319" y="430"/>
                  </a:lnTo>
                  <a:lnTo>
                    <a:pt x="1319" y="567"/>
                  </a:lnTo>
                  <a:lnTo>
                    <a:pt x="1319" y="388"/>
                  </a:lnTo>
                  <a:lnTo>
                    <a:pt x="1325" y="483"/>
                  </a:lnTo>
                  <a:lnTo>
                    <a:pt x="1325" y="561"/>
                  </a:lnTo>
                  <a:lnTo>
                    <a:pt x="1325" y="316"/>
                  </a:lnTo>
                  <a:lnTo>
                    <a:pt x="1331" y="370"/>
                  </a:lnTo>
                  <a:lnTo>
                    <a:pt x="1331" y="382"/>
                  </a:lnTo>
                  <a:lnTo>
                    <a:pt x="1331" y="286"/>
                  </a:lnTo>
                  <a:lnTo>
                    <a:pt x="1338" y="113"/>
                  </a:lnTo>
                  <a:lnTo>
                    <a:pt x="1338" y="119"/>
                  </a:lnTo>
                  <a:lnTo>
                    <a:pt x="1338" y="304"/>
                  </a:lnTo>
                  <a:lnTo>
                    <a:pt x="1338" y="274"/>
                  </a:lnTo>
                  <a:lnTo>
                    <a:pt x="1344" y="215"/>
                  </a:lnTo>
                  <a:lnTo>
                    <a:pt x="1344" y="316"/>
                  </a:lnTo>
                  <a:lnTo>
                    <a:pt x="1344" y="364"/>
                  </a:lnTo>
                  <a:lnTo>
                    <a:pt x="1344" y="316"/>
                  </a:lnTo>
                  <a:lnTo>
                    <a:pt x="1350" y="322"/>
                  </a:lnTo>
                  <a:lnTo>
                    <a:pt x="1350" y="382"/>
                  </a:lnTo>
                  <a:lnTo>
                    <a:pt x="1350" y="400"/>
                  </a:lnTo>
                  <a:lnTo>
                    <a:pt x="1350" y="358"/>
                  </a:lnTo>
                  <a:lnTo>
                    <a:pt x="1356" y="286"/>
                  </a:lnTo>
                  <a:lnTo>
                    <a:pt x="1356" y="412"/>
                  </a:lnTo>
                  <a:lnTo>
                    <a:pt x="1356" y="298"/>
                  </a:lnTo>
                  <a:lnTo>
                    <a:pt x="1356" y="304"/>
                  </a:lnTo>
                  <a:lnTo>
                    <a:pt x="1363" y="239"/>
                  </a:lnTo>
                  <a:lnTo>
                    <a:pt x="1363" y="364"/>
                  </a:lnTo>
                  <a:lnTo>
                    <a:pt x="1363" y="328"/>
                  </a:lnTo>
                  <a:lnTo>
                    <a:pt x="1369" y="167"/>
                  </a:lnTo>
                  <a:lnTo>
                    <a:pt x="1369" y="286"/>
                  </a:lnTo>
                  <a:lnTo>
                    <a:pt x="1369" y="227"/>
                  </a:lnTo>
                  <a:lnTo>
                    <a:pt x="1369" y="334"/>
                  </a:lnTo>
                  <a:lnTo>
                    <a:pt x="1375" y="334"/>
                  </a:lnTo>
                  <a:lnTo>
                    <a:pt x="1375" y="286"/>
                  </a:lnTo>
                  <a:lnTo>
                    <a:pt x="1375" y="358"/>
                  </a:lnTo>
                  <a:lnTo>
                    <a:pt x="1375" y="418"/>
                  </a:lnTo>
                  <a:lnTo>
                    <a:pt x="1381" y="304"/>
                  </a:lnTo>
                  <a:lnTo>
                    <a:pt x="1381" y="370"/>
                  </a:lnTo>
                  <a:lnTo>
                    <a:pt x="1381" y="346"/>
                  </a:lnTo>
                  <a:lnTo>
                    <a:pt x="1381" y="430"/>
                  </a:lnTo>
                  <a:lnTo>
                    <a:pt x="1388" y="298"/>
                  </a:lnTo>
                  <a:lnTo>
                    <a:pt x="1388" y="441"/>
                  </a:lnTo>
                  <a:lnTo>
                    <a:pt x="1388" y="388"/>
                  </a:lnTo>
                  <a:lnTo>
                    <a:pt x="1394" y="274"/>
                  </a:lnTo>
                  <a:lnTo>
                    <a:pt x="1394" y="340"/>
                  </a:lnTo>
                  <a:lnTo>
                    <a:pt x="1394" y="173"/>
                  </a:lnTo>
                  <a:lnTo>
                    <a:pt x="1394" y="286"/>
                  </a:lnTo>
                  <a:lnTo>
                    <a:pt x="1400" y="394"/>
                  </a:lnTo>
                  <a:lnTo>
                    <a:pt x="1400" y="227"/>
                  </a:lnTo>
                  <a:lnTo>
                    <a:pt x="1400" y="358"/>
                  </a:lnTo>
                  <a:lnTo>
                    <a:pt x="1400" y="239"/>
                  </a:lnTo>
                  <a:lnTo>
                    <a:pt x="1406" y="447"/>
                  </a:lnTo>
                  <a:lnTo>
                    <a:pt x="1406" y="453"/>
                  </a:lnTo>
                  <a:lnTo>
                    <a:pt x="1406" y="459"/>
                  </a:lnTo>
                  <a:lnTo>
                    <a:pt x="1406" y="406"/>
                  </a:lnTo>
                  <a:lnTo>
                    <a:pt x="1413" y="358"/>
                  </a:lnTo>
                  <a:lnTo>
                    <a:pt x="1413" y="459"/>
                  </a:lnTo>
                  <a:lnTo>
                    <a:pt x="1413" y="292"/>
                  </a:lnTo>
                  <a:lnTo>
                    <a:pt x="1413" y="430"/>
                  </a:lnTo>
                  <a:lnTo>
                    <a:pt x="1419" y="412"/>
                  </a:lnTo>
                  <a:lnTo>
                    <a:pt x="1419" y="280"/>
                  </a:lnTo>
                  <a:lnTo>
                    <a:pt x="1419" y="286"/>
                  </a:lnTo>
                  <a:lnTo>
                    <a:pt x="1425" y="388"/>
                  </a:lnTo>
                  <a:lnTo>
                    <a:pt x="1425" y="370"/>
                  </a:lnTo>
                  <a:lnTo>
                    <a:pt x="1425" y="215"/>
                  </a:lnTo>
                  <a:lnTo>
                    <a:pt x="1425" y="406"/>
                  </a:lnTo>
                  <a:lnTo>
                    <a:pt x="1431" y="262"/>
                  </a:lnTo>
                  <a:lnTo>
                    <a:pt x="1431" y="388"/>
                  </a:lnTo>
                  <a:lnTo>
                    <a:pt x="1431" y="251"/>
                  </a:lnTo>
                  <a:lnTo>
                    <a:pt x="1431" y="233"/>
                  </a:lnTo>
                  <a:lnTo>
                    <a:pt x="1438" y="412"/>
                  </a:lnTo>
                  <a:lnTo>
                    <a:pt x="1438" y="328"/>
                  </a:lnTo>
                  <a:lnTo>
                    <a:pt x="1438" y="310"/>
                  </a:lnTo>
                  <a:lnTo>
                    <a:pt x="1438" y="376"/>
                  </a:lnTo>
                  <a:lnTo>
                    <a:pt x="1444" y="292"/>
                  </a:lnTo>
                  <a:lnTo>
                    <a:pt x="1444" y="298"/>
                  </a:lnTo>
                  <a:lnTo>
                    <a:pt x="1444" y="352"/>
                  </a:lnTo>
                  <a:lnTo>
                    <a:pt x="1450" y="430"/>
                  </a:lnTo>
                  <a:lnTo>
                    <a:pt x="1450" y="352"/>
                  </a:lnTo>
                  <a:lnTo>
                    <a:pt x="1450" y="286"/>
                  </a:lnTo>
                  <a:lnTo>
                    <a:pt x="1450" y="394"/>
                  </a:lnTo>
                  <a:lnTo>
                    <a:pt x="1456" y="251"/>
                  </a:lnTo>
                  <a:lnTo>
                    <a:pt x="1456" y="257"/>
                  </a:lnTo>
                  <a:lnTo>
                    <a:pt x="1456" y="304"/>
                  </a:lnTo>
                  <a:lnTo>
                    <a:pt x="1456" y="245"/>
                  </a:lnTo>
                  <a:lnTo>
                    <a:pt x="1463" y="412"/>
                  </a:lnTo>
                  <a:lnTo>
                    <a:pt x="1463" y="310"/>
                  </a:lnTo>
                  <a:lnTo>
                    <a:pt x="1463" y="304"/>
                  </a:lnTo>
                  <a:lnTo>
                    <a:pt x="1463" y="376"/>
                  </a:lnTo>
                  <a:lnTo>
                    <a:pt x="1469" y="424"/>
                  </a:lnTo>
                  <a:lnTo>
                    <a:pt x="1469" y="328"/>
                  </a:lnTo>
                  <a:lnTo>
                    <a:pt x="1469" y="245"/>
                  </a:lnTo>
                  <a:lnTo>
                    <a:pt x="1475" y="435"/>
                  </a:lnTo>
                  <a:lnTo>
                    <a:pt x="1475" y="268"/>
                  </a:lnTo>
                  <a:lnTo>
                    <a:pt x="1475" y="376"/>
                  </a:lnTo>
                  <a:lnTo>
                    <a:pt x="1475" y="310"/>
                  </a:lnTo>
                  <a:lnTo>
                    <a:pt x="1481" y="262"/>
                  </a:lnTo>
                  <a:lnTo>
                    <a:pt x="1481" y="346"/>
                  </a:lnTo>
                  <a:lnTo>
                    <a:pt x="1481" y="400"/>
                  </a:lnTo>
                  <a:lnTo>
                    <a:pt x="1481" y="298"/>
                  </a:lnTo>
                  <a:lnTo>
                    <a:pt x="1488" y="370"/>
                  </a:lnTo>
                  <a:lnTo>
                    <a:pt x="1488" y="346"/>
                  </a:lnTo>
                  <a:lnTo>
                    <a:pt x="1488" y="262"/>
                  </a:lnTo>
                  <a:lnTo>
                    <a:pt x="1488" y="376"/>
                  </a:lnTo>
                  <a:lnTo>
                    <a:pt x="1494" y="251"/>
                  </a:lnTo>
                  <a:lnTo>
                    <a:pt x="1494" y="453"/>
                  </a:lnTo>
                  <a:lnTo>
                    <a:pt x="1494" y="412"/>
                  </a:lnTo>
                  <a:lnTo>
                    <a:pt x="1494" y="453"/>
                  </a:lnTo>
                  <a:lnTo>
                    <a:pt x="1500" y="376"/>
                  </a:lnTo>
                  <a:lnTo>
                    <a:pt x="1500" y="418"/>
                  </a:lnTo>
                  <a:lnTo>
                    <a:pt x="1500" y="441"/>
                  </a:lnTo>
                  <a:lnTo>
                    <a:pt x="1506" y="334"/>
                  </a:lnTo>
                  <a:lnTo>
                    <a:pt x="1506" y="346"/>
                  </a:lnTo>
                  <a:lnTo>
                    <a:pt x="1506" y="394"/>
                  </a:lnTo>
                  <a:lnTo>
                    <a:pt x="1506" y="239"/>
                  </a:lnTo>
                  <a:lnTo>
                    <a:pt x="1513" y="370"/>
                  </a:lnTo>
                  <a:lnTo>
                    <a:pt x="1513" y="388"/>
                  </a:lnTo>
                  <a:lnTo>
                    <a:pt x="1513" y="328"/>
                  </a:lnTo>
                  <a:lnTo>
                    <a:pt x="1513" y="239"/>
                  </a:lnTo>
                  <a:lnTo>
                    <a:pt x="1519" y="257"/>
                  </a:lnTo>
                  <a:lnTo>
                    <a:pt x="1519" y="412"/>
                  </a:lnTo>
                  <a:lnTo>
                    <a:pt x="1519" y="435"/>
                  </a:lnTo>
                  <a:lnTo>
                    <a:pt x="1519" y="412"/>
                  </a:lnTo>
                  <a:lnTo>
                    <a:pt x="1525" y="435"/>
                  </a:lnTo>
                  <a:lnTo>
                    <a:pt x="1525" y="268"/>
                  </a:lnTo>
                  <a:lnTo>
                    <a:pt x="1525" y="322"/>
                  </a:lnTo>
                  <a:lnTo>
                    <a:pt x="1531" y="233"/>
                  </a:lnTo>
                  <a:lnTo>
                    <a:pt x="1531" y="268"/>
                  </a:lnTo>
                  <a:lnTo>
                    <a:pt x="1531" y="412"/>
                  </a:lnTo>
                  <a:lnTo>
                    <a:pt x="1531" y="376"/>
                  </a:lnTo>
                  <a:lnTo>
                    <a:pt x="1538" y="447"/>
                  </a:lnTo>
                  <a:lnTo>
                    <a:pt x="1538" y="227"/>
                  </a:lnTo>
                  <a:lnTo>
                    <a:pt x="1538" y="358"/>
                  </a:lnTo>
                  <a:lnTo>
                    <a:pt x="1538" y="424"/>
                  </a:lnTo>
                  <a:lnTo>
                    <a:pt x="1544" y="561"/>
                  </a:lnTo>
                  <a:lnTo>
                    <a:pt x="1544" y="692"/>
                  </a:lnTo>
                  <a:lnTo>
                    <a:pt x="1544" y="656"/>
                  </a:lnTo>
                  <a:lnTo>
                    <a:pt x="1544" y="638"/>
                  </a:lnTo>
                  <a:lnTo>
                    <a:pt x="1550" y="597"/>
                  </a:lnTo>
                  <a:lnTo>
                    <a:pt x="1550" y="632"/>
                  </a:lnTo>
                  <a:lnTo>
                    <a:pt x="1550" y="501"/>
                  </a:lnTo>
                  <a:lnTo>
                    <a:pt x="1550" y="352"/>
                  </a:lnTo>
                  <a:lnTo>
                    <a:pt x="1556" y="227"/>
                  </a:lnTo>
                  <a:lnTo>
                    <a:pt x="1556" y="233"/>
                  </a:lnTo>
                  <a:lnTo>
                    <a:pt x="1556" y="131"/>
                  </a:lnTo>
                  <a:lnTo>
                    <a:pt x="1563" y="167"/>
                  </a:lnTo>
                  <a:lnTo>
                    <a:pt x="1563" y="155"/>
                  </a:lnTo>
                  <a:lnTo>
                    <a:pt x="1563" y="209"/>
                  </a:lnTo>
                  <a:lnTo>
                    <a:pt x="1563" y="280"/>
                  </a:lnTo>
                  <a:lnTo>
                    <a:pt x="1569" y="209"/>
                  </a:lnTo>
                  <a:lnTo>
                    <a:pt x="1569" y="221"/>
                  </a:lnTo>
                  <a:lnTo>
                    <a:pt x="1569" y="441"/>
                  </a:lnTo>
                  <a:lnTo>
                    <a:pt x="1569" y="430"/>
                  </a:lnTo>
                  <a:lnTo>
                    <a:pt x="1575" y="507"/>
                  </a:lnTo>
                  <a:lnTo>
                    <a:pt x="1575" y="603"/>
                  </a:lnTo>
                  <a:lnTo>
                    <a:pt x="1575" y="406"/>
                  </a:lnTo>
                  <a:lnTo>
                    <a:pt x="1575" y="477"/>
                  </a:lnTo>
                  <a:lnTo>
                    <a:pt x="1581" y="400"/>
                  </a:lnTo>
                  <a:lnTo>
                    <a:pt x="1581" y="412"/>
                  </a:lnTo>
                  <a:lnTo>
                    <a:pt x="1581" y="298"/>
                  </a:lnTo>
                  <a:lnTo>
                    <a:pt x="1588" y="298"/>
                  </a:lnTo>
                  <a:lnTo>
                    <a:pt x="1588" y="316"/>
                  </a:lnTo>
                  <a:lnTo>
                    <a:pt x="1588" y="173"/>
                  </a:lnTo>
                  <a:lnTo>
                    <a:pt x="1588" y="292"/>
                  </a:lnTo>
                  <a:lnTo>
                    <a:pt x="1594" y="292"/>
                  </a:lnTo>
                  <a:lnTo>
                    <a:pt x="1594" y="149"/>
                  </a:lnTo>
                  <a:lnTo>
                    <a:pt x="1594" y="209"/>
                  </a:lnTo>
                  <a:lnTo>
                    <a:pt x="1594" y="203"/>
                  </a:lnTo>
                  <a:lnTo>
                    <a:pt x="1600" y="280"/>
                  </a:lnTo>
                  <a:lnTo>
                    <a:pt x="1600" y="382"/>
                  </a:lnTo>
                  <a:lnTo>
                    <a:pt x="1600" y="370"/>
                  </a:lnTo>
                  <a:lnTo>
                    <a:pt x="1600" y="358"/>
                  </a:lnTo>
                  <a:lnTo>
                    <a:pt x="1606" y="382"/>
                  </a:lnTo>
                  <a:lnTo>
                    <a:pt x="1606" y="531"/>
                  </a:lnTo>
                  <a:lnTo>
                    <a:pt x="1606" y="340"/>
                  </a:lnTo>
                  <a:lnTo>
                    <a:pt x="1606" y="382"/>
                  </a:lnTo>
                  <a:lnTo>
                    <a:pt x="1613" y="257"/>
                  </a:lnTo>
                  <a:lnTo>
                    <a:pt x="1613" y="352"/>
                  </a:lnTo>
                  <a:lnTo>
                    <a:pt x="1613" y="251"/>
                  </a:lnTo>
                  <a:lnTo>
                    <a:pt x="1619" y="370"/>
                  </a:lnTo>
                  <a:lnTo>
                    <a:pt x="1619" y="334"/>
                  </a:lnTo>
                  <a:lnTo>
                    <a:pt x="1619" y="280"/>
                  </a:lnTo>
                  <a:lnTo>
                    <a:pt x="1619" y="239"/>
                  </a:lnTo>
                  <a:lnTo>
                    <a:pt x="1625" y="268"/>
                  </a:lnTo>
                  <a:lnTo>
                    <a:pt x="1625" y="376"/>
                  </a:lnTo>
                  <a:lnTo>
                    <a:pt x="1625" y="257"/>
                  </a:lnTo>
                  <a:lnTo>
                    <a:pt x="1625" y="406"/>
                  </a:lnTo>
                  <a:lnTo>
                    <a:pt x="1631" y="447"/>
                  </a:lnTo>
                  <a:lnTo>
                    <a:pt x="1631" y="346"/>
                  </a:lnTo>
                  <a:lnTo>
                    <a:pt x="1631" y="435"/>
                  </a:lnTo>
                  <a:lnTo>
                    <a:pt x="1631" y="400"/>
                  </a:lnTo>
                  <a:lnTo>
                    <a:pt x="1638" y="370"/>
                  </a:lnTo>
                  <a:lnTo>
                    <a:pt x="1638" y="358"/>
                  </a:lnTo>
                  <a:lnTo>
                    <a:pt x="1638" y="453"/>
                  </a:lnTo>
                  <a:lnTo>
                    <a:pt x="1644" y="268"/>
                  </a:lnTo>
                  <a:lnTo>
                    <a:pt x="1644" y="274"/>
                  </a:lnTo>
                  <a:lnTo>
                    <a:pt x="1644" y="328"/>
                  </a:lnTo>
                  <a:lnTo>
                    <a:pt x="1644" y="221"/>
                  </a:lnTo>
                  <a:lnTo>
                    <a:pt x="1650" y="322"/>
                  </a:lnTo>
                  <a:lnTo>
                    <a:pt x="1650" y="262"/>
                  </a:lnTo>
                  <a:lnTo>
                    <a:pt x="1650" y="209"/>
                  </a:lnTo>
                  <a:lnTo>
                    <a:pt x="1650" y="394"/>
                  </a:lnTo>
                  <a:lnTo>
                    <a:pt x="1656" y="233"/>
                  </a:lnTo>
                  <a:lnTo>
                    <a:pt x="1656" y="262"/>
                  </a:lnTo>
                  <a:lnTo>
                    <a:pt x="1656" y="310"/>
                  </a:lnTo>
                  <a:lnTo>
                    <a:pt x="1656" y="352"/>
                  </a:lnTo>
                  <a:lnTo>
                    <a:pt x="1663" y="322"/>
                  </a:lnTo>
                  <a:lnTo>
                    <a:pt x="1663" y="310"/>
                  </a:lnTo>
                  <a:lnTo>
                    <a:pt x="1663" y="418"/>
                  </a:lnTo>
                  <a:lnTo>
                    <a:pt x="1663" y="322"/>
                  </a:lnTo>
                  <a:lnTo>
                    <a:pt x="1669" y="364"/>
                  </a:lnTo>
                  <a:lnTo>
                    <a:pt x="1669" y="447"/>
                  </a:lnTo>
                  <a:lnTo>
                    <a:pt x="1669" y="412"/>
                  </a:lnTo>
                  <a:lnTo>
                    <a:pt x="1675" y="274"/>
                  </a:lnTo>
                  <a:lnTo>
                    <a:pt x="1675" y="203"/>
                  </a:lnTo>
                  <a:lnTo>
                    <a:pt x="1675" y="197"/>
                  </a:lnTo>
                  <a:lnTo>
                    <a:pt x="1675" y="262"/>
                  </a:lnTo>
                  <a:lnTo>
                    <a:pt x="1681" y="268"/>
                  </a:lnTo>
                  <a:lnTo>
                    <a:pt x="1681" y="382"/>
                  </a:lnTo>
                  <a:lnTo>
                    <a:pt x="1681" y="400"/>
                  </a:lnTo>
                  <a:lnTo>
                    <a:pt x="1681" y="286"/>
                  </a:lnTo>
                  <a:lnTo>
                    <a:pt x="1688" y="280"/>
                  </a:lnTo>
                  <a:lnTo>
                    <a:pt x="1688" y="245"/>
                  </a:lnTo>
                  <a:lnTo>
                    <a:pt x="1688" y="388"/>
                  </a:lnTo>
                  <a:lnTo>
                    <a:pt x="1688" y="304"/>
                  </a:lnTo>
                  <a:lnTo>
                    <a:pt x="1694" y="262"/>
                  </a:lnTo>
                  <a:lnTo>
                    <a:pt x="1694" y="412"/>
                  </a:lnTo>
                </a:path>
              </a:pathLst>
            </a:custGeom>
            <a:noFill/>
            <a:ln w="12700" cap="rnd" cmpd="sng">
              <a:solidFill>
                <a:srgbClr val="000080"/>
              </a:solidFill>
              <a:prstDash val="solid"/>
              <a:round/>
              <a:headEnd type="none" w="med" len="med"/>
              <a:tailEnd type="none" w="med" len="med"/>
            </a:ln>
            <a:effectLst/>
          </p:spPr>
          <p:txBody>
            <a:bodyPr/>
            <a:lstStyle/>
            <a:p>
              <a:endParaRPr lang="en-US"/>
            </a:p>
          </p:txBody>
        </p:sp>
        <p:sp>
          <p:nvSpPr>
            <p:cNvPr id="969789" name="Rectangle 2109"/>
            <p:cNvSpPr>
              <a:spLocks noChangeArrowheads="1"/>
            </p:cNvSpPr>
            <p:nvPr/>
          </p:nvSpPr>
          <p:spPr bwMode="auto">
            <a:xfrm>
              <a:off x="4018" y="1779"/>
              <a:ext cx="256" cy="152"/>
            </a:xfrm>
            <a:prstGeom prst="rect">
              <a:avLst/>
            </a:prstGeom>
            <a:noFill/>
            <a:ln w="12700">
              <a:noFill/>
              <a:miter lim="800000"/>
              <a:headEnd/>
              <a:tailEnd/>
            </a:ln>
            <a:effectLst/>
          </p:spPr>
          <p:txBody>
            <a:bodyPr wrap="none" lIns="90488" tIns="44450" rIns="90488" bIns="44450">
              <a:spAutoFit/>
            </a:bodyPr>
            <a:lstStyle/>
            <a:p>
              <a:r>
                <a:rPr lang="en-US" sz="1000">
                  <a:solidFill>
                    <a:srgbClr val="000000"/>
                  </a:solidFill>
                </a:rPr>
                <a:t>time</a:t>
              </a:r>
            </a:p>
          </p:txBody>
        </p:sp>
        <p:sp>
          <p:nvSpPr>
            <p:cNvPr id="969790" name="Rectangle 2110"/>
            <p:cNvSpPr>
              <a:spLocks noChangeArrowheads="1"/>
            </p:cNvSpPr>
            <p:nvPr/>
          </p:nvSpPr>
          <p:spPr bwMode="auto">
            <a:xfrm rot="16200000">
              <a:off x="2982" y="1215"/>
              <a:ext cx="372" cy="152"/>
            </a:xfrm>
            <a:prstGeom prst="rect">
              <a:avLst/>
            </a:prstGeom>
            <a:noFill/>
            <a:ln w="12700">
              <a:noFill/>
              <a:miter lim="800000"/>
              <a:headEnd/>
              <a:tailEnd/>
            </a:ln>
            <a:effectLst/>
          </p:spPr>
          <p:txBody>
            <a:bodyPr wrap="none" lIns="90488" tIns="44450" rIns="90488" bIns="44450">
              <a:spAutoFit/>
            </a:bodyPr>
            <a:lstStyle/>
            <a:p>
              <a:r>
                <a:rPr lang="en-US" sz="1000">
                  <a:solidFill>
                    <a:srgbClr val="000000"/>
                  </a:solidFill>
                </a:rPr>
                <a:t>velocity</a:t>
              </a:r>
            </a:p>
          </p:txBody>
        </p:sp>
      </p:grpSp>
      <p:sp>
        <p:nvSpPr>
          <p:cNvPr id="969791" name="Rectangle 2111"/>
          <p:cNvSpPr>
            <a:spLocks noChangeArrowheads="1"/>
          </p:cNvSpPr>
          <p:nvPr/>
        </p:nvSpPr>
        <p:spPr bwMode="auto">
          <a:xfrm>
            <a:off x="801688" y="3887788"/>
            <a:ext cx="7273925" cy="1841500"/>
          </a:xfrm>
          <a:prstGeom prst="rect">
            <a:avLst/>
          </a:prstGeom>
          <a:noFill/>
          <a:ln w="12700">
            <a:noFill/>
            <a:miter lim="800000"/>
            <a:headEnd/>
            <a:tailEnd/>
          </a:ln>
          <a:effectLst/>
        </p:spPr>
        <p:txBody>
          <a:bodyPr lIns="90488" tIns="44450" rIns="90488" bIns="44450">
            <a:spAutoFit/>
          </a:bodyPr>
          <a:lstStyle/>
          <a:p>
            <a:pPr>
              <a:lnSpc>
                <a:spcPct val="120000"/>
              </a:lnSpc>
            </a:pPr>
            <a:r>
              <a:rPr lang="en-US" b="1"/>
              <a:t>Spur gear produce vibration in radial direction and </a:t>
            </a:r>
          </a:p>
          <a:p>
            <a:pPr>
              <a:lnSpc>
                <a:spcPct val="120000"/>
              </a:lnSpc>
            </a:pPr>
            <a:r>
              <a:rPr lang="en-US" b="1"/>
              <a:t>helical gear produce in radial &amp; axial directions.</a:t>
            </a:r>
          </a:p>
          <a:p>
            <a:pPr>
              <a:lnSpc>
                <a:spcPct val="120000"/>
              </a:lnSpc>
            </a:pPr>
            <a:r>
              <a:rPr lang="en-US" b="1"/>
              <a:t>Sideband spacing reveals the defective gear or pinion.</a:t>
            </a:r>
          </a:p>
          <a:p>
            <a:pPr>
              <a:lnSpc>
                <a:spcPct val="120000"/>
              </a:lnSpc>
            </a:pPr>
            <a:r>
              <a:rPr lang="en-US" b="1"/>
              <a:t>All analysis should be done at maximum load.</a:t>
            </a:r>
          </a:p>
        </p:txBody>
      </p:sp>
      <p:sp>
        <p:nvSpPr>
          <p:cNvPr id="969792" name="Rectangle 2112"/>
          <p:cNvSpPr>
            <a:spLocks noChangeArrowheads="1"/>
          </p:cNvSpPr>
          <p:nvPr/>
        </p:nvSpPr>
        <p:spPr bwMode="auto">
          <a:xfrm>
            <a:off x="2978150" y="1589088"/>
            <a:ext cx="477838" cy="241300"/>
          </a:xfrm>
          <a:prstGeom prst="rect">
            <a:avLst/>
          </a:prstGeom>
          <a:noFill/>
          <a:ln w="12700">
            <a:noFill/>
            <a:miter lim="800000"/>
            <a:headEnd/>
            <a:tailEnd/>
          </a:ln>
          <a:effectLst/>
        </p:spPr>
        <p:txBody>
          <a:bodyPr wrap="none" lIns="90488" tIns="44450" rIns="90488" bIns="44450">
            <a:spAutoFit/>
          </a:bodyPr>
          <a:lstStyle/>
          <a:p>
            <a:r>
              <a:rPr lang="en-US" sz="1000"/>
              <a:t>Z</a:t>
            </a:r>
            <a:r>
              <a:rPr lang="en-US" sz="1000" b="1" baseline="30000"/>
              <a:t>.</a:t>
            </a:r>
            <a:r>
              <a:rPr lang="en-US" sz="1000"/>
              <a:t>Rps</a:t>
            </a:r>
          </a:p>
        </p:txBody>
      </p:sp>
      <p:sp>
        <p:nvSpPr>
          <p:cNvPr id="969793" name="Rectangle 2113"/>
          <p:cNvSpPr>
            <a:spLocks noChangeArrowheads="1"/>
          </p:cNvSpPr>
          <p:nvPr/>
        </p:nvSpPr>
        <p:spPr bwMode="auto">
          <a:xfrm>
            <a:off x="3540125" y="2089150"/>
            <a:ext cx="841375" cy="241300"/>
          </a:xfrm>
          <a:prstGeom prst="rect">
            <a:avLst/>
          </a:prstGeom>
          <a:noFill/>
          <a:ln w="12700">
            <a:noFill/>
            <a:miter lim="800000"/>
            <a:headEnd/>
            <a:tailEnd/>
          </a:ln>
          <a:effectLst/>
        </p:spPr>
        <p:txBody>
          <a:bodyPr wrap="none" lIns="90488" tIns="44450" rIns="90488" bIns="44450">
            <a:spAutoFit/>
          </a:bodyPr>
          <a:lstStyle/>
          <a:p>
            <a:r>
              <a:rPr lang="en-US" sz="1000"/>
              <a:t>Z</a:t>
            </a:r>
            <a:r>
              <a:rPr lang="en-US" sz="1000" b="1" baseline="30000"/>
              <a:t>.</a:t>
            </a:r>
            <a:r>
              <a:rPr lang="en-US" sz="1000"/>
              <a:t>Rps+2 Rps</a:t>
            </a:r>
          </a:p>
        </p:txBody>
      </p:sp>
      <p:sp>
        <p:nvSpPr>
          <p:cNvPr id="969794" name="Rectangle 2114"/>
          <p:cNvSpPr>
            <a:spLocks noChangeArrowheads="1"/>
          </p:cNvSpPr>
          <p:nvPr/>
        </p:nvSpPr>
        <p:spPr bwMode="auto">
          <a:xfrm>
            <a:off x="3540125" y="1743075"/>
            <a:ext cx="746125" cy="241300"/>
          </a:xfrm>
          <a:prstGeom prst="rect">
            <a:avLst/>
          </a:prstGeom>
          <a:noFill/>
          <a:ln w="12700">
            <a:noFill/>
            <a:miter lim="800000"/>
            <a:headEnd/>
            <a:tailEnd/>
          </a:ln>
          <a:effectLst/>
        </p:spPr>
        <p:txBody>
          <a:bodyPr wrap="none" lIns="90488" tIns="44450" rIns="90488" bIns="44450">
            <a:spAutoFit/>
          </a:bodyPr>
          <a:lstStyle/>
          <a:p>
            <a:r>
              <a:rPr lang="en-US" sz="1000"/>
              <a:t>Z</a:t>
            </a:r>
            <a:r>
              <a:rPr lang="en-US" sz="1000" b="1" baseline="30000"/>
              <a:t>.</a:t>
            </a:r>
            <a:r>
              <a:rPr lang="en-US" sz="1000"/>
              <a:t>Rps+Rps</a:t>
            </a:r>
          </a:p>
        </p:txBody>
      </p:sp>
      <p:sp>
        <p:nvSpPr>
          <p:cNvPr id="969795" name="Line 2115"/>
          <p:cNvSpPr>
            <a:spLocks noChangeShapeType="1"/>
          </p:cNvSpPr>
          <p:nvPr/>
        </p:nvSpPr>
        <p:spPr bwMode="auto">
          <a:xfrm flipH="1">
            <a:off x="3313113" y="1965325"/>
            <a:ext cx="300037" cy="317500"/>
          </a:xfrm>
          <a:prstGeom prst="line">
            <a:avLst/>
          </a:prstGeom>
          <a:noFill/>
          <a:ln w="12700">
            <a:solidFill>
              <a:schemeClr val="tx1"/>
            </a:solidFill>
            <a:round/>
            <a:headEnd/>
            <a:tailEnd/>
          </a:ln>
          <a:effectLst/>
        </p:spPr>
        <p:txBody>
          <a:bodyPr wrap="none" anchor="ctr"/>
          <a:lstStyle/>
          <a:p>
            <a:endParaRPr lang="en-US"/>
          </a:p>
        </p:txBody>
      </p:sp>
      <p:sp>
        <p:nvSpPr>
          <p:cNvPr id="969796" name="Line 2116"/>
          <p:cNvSpPr>
            <a:spLocks noChangeShapeType="1"/>
          </p:cNvSpPr>
          <p:nvPr/>
        </p:nvSpPr>
        <p:spPr bwMode="auto">
          <a:xfrm flipH="1">
            <a:off x="3357563" y="2311400"/>
            <a:ext cx="300037" cy="317500"/>
          </a:xfrm>
          <a:prstGeom prst="line">
            <a:avLst/>
          </a:prstGeom>
          <a:noFill/>
          <a:ln w="12700">
            <a:solidFill>
              <a:schemeClr val="tx1"/>
            </a:solidFill>
            <a:round/>
            <a:headEnd/>
            <a:tailEnd/>
          </a:ln>
          <a:effectLst/>
        </p:spPr>
        <p:txBody>
          <a:bodyPr wrap="none" anchor="ctr"/>
          <a:lstStyle/>
          <a:p>
            <a:endParaRPr lang="en-US"/>
          </a:p>
        </p:txBody>
      </p:sp>
      <p:sp>
        <p:nvSpPr>
          <p:cNvPr id="969797" name="Rectangle 2117"/>
          <p:cNvSpPr>
            <a:spLocks noChangeArrowheads="1"/>
          </p:cNvSpPr>
          <p:nvPr/>
        </p:nvSpPr>
        <p:spPr bwMode="auto">
          <a:xfrm>
            <a:off x="2084388" y="2090738"/>
            <a:ext cx="812800" cy="241300"/>
          </a:xfrm>
          <a:prstGeom prst="rect">
            <a:avLst/>
          </a:prstGeom>
          <a:noFill/>
          <a:ln w="12700">
            <a:noFill/>
            <a:miter lim="800000"/>
            <a:headEnd/>
            <a:tailEnd/>
          </a:ln>
          <a:effectLst/>
        </p:spPr>
        <p:txBody>
          <a:bodyPr wrap="none" lIns="90488" tIns="44450" rIns="90488" bIns="44450">
            <a:spAutoFit/>
          </a:bodyPr>
          <a:lstStyle/>
          <a:p>
            <a:r>
              <a:rPr lang="en-US" sz="1000"/>
              <a:t>Z</a:t>
            </a:r>
            <a:r>
              <a:rPr lang="en-US" sz="1000" b="1" baseline="30000"/>
              <a:t>.</a:t>
            </a:r>
            <a:r>
              <a:rPr lang="en-US" sz="1000"/>
              <a:t>Rps-2 Rps</a:t>
            </a:r>
          </a:p>
        </p:txBody>
      </p:sp>
      <p:sp>
        <p:nvSpPr>
          <p:cNvPr id="969798" name="Rectangle 2118"/>
          <p:cNvSpPr>
            <a:spLocks noChangeArrowheads="1"/>
          </p:cNvSpPr>
          <p:nvPr/>
        </p:nvSpPr>
        <p:spPr bwMode="auto">
          <a:xfrm>
            <a:off x="2212975" y="1743075"/>
            <a:ext cx="717550" cy="241300"/>
          </a:xfrm>
          <a:prstGeom prst="rect">
            <a:avLst/>
          </a:prstGeom>
          <a:noFill/>
          <a:ln w="12700">
            <a:noFill/>
            <a:miter lim="800000"/>
            <a:headEnd/>
            <a:tailEnd/>
          </a:ln>
          <a:effectLst/>
        </p:spPr>
        <p:txBody>
          <a:bodyPr wrap="none" lIns="90488" tIns="44450" rIns="90488" bIns="44450">
            <a:spAutoFit/>
          </a:bodyPr>
          <a:lstStyle/>
          <a:p>
            <a:r>
              <a:rPr lang="en-US" sz="1000"/>
              <a:t>Z</a:t>
            </a:r>
            <a:r>
              <a:rPr lang="en-US" sz="1000" b="1" baseline="30000"/>
              <a:t>.</a:t>
            </a:r>
            <a:r>
              <a:rPr lang="en-US" sz="1000"/>
              <a:t>Rps-Rps</a:t>
            </a:r>
          </a:p>
        </p:txBody>
      </p:sp>
      <p:sp>
        <p:nvSpPr>
          <p:cNvPr id="969799" name="Line 2119"/>
          <p:cNvSpPr>
            <a:spLocks noChangeShapeType="1"/>
          </p:cNvSpPr>
          <p:nvPr/>
        </p:nvSpPr>
        <p:spPr bwMode="auto">
          <a:xfrm>
            <a:off x="2776538" y="1951038"/>
            <a:ext cx="303212" cy="433387"/>
          </a:xfrm>
          <a:prstGeom prst="line">
            <a:avLst/>
          </a:prstGeom>
          <a:noFill/>
          <a:ln w="12700">
            <a:solidFill>
              <a:schemeClr val="tx1"/>
            </a:solidFill>
            <a:round/>
            <a:headEnd/>
            <a:tailEnd/>
          </a:ln>
          <a:effectLst/>
        </p:spPr>
        <p:txBody>
          <a:bodyPr wrap="none" anchor="ctr"/>
          <a:lstStyle/>
          <a:p>
            <a:endParaRPr lang="en-US"/>
          </a:p>
        </p:txBody>
      </p:sp>
      <p:sp>
        <p:nvSpPr>
          <p:cNvPr id="969800" name="Line 2120"/>
          <p:cNvSpPr>
            <a:spLocks noChangeShapeType="1"/>
          </p:cNvSpPr>
          <p:nvPr/>
        </p:nvSpPr>
        <p:spPr bwMode="auto">
          <a:xfrm>
            <a:off x="2646363" y="2325688"/>
            <a:ext cx="374650" cy="490537"/>
          </a:xfrm>
          <a:prstGeom prst="line">
            <a:avLst/>
          </a:prstGeom>
          <a:noFill/>
          <a:ln w="12700">
            <a:solidFill>
              <a:schemeClr val="tx1"/>
            </a:solidFill>
            <a:round/>
            <a:headEnd/>
            <a:tailEnd/>
          </a:ln>
          <a:effectLst/>
        </p:spPr>
        <p:txBody>
          <a:bodyPr wrap="none" anchor="ctr"/>
          <a:lstStyle/>
          <a:p>
            <a:endParaRPr lang="en-US"/>
          </a:p>
        </p:txBody>
      </p:sp>
      <p:sp>
        <p:nvSpPr>
          <p:cNvPr id="969801" name="Line 2121"/>
          <p:cNvSpPr>
            <a:spLocks noChangeShapeType="1"/>
          </p:cNvSpPr>
          <p:nvPr/>
        </p:nvSpPr>
        <p:spPr bwMode="auto">
          <a:xfrm flipV="1">
            <a:off x="6505575" y="1431925"/>
            <a:ext cx="0" cy="473075"/>
          </a:xfrm>
          <a:prstGeom prst="line">
            <a:avLst/>
          </a:prstGeom>
          <a:noFill/>
          <a:ln w="12700">
            <a:solidFill>
              <a:schemeClr val="tx1"/>
            </a:solidFill>
            <a:prstDash val="dash"/>
            <a:round/>
            <a:headEnd/>
            <a:tailEnd/>
          </a:ln>
          <a:effectLst/>
        </p:spPr>
        <p:txBody>
          <a:bodyPr wrap="none" anchor="ctr"/>
          <a:lstStyle/>
          <a:p>
            <a:endParaRPr lang="en-US"/>
          </a:p>
        </p:txBody>
      </p:sp>
      <p:sp>
        <p:nvSpPr>
          <p:cNvPr id="969802" name="Line 2122"/>
          <p:cNvSpPr>
            <a:spLocks noChangeShapeType="1"/>
          </p:cNvSpPr>
          <p:nvPr/>
        </p:nvSpPr>
        <p:spPr bwMode="auto">
          <a:xfrm flipV="1">
            <a:off x="6894513" y="1447800"/>
            <a:ext cx="0" cy="458788"/>
          </a:xfrm>
          <a:prstGeom prst="line">
            <a:avLst/>
          </a:prstGeom>
          <a:noFill/>
          <a:ln w="12700">
            <a:solidFill>
              <a:schemeClr val="tx1"/>
            </a:solidFill>
            <a:prstDash val="dash"/>
            <a:round/>
            <a:headEnd/>
            <a:tailEnd/>
          </a:ln>
          <a:effectLst/>
        </p:spPr>
        <p:txBody>
          <a:bodyPr wrap="none" anchor="ctr"/>
          <a:lstStyle/>
          <a:p>
            <a:endParaRPr lang="en-US"/>
          </a:p>
        </p:txBody>
      </p:sp>
      <p:sp>
        <p:nvSpPr>
          <p:cNvPr id="969803" name="Line 2123"/>
          <p:cNvSpPr>
            <a:spLocks noChangeShapeType="1"/>
          </p:cNvSpPr>
          <p:nvPr/>
        </p:nvSpPr>
        <p:spPr bwMode="auto">
          <a:xfrm>
            <a:off x="6513513" y="1639888"/>
            <a:ext cx="374650" cy="0"/>
          </a:xfrm>
          <a:prstGeom prst="line">
            <a:avLst/>
          </a:prstGeom>
          <a:noFill/>
          <a:ln w="12700">
            <a:solidFill>
              <a:schemeClr val="tx1"/>
            </a:solidFill>
            <a:round/>
            <a:headEnd type="triangle" w="med" len="med"/>
            <a:tailEnd type="triangle" w="med" len="med"/>
          </a:ln>
          <a:effectLst/>
        </p:spPr>
        <p:txBody>
          <a:bodyPr wrap="none" anchor="ctr"/>
          <a:lstStyle/>
          <a:p>
            <a:endParaRPr lang="en-US"/>
          </a:p>
        </p:txBody>
      </p:sp>
      <p:sp>
        <p:nvSpPr>
          <p:cNvPr id="969804" name="Rectangle 2124"/>
          <p:cNvSpPr>
            <a:spLocks noChangeArrowheads="1"/>
          </p:cNvSpPr>
          <p:nvPr/>
        </p:nvSpPr>
        <p:spPr bwMode="auto">
          <a:xfrm>
            <a:off x="6456363" y="1393825"/>
            <a:ext cx="476250" cy="241300"/>
          </a:xfrm>
          <a:prstGeom prst="rect">
            <a:avLst/>
          </a:prstGeom>
          <a:noFill/>
          <a:ln w="12700">
            <a:noFill/>
            <a:miter lim="800000"/>
            <a:headEnd/>
            <a:tailEnd/>
          </a:ln>
          <a:effectLst/>
        </p:spPr>
        <p:txBody>
          <a:bodyPr wrap="none" lIns="90488" tIns="44450" rIns="90488" bIns="44450">
            <a:spAutoFit/>
          </a:bodyPr>
          <a:lstStyle/>
          <a:p>
            <a:r>
              <a:rPr lang="en-US" sz="1000"/>
              <a:t>1/Rps</a:t>
            </a:r>
          </a:p>
        </p:txBody>
      </p:sp>
      <p:sp>
        <p:nvSpPr>
          <p:cNvPr id="969805" name="Rectangle 2125"/>
          <p:cNvSpPr>
            <a:spLocks noChangeArrowheads="1"/>
          </p:cNvSpPr>
          <p:nvPr/>
        </p:nvSpPr>
        <p:spPr bwMode="auto">
          <a:xfrm>
            <a:off x="3451225" y="306388"/>
            <a:ext cx="2198688" cy="698500"/>
          </a:xfrm>
          <a:prstGeom prst="rect">
            <a:avLst/>
          </a:prstGeom>
          <a:noFill/>
          <a:ln w="12700">
            <a:noFill/>
            <a:miter lim="800000"/>
            <a:headEnd/>
            <a:tailEnd/>
          </a:ln>
          <a:effectLst/>
        </p:spPr>
        <p:txBody>
          <a:bodyPr wrap="none" lIns="90488" tIns="44450" rIns="90488" bIns="44450">
            <a:spAutoFit/>
          </a:bodyPr>
          <a:lstStyle/>
          <a:p>
            <a:r>
              <a:rPr lang="en-US" sz="4000" b="1"/>
              <a:t>Gear box</a:t>
            </a:r>
          </a:p>
        </p:txBody>
      </p:sp>
    </p:spTree>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754" name="Rectangle 2"/>
          <p:cNvSpPr>
            <a:spLocks noGrp="1" noChangeArrowheads="1"/>
          </p:cNvSpPr>
          <p:nvPr>
            <p:ph type="title" idx="4294967295"/>
          </p:nvPr>
        </p:nvSpPr>
        <p:spPr>
          <a:xfrm>
            <a:off x="685800" y="381000"/>
            <a:ext cx="7772400" cy="685800"/>
          </a:xfrm>
          <a:noFill/>
          <a:ln/>
        </p:spPr>
        <p:txBody>
          <a:bodyPr lIns="90488" tIns="44450" rIns="90488" bIns="44450" anchor="ctr"/>
          <a:lstStyle/>
          <a:p>
            <a:r>
              <a:rPr lang="en-US" sz="3200" b="0"/>
              <a:t>Normal Spectrum</a:t>
            </a:r>
          </a:p>
        </p:txBody>
      </p:sp>
      <p:sp>
        <p:nvSpPr>
          <p:cNvPr id="970755" name="Rectangle 3"/>
          <p:cNvSpPr>
            <a:spLocks noChangeArrowheads="1"/>
          </p:cNvSpPr>
          <p:nvPr/>
        </p:nvSpPr>
        <p:spPr bwMode="auto">
          <a:xfrm>
            <a:off x="976313" y="4924425"/>
            <a:ext cx="6678612" cy="1063625"/>
          </a:xfrm>
          <a:prstGeom prst="rect">
            <a:avLst/>
          </a:prstGeom>
          <a:noFill/>
          <a:ln w="12700">
            <a:noFill/>
            <a:miter lim="800000"/>
            <a:headEnd/>
            <a:tailEnd/>
          </a:ln>
          <a:effectLst/>
        </p:spPr>
        <p:txBody>
          <a:bodyPr wrap="none" lIns="90488" tIns="44450" rIns="90488" bIns="44450">
            <a:spAutoFit/>
          </a:bodyPr>
          <a:lstStyle/>
          <a:p>
            <a:pPr>
              <a:buFontTx/>
              <a:buChar char="•"/>
            </a:pPr>
            <a:r>
              <a:rPr lang="en-US" sz="3200" b="1"/>
              <a:t>All peaks are of low amplitudes</a:t>
            </a:r>
          </a:p>
          <a:p>
            <a:pPr>
              <a:buFontTx/>
              <a:buChar char="•"/>
            </a:pPr>
            <a:r>
              <a:rPr lang="en-US" sz="3200" b="1"/>
              <a:t>No natural frequency of gear excited</a:t>
            </a:r>
          </a:p>
        </p:txBody>
      </p:sp>
      <p:graphicFrame>
        <p:nvGraphicFramePr>
          <p:cNvPr id="1055744" name="Object 1024">
            <a:hlinkClick r:id="" action="ppaction://ole?verb=0"/>
          </p:cNvPr>
          <p:cNvGraphicFramePr>
            <a:graphicFrameLocks/>
          </p:cNvGraphicFramePr>
          <p:nvPr/>
        </p:nvGraphicFramePr>
        <p:xfrm>
          <a:off x="381000" y="1295400"/>
          <a:ext cx="8458200" cy="2667000"/>
        </p:xfrm>
        <a:graphic>
          <a:graphicData uri="http://schemas.openxmlformats.org/presentationml/2006/ole">
            <mc:AlternateContent xmlns:mc="http://schemas.openxmlformats.org/markup-compatibility/2006">
              <mc:Choice xmlns:v="urn:schemas-microsoft-com:vml" Requires="v">
                <p:oleObj spid="_x0000_s1055746" name="Bitmap Image" r:id="rId3" imgW="5276190" imgH="1789056" progId="Paint.Picture">
                  <p:embed/>
                </p:oleObj>
              </mc:Choice>
              <mc:Fallback>
                <p:oleObj name="Bitmap Image" r:id="rId3" imgW="5276190" imgH="1789056" progId="Paint.Picture">
                  <p:embed/>
                  <p:pic>
                    <p:nvPicPr>
                      <p:cNvPr id="0" name="Picture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295400"/>
                        <a:ext cx="84582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778" name="Rectangle 2"/>
          <p:cNvSpPr>
            <a:spLocks noGrp="1" noChangeArrowheads="1"/>
          </p:cNvSpPr>
          <p:nvPr>
            <p:ph type="title" idx="4294967295"/>
          </p:nvPr>
        </p:nvSpPr>
        <p:spPr>
          <a:xfrm>
            <a:off x="685800" y="381000"/>
            <a:ext cx="7772400" cy="609600"/>
          </a:xfrm>
          <a:noFill/>
          <a:ln/>
        </p:spPr>
        <p:txBody>
          <a:bodyPr lIns="90488" tIns="44450" rIns="90488" bIns="44450" anchor="ctr"/>
          <a:lstStyle/>
          <a:p>
            <a:r>
              <a:rPr lang="en-US" sz="3200" b="0"/>
              <a:t>Tooth Wear</a:t>
            </a:r>
          </a:p>
        </p:txBody>
      </p:sp>
      <p:graphicFrame>
        <p:nvGraphicFramePr>
          <p:cNvPr id="1056768" name="Object 1024">
            <a:hlinkClick r:id="" action="ppaction://ole?verb=0"/>
          </p:cNvPr>
          <p:cNvGraphicFramePr>
            <a:graphicFrameLocks/>
          </p:cNvGraphicFramePr>
          <p:nvPr/>
        </p:nvGraphicFramePr>
        <p:xfrm>
          <a:off x="304800" y="1295400"/>
          <a:ext cx="8382000" cy="2209800"/>
        </p:xfrm>
        <a:graphic>
          <a:graphicData uri="http://schemas.openxmlformats.org/presentationml/2006/ole">
            <mc:AlternateContent xmlns:mc="http://schemas.openxmlformats.org/markup-compatibility/2006">
              <mc:Choice xmlns:v="urn:schemas-microsoft-com:vml" Requires="v">
                <p:oleObj spid="_x0000_s1056770" name="Bitmap Image" r:id="rId3" imgW="5257143" imgH="1761905" progId="Paint.Picture">
                  <p:embed/>
                </p:oleObj>
              </mc:Choice>
              <mc:Fallback>
                <p:oleObj name="Bitmap Image" r:id="rId3" imgW="5257143" imgH="1761905" progId="Paint.Picture">
                  <p:embed/>
                  <p:pic>
                    <p:nvPicPr>
                      <p:cNvPr id="0" name="Picture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295400"/>
                        <a:ext cx="838200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1780" name="Rectangle 4"/>
          <p:cNvSpPr>
            <a:spLocks noChangeArrowheads="1"/>
          </p:cNvSpPr>
          <p:nvPr/>
        </p:nvSpPr>
        <p:spPr bwMode="auto">
          <a:xfrm>
            <a:off x="671513" y="4010025"/>
            <a:ext cx="7491412" cy="1550988"/>
          </a:xfrm>
          <a:prstGeom prst="rect">
            <a:avLst/>
          </a:prstGeom>
          <a:noFill/>
          <a:ln w="12700">
            <a:noFill/>
            <a:miter lim="800000"/>
            <a:headEnd/>
            <a:tailEnd/>
          </a:ln>
          <a:effectLst/>
        </p:spPr>
        <p:txBody>
          <a:bodyPr wrap="none" lIns="90488" tIns="44450" rIns="90488" bIns="44450">
            <a:spAutoFit/>
          </a:bodyPr>
          <a:lstStyle/>
          <a:p>
            <a:pPr>
              <a:buFontTx/>
              <a:buChar char="•"/>
            </a:pPr>
            <a:r>
              <a:rPr lang="en-US" sz="3200" b="1"/>
              <a:t>GMF may not change</a:t>
            </a:r>
          </a:p>
          <a:p>
            <a:pPr>
              <a:buFontTx/>
              <a:buChar char="•"/>
            </a:pPr>
            <a:r>
              <a:rPr lang="en-US" sz="3200" b="1"/>
              <a:t>High amplitudes of side bands</a:t>
            </a:r>
          </a:p>
          <a:p>
            <a:pPr>
              <a:buFontTx/>
              <a:buChar char="•"/>
            </a:pPr>
            <a:r>
              <a:rPr lang="en-US" sz="3200" b="1"/>
              <a:t>Presence of natural frequency of gear (f</a:t>
            </a:r>
            <a:r>
              <a:rPr lang="en-US" sz="3200" b="1" baseline="-25000"/>
              <a:t>n</a:t>
            </a:r>
            <a:r>
              <a:rPr lang="en-US" sz="3200" b="1"/>
              <a:t>)</a:t>
            </a:r>
          </a:p>
        </p:txBody>
      </p:sp>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02" name="Rectangle 2"/>
          <p:cNvSpPr>
            <a:spLocks noGrp="1" noChangeArrowheads="1"/>
          </p:cNvSpPr>
          <p:nvPr>
            <p:ph type="title" idx="4294967295"/>
          </p:nvPr>
        </p:nvSpPr>
        <p:spPr>
          <a:xfrm>
            <a:off x="685800" y="381000"/>
            <a:ext cx="7772400" cy="685800"/>
          </a:xfrm>
          <a:noFill/>
          <a:ln/>
        </p:spPr>
        <p:txBody>
          <a:bodyPr lIns="90488" tIns="44450" rIns="90488" bIns="44450" anchor="ctr"/>
          <a:lstStyle/>
          <a:p>
            <a:r>
              <a:rPr lang="en-US" sz="3200" b="0"/>
              <a:t>Gear Eccentricity &amp; Backlash</a:t>
            </a:r>
          </a:p>
        </p:txBody>
      </p:sp>
      <p:sp>
        <p:nvSpPr>
          <p:cNvPr id="972803" name="Rectangle 3"/>
          <p:cNvSpPr>
            <a:spLocks noChangeArrowheads="1"/>
          </p:cNvSpPr>
          <p:nvPr/>
        </p:nvSpPr>
        <p:spPr bwMode="auto">
          <a:xfrm>
            <a:off x="671513" y="4010025"/>
            <a:ext cx="7062787" cy="2232025"/>
          </a:xfrm>
          <a:prstGeom prst="rect">
            <a:avLst/>
          </a:prstGeom>
          <a:noFill/>
          <a:ln w="12700">
            <a:noFill/>
            <a:miter lim="800000"/>
            <a:headEnd/>
            <a:tailEnd/>
          </a:ln>
          <a:effectLst/>
        </p:spPr>
        <p:txBody>
          <a:bodyPr wrap="none" lIns="90488" tIns="44450" rIns="90488" bIns="44450">
            <a:spAutoFit/>
          </a:bodyPr>
          <a:lstStyle/>
          <a:p>
            <a:pPr>
              <a:buFontTx/>
              <a:buChar char="•"/>
            </a:pPr>
            <a:r>
              <a:rPr lang="en-US" sz="3200" b="1"/>
              <a:t>Excites GMF, f</a:t>
            </a:r>
            <a:r>
              <a:rPr lang="en-US" sz="3200" b="1" baseline="-25000"/>
              <a:t>n</a:t>
            </a:r>
            <a:r>
              <a:rPr lang="en-US" sz="3200" b="1"/>
              <a:t> &amp; their side bands</a:t>
            </a:r>
          </a:p>
          <a:p>
            <a:pPr>
              <a:buFontTx/>
              <a:buChar char="•"/>
            </a:pPr>
            <a:r>
              <a:rPr lang="en-US" sz="3200" b="1"/>
              <a:t>High amplitudes of side bands</a:t>
            </a:r>
          </a:p>
          <a:p>
            <a:pPr>
              <a:lnSpc>
                <a:spcPct val="120000"/>
              </a:lnSpc>
              <a:buFontTx/>
              <a:buChar char="•"/>
            </a:pPr>
            <a:r>
              <a:rPr lang="en-US" sz="3200" b="1"/>
              <a:t>Sideband spacing reveals the defective </a:t>
            </a:r>
          </a:p>
          <a:p>
            <a:pPr>
              <a:lnSpc>
                <a:spcPct val="120000"/>
              </a:lnSpc>
            </a:pPr>
            <a:r>
              <a:rPr lang="en-US" sz="3200" b="1"/>
              <a:t>  gear or pinion</a:t>
            </a:r>
            <a:r>
              <a:rPr lang="en-US" b="1"/>
              <a:t>.</a:t>
            </a:r>
          </a:p>
        </p:txBody>
      </p:sp>
      <p:graphicFrame>
        <p:nvGraphicFramePr>
          <p:cNvPr id="1057792" name="Object 1024">
            <a:hlinkClick r:id="" action="ppaction://ole?verb=0"/>
          </p:cNvPr>
          <p:cNvGraphicFramePr>
            <a:graphicFrameLocks/>
          </p:cNvGraphicFramePr>
          <p:nvPr/>
        </p:nvGraphicFramePr>
        <p:xfrm>
          <a:off x="457200" y="1143000"/>
          <a:ext cx="8382000" cy="2743200"/>
        </p:xfrm>
        <a:graphic>
          <a:graphicData uri="http://schemas.openxmlformats.org/presentationml/2006/ole">
            <mc:AlternateContent xmlns:mc="http://schemas.openxmlformats.org/markup-compatibility/2006">
              <mc:Choice xmlns:v="urn:schemas-microsoft-com:vml" Requires="v">
                <p:oleObj spid="_x0000_s1057794" name="Bitmap Image" r:id="rId3" imgW="5341444" imgH="1808089" progId="Paint.Picture">
                  <p:embed/>
                </p:oleObj>
              </mc:Choice>
              <mc:Fallback>
                <p:oleObj name="Bitmap Image" r:id="rId3" imgW="5341444" imgH="1808089" progId="Paint.Picture">
                  <p:embed/>
                  <p:pic>
                    <p:nvPicPr>
                      <p:cNvPr id="0" name="Picture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143000"/>
                        <a:ext cx="83820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6" name="Rectangle 2"/>
          <p:cNvSpPr>
            <a:spLocks noGrp="1" noChangeArrowheads="1"/>
          </p:cNvSpPr>
          <p:nvPr>
            <p:ph type="title" idx="4294967295"/>
          </p:nvPr>
        </p:nvSpPr>
        <p:spPr>
          <a:xfrm>
            <a:off x="685800" y="381000"/>
            <a:ext cx="7772400" cy="609600"/>
          </a:xfrm>
          <a:noFill/>
          <a:ln/>
        </p:spPr>
        <p:txBody>
          <a:bodyPr lIns="90488" tIns="44450" rIns="90488" bIns="44450" anchor="ctr"/>
          <a:lstStyle/>
          <a:p>
            <a:r>
              <a:rPr lang="en-US" sz="3200" b="0"/>
              <a:t>Gear Misalignment</a:t>
            </a:r>
          </a:p>
        </p:txBody>
      </p:sp>
      <p:graphicFrame>
        <p:nvGraphicFramePr>
          <p:cNvPr id="1058816" name="Object 1024">
            <a:hlinkClick r:id="" action="ppaction://ole?verb=0"/>
          </p:cNvPr>
          <p:cNvGraphicFramePr>
            <a:graphicFrameLocks/>
          </p:cNvGraphicFramePr>
          <p:nvPr/>
        </p:nvGraphicFramePr>
        <p:xfrm>
          <a:off x="381000" y="1143000"/>
          <a:ext cx="8458200" cy="2438400"/>
        </p:xfrm>
        <a:graphic>
          <a:graphicData uri="http://schemas.openxmlformats.org/presentationml/2006/ole">
            <mc:AlternateContent xmlns:mc="http://schemas.openxmlformats.org/markup-compatibility/2006">
              <mc:Choice xmlns:v="urn:schemas-microsoft-com:vml" Requires="v">
                <p:oleObj spid="_x0000_s1058818" name="Bitmap Image" r:id="rId3" imgW="5276190" imgH="1800000" progId="Paint.Picture">
                  <p:embed/>
                </p:oleObj>
              </mc:Choice>
              <mc:Fallback>
                <p:oleObj name="Bitmap Image" r:id="rId3" imgW="5276190" imgH="1800000" progId="Paint.Picture">
                  <p:embed/>
                  <p:pic>
                    <p:nvPicPr>
                      <p:cNvPr id="0" name="Picture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143000"/>
                        <a:ext cx="84582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3828" name="Rectangle 4"/>
          <p:cNvSpPr>
            <a:spLocks noChangeArrowheads="1"/>
          </p:cNvSpPr>
          <p:nvPr/>
        </p:nvSpPr>
        <p:spPr bwMode="auto">
          <a:xfrm>
            <a:off x="671513" y="4359275"/>
            <a:ext cx="7634287" cy="942975"/>
          </a:xfrm>
          <a:prstGeom prst="rect">
            <a:avLst/>
          </a:prstGeom>
          <a:noFill/>
          <a:ln w="12700">
            <a:noFill/>
            <a:miter lim="800000"/>
            <a:headEnd/>
            <a:tailEnd/>
          </a:ln>
          <a:effectLst/>
        </p:spPr>
        <p:txBody>
          <a:bodyPr wrap="none" lIns="90488" tIns="44450" rIns="90488" bIns="44450">
            <a:spAutoFit/>
          </a:bodyPr>
          <a:lstStyle/>
          <a:p>
            <a:pPr>
              <a:buFontTx/>
              <a:buChar char="•"/>
            </a:pPr>
            <a:r>
              <a:rPr lang="en-US" sz="2800" b="1"/>
              <a:t>Excites harmonics of GMF with side bands</a:t>
            </a:r>
          </a:p>
          <a:p>
            <a:pPr>
              <a:buFontTx/>
              <a:buChar char="•"/>
            </a:pPr>
            <a:r>
              <a:rPr lang="en-US" sz="2800" b="1"/>
              <a:t>Amplitudes 2GMF or 3GMF higher than 1GMF</a:t>
            </a:r>
          </a:p>
        </p:txBody>
      </p:sp>
    </p:spTree>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850" name="Rectangle 2"/>
          <p:cNvSpPr>
            <a:spLocks noGrp="1" noChangeArrowheads="1"/>
          </p:cNvSpPr>
          <p:nvPr>
            <p:ph type="title" idx="4294967295"/>
          </p:nvPr>
        </p:nvSpPr>
        <p:spPr>
          <a:xfrm>
            <a:off x="685800" y="381000"/>
            <a:ext cx="7772400" cy="533400"/>
          </a:xfrm>
          <a:noFill/>
          <a:ln/>
        </p:spPr>
        <p:txBody>
          <a:bodyPr lIns="90488" tIns="44450" rIns="90488" bIns="44450" anchor="ctr"/>
          <a:lstStyle/>
          <a:p>
            <a:r>
              <a:rPr lang="en-US" sz="3200" b="0"/>
              <a:t>Cracked / Broken Tooth</a:t>
            </a:r>
          </a:p>
        </p:txBody>
      </p:sp>
      <p:graphicFrame>
        <p:nvGraphicFramePr>
          <p:cNvPr id="1059840" name="Object 0">
            <a:hlinkClick r:id="" action="ppaction://ole?verb=0"/>
          </p:cNvPr>
          <p:cNvGraphicFramePr>
            <a:graphicFrameLocks/>
          </p:cNvGraphicFramePr>
          <p:nvPr/>
        </p:nvGraphicFramePr>
        <p:xfrm>
          <a:off x="4457700" y="1104900"/>
          <a:ext cx="4305300" cy="2400300"/>
        </p:xfrm>
        <a:graphic>
          <a:graphicData uri="http://schemas.openxmlformats.org/presentationml/2006/ole">
            <mc:AlternateContent xmlns:mc="http://schemas.openxmlformats.org/markup-compatibility/2006">
              <mc:Choice xmlns:v="urn:schemas-microsoft-com:vml" Requires="v">
                <p:oleObj spid="_x0000_s1059844" name="Bitmap Image" r:id="rId3" imgW="2971429" imgH="1904762" progId="Paint.Picture">
                  <p:embed/>
                </p:oleObj>
              </mc:Choice>
              <mc:Fallback>
                <p:oleObj name="Bitmap Image" r:id="rId3" imgW="2971429" imgH="1904762" progId="Paint.Picture">
                  <p:embed/>
                  <p:pic>
                    <p:nvPicPr>
                      <p:cNvPr id="0" name="Picture 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7700" y="1104900"/>
                        <a:ext cx="4305300" cy="240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4852" name="Rectangle 4"/>
          <p:cNvSpPr>
            <a:spLocks noChangeArrowheads="1"/>
          </p:cNvSpPr>
          <p:nvPr/>
        </p:nvSpPr>
        <p:spPr bwMode="auto">
          <a:xfrm>
            <a:off x="519113" y="4070350"/>
            <a:ext cx="7939087" cy="1793875"/>
          </a:xfrm>
          <a:prstGeom prst="rect">
            <a:avLst/>
          </a:prstGeom>
          <a:noFill/>
          <a:ln w="12700">
            <a:noFill/>
            <a:miter lim="800000"/>
            <a:headEnd/>
            <a:tailEnd/>
          </a:ln>
          <a:effectLst/>
        </p:spPr>
        <p:txBody>
          <a:bodyPr wrap="none" lIns="90488" tIns="44450" rIns="90488" bIns="44450">
            <a:spAutoFit/>
          </a:bodyPr>
          <a:lstStyle/>
          <a:p>
            <a:pPr>
              <a:buFontTx/>
              <a:buChar char="•"/>
            </a:pPr>
            <a:r>
              <a:rPr lang="en-US" sz="2000" b="1"/>
              <a:t>High amplitudes of 1x RPM of gear or pinion</a:t>
            </a:r>
          </a:p>
          <a:p>
            <a:pPr>
              <a:buFontTx/>
              <a:buChar char="•"/>
            </a:pPr>
            <a:r>
              <a:rPr lang="en-US" sz="2000" b="1"/>
              <a:t>Excites gear natural frequency.</a:t>
            </a:r>
          </a:p>
          <a:p>
            <a:pPr>
              <a:lnSpc>
                <a:spcPct val="120000"/>
              </a:lnSpc>
              <a:buFontTx/>
              <a:buChar char="•"/>
            </a:pPr>
            <a:r>
              <a:rPr lang="en-US" sz="2000" b="1"/>
              <a:t>Time waveform indicates spikes at 1/RPM of broken or cracked tooth. </a:t>
            </a:r>
          </a:p>
          <a:p>
            <a:pPr>
              <a:lnSpc>
                <a:spcPct val="120000"/>
              </a:lnSpc>
              <a:buFontTx/>
              <a:buChar char="•"/>
            </a:pPr>
            <a:r>
              <a:rPr lang="en-US" sz="2000" b="1"/>
              <a:t>Amplitudes of impact spikes in time waveform will be higher than </a:t>
            </a:r>
          </a:p>
          <a:p>
            <a:pPr>
              <a:lnSpc>
                <a:spcPct val="120000"/>
              </a:lnSpc>
            </a:pPr>
            <a:r>
              <a:rPr lang="en-US" sz="2000" b="1"/>
              <a:t>  that of 1xRPM in FFT.</a:t>
            </a:r>
          </a:p>
        </p:txBody>
      </p:sp>
      <p:graphicFrame>
        <p:nvGraphicFramePr>
          <p:cNvPr id="1059841" name="Object 1">
            <a:hlinkClick r:id="" action="ppaction://ole?verb=0"/>
          </p:cNvPr>
          <p:cNvGraphicFramePr>
            <a:graphicFrameLocks/>
          </p:cNvGraphicFramePr>
          <p:nvPr/>
        </p:nvGraphicFramePr>
        <p:xfrm>
          <a:off x="485775" y="1076325"/>
          <a:ext cx="3857625" cy="2428875"/>
        </p:xfrm>
        <a:graphic>
          <a:graphicData uri="http://schemas.openxmlformats.org/presentationml/2006/ole">
            <mc:AlternateContent xmlns:mc="http://schemas.openxmlformats.org/markup-compatibility/2006">
              <mc:Choice xmlns:v="urn:schemas-microsoft-com:vml" Requires="v">
                <p:oleObj spid="_x0000_s1059845" name="Bitmap Image" r:id="rId5" imgW="2676190" imgH="1808089" progId="Paint.Picture">
                  <p:embed/>
                </p:oleObj>
              </mc:Choice>
              <mc:Fallback>
                <p:oleObj name="Bitmap Image" r:id="rId5" imgW="2676190" imgH="1808089" progId="Paint.Picture">
                  <p:embed/>
                  <p:pic>
                    <p:nvPicPr>
                      <p:cNvPr id="0" name="Picture 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5775" y="1076325"/>
                        <a:ext cx="3857625"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75874" name="Rectangle 2"/>
          <p:cNvSpPr>
            <a:spLocks noGrp="1" noChangeArrowheads="1"/>
          </p:cNvSpPr>
          <p:nvPr>
            <p:ph type="title" idx="4294967295"/>
          </p:nvPr>
        </p:nvSpPr>
        <p:spPr>
          <a:xfrm>
            <a:off x="685800" y="381000"/>
            <a:ext cx="7772400" cy="609600"/>
          </a:xfrm>
          <a:noFill/>
          <a:ln/>
        </p:spPr>
        <p:txBody>
          <a:bodyPr lIns="90488" tIns="44450" rIns="90488" bIns="44450" anchor="ctr"/>
          <a:lstStyle/>
          <a:p>
            <a:r>
              <a:rPr lang="en-US" sz="3200" b="0"/>
              <a:t>Hunting Tooth</a:t>
            </a:r>
          </a:p>
        </p:txBody>
      </p:sp>
      <p:sp>
        <p:nvSpPr>
          <p:cNvPr id="975875" name="Rectangle 3"/>
          <p:cNvSpPr>
            <a:spLocks noChangeArrowheads="1"/>
          </p:cNvSpPr>
          <p:nvPr/>
        </p:nvSpPr>
        <p:spPr bwMode="auto">
          <a:xfrm>
            <a:off x="823913" y="1651000"/>
            <a:ext cx="7188200" cy="3009900"/>
          </a:xfrm>
          <a:prstGeom prst="rect">
            <a:avLst/>
          </a:prstGeom>
          <a:noFill/>
          <a:ln w="12700">
            <a:noFill/>
            <a:miter lim="800000"/>
            <a:headEnd/>
            <a:tailEnd/>
          </a:ln>
          <a:effectLst/>
        </p:spPr>
        <p:txBody>
          <a:bodyPr wrap="none" lIns="90488" tIns="44450" rIns="90488" bIns="44450">
            <a:spAutoFit/>
          </a:bodyPr>
          <a:lstStyle/>
          <a:p>
            <a:pPr>
              <a:lnSpc>
                <a:spcPct val="120000"/>
              </a:lnSpc>
            </a:pPr>
            <a:r>
              <a:rPr lang="en-US" sz="3200" b="1"/>
              <a:t>1. Faults on both gear &amp; pinion occured </a:t>
            </a:r>
          </a:p>
          <a:p>
            <a:pPr>
              <a:lnSpc>
                <a:spcPct val="120000"/>
              </a:lnSpc>
            </a:pPr>
            <a:r>
              <a:rPr lang="en-US" sz="3200" b="1"/>
              <a:t>    during manufacturing.</a:t>
            </a:r>
          </a:p>
          <a:p>
            <a:pPr>
              <a:lnSpc>
                <a:spcPct val="120000"/>
              </a:lnSpc>
            </a:pPr>
            <a:r>
              <a:rPr lang="en-US" sz="3200" b="1"/>
              <a:t>2. Causes high vibration at low  </a:t>
            </a:r>
          </a:p>
          <a:p>
            <a:pPr>
              <a:lnSpc>
                <a:spcPct val="120000"/>
              </a:lnSpc>
            </a:pPr>
            <a:r>
              <a:rPr lang="en-US" sz="3200" b="1"/>
              <a:t>    frequencies (less than 600CPM)</a:t>
            </a:r>
          </a:p>
          <a:p>
            <a:pPr>
              <a:lnSpc>
                <a:spcPct val="120000"/>
              </a:lnSpc>
            </a:pPr>
            <a:r>
              <a:rPr lang="en-US" sz="3200" b="1"/>
              <a:t>3. Gear set emits growling sound.</a:t>
            </a:r>
          </a:p>
        </p:txBody>
      </p:sp>
    </p:spTree>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76898"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976899"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
        <p:nvSpPr>
          <p:cNvPr id="976900" name="Rectangle 4"/>
          <p:cNvSpPr>
            <a:spLocks noChangeArrowheads="1"/>
          </p:cNvSpPr>
          <p:nvPr/>
        </p:nvSpPr>
        <p:spPr bwMode="auto">
          <a:xfrm>
            <a:off x="985838" y="2876550"/>
            <a:ext cx="7243762" cy="938213"/>
          </a:xfrm>
          <a:prstGeom prst="rect">
            <a:avLst/>
          </a:prstGeom>
          <a:solidFill>
            <a:schemeClr val="accent1"/>
          </a:solidFill>
          <a:ln w="12700">
            <a:noFill/>
            <a:miter lim="800000"/>
            <a:headEnd/>
            <a:tailEnd/>
          </a:ln>
          <a:effectLst/>
        </p:spPr>
        <p:txBody>
          <a:bodyPr wrap="none" anchor="ctr"/>
          <a:lstStyle/>
          <a:p>
            <a:endParaRPr lang="en-US"/>
          </a:p>
        </p:txBody>
      </p:sp>
      <p:sp>
        <p:nvSpPr>
          <p:cNvPr id="976901" name="Rectangle 5"/>
          <p:cNvSpPr>
            <a:spLocks noChangeArrowheads="1"/>
          </p:cNvSpPr>
          <p:nvPr/>
        </p:nvSpPr>
        <p:spPr bwMode="auto">
          <a:xfrm>
            <a:off x="1450975" y="382588"/>
            <a:ext cx="5854700" cy="698500"/>
          </a:xfrm>
          <a:prstGeom prst="rect">
            <a:avLst/>
          </a:prstGeom>
          <a:noFill/>
          <a:ln w="12700">
            <a:noFill/>
            <a:miter lim="800000"/>
            <a:headEnd/>
            <a:tailEnd/>
          </a:ln>
          <a:effectLst/>
        </p:spPr>
        <p:txBody>
          <a:bodyPr wrap="none" lIns="90488" tIns="44450" rIns="90488" bIns="44450">
            <a:spAutoFit/>
          </a:bodyPr>
          <a:lstStyle/>
          <a:p>
            <a:pPr algn="ctr"/>
            <a:r>
              <a:rPr lang="en-US" sz="4000" b="1"/>
              <a:t>Hunting Tooth Frequency</a:t>
            </a:r>
          </a:p>
        </p:txBody>
      </p:sp>
      <p:sp>
        <p:nvSpPr>
          <p:cNvPr id="976902" name="Rectangle 6"/>
          <p:cNvSpPr>
            <a:spLocks noChangeArrowheads="1"/>
          </p:cNvSpPr>
          <p:nvPr/>
        </p:nvSpPr>
        <p:spPr bwMode="auto">
          <a:xfrm>
            <a:off x="841375" y="1231900"/>
            <a:ext cx="7342188" cy="1308100"/>
          </a:xfrm>
          <a:prstGeom prst="rect">
            <a:avLst/>
          </a:prstGeom>
          <a:noFill/>
          <a:ln w="12700">
            <a:noFill/>
            <a:miter lim="800000"/>
            <a:headEnd/>
            <a:tailEnd/>
          </a:ln>
          <a:effectLst/>
        </p:spPr>
        <p:txBody>
          <a:bodyPr lIns="90488" tIns="44450" rIns="90488" bIns="44450">
            <a:spAutoFit/>
          </a:bodyPr>
          <a:lstStyle/>
          <a:p>
            <a:r>
              <a:rPr lang="en-US" sz="2000" b="1"/>
              <a:t>It is the rate at which a tooth in one gear mates with  a particular tooth in the other gear.</a:t>
            </a:r>
          </a:p>
          <a:p>
            <a:endParaRPr lang="en-US" sz="2000" b="1"/>
          </a:p>
          <a:p>
            <a:r>
              <a:rPr lang="en-US" sz="2000" b="1"/>
              <a:t>For well designed gearboxes HTF is low.</a:t>
            </a:r>
          </a:p>
        </p:txBody>
      </p:sp>
      <p:sp>
        <p:nvSpPr>
          <p:cNvPr id="976903" name="Rectangle 7"/>
          <p:cNvSpPr>
            <a:spLocks noChangeArrowheads="1"/>
          </p:cNvSpPr>
          <p:nvPr/>
        </p:nvSpPr>
        <p:spPr bwMode="auto">
          <a:xfrm>
            <a:off x="1041400" y="3141663"/>
            <a:ext cx="7088188" cy="454025"/>
          </a:xfrm>
          <a:prstGeom prst="rect">
            <a:avLst/>
          </a:prstGeom>
          <a:noFill/>
          <a:ln w="12700">
            <a:noFill/>
            <a:miter lim="800000"/>
            <a:headEnd/>
            <a:tailEnd/>
          </a:ln>
          <a:effectLst/>
        </p:spPr>
        <p:txBody>
          <a:bodyPr wrap="none" lIns="90488" tIns="44450" rIns="90488" bIns="44450">
            <a:spAutoFit/>
          </a:bodyPr>
          <a:lstStyle/>
          <a:p>
            <a:r>
              <a:rPr lang="en-US" b="1"/>
              <a:t>HTF = GMF </a:t>
            </a:r>
            <a:r>
              <a:rPr lang="en-US" b="1" baseline="30000"/>
              <a:t>.</a:t>
            </a:r>
            <a:r>
              <a:rPr lang="en-US" b="1"/>
              <a:t> (lowest common prime factor) /(Z1</a:t>
            </a:r>
            <a:r>
              <a:rPr lang="en-US" b="1" baseline="30000"/>
              <a:t>.</a:t>
            </a:r>
            <a:r>
              <a:rPr lang="en-US" b="1"/>
              <a:t>Z2)</a:t>
            </a:r>
          </a:p>
        </p:txBody>
      </p:sp>
      <p:sp>
        <p:nvSpPr>
          <p:cNvPr id="976904" name="Rectangle 8"/>
          <p:cNvSpPr>
            <a:spLocks noChangeArrowheads="1"/>
          </p:cNvSpPr>
          <p:nvPr/>
        </p:nvSpPr>
        <p:spPr bwMode="auto">
          <a:xfrm>
            <a:off x="1636713" y="3998913"/>
            <a:ext cx="5219700" cy="2222500"/>
          </a:xfrm>
          <a:prstGeom prst="rect">
            <a:avLst/>
          </a:prstGeom>
          <a:noFill/>
          <a:ln w="12700">
            <a:noFill/>
            <a:miter lim="800000"/>
            <a:headEnd/>
            <a:tailEnd/>
          </a:ln>
          <a:effectLst/>
        </p:spPr>
        <p:txBody>
          <a:bodyPr lIns="90488" tIns="44450" rIns="90488" bIns="44450">
            <a:spAutoFit/>
          </a:bodyPr>
          <a:lstStyle/>
          <a:p>
            <a:r>
              <a:rPr lang="en-US" sz="2000" b="1" i="1"/>
              <a:t>Ex:</a:t>
            </a:r>
          </a:p>
          <a:p>
            <a:r>
              <a:rPr lang="en-US" sz="2000" b="1" i="1"/>
              <a:t>Z1 = 63,     Z2 = 12</a:t>
            </a:r>
          </a:p>
          <a:p>
            <a:r>
              <a:rPr lang="en-US" sz="2000" b="1" i="1"/>
              <a:t>Z1 = 63 = 7</a:t>
            </a:r>
            <a:r>
              <a:rPr lang="en-US" sz="2000" b="1" i="1" baseline="30000"/>
              <a:t>.</a:t>
            </a:r>
            <a:r>
              <a:rPr lang="en-US" sz="2000" b="1" i="1"/>
              <a:t>3</a:t>
            </a:r>
            <a:r>
              <a:rPr lang="en-US" sz="2000" b="1" i="1" baseline="30000"/>
              <a:t>.</a:t>
            </a:r>
            <a:r>
              <a:rPr lang="en-US" sz="2000" b="1" i="1"/>
              <a:t>3</a:t>
            </a:r>
          </a:p>
          <a:p>
            <a:r>
              <a:rPr lang="en-US" sz="2000" b="1" i="1"/>
              <a:t>Z2 = 12 = 3</a:t>
            </a:r>
            <a:r>
              <a:rPr lang="en-US" sz="2000" b="1" i="1" baseline="30000"/>
              <a:t>.</a:t>
            </a:r>
            <a:r>
              <a:rPr lang="en-US" sz="2000" b="1" i="1"/>
              <a:t>2</a:t>
            </a:r>
            <a:r>
              <a:rPr lang="en-US" sz="2000" b="1" i="1" baseline="30000"/>
              <a:t>.</a:t>
            </a:r>
            <a:r>
              <a:rPr lang="en-US" sz="2000" b="1" i="1"/>
              <a:t>2</a:t>
            </a:r>
          </a:p>
          <a:p>
            <a:r>
              <a:rPr lang="en-US" sz="2000" b="1" i="1"/>
              <a:t>lowest common prime factor = 3</a:t>
            </a:r>
          </a:p>
          <a:p>
            <a:r>
              <a:rPr lang="en-US" sz="2000" b="1" i="1"/>
              <a:t>HTF = GMF.  3 / (63.12) = GMF / 252</a:t>
            </a:r>
          </a:p>
          <a:p>
            <a:pPr eaLnBrk="1" hangingPunct="1"/>
            <a:endParaRPr lang="en-US" sz="2000" b="1" i="1"/>
          </a:p>
        </p:txBody>
      </p:sp>
    </p:spTree>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2"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977923"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
        <p:nvSpPr>
          <p:cNvPr id="977924" name="AutoShape 4"/>
          <p:cNvSpPr>
            <a:spLocks noChangeArrowheads="1"/>
          </p:cNvSpPr>
          <p:nvPr/>
        </p:nvSpPr>
        <p:spPr bwMode="auto">
          <a:xfrm>
            <a:off x="884238" y="3354388"/>
            <a:ext cx="7635875" cy="2887662"/>
          </a:xfrm>
          <a:prstGeom prst="roundRect">
            <a:avLst>
              <a:gd name="adj" fmla="val 12486"/>
            </a:avLst>
          </a:prstGeom>
          <a:solidFill>
            <a:srgbClr val="FFFFFF"/>
          </a:solidFill>
          <a:ln w="12700">
            <a:solidFill>
              <a:schemeClr val="tx1"/>
            </a:solidFill>
            <a:round/>
            <a:headEnd/>
            <a:tailEnd/>
          </a:ln>
          <a:effectLst/>
        </p:spPr>
        <p:txBody>
          <a:bodyPr wrap="none" anchor="ctr"/>
          <a:lstStyle/>
          <a:p>
            <a:endParaRPr lang="en-US"/>
          </a:p>
        </p:txBody>
      </p:sp>
      <p:sp>
        <p:nvSpPr>
          <p:cNvPr id="977925" name="Rectangle 5"/>
          <p:cNvSpPr>
            <a:spLocks noChangeArrowheads="1"/>
          </p:cNvSpPr>
          <p:nvPr/>
        </p:nvSpPr>
        <p:spPr bwMode="auto">
          <a:xfrm>
            <a:off x="3298825" y="306388"/>
            <a:ext cx="2395538" cy="698500"/>
          </a:xfrm>
          <a:prstGeom prst="rect">
            <a:avLst/>
          </a:prstGeom>
          <a:noFill/>
          <a:ln w="12700">
            <a:noFill/>
            <a:miter lim="800000"/>
            <a:headEnd/>
            <a:tailEnd/>
          </a:ln>
          <a:effectLst/>
        </p:spPr>
        <p:txBody>
          <a:bodyPr wrap="none" lIns="90488" tIns="44450" rIns="90488" bIns="44450">
            <a:spAutoFit/>
          </a:bodyPr>
          <a:lstStyle/>
          <a:p>
            <a:r>
              <a:rPr lang="en-US" sz="4000" b="1"/>
              <a:t>Belt Drive</a:t>
            </a:r>
          </a:p>
        </p:txBody>
      </p:sp>
      <p:graphicFrame>
        <p:nvGraphicFramePr>
          <p:cNvPr id="977926" name="Object 6">
            <a:hlinkClick r:id="" action="ppaction://ole?verb=0"/>
          </p:cNvPr>
          <p:cNvGraphicFramePr>
            <a:graphicFrameLocks/>
          </p:cNvGraphicFramePr>
          <p:nvPr/>
        </p:nvGraphicFramePr>
        <p:xfrm>
          <a:off x="3013075" y="1203325"/>
          <a:ext cx="3108325" cy="1690688"/>
        </p:xfrm>
        <a:graphic>
          <a:graphicData uri="http://schemas.openxmlformats.org/presentationml/2006/ole">
            <mc:AlternateContent xmlns:mc="http://schemas.openxmlformats.org/markup-compatibility/2006">
              <mc:Choice xmlns:v="urn:schemas-microsoft-com:vml" Requires="v">
                <p:oleObj spid="_x0000_s977935" name="Document" r:id="rId3" imgW="3105000" imgH="1688760" progId="Word.Document.8">
                  <p:embed/>
                </p:oleObj>
              </mc:Choice>
              <mc:Fallback>
                <p:oleObj name="Document" r:id="rId3" imgW="3105000" imgH="1688760" progId="Word.Document.8">
                  <p:embed/>
                  <p:pic>
                    <p:nvPicPr>
                      <p:cNvPr id="0"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3075" y="1203325"/>
                        <a:ext cx="3108325" cy="169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77927" name="Group 7"/>
          <p:cNvGrpSpPr>
            <a:grpSpLocks/>
          </p:cNvGrpSpPr>
          <p:nvPr/>
        </p:nvGrpSpPr>
        <p:grpSpPr bwMode="auto">
          <a:xfrm>
            <a:off x="2232025" y="3816350"/>
            <a:ext cx="4814888" cy="454025"/>
            <a:chOff x="1406" y="2404"/>
            <a:chExt cx="2962" cy="286"/>
          </a:xfrm>
        </p:grpSpPr>
        <p:sp>
          <p:nvSpPr>
            <p:cNvPr id="977928" name="Rectangle 8"/>
            <p:cNvSpPr>
              <a:spLocks noChangeArrowheads="1"/>
            </p:cNvSpPr>
            <p:nvPr/>
          </p:nvSpPr>
          <p:spPr bwMode="auto">
            <a:xfrm>
              <a:off x="1406" y="2404"/>
              <a:ext cx="2962" cy="286"/>
            </a:xfrm>
            <a:prstGeom prst="rect">
              <a:avLst/>
            </a:prstGeom>
            <a:noFill/>
            <a:ln w="12700">
              <a:noFill/>
              <a:miter lim="800000"/>
              <a:headEnd/>
              <a:tailEnd/>
            </a:ln>
            <a:effectLst/>
          </p:spPr>
          <p:txBody>
            <a:bodyPr wrap="none" lIns="90488" tIns="44450" rIns="90488" bIns="44450">
              <a:spAutoFit/>
            </a:bodyPr>
            <a:lstStyle/>
            <a:p>
              <a:r>
                <a:rPr lang="en-US" b="1"/>
                <a:t>BF (Belt Frequency) = Rps</a:t>
              </a:r>
              <a:r>
                <a:rPr lang="en-US" b="1" baseline="30000"/>
                <a:t>.   </a:t>
              </a:r>
              <a:r>
                <a:rPr lang="en-US" b="1"/>
                <a:t>  </a:t>
              </a:r>
              <a:r>
                <a:rPr lang="en-US" b="1" baseline="30000"/>
                <a:t>.</a:t>
              </a:r>
              <a:r>
                <a:rPr lang="en-US" b="1"/>
                <a:t>D / L</a:t>
              </a:r>
              <a:r>
                <a:rPr lang="en-US"/>
                <a:t> </a:t>
              </a:r>
            </a:p>
          </p:txBody>
        </p:sp>
        <p:graphicFrame>
          <p:nvGraphicFramePr>
            <p:cNvPr id="977929" name="Object 9">
              <a:hlinkClick r:id="" action="ppaction://ole?verb=0"/>
            </p:cNvPr>
            <p:cNvGraphicFramePr>
              <a:graphicFrameLocks/>
            </p:cNvGraphicFramePr>
            <p:nvPr/>
          </p:nvGraphicFramePr>
          <p:xfrm>
            <a:off x="3616" y="2437"/>
            <a:ext cx="237" cy="237"/>
          </p:xfrm>
          <a:graphic>
            <a:graphicData uri="http://schemas.openxmlformats.org/presentationml/2006/ole">
              <mc:AlternateContent xmlns:mc="http://schemas.openxmlformats.org/markup-compatibility/2006">
                <mc:Choice xmlns:v="urn:schemas-microsoft-com:vml" Requires="v">
                  <p:oleObj spid="_x0000_s977936" r:id="rId5" imgW="374400" imgH="374400" progId="Equation.2">
                    <p:embed/>
                  </p:oleObj>
                </mc:Choice>
                <mc:Fallback>
                  <p:oleObj r:id="rId5" imgW="374400" imgH="374400" progId="Equation.2">
                    <p:embed/>
                    <p:pic>
                      <p:nvPicPr>
                        <p:cNvPr id="0" name="Picture 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16" y="2437"/>
                          <a:ext cx="237"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977930" name="Rectangle 10"/>
          <p:cNvSpPr>
            <a:spLocks noChangeArrowheads="1"/>
          </p:cNvSpPr>
          <p:nvPr/>
        </p:nvSpPr>
        <p:spPr bwMode="auto">
          <a:xfrm>
            <a:off x="1319213" y="4564063"/>
            <a:ext cx="7013575" cy="912812"/>
          </a:xfrm>
          <a:prstGeom prst="rect">
            <a:avLst/>
          </a:prstGeom>
          <a:noFill/>
          <a:ln w="12700">
            <a:noFill/>
            <a:miter lim="800000"/>
            <a:headEnd/>
            <a:tailEnd/>
          </a:ln>
          <a:effectLst/>
        </p:spPr>
        <p:txBody>
          <a:bodyPr wrap="none" lIns="90488" tIns="44450" rIns="90488" bIns="44450">
            <a:spAutoFit/>
          </a:bodyPr>
          <a:lstStyle/>
          <a:p>
            <a:r>
              <a:rPr lang="en-US" sz="1800"/>
              <a:t>BF is the rotational frequency of the belt. Worn or mismatched belts will </a:t>
            </a:r>
          </a:p>
          <a:p>
            <a:r>
              <a:rPr lang="en-US" sz="1800"/>
              <a:t>produce radial vibration at BF and its harmonics. 2</a:t>
            </a:r>
            <a:r>
              <a:rPr lang="en-US" sz="1800" b="1" baseline="30000"/>
              <a:t>.</a:t>
            </a:r>
            <a:r>
              <a:rPr lang="en-US" sz="1800"/>
              <a:t>BF is often dominant</a:t>
            </a:r>
          </a:p>
          <a:p>
            <a:r>
              <a:rPr lang="en-US" sz="1800"/>
              <a:t>with 2 sheaves in the system. BF is a subsyncronous vibration (below 1X).</a:t>
            </a:r>
          </a:p>
        </p:txBody>
      </p:sp>
      <p:graphicFrame>
        <p:nvGraphicFramePr>
          <p:cNvPr id="977931" name="Object 11">
            <a:hlinkClick r:id="" action="ppaction://ole?verb=0"/>
          </p:cNvPr>
          <p:cNvGraphicFramePr>
            <a:graphicFrameLocks/>
          </p:cNvGraphicFramePr>
          <p:nvPr/>
        </p:nvGraphicFramePr>
        <p:xfrm>
          <a:off x="1385888" y="5583238"/>
          <a:ext cx="2781300" cy="584200"/>
        </p:xfrm>
        <a:graphic>
          <a:graphicData uri="http://schemas.openxmlformats.org/presentationml/2006/ole">
            <mc:AlternateContent xmlns:mc="http://schemas.openxmlformats.org/markup-compatibility/2006">
              <mc:Choice xmlns:v="urn:schemas-microsoft-com:vml" Requires="v">
                <p:oleObj spid="_x0000_s977937" r:id="rId7" imgW="2779560" imgH="582480" progId="Equation.2">
                  <p:embed/>
                </p:oleObj>
              </mc:Choice>
              <mc:Fallback>
                <p:oleObj r:id="rId7" imgW="2779560" imgH="582480" progId="Equation.2">
                  <p:embed/>
                  <p:pic>
                    <p:nvPicPr>
                      <p:cNvPr id="0" name="Picture 1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85888" y="5583238"/>
                        <a:ext cx="27813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6"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978947"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grpSp>
        <p:nvGrpSpPr>
          <p:cNvPr id="978948" name="Group 4"/>
          <p:cNvGrpSpPr>
            <a:grpSpLocks/>
          </p:cNvGrpSpPr>
          <p:nvPr/>
        </p:nvGrpSpPr>
        <p:grpSpPr bwMode="auto">
          <a:xfrm>
            <a:off x="2700338" y="1516063"/>
            <a:ext cx="3722687" cy="1317625"/>
            <a:chOff x="1701" y="955"/>
            <a:chExt cx="2345" cy="830"/>
          </a:xfrm>
        </p:grpSpPr>
        <p:sp>
          <p:nvSpPr>
            <p:cNvPr id="978949" name="Oval 5"/>
            <p:cNvSpPr>
              <a:spLocks noChangeArrowheads="1"/>
            </p:cNvSpPr>
            <p:nvPr/>
          </p:nvSpPr>
          <p:spPr bwMode="auto">
            <a:xfrm>
              <a:off x="1701" y="1126"/>
              <a:ext cx="671" cy="495"/>
            </a:xfrm>
            <a:prstGeom prst="ellipse">
              <a:avLst/>
            </a:prstGeom>
            <a:solidFill>
              <a:srgbClr val="B2B2B2"/>
            </a:solidFill>
            <a:ln w="12700">
              <a:noFill/>
              <a:round/>
              <a:headEnd/>
              <a:tailEnd/>
            </a:ln>
            <a:effectLst/>
          </p:spPr>
          <p:txBody>
            <a:bodyPr wrap="none" anchor="ctr"/>
            <a:lstStyle/>
            <a:p>
              <a:endParaRPr lang="en-US"/>
            </a:p>
          </p:txBody>
        </p:sp>
        <p:sp>
          <p:nvSpPr>
            <p:cNvPr id="978950" name="Oval 6"/>
            <p:cNvSpPr>
              <a:spLocks noChangeArrowheads="1"/>
            </p:cNvSpPr>
            <p:nvPr/>
          </p:nvSpPr>
          <p:spPr bwMode="auto">
            <a:xfrm>
              <a:off x="1701" y="1126"/>
              <a:ext cx="671" cy="495"/>
            </a:xfrm>
            <a:prstGeom prst="ellipse">
              <a:avLst/>
            </a:prstGeom>
            <a:solidFill>
              <a:srgbClr val="B0B0B0"/>
            </a:solidFill>
            <a:ln w="12700">
              <a:noFill/>
              <a:round/>
              <a:headEnd/>
              <a:tailEnd/>
            </a:ln>
            <a:effectLst/>
          </p:spPr>
          <p:txBody>
            <a:bodyPr wrap="none" anchor="ctr"/>
            <a:lstStyle/>
            <a:p>
              <a:endParaRPr lang="en-US"/>
            </a:p>
          </p:txBody>
        </p:sp>
        <p:sp>
          <p:nvSpPr>
            <p:cNvPr id="978951" name="Oval 7"/>
            <p:cNvSpPr>
              <a:spLocks noChangeArrowheads="1"/>
            </p:cNvSpPr>
            <p:nvPr/>
          </p:nvSpPr>
          <p:spPr bwMode="auto">
            <a:xfrm>
              <a:off x="1710" y="1133"/>
              <a:ext cx="653" cy="481"/>
            </a:xfrm>
            <a:prstGeom prst="ellipse">
              <a:avLst/>
            </a:prstGeom>
            <a:solidFill>
              <a:srgbClr val="ACACAC"/>
            </a:solidFill>
            <a:ln w="12700">
              <a:noFill/>
              <a:round/>
              <a:headEnd/>
              <a:tailEnd/>
            </a:ln>
            <a:effectLst/>
          </p:spPr>
          <p:txBody>
            <a:bodyPr wrap="none" anchor="ctr"/>
            <a:lstStyle/>
            <a:p>
              <a:endParaRPr lang="en-US"/>
            </a:p>
          </p:txBody>
        </p:sp>
        <p:sp>
          <p:nvSpPr>
            <p:cNvPr id="978952" name="Oval 8"/>
            <p:cNvSpPr>
              <a:spLocks noChangeArrowheads="1"/>
            </p:cNvSpPr>
            <p:nvPr/>
          </p:nvSpPr>
          <p:spPr bwMode="auto">
            <a:xfrm>
              <a:off x="1721" y="1140"/>
              <a:ext cx="631" cy="467"/>
            </a:xfrm>
            <a:prstGeom prst="ellipse">
              <a:avLst/>
            </a:prstGeom>
            <a:solidFill>
              <a:srgbClr val="A8A8A8"/>
            </a:solidFill>
            <a:ln w="12700">
              <a:noFill/>
              <a:round/>
              <a:headEnd/>
              <a:tailEnd/>
            </a:ln>
            <a:effectLst/>
          </p:spPr>
          <p:txBody>
            <a:bodyPr wrap="none" anchor="ctr"/>
            <a:lstStyle/>
            <a:p>
              <a:endParaRPr lang="en-US"/>
            </a:p>
          </p:txBody>
        </p:sp>
        <p:sp>
          <p:nvSpPr>
            <p:cNvPr id="978953" name="Oval 9"/>
            <p:cNvSpPr>
              <a:spLocks noChangeArrowheads="1"/>
            </p:cNvSpPr>
            <p:nvPr/>
          </p:nvSpPr>
          <p:spPr bwMode="auto">
            <a:xfrm>
              <a:off x="1731" y="1148"/>
              <a:ext cx="611" cy="451"/>
            </a:xfrm>
            <a:prstGeom prst="ellipse">
              <a:avLst/>
            </a:prstGeom>
            <a:solidFill>
              <a:srgbClr val="A4A4A4"/>
            </a:solidFill>
            <a:ln w="12700">
              <a:noFill/>
              <a:round/>
              <a:headEnd/>
              <a:tailEnd/>
            </a:ln>
            <a:effectLst/>
          </p:spPr>
          <p:txBody>
            <a:bodyPr wrap="none" anchor="ctr"/>
            <a:lstStyle/>
            <a:p>
              <a:endParaRPr lang="en-US"/>
            </a:p>
          </p:txBody>
        </p:sp>
        <p:sp>
          <p:nvSpPr>
            <p:cNvPr id="978954" name="Oval 10"/>
            <p:cNvSpPr>
              <a:spLocks noChangeArrowheads="1"/>
            </p:cNvSpPr>
            <p:nvPr/>
          </p:nvSpPr>
          <p:spPr bwMode="auto">
            <a:xfrm>
              <a:off x="1741" y="1154"/>
              <a:ext cx="592" cy="439"/>
            </a:xfrm>
            <a:prstGeom prst="ellipse">
              <a:avLst/>
            </a:prstGeom>
            <a:solidFill>
              <a:srgbClr val="A0A0A0"/>
            </a:solidFill>
            <a:ln w="12700">
              <a:noFill/>
              <a:round/>
              <a:headEnd/>
              <a:tailEnd/>
            </a:ln>
            <a:effectLst/>
          </p:spPr>
          <p:txBody>
            <a:bodyPr wrap="none" anchor="ctr"/>
            <a:lstStyle/>
            <a:p>
              <a:endParaRPr lang="en-US"/>
            </a:p>
          </p:txBody>
        </p:sp>
        <p:sp>
          <p:nvSpPr>
            <p:cNvPr id="978955" name="Oval 11"/>
            <p:cNvSpPr>
              <a:spLocks noChangeArrowheads="1"/>
            </p:cNvSpPr>
            <p:nvPr/>
          </p:nvSpPr>
          <p:spPr bwMode="auto">
            <a:xfrm>
              <a:off x="1752" y="1163"/>
              <a:ext cx="572" cy="421"/>
            </a:xfrm>
            <a:prstGeom prst="ellipse">
              <a:avLst/>
            </a:prstGeom>
            <a:solidFill>
              <a:srgbClr val="9C9C9C"/>
            </a:solidFill>
            <a:ln w="12700">
              <a:noFill/>
              <a:round/>
              <a:headEnd/>
              <a:tailEnd/>
            </a:ln>
            <a:effectLst/>
          </p:spPr>
          <p:txBody>
            <a:bodyPr wrap="none" anchor="ctr"/>
            <a:lstStyle/>
            <a:p>
              <a:endParaRPr lang="en-US"/>
            </a:p>
          </p:txBody>
        </p:sp>
        <p:sp>
          <p:nvSpPr>
            <p:cNvPr id="978956" name="Oval 12"/>
            <p:cNvSpPr>
              <a:spLocks noChangeArrowheads="1"/>
            </p:cNvSpPr>
            <p:nvPr/>
          </p:nvSpPr>
          <p:spPr bwMode="auto">
            <a:xfrm>
              <a:off x="1761" y="1169"/>
              <a:ext cx="552" cy="409"/>
            </a:xfrm>
            <a:prstGeom prst="ellipse">
              <a:avLst/>
            </a:prstGeom>
            <a:solidFill>
              <a:srgbClr val="989898"/>
            </a:solidFill>
            <a:ln w="12700">
              <a:noFill/>
              <a:round/>
              <a:headEnd/>
              <a:tailEnd/>
            </a:ln>
            <a:effectLst/>
          </p:spPr>
          <p:txBody>
            <a:bodyPr wrap="none" anchor="ctr"/>
            <a:lstStyle/>
            <a:p>
              <a:endParaRPr lang="en-US"/>
            </a:p>
          </p:txBody>
        </p:sp>
        <p:sp>
          <p:nvSpPr>
            <p:cNvPr id="978957" name="Oval 13"/>
            <p:cNvSpPr>
              <a:spLocks noChangeArrowheads="1"/>
            </p:cNvSpPr>
            <p:nvPr/>
          </p:nvSpPr>
          <p:spPr bwMode="auto">
            <a:xfrm>
              <a:off x="1770" y="1177"/>
              <a:ext cx="533" cy="393"/>
            </a:xfrm>
            <a:prstGeom prst="ellipse">
              <a:avLst/>
            </a:prstGeom>
            <a:solidFill>
              <a:srgbClr val="949494"/>
            </a:solidFill>
            <a:ln w="12700">
              <a:noFill/>
              <a:round/>
              <a:headEnd/>
              <a:tailEnd/>
            </a:ln>
            <a:effectLst/>
          </p:spPr>
          <p:txBody>
            <a:bodyPr wrap="none" anchor="ctr"/>
            <a:lstStyle/>
            <a:p>
              <a:endParaRPr lang="en-US"/>
            </a:p>
          </p:txBody>
        </p:sp>
        <p:sp>
          <p:nvSpPr>
            <p:cNvPr id="978958" name="Oval 14"/>
            <p:cNvSpPr>
              <a:spLocks noChangeArrowheads="1"/>
            </p:cNvSpPr>
            <p:nvPr/>
          </p:nvSpPr>
          <p:spPr bwMode="auto">
            <a:xfrm>
              <a:off x="1779" y="1184"/>
              <a:ext cx="514" cy="379"/>
            </a:xfrm>
            <a:prstGeom prst="ellipse">
              <a:avLst/>
            </a:prstGeom>
            <a:solidFill>
              <a:srgbClr val="909090"/>
            </a:solidFill>
            <a:ln w="12700">
              <a:noFill/>
              <a:round/>
              <a:headEnd/>
              <a:tailEnd/>
            </a:ln>
            <a:effectLst/>
          </p:spPr>
          <p:txBody>
            <a:bodyPr wrap="none" anchor="ctr"/>
            <a:lstStyle/>
            <a:p>
              <a:endParaRPr lang="en-US"/>
            </a:p>
          </p:txBody>
        </p:sp>
        <p:sp>
          <p:nvSpPr>
            <p:cNvPr id="978959" name="Oval 15"/>
            <p:cNvSpPr>
              <a:spLocks noChangeArrowheads="1"/>
            </p:cNvSpPr>
            <p:nvPr/>
          </p:nvSpPr>
          <p:spPr bwMode="auto">
            <a:xfrm>
              <a:off x="1790" y="1192"/>
              <a:ext cx="494" cy="363"/>
            </a:xfrm>
            <a:prstGeom prst="ellipse">
              <a:avLst/>
            </a:prstGeom>
            <a:solidFill>
              <a:srgbClr val="8C8C8C"/>
            </a:solidFill>
            <a:ln w="12700">
              <a:noFill/>
              <a:round/>
              <a:headEnd/>
              <a:tailEnd/>
            </a:ln>
            <a:effectLst/>
          </p:spPr>
          <p:txBody>
            <a:bodyPr wrap="none" anchor="ctr"/>
            <a:lstStyle/>
            <a:p>
              <a:endParaRPr lang="en-US"/>
            </a:p>
          </p:txBody>
        </p:sp>
        <p:sp>
          <p:nvSpPr>
            <p:cNvPr id="978960" name="Oval 16"/>
            <p:cNvSpPr>
              <a:spLocks noChangeArrowheads="1"/>
            </p:cNvSpPr>
            <p:nvPr/>
          </p:nvSpPr>
          <p:spPr bwMode="auto">
            <a:xfrm>
              <a:off x="1801" y="1199"/>
              <a:ext cx="472" cy="349"/>
            </a:xfrm>
            <a:prstGeom prst="ellipse">
              <a:avLst/>
            </a:prstGeom>
            <a:solidFill>
              <a:srgbClr val="888888"/>
            </a:solidFill>
            <a:ln w="12700">
              <a:noFill/>
              <a:round/>
              <a:headEnd/>
              <a:tailEnd/>
            </a:ln>
            <a:effectLst/>
          </p:spPr>
          <p:txBody>
            <a:bodyPr wrap="none" anchor="ctr"/>
            <a:lstStyle/>
            <a:p>
              <a:endParaRPr lang="en-US"/>
            </a:p>
          </p:txBody>
        </p:sp>
        <p:sp>
          <p:nvSpPr>
            <p:cNvPr id="978961" name="Oval 17"/>
            <p:cNvSpPr>
              <a:spLocks noChangeArrowheads="1"/>
            </p:cNvSpPr>
            <p:nvPr/>
          </p:nvSpPr>
          <p:spPr bwMode="auto">
            <a:xfrm>
              <a:off x="1810" y="1206"/>
              <a:ext cx="454" cy="335"/>
            </a:xfrm>
            <a:prstGeom prst="ellipse">
              <a:avLst/>
            </a:prstGeom>
            <a:solidFill>
              <a:srgbClr val="848484"/>
            </a:solidFill>
            <a:ln w="12700">
              <a:noFill/>
              <a:round/>
              <a:headEnd/>
              <a:tailEnd/>
            </a:ln>
            <a:effectLst/>
          </p:spPr>
          <p:txBody>
            <a:bodyPr wrap="none" anchor="ctr"/>
            <a:lstStyle/>
            <a:p>
              <a:endParaRPr lang="en-US"/>
            </a:p>
          </p:txBody>
        </p:sp>
        <p:sp>
          <p:nvSpPr>
            <p:cNvPr id="978962" name="Oval 18"/>
            <p:cNvSpPr>
              <a:spLocks noChangeArrowheads="1"/>
            </p:cNvSpPr>
            <p:nvPr/>
          </p:nvSpPr>
          <p:spPr bwMode="auto">
            <a:xfrm>
              <a:off x="1821" y="1214"/>
              <a:ext cx="433" cy="319"/>
            </a:xfrm>
            <a:prstGeom prst="ellipse">
              <a:avLst/>
            </a:prstGeom>
            <a:solidFill>
              <a:srgbClr val="808080"/>
            </a:solidFill>
            <a:ln w="12700">
              <a:noFill/>
              <a:round/>
              <a:headEnd/>
              <a:tailEnd/>
            </a:ln>
            <a:effectLst/>
          </p:spPr>
          <p:txBody>
            <a:bodyPr wrap="none" anchor="ctr"/>
            <a:lstStyle/>
            <a:p>
              <a:endParaRPr lang="en-US"/>
            </a:p>
          </p:txBody>
        </p:sp>
        <p:sp>
          <p:nvSpPr>
            <p:cNvPr id="978963" name="Oval 19"/>
            <p:cNvSpPr>
              <a:spLocks noChangeArrowheads="1"/>
            </p:cNvSpPr>
            <p:nvPr/>
          </p:nvSpPr>
          <p:spPr bwMode="auto">
            <a:xfrm>
              <a:off x="1830" y="1220"/>
              <a:ext cx="413" cy="307"/>
            </a:xfrm>
            <a:prstGeom prst="ellipse">
              <a:avLst/>
            </a:prstGeom>
            <a:solidFill>
              <a:srgbClr val="7C7C7C"/>
            </a:solidFill>
            <a:ln w="12700">
              <a:noFill/>
              <a:round/>
              <a:headEnd/>
              <a:tailEnd/>
            </a:ln>
            <a:effectLst/>
          </p:spPr>
          <p:txBody>
            <a:bodyPr wrap="none" anchor="ctr"/>
            <a:lstStyle/>
            <a:p>
              <a:endParaRPr lang="en-US"/>
            </a:p>
          </p:txBody>
        </p:sp>
        <p:sp>
          <p:nvSpPr>
            <p:cNvPr id="978964" name="Oval 20"/>
            <p:cNvSpPr>
              <a:spLocks noChangeArrowheads="1"/>
            </p:cNvSpPr>
            <p:nvPr/>
          </p:nvSpPr>
          <p:spPr bwMode="auto">
            <a:xfrm>
              <a:off x="1839" y="1229"/>
              <a:ext cx="394" cy="289"/>
            </a:xfrm>
            <a:prstGeom prst="ellipse">
              <a:avLst/>
            </a:prstGeom>
            <a:solidFill>
              <a:srgbClr val="787878"/>
            </a:solidFill>
            <a:ln w="12700">
              <a:noFill/>
              <a:round/>
              <a:headEnd/>
              <a:tailEnd/>
            </a:ln>
            <a:effectLst/>
          </p:spPr>
          <p:txBody>
            <a:bodyPr wrap="none" anchor="ctr"/>
            <a:lstStyle/>
            <a:p>
              <a:endParaRPr lang="en-US"/>
            </a:p>
          </p:txBody>
        </p:sp>
        <p:sp>
          <p:nvSpPr>
            <p:cNvPr id="978965" name="Oval 21"/>
            <p:cNvSpPr>
              <a:spLocks noChangeArrowheads="1"/>
            </p:cNvSpPr>
            <p:nvPr/>
          </p:nvSpPr>
          <p:spPr bwMode="auto">
            <a:xfrm>
              <a:off x="1850" y="1235"/>
              <a:ext cx="374" cy="277"/>
            </a:xfrm>
            <a:prstGeom prst="ellipse">
              <a:avLst/>
            </a:prstGeom>
            <a:solidFill>
              <a:srgbClr val="747474"/>
            </a:solidFill>
            <a:ln w="12700">
              <a:noFill/>
              <a:round/>
              <a:headEnd/>
              <a:tailEnd/>
            </a:ln>
            <a:effectLst/>
          </p:spPr>
          <p:txBody>
            <a:bodyPr wrap="none" anchor="ctr"/>
            <a:lstStyle/>
            <a:p>
              <a:endParaRPr lang="en-US"/>
            </a:p>
          </p:txBody>
        </p:sp>
        <p:sp>
          <p:nvSpPr>
            <p:cNvPr id="978966" name="Oval 22"/>
            <p:cNvSpPr>
              <a:spLocks noChangeArrowheads="1"/>
            </p:cNvSpPr>
            <p:nvPr/>
          </p:nvSpPr>
          <p:spPr bwMode="auto">
            <a:xfrm>
              <a:off x="1860" y="1243"/>
              <a:ext cx="355" cy="261"/>
            </a:xfrm>
            <a:prstGeom prst="ellipse">
              <a:avLst/>
            </a:prstGeom>
            <a:solidFill>
              <a:srgbClr val="707070"/>
            </a:solidFill>
            <a:ln w="12700">
              <a:noFill/>
              <a:round/>
              <a:headEnd/>
              <a:tailEnd/>
            </a:ln>
            <a:effectLst/>
          </p:spPr>
          <p:txBody>
            <a:bodyPr wrap="none" anchor="ctr"/>
            <a:lstStyle/>
            <a:p>
              <a:endParaRPr lang="en-US"/>
            </a:p>
          </p:txBody>
        </p:sp>
        <p:sp>
          <p:nvSpPr>
            <p:cNvPr id="978967" name="Oval 23"/>
            <p:cNvSpPr>
              <a:spLocks noChangeArrowheads="1"/>
            </p:cNvSpPr>
            <p:nvPr/>
          </p:nvSpPr>
          <p:spPr bwMode="auto">
            <a:xfrm>
              <a:off x="1870" y="1250"/>
              <a:ext cx="334" cy="247"/>
            </a:xfrm>
            <a:prstGeom prst="ellipse">
              <a:avLst/>
            </a:prstGeom>
            <a:solidFill>
              <a:srgbClr val="6C6C6C"/>
            </a:solidFill>
            <a:ln w="12700">
              <a:noFill/>
              <a:round/>
              <a:headEnd/>
              <a:tailEnd/>
            </a:ln>
            <a:effectLst/>
          </p:spPr>
          <p:txBody>
            <a:bodyPr wrap="none" anchor="ctr"/>
            <a:lstStyle/>
            <a:p>
              <a:endParaRPr lang="en-US"/>
            </a:p>
          </p:txBody>
        </p:sp>
        <p:sp>
          <p:nvSpPr>
            <p:cNvPr id="978968" name="Oval 24"/>
            <p:cNvSpPr>
              <a:spLocks noChangeArrowheads="1"/>
            </p:cNvSpPr>
            <p:nvPr/>
          </p:nvSpPr>
          <p:spPr bwMode="auto">
            <a:xfrm>
              <a:off x="1881" y="1258"/>
              <a:ext cx="313" cy="231"/>
            </a:xfrm>
            <a:prstGeom prst="ellipse">
              <a:avLst/>
            </a:prstGeom>
            <a:solidFill>
              <a:srgbClr val="686868"/>
            </a:solidFill>
            <a:ln w="12700">
              <a:noFill/>
              <a:round/>
              <a:headEnd/>
              <a:tailEnd/>
            </a:ln>
            <a:effectLst/>
          </p:spPr>
          <p:txBody>
            <a:bodyPr wrap="none" anchor="ctr"/>
            <a:lstStyle/>
            <a:p>
              <a:endParaRPr lang="en-US"/>
            </a:p>
          </p:txBody>
        </p:sp>
        <p:sp>
          <p:nvSpPr>
            <p:cNvPr id="978969" name="Oval 25"/>
            <p:cNvSpPr>
              <a:spLocks noChangeArrowheads="1"/>
            </p:cNvSpPr>
            <p:nvPr/>
          </p:nvSpPr>
          <p:spPr bwMode="auto">
            <a:xfrm>
              <a:off x="1890" y="1264"/>
              <a:ext cx="295" cy="219"/>
            </a:xfrm>
            <a:prstGeom prst="ellipse">
              <a:avLst/>
            </a:prstGeom>
            <a:solidFill>
              <a:srgbClr val="646464"/>
            </a:solidFill>
            <a:ln w="12700">
              <a:noFill/>
              <a:round/>
              <a:headEnd/>
              <a:tailEnd/>
            </a:ln>
            <a:effectLst/>
          </p:spPr>
          <p:txBody>
            <a:bodyPr wrap="none" anchor="ctr"/>
            <a:lstStyle/>
            <a:p>
              <a:endParaRPr lang="en-US"/>
            </a:p>
          </p:txBody>
        </p:sp>
        <p:sp>
          <p:nvSpPr>
            <p:cNvPr id="978970" name="Oval 26"/>
            <p:cNvSpPr>
              <a:spLocks noChangeArrowheads="1"/>
            </p:cNvSpPr>
            <p:nvPr/>
          </p:nvSpPr>
          <p:spPr bwMode="auto">
            <a:xfrm>
              <a:off x="1899" y="1272"/>
              <a:ext cx="274" cy="203"/>
            </a:xfrm>
            <a:prstGeom prst="ellipse">
              <a:avLst/>
            </a:prstGeom>
            <a:solidFill>
              <a:srgbClr val="606060"/>
            </a:solidFill>
            <a:ln w="12700">
              <a:noFill/>
              <a:round/>
              <a:headEnd/>
              <a:tailEnd/>
            </a:ln>
            <a:effectLst/>
          </p:spPr>
          <p:txBody>
            <a:bodyPr wrap="none" anchor="ctr"/>
            <a:lstStyle/>
            <a:p>
              <a:endParaRPr lang="en-US"/>
            </a:p>
          </p:txBody>
        </p:sp>
        <p:sp>
          <p:nvSpPr>
            <p:cNvPr id="978971" name="Oval 27"/>
            <p:cNvSpPr>
              <a:spLocks noChangeArrowheads="1"/>
            </p:cNvSpPr>
            <p:nvPr/>
          </p:nvSpPr>
          <p:spPr bwMode="auto">
            <a:xfrm>
              <a:off x="1910" y="1280"/>
              <a:ext cx="254" cy="187"/>
            </a:xfrm>
            <a:prstGeom prst="ellipse">
              <a:avLst/>
            </a:prstGeom>
            <a:solidFill>
              <a:srgbClr val="5C5C5C"/>
            </a:solidFill>
            <a:ln w="12700">
              <a:noFill/>
              <a:round/>
              <a:headEnd/>
              <a:tailEnd/>
            </a:ln>
            <a:effectLst/>
          </p:spPr>
          <p:txBody>
            <a:bodyPr wrap="none" anchor="ctr"/>
            <a:lstStyle/>
            <a:p>
              <a:endParaRPr lang="en-US"/>
            </a:p>
          </p:txBody>
        </p:sp>
        <p:sp>
          <p:nvSpPr>
            <p:cNvPr id="978972" name="Oval 28"/>
            <p:cNvSpPr>
              <a:spLocks noChangeArrowheads="1"/>
            </p:cNvSpPr>
            <p:nvPr/>
          </p:nvSpPr>
          <p:spPr bwMode="auto">
            <a:xfrm>
              <a:off x="1920" y="1286"/>
              <a:ext cx="235" cy="175"/>
            </a:xfrm>
            <a:prstGeom prst="ellipse">
              <a:avLst/>
            </a:prstGeom>
            <a:solidFill>
              <a:srgbClr val="585858"/>
            </a:solidFill>
            <a:ln w="12700">
              <a:noFill/>
              <a:round/>
              <a:headEnd/>
              <a:tailEnd/>
            </a:ln>
            <a:effectLst/>
          </p:spPr>
          <p:txBody>
            <a:bodyPr wrap="none" anchor="ctr"/>
            <a:lstStyle/>
            <a:p>
              <a:endParaRPr lang="en-US"/>
            </a:p>
          </p:txBody>
        </p:sp>
        <p:sp>
          <p:nvSpPr>
            <p:cNvPr id="978973" name="Oval 29"/>
            <p:cNvSpPr>
              <a:spLocks noChangeArrowheads="1"/>
            </p:cNvSpPr>
            <p:nvPr/>
          </p:nvSpPr>
          <p:spPr bwMode="auto">
            <a:xfrm>
              <a:off x="1930" y="1295"/>
              <a:ext cx="216" cy="157"/>
            </a:xfrm>
            <a:prstGeom prst="ellipse">
              <a:avLst/>
            </a:prstGeom>
            <a:solidFill>
              <a:srgbClr val="545454"/>
            </a:solidFill>
            <a:ln w="12700">
              <a:noFill/>
              <a:round/>
              <a:headEnd/>
              <a:tailEnd/>
            </a:ln>
            <a:effectLst/>
          </p:spPr>
          <p:txBody>
            <a:bodyPr wrap="none" anchor="ctr"/>
            <a:lstStyle/>
            <a:p>
              <a:endParaRPr lang="en-US"/>
            </a:p>
          </p:txBody>
        </p:sp>
        <p:sp>
          <p:nvSpPr>
            <p:cNvPr id="978974" name="Oval 30"/>
            <p:cNvSpPr>
              <a:spLocks noChangeArrowheads="1"/>
            </p:cNvSpPr>
            <p:nvPr/>
          </p:nvSpPr>
          <p:spPr bwMode="auto">
            <a:xfrm>
              <a:off x="1939" y="1301"/>
              <a:ext cx="196" cy="145"/>
            </a:xfrm>
            <a:prstGeom prst="ellipse">
              <a:avLst/>
            </a:prstGeom>
            <a:solidFill>
              <a:srgbClr val="505050"/>
            </a:solidFill>
            <a:ln w="12700">
              <a:noFill/>
              <a:round/>
              <a:headEnd/>
              <a:tailEnd/>
            </a:ln>
            <a:effectLst/>
          </p:spPr>
          <p:txBody>
            <a:bodyPr wrap="none" anchor="ctr"/>
            <a:lstStyle/>
            <a:p>
              <a:endParaRPr lang="en-US"/>
            </a:p>
          </p:txBody>
        </p:sp>
        <p:sp>
          <p:nvSpPr>
            <p:cNvPr id="978975" name="Oval 31"/>
            <p:cNvSpPr>
              <a:spLocks noChangeArrowheads="1"/>
            </p:cNvSpPr>
            <p:nvPr/>
          </p:nvSpPr>
          <p:spPr bwMode="auto">
            <a:xfrm>
              <a:off x="1950" y="1309"/>
              <a:ext cx="175" cy="129"/>
            </a:xfrm>
            <a:prstGeom prst="ellipse">
              <a:avLst/>
            </a:prstGeom>
            <a:solidFill>
              <a:srgbClr val="4C4C4C"/>
            </a:solidFill>
            <a:ln w="12700">
              <a:noFill/>
              <a:round/>
              <a:headEnd/>
              <a:tailEnd/>
            </a:ln>
            <a:effectLst/>
          </p:spPr>
          <p:txBody>
            <a:bodyPr wrap="none" anchor="ctr"/>
            <a:lstStyle/>
            <a:p>
              <a:endParaRPr lang="en-US"/>
            </a:p>
          </p:txBody>
        </p:sp>
        <p:sp>
          <p:nvSpPr>
            <p:cNvPr id="978976" name="Oval 32"/>
            <p:cNvSpPr>
              <a:spLocks noChangeArrowheads="1"/>
            </p:cNvSpPr>
            <p:nvPr/>
          </p:nvSpPr>
          <p:spPr bwMode="auto">
            <a:xfrm>
              <a:off x="1959" y="1316"/>
              <a:ext cx="156" cy="115"/>
            </a:xfrm>
            <a:prstGeom prst="ellipse">
              <a:avLst/>
            </a:prstGeom>
            <a:solidFill>
              <a:srgbClr val="484848"/>
            </a:solidFill>
            <a:ln w="12700">
              <a:noFill/>
              <a:round/>
              <a:headEnd/>
              <a:tailEnd/>
            </a:ln>
            <a:effectLst/>
          </p:spPr>
          <p:txBody>
            <a:bodyPr wrap="none" anchor="ctr"/>
            <a:lstStyle/>
            <a:p>
              <a:endParaRPr lang="en-US"/>
            </a:p>
          </p:txBody>
        </p:sp>
        <p:sp>
          <p:nvSpPr>
            <p:cNvPr id="978977" name="Oval 33"/>
            <p:cNvSpPr>
              <a:spLocks noChangeArrowheads="1"/>
            </p:cNvSpPr>
            <p:nvPr/>
          </p:nvSpPr>
          <p:spPr bwMode="auto">
            <a:xfrm>
              <a:off x="1969" y="1324"/>
              <a:ext cx="137" cy="99"/>
            </a:xfrm>
            <a:prstGeom prst="ellipse">
              <a:avLst/>
            </a:prstGeom>
            <a:solidFill>
              <a:srgbClr val="444444"/>
            </a:solidFill>
            <a:ln w="12700">
              <a:noFill/>
              <a:round/>
              <a:headEnd/>
              <a:tailEnd/>
            </a:ln>
            <a:effectLst/>
          </p:spPr>
          <p:txBody>
            <a:bodyPr wrap="none" anchor="ctr"/>
            <a:lstStyle/>
            <a:p>
              <a:endParaRPr lang="en-US"/>
            </a:p>
          </p:txBody>
        </p:sp>
        <p:sp>
          <p:nvSpPr>
            <p:cNvPr id="978978" name="Oval 34"/>
            <p:cNvSpPr>
              <a:spLocks noChangeArrowheads="1"/>
            </p:cNvSpPr>
            <p:nvPr/>
          </p:nvSpPr>
          <p:spPr bwMode="auto">
            <a:xfrm>
              <a:off x="1980" y="1330"/>
              <a:ext cx="115" cy="87"/>
            </a:xfrm>
            <a:prstGeom prst="ellipse">
              <a:avLst/>
            </a:prstGeom>
            <a:solidFill>
              <a:srgbClr val="404040"/>
            </a:solidFill>
            <a:ln w="12700">
              <a:noFill/>
              <a:round/>
              <a:headEnd/>
              <a:tailEnd/>
            </a:ln>
            <a:effectLst/>
          </p:spPr>
          <p:txBody>
            <a:bodyPr wrap="none" anchor="ctr"/>
            <a:lstStyle/>
            <a:p>
              <a:endParaRPr lang="en-US"/>
            </a:p>
          </p:txBody>
        </p:sp>
        <p:sp>
          <p:nvSpPr>
            <p:cNvPr id="978979" name="Oval 35"/>
            <p:cNvSpPr>
              <a:spLocks noChangeArrowheads="1"/>
            </p:cNvSpPr>
            <p:nvPr/>
          </p:nvSpPr>
          <p:spPr bwMode="auto">
            <a:xfrm>
              <a:off x="1989" y="1338"/>
              <a:ext cx="97" cy="71"/>
            </a:xfrm>
            <a:prstGeom prst="ellipse">
              <a:avLst/>
            </a:prstGeom>
            <a:solidFill>
              <a:srgbClr val="3C3C3C"/>
            </a:solidFill>
            <a:ln w="12700">
              <a:noFill/>
              <a:round/>
              <a:headEnd/>
              <a:tailEnd/>
            </a:ln>
            <a:effectLst/>
          </p:spPr>
          <p:txBody>
            <a:bodyPr wrap="none" anchor="ctr"/>
            <a:lstStyle/>
            <a:p>
              <a:endParaRPr lang="en-US"/>
            </a:p>
          </p:txBody>
        </p:sp>
        <p:sp>
          <p:nvSpPr>
            <p:cNvPr id="978980" name="Oval 36"/>
            <p:cNvSpPr>
              <a:spLocks noChangeArrowheads="1"/>
            </p:cNvSpPr>
            <p:nvPr/>
          </p:nvSpPr>
          <p:spPr bwMode="auto">
            <a:xfrm>
              <a:off x="1705" y="1130"/>
              <a:ext cx="662" cy="486"/>
            </a:xfrm>
            <a:prstGeom prst="ellipse">
              <a:avLst/>
            </a:prstGeom>
            <a:noFill/>
            <a:ln w="12700">
              <a:solidFill>
                <a:srgbClr val="000000"/>
              </a:solidFill>
              <a:round/>
              <a:headEnd/>
              <a:tailEnd/>
            </a:ln>
            <a:effectLst/>
          </p:spPr>
          <p:txBody>
            <a:bodyPr wrap="none" anchor="ctr"/>
            <a:lstStyle/>
            <a:p>
              <a:endParaRPr lang="en-US"/>
            </a:p>
          </p:txBody>
        </p:sp>
        <p:sp>
          <p:nvSpPr>
            <p:cNvPr id="978981" name="Oval 37"/>
            <p:cNvSpPr>
              <a:spLocks noChangeArrowheads="1"/>
            </p:cNvSpPr>
            <p:nvPr/>
          </p:nvSpPr>
          <p:spPr bwMode="auto">
            <a:xfrm>
              <a:off x="3249" y="971"/>
              <a:ext cx="797" cy="814"/>
            </a:xfrm>
            <a:prstGeom prst="ellipse">
              <a:avLst/>
            </a:prstGeom>
            <a:solidFill>
              <a:srgbClr val="B2B2B2"/>
            </a:solidFill>
            <a:ln w="12700">
              <a:noFill/>
              <a:round/>
              <a:headEnd/>
              <a:tailEnd/>
            </a:ln>
            <a:effectLst/>
          </p:spPr>
          <p:txBody>
            <a:bodyPr wrap="none" anchor="ctr"/>
            <a:lstStyle/>
            <a:p>
              <a:endParaRPr lang="en-US"/>
            </a:p>
          </p:txBody>
        </p:sp>
        <p:sp>
          <p:nvSpPr>
            <p:cNvPr id="978982" name="Oval 38"/>
            <p:cNvSpPr>
              <a:spLocks noChangeArrowheads="1"/>
            </p:cNvSpPr>
            <p:nvPr/>
          </p:nvSpPr>
          <p:spPr bwMode="auto">
            <a:xfrm>
              <a:off x="3249" y="971"/>
              <a:ext cx="797" cy="814"/>
            </a:xfrm>
            <a:prstGeom prst="ellipse">
              <a:avLst/>
            </a:prstGeom>
            <a:solidFill>
              <a:srgbClr val="B0B0B0"/>
            </a:solidFill>
            <a:ln w="12700">
              <a:noFill/>
              <a:round/>
              <a:headEnd/>
              <a:tailEnd/>
            </a:ln>
            <a:effectLst/>
          </p:spPr>
          <p:txBody>
            <a:bodyPr wrap="none" anchor="ctr"/>
            <a:lstStyle/>
            <a:p>
              <a:endParaRPr lang="en-US"/>
            </a:p>
          </p:txBody>
        </p:sp>
        <p:sp>
          <p:nvSpPr>
            <p:cNvPr id="978983" name="Oval 39"/>
            <p:cNvSpPr>
              <a:spLocks noChangeArrowheads="1"/>
            </p:cNvSpPr>
            <p:nvPr/>
          </p:nvSpPr>
          <p:spPr bwMode="auto">
            <a:xfrm>
              <a:off x="3262" y="984"/>
              <a:ext cx="773" cy="790"/>
            </a:xfrm>
            <a:prstGeom prst="ellipse">
              <a:avLst/>
            </a:prstGeom>
            <a:solidFill>
              <a:srgbClr val="ACACAC"/>
            </a:solidFill>
            <a:ln w="12700">
              <a:noFill/>
              <a:round/>
              <a:headEnd/>
              <a:tailEnd/>
            </a:ln>
            <a:effectLst/>
          </p:spPr>
          <p:txBody>
            <a:bodyPr wrap="none" anchor="ctr"/>
            <a:lstStyle/>
            <a:p>
              <a:endParaRPr lang="en-US"/>
            </a:p>
          </p:txBody>
        </p:sp>
        <p:sp>
          <p:nvSpPr>
            <p:cNvPr id="978984" name="Oval 40"/>
            <p:cNvSpPr>
              <a:spLocks noChangeArrowheads="1"/>
            </p:cNvSpPr>
            <p:nvPr/>
          </p:nvSpPr>
          <p:spPr bwMode="auto">
            <a:xfrm>
              <a:off x="3272" y="995"/>
              <a:ext cx="750" cy="766"/>
            </a:xfrm>
            <a:prstGeom prst="ellipse">
              <a:avLst/>
            </a:prstGeom>
            <a:solidFill>
              <a:srgbClr val="A8A8A8"/>
            </a:solidFill>
            <a:ln w="12700">
              <a:noFill/>
              <a:round/>
              <a:headEnd/>
              <a:tailEnd/>
            </a:ln>
            <a:effectLst/>
          </p:spPr>
          <p:txBody>
            <a:bodyPr wrap="none" anchor="ctr"/>
            <a:lstStyle/>
            <a:p>
              <a:endParaRPr lang="en-US"/>
            </a:p>
          </p:txBody>
        </p:sp>
        <p:sp>
          <p:nvSpPr>
            <p:cNvPr id="978985" name="Oval 41"/>
            <p:cNvSpPr>
              <a:spLocks noChangeArrowheads="1"/>
            </p:cNvSpPr>
            <p:nvPr/>
          </p:nvSpPr>
          <p:spPr bwMode="auto">
            <a:xfrm>
              <a:off x="3285" y="1008"/>
              <a:ext cx="726" cy="742"/>
            </a:xfrm>
            <a:prstGeom prst="ellipse">
              <a:avLst/>
            </a:prstGeom>
            <a:solidFill>
              <a:srgbClr val="A4A4A4"/>
            </a:solidFill>
            <a:ln w="12700">
              <a:noFill/>
              <a:round/>
              <a:headEnd/>
              <a:tailEnd/>
            </a:ln>
            <a:effectLst/>
          </p:spPr>
          <p:txBody>
            <a:bodyPr wrap="none" anchor="ctr"/>
            <a:lstStyle/>
            <a:p>
              <a:endParaRPr lang="en-US"/>
            </a:p>
          </p:txBody>
        </p:sp>
        <p:sp>
          <p:nvSpPr>
            <p:cNvPr id="978986" name="Oval 42"/>
            <p:cNvSpPr>
              <a:spLocks noChangeArrowheads="1"/>
            </p:cNvSpPr>
            <p:nvPr/>
          </p:nvSpPr>
          <p:spPr bwMode="auto">
            <a:xfrm>
              <a:off x="3296" y="1020"/>
              <a:ext cx="703" cy="717"/>
            </a:xfrm>
            <a:prstGeom prst="ellipse">
              <a:avLst/>
            </a:prstGeom>
            <a:solidFill>
              <a:srgbClr val="A0A0A0"/>
            </a:solidFill>
            <a:ln w="12700">
              <a:noFill/>
              <a:round/>
              <a:headEnd/>
              <a:tailEnd/>
            </a:ln>
            <a:effectLst/>
          </p:spPr>
          <p:txBody>
            <a:bodyPr wrap="none" anchor="ctr"/>
            <a:lstStyle/>
            <a:p>
              <a:endParaRPr lang="en-US"/>
            </a:p>
          </p:txBody>
        </p:sp>
        <p:sp>
          <p:nvSpPr>
            <p:cNvPr id="978987" name="Oval 43"/>
            <p:cNvSpPr>
              <a:spLocks noChangeArrowheads="1"/>
            </p:cNvSpPr>
            <p:nvPr/>
          </p:nvSpPr>
          <p:spPr bwMode="auto">
            <a:xfrm>
              <a:off x="3309" y="1032"/>
              <a:ext cx="679" cy="694"/>
            </a:xfrm>
            <a:prstGeom prst="ellipse">
              <a:avLst/>
            </a:prstGeom>
            <a:solidFill>
              <a:srgbClr val="9C9C9C"/>
            </a:solidFill>
            <a:ln w="12700">
              <a:noFill/>
              <a:round/>
              <a:headEnd/>
              <a:tailEnd/>
            </a:ln>
            <a:effectLst/>
          </p:spPr>
          <p:txBody>
            <a:bodyPr wrap="none" anchor="ctr"/>
            <a:lstStyle/>
            <a:p>
              <a:endParaRPr lang="en-US"/>
            </a:p>
          </p:txBody>
        </p:sp>
        <p:sp>
          <p:nvSpPr>
            <p:cNvPr id="978988" name="Oval 44"/>
            <p:cNvSpPr>
              <a:spLocks noChangeArrowheads="1"/>
            </p:cNvSpPr>
            <p:nvPr/>
          </p:nvSpPr>
          <p:spPr bwMode="auto">
            <a:xfrm>
              <a:off x="3320" y="1043"/>
              <a:ext cx="655" cy="670"/>
            </a:xfrm>
            <a:prstGeom prst="ellipse">
              <a:avLst/>
            </a:prstGeom>
            <a:solidFill>
              <a:srgbClr val="989898"/>
            </a:solidFill>
            <a:ln w="12700">
              <a:noFill/>
              <a:round/>
              <a:headEnd/>
              <a:tailEnd/>
            </a:ln>
            <a:effectLst/>
          </p:spPr>
          <p:txBody>
            <a:bodyPr wrap="none" anchor="ctr"/>
            <a:lstStyle/>
            <a:p>
              <a:endParaRPr lang="en-US"/>
            </a:p>
          </p:txBody>
        </p:sp>
        <p:sp>
          <p:nvSpPr>
            <p:cNvPr id="978989" name="Oval 45"/>
            <p:cNvSpPr>
              <a:spLocks noChangeArrowheads="1"/>
            </p:cNvSpPr>
            <p:nvPr/>
          </p:nvSpPr>
          <p:spPr bwMode="auto">
            <a:xfrm>
              <a:off x="3332" y="1056"/>
              <a:ext cx="632" cy="646"/>
            </a:xfrm>
            <a:prstGeom prst="ellipse">
              <a:avLst/>
            </a:prstGeom>
            <a:solidFill>
              <a:srgbClr val="949494"/>
            </a:solidFill>
            <a:ln w="12700">
              <a:noFill/>
              <a:round/>
              <a:headEnd/>
              <a:tailEnd/>
            </a:ln>
            <a:effectLst/>
          </p:spPr>
          <p:txBody>
            <a:bodyPr wrap="none" anchor="ctr"/>
            <a:lstStyle/>
            <a:p>
              <a:endParaRPr lang="en-US"/>
            </a:p>
          </p:txBody>
        </p:sp>
        <p:sp>
          <p:nvSpPr>
            <p:cNvPr id="978990" name="Oval 46"/>
            <p:cNvSpPr>
              <a:spLocks noChangeArrowheads="1"/>
            </p:cNvSpPr>
            <p:nvPr/>
          </p:nvSpPr>
          <p:spPr bwMode="auto">
            <a:xfrm>
              <a:off x="3343" y="1067"/>
              <a:ext cx="609" cy="622"/>
            </a:xfrm>
            <a:prstGeom prst="ellipse">
              <a:avLst/>
            </a:prstGeom>
            <a:solidFill>
              <a:srgbClr val="909090"/>
            </a:solidFill>
            <a:ln w="12700">
              <a:noFill/>
              <a:round/>
              <a:headEnd/>
              <a:tailEnd/>
            </a:ln>
            <a:effectLst/>
          </p:spPr>
          <p:txBody>
            <a:bodyPr wrap="none" anchor="ctr"/>
            <a:lstStyle/>
            <a:p>
              <a:endParaRPr lang="en-US"/>
            </a:p>
          </p:txBody>
        </p:sp>
        <p:sp>
          <p:nvSpPr>
            <p:cNvPr id="978991" name="Oval 47"/>
            <p:cNvSpPr>
              <a:spLocks noChangeArrowheads="1"/>
            </p:cNvSpPr>
            <p:nvPr/>
          </p:nvSpPr>
          <p:spPr bwMode="auto">
            <a:xfrm>
              <a:off x="3356" y="1080"/>
              <a:ext cx="585" cy="598"/>
            </a:xfrm>
            <a:prstGeom prst="ellipse">
              <a:avLst/>
            </a:prstGeom>
            <a:solidFill>
              <a:srgbClr val="8C8C8C"/>
            </a:solidFill>
            <a:ln w="12700">
              <a:noFill/>
              <a:round/>
              <a:headEnd/>
              <a:tailEnd/>
            </a:ln>
            <a:effectLst/>
          </p:spPr>
          <p:txBody>
            <a:bodyPr wrap="none" anchor="ctr"/>
            <a:lstStyle/>
            <a:p>
              <a:endParaRPr lang="en-US"/>
            </a:p>
          </p:txBody>
        </p:sp>
        <p:sp>
          <p:nvSpPr>
            <p:cNvPr id="978992" name="Oval 48"/>
            <p:cNvSpPr>
              <a:spLocks noChangeArrowheads="1"/>
            </p:cNvSpPr>
            <p:nvPr/>
          </p:nvSpPr>
          <p:spPr bwMode="auto">
            <a:xfrm>
              <a:off x="3367" y="1092"/>
              <a:ext cx="561" cy="573"/>
            </a:xfrm>
            <a:prstGeom prst="ellipse">
              <a:avLst/>
            </a:prstGeom>
            <a:solidFill>
              <a:srgbClr val="888888"/>
            </a:solidFill>
            <a:ln w="12700">
              <a:noFill/>
              <a:round/>
              <a:headEnd/>
              <a:tailEnd/>
            </a:ln>
            <a:effectLst/>
          </p:spPr>
          <p:txBody>
            <a:bodyPr wrap="none" anchor="ctr"/>
            <a:lstStyle/>
            <a:p>
              <a:endParaRPr lang="en-US"/>
            </a:p>
          </p:txBody>
        </p:sp>
        <p:sp>
          <p:nvSpPr>
            <p:cNvPr id="978993" name="Oval 49"/>
            <p:cNvSpPr>
              <a:spLocks noChangeArrowheads="1"/>
            </p:cNvSpPr>
            <p:nvPr/>
          </p:nvSpPr>
          <p:spPr bwMode="auto">
            <a:xfrm>
              <a:off x="3380" y="1105"/>
              <a:ext cx="537" cy="548"/>
            </a:xfrm>
            <a:prstGeom prst="ellipse">
              <a:avLst/>
            </a:prstGeom>
            <a:solidFill>
              <a:srgbClr val="848484"/>
            </a:solidFill>
            <a:ln w="12700">
              <a:noFill/>
              <a:round/>
              <a:headEnd/>
              <a:tailEnd/>
            </a:ln>
            <a:effectLst/>
          </p:spPr>
          <p:txBody>
            <a:bodyPr wrap="none" anchor="ctr"/>
            <a:lstStyle/>
            <a:p>
              <a:endParaRPr lang="en-US"/>
            </a:p>
          </p:txBody>
        </p:sp>
        <p:sp>
          <p:nvSpPr>
            <p:cNvPr id="978994" name="Oval 50"/>
            <p:cNvSpPr>
              <a:spLocks noChangeArrowheads="1"/>
            </p:cNvSpPr>
            <p:nvPr/>
          </p:nvSpPr>
          <p:spPr bwMode="auto">
            <a:xfrm>
              <a:off x="3391" y="1116"/>
              <a:ext cx="513" cy="524"/>
            </a:xfrm>
            <a:prstGeom prst="ellipse">
              <a:avLst/>
            </a:prstGeom>
            <a:solidFill>
              <a:srgbClr val="808080"/>
            </a:solidFill>
            <a:ln w="12700">
              <a:noFill/>
              <a:round/>
              <a:headEnd/>
              <a:tailEnd/>
            </a:ln>
            <a:effectLst/>
          </p:spPr>
          <p:txBody>
            <a:bodyPr wrap="none" anchor="ctr"/>
            <a:lstStyle/>
            <a:p>
              <a:endParaRPr lang="en-US"/>
            </a:p>
          </p:txBody>
        </p:sp>
        <p:sp>
          <p:nvSpPr>
            <p:cNvPr id="978995" name="Oval 51"/>
            <p:cNvSpPr>
              <a:spLocks noChangeArrowheads="1"/>
            </p:cNvSpPr>
            <p:nvPr/>
          </p:nvSpPr>
          <p:spPr bwMode="auto">
            <a:xfrm>
              <a:off x="3403" y="1129"/>
              <a:ext cx="490" cy="500"/>
            </a:xfrm>
            <a:prstGeom prst="ellipse">
              <a:avLst/>
            </a:prstGeom>
            <a:solidFill>
              <a:srgbClr val="7C7C7C"/>
            </a:solidFill>
            <a:ln w="12700">
              <a:noFill/>
              <a:round/>
              <a:headEnd/>
              <a:tailEnd/>
            </a:ln>
            <a:effectLst/>
          </p:spPr>
          <p:txBody>
            <a:bodyPr wrap="none" anchor="ctr"/>
            <a:lstStyle/>
            <a:p>
              <a:endParaRPr lang="en-US"/>
            </a:p>
          </p:txBody>
        </p:sp>
        <p:sp>
          <p:nvSpPr>
            <p:cNvPr id="978996" name="Oval 52"/>
            <p:cNvSpPr>
              <a:spLocks noChangeArrowheads="1"/>
            </p:cNvSpPr>
            <p:nvPr/>
          </p:nvSpPr>
          <p:spPr bwMode="auto">
            <a:xfrm>
              <a:off x="3414" y="1140"/>
              <a:ext cx="467" cy="476"/>
            </a:xfrm>
            <a:prstGeom prst="ellipse">
              <a:avLst/>
            </a:prstGeom>
            <a:solidFill>
              <a:srgbClr val="787878"/>
            </a:solidFill>
            <a:ln w="12700">
              <a:noFill/>
              <a:round/>
              <a:headEnd/>
              <a:tailEnd/>
            </a:ln>
            <a:effectLst/>
          </p:spPr>
          <p:txBody>
            <a:bodyPr wrap="none" anchor="ctr"/>
            <a:lstStyle/>
            <a:p>
              <a:endParaRPr lang="en-US"/>
            </a:p>
          </p:txBody>
        </p:sp>
        <p:sp>
          <p:nvSpPr>
            <p:cNvPr id="978997" name="Oval 53"/>
            <p:cNvSpPr>
              <a:spLocks noChangeArrowheads="1"/>
            </p:cNvSpPr>
            <p:nvPr/>
          </p:nvSpPr>
          <p:spPr bwMode="auto">
            <a:xfrm>
              <a:off x="3427" y="1152"/>
              <a:ext cx="443" cy="453"/>
            </a:xfrm>
            <a:prstGeom prst="ellipse">
              <a:avLst/>
            </a:prstGeom>
            <a:solidFill>
              <a:srgbClr val="747474"/>
            </a:solidFill>
            <a:ln w="12700">
              <a:noFill/>
              <a:round/>
              <a:headEnd/>
              <a:tailEnd/>
            </a:ln>
            <a:effectLst/>
          </p:spPr>
          <p:txBody>
            <a:bodyPr wrap="none" anchor="ctr"/>
            <a:lstStyle/>
            <a:p>
              <a:endParaRPr lang="en-US"/>
            </a:p>
          </p:txBody>
        </p:sp>
        <p:sp>
          <p:nvSpPr>
            <p:cNvPr id="978998" name="Oval 54"/>
            <p:cNvSpPr>
              <a:spLocks noChangeArrowheads="1"/>
            </p:cNvSpPr>
            <p:nvPr/>
          </p:nvSpPr>
          <p:spPr bwMode="auto">
            <a:xfrm>
              <a:off x="3438" y="1164"/>
              <a:ext cx="419" cy="429"/>
            </a:xfrm>
            <a:prstGeom prst="ellipse">
              <a:avLst/>
            </a:prstGeom>
            <a:solidFill>
              <a:srgbClr val="707070"/>
            </a:solidFill>
            <a:ln w="12700">
              <a:noFill/>
              <a:round/>
              <a:headEnd/>
              <a:tailEnd/>
            </a:ln>
            <a:effectLst/>
          </p:spPr>
          <p:txBody>
            <a:bodyPr wrap="none" anchor="ctr"/>
            <a:lstStyle/>
            <a:p>
              <a:endParaRPr lang="en-US"/>
            </a:p>
          </p:txBody>
        </p:sp>
        <p:sp>
          <p:nvSpPr>
            <p:cNvPr id="978999" name="Oval 55"/>
            <p:cNvSpPr>
              <a:spLocks noChangeArrowheads="1"/>
            </p:cNvSpPr>
            <p:nvPr/>
          </p:nvSpPr>
          <p:spPr bwMode="auto">
            <a:xfrm>
              <a:off x="3450" y="1177"/>
              <a:ext cx="396" cy="404"/>
            </a:xfrm>
            <a:prstGeom prst="ellipse">
              <a:avLst/>
            </a:prstGeom>
            <a:solidFill>
              <a:srgbClr val="6C6C6C"/>
            </a:solidFill>
            <a:ln w="12700">
              <a:noFill/>
              <a:round/>
              <a:headEnd/>
              <a:tailEnd/>
            </a:ln>
            <a:effectLst/>
          </p:spPr>
          <p:txBody>
            <a:bodyPr wrap="none" anchor="ctr"/>
            <a:lstStyle/>
            <a:p>
              <a:endParaRPr lang="en-US"/>
            </a:p>
          </p:txBody>
        </p:sp>
        <p:sp>
          <p:nvSpPr>
            <p:cNvPr id="979000" name="Oval 56"/>
            <p:cNvSpPr>
              <a:spLocks noChangeArrowheads="1"/>
            </p:cNvSpPr>
            <p:nvPr/>
          </p:nvSpPr>
          <p:spPr bwMode="auto">
            <a:xfrm>
              <a:off x="3461" y="1188"/>
              <a:ext cx="372" cy="380"/>
            </a:xfrm>
            <a:prstGeom prst="ellipse">
              <a:avLst/>
            </a:prstGeom>
            <a:solidFill>
              <a:srgbClr val="686868"/>
            </a:solidFill>
            <a:ln w="12700">
              <a:noFill/>
              <a:round/>
              <a:headEnd/>
              <a:tailEnd/>
            </a:ln>
            <a:effectLst/>
          </p:spPr>
          <p:txBody>
            <a:bodyPr wrap="none" anchor="ctr"/>
            <a:lstStyle/>
            <a:p>
              <a:endParaRPr lang="en-US"/>
            </a:p>
          </p:txBody>
        </p:sp>
        <p:sp>
          <p:nvSpPr>
            <p:cNvPr id="979001" name="Oval 57"/>
            <p:cNvSpPr>
              <a:spLocks noChangeArrowheads="1"/>
            </p:cNvSpPr>
            <p:nvPr/>
          </p:nvSpPr>
          <p:spPr bwMode="auto">
            <a:xfrm>
              <a:off x="3474" y="1201"/>
              <a:ext cx="348" cy="356"/>
            </a:xfrm>
            <a:prstGeom prst="ellipse">
              <a:avLst/>
            </a:prstGeom>
            <a:solidFill>
              <a:srgbClr val="646464"/>
            </a:solidFill>
            <a:ln w="12700">
              <a:noFill/>
              <a:round/>
              <a:headEnd/>
              <a:tailEnd/>
            </a:ln>
            <a:effectLst/>
          </p:spPr>
          <p:txBody>
            <a:bodyPr wrap="none" anchor="ctr"/>
            <a:lstStyle/>
            <a:p>
              <a:endParaRPr lang="en-US"/>
            </a:p>
          </p:txBody>
        </p:sp>
        <p:sp>
          <p:nvSpPr>
            <p:cNvPr id="979002" name="Oval 58"/>
            <p:cNvSpPr>
              <a:spLocks noChangeArrowheads="1"/>
            </p:cNvSpPr>
            <p:nvPr/>
          </p:nvSpPr>
          <p:spPr bwMode="auto">
            <a:xfrm>
              <a:off x="3485" y="1212"/>
              <a:ext cx="325" cy="332"/>
            </a:xfrm>
            <a:prstGeom prst="ellipse">
              <a:avLst/>
            </a:prstGeom>
            <a:solidFill>
              <a:srgbClr val="606060"/>
            </a:solidFill>
            <a:ln w="12700">
              <a:noFill/>
              <a:round/>
              <a:headEnd/>
              <a:tailEnd/>
            </a:ln>
            <a:effectLst/>
          </p:spPr>
          <p:txBody>
            <a:bodyPr wrap="none" anchor="ctr"/>
            <a:lstStyle/>
            <a:p>
              <a:endParaRPr lang="en-US"/>
            </a:p>
          </p:txBody>
        </p:sp>
        <p:sp>
          <p:nvSpPr>
            <p:cNvPr id="979003" name="Oval 59"/>
            <p:cNvSpPr>
              <a:spLocks noChangeArrowheads="1"/>
            </p:cNvSpPr>
            <p:nvPr/>
          </p:nvSpPr>
          <p:spPr bwMode="auto">
            <a:xfrm>
              <a:off x="3498" y="1225"/>
              <a:ext cx="301" cy="308"/>
            </a:xfrm>
            <a:prstGeom prst="ellipse">
              <a:avLst/>
            </a:prstGeom>
            <a:solidFill>
              <a:srgbClr val="5C5C5C"/>
            </a:solidFill>
            <a:ln w="12700">
              <a:noFill/>
              <a:round/>
              <a:headEnd/>
              <a:tailEnd/>
            </a:ln>
            <a:effectLst/>
          </p:spPr>
          <p:txBody>
            <a:bodyPr wrap="none" anchor="ctr"/>
            <a:lstStyle/>
            <a:p>
              <a:endParaRPr lang="en-US"/>
            </a:p>
          </p:txBody>
        </p:sp>
        <p:sp>
          <p:nvSpPr>
            <p:cNvPr id="979004" name="Oval 60"/>
            <p:cNvSpPr>
              <a:spLocks noChangeArrowheads="1"/>
            </p:cNvSpPr>
            <p:nvPr/>
          </p:nvSpPr>
          <p:spPr bwMode="auto">
            <a:xfrm>
              <a:off x="3509" y="1237"/>
              <a:ext cx="277" cy="283"/>
            </a:xfrm>
            <a:prstGeom prst="ellipse">
              <a:avLst/>
            </a:prstGeom>
            <a:solidFill>
              <a:srgbClr val="585858"/>
            </a:solidFill>
            <a:ln w="12700">
              <a:noFill/>
              <a:round/>
              <a:headEnd/>
              <a:tailEnd/>
            </a:ln>
            <a:effectLst/>
          </p:spPr>
          <p:txBody>
            <a:bodyPr wrap="none" anchor="ctr"/>
            <a:lstStyle/>
            <a:p>
              <a:endParaRPr lang="en-US"/>
            </a:p>
          </p:txBody>
        </p:sp>
        <p:sp>
          <p:nvSpPr>
            <p:cNvPr id="979005" name="Oval 61"/>
            <p:cNvSpPr>
              <a:spLocks noChangeArrowheads="1"/>
            </p:cNvSpPr>
            <p:nvPr/>
          </p:nvSpPr>
          <p:spPr bwMode="auto">
            <a:xfrm>
              <a:off x="3521" y="1250"/>
              <a:ext cx="254" cy="258"/>
            </a:xfrm>
            <a:prstGeom prst="ellipse">
              <a:avLst/>
            </a:prstGeom>
            <a:solidFill>
              <a:srgbClr val="545454"/>
            </a:solidFill>
            <a:ln w="12700">
              <a:noFill/>
              <a:round/>
              <a:headEnd/>
              <a:tailEnd/>
            </a:ln>
            <a:effectLst/>
          </p:spPr>
          <p:txBody>
            <a:bodyPr wrap="none" anchor="ctr"/>
            <a:lstStyle/>
            <a:p>
              <a:endParaRPr lang="en-US"/>
            </a:p>
          </p:txBody>
        </p:sp>
        <p:sp>
          <p:nvSpPr>
            <p:cNvPr id="979006" name="Oval 62"/>
            <p:cNvSpPr>
              <a:spLocks noChangeArrowheads="1"/>
            </p:cNvSpPr>
            <p:nvPr/>
          </p:nvSpPr>
          <p:spPr bwMode="auto">
            <a:xfrm>
              <a:off x="3532" y="1261"/>
              <a:ext cx="231" cy="234"/>
            </a:xfrm>
            <a:prstGeom prst="ellipse">
              <a:avLst/>
            </a:prstGeom>
            <a:solidFill>
              <a:srgbClr val="505050"/>
            </a:solidFill>
            <a:ln w="12700">
              <a:noFill/>
              <a:round/>
              <a:headEnd/>
              <a:tailEnd/>
            </a:ln>
            <a:effectLst/>
          </p:spPr>
          <p:txBody>
            <a:bodyPr wrap="none" anchor="ctr"/>
            <a:lstStyle/>
            <a:p>
              <a:endParaRPr lang="en-US"/>
            </a:p>
          </p:txBody>
        </p:sp>
        <p:sp>
          <p:nvSpPr>
            <p:cNvPr id="979007" name="Oval 63"/>
            <p:cNvSpPr>
              <a:spLocks noChangeArrowheads="1"/>
            </p:cNvSpPr>
            <p:nvPr/>
          </p:nvSpPr>
          <p:spPr bwMode="auto">
            <a:xfrm>
              <a:off x="3545" y="1274"/>
              <a:ext cx="207" cy="210"/>
            </a:xfrm>
            <a:prstGeom prst="ellipse">
              <a:avLst/>
            </a:prstGeom>
            <a:solidFill>
              <a:srgbClr val="4C4C4C"/>
            </a:solidFill>
            <a:ln w="12700">
              <a:noFill/>
              <a:round/>
              <a:headEnd/>
              <a:tailEnd/>
            </a:ln>
            <a:effectLst/>
          </p:spPr>
          <p:txBody>
            <a:bodyPr wrap="none" anchor="ctr"/>
            <a:lstStyle/>
            <a:p>
              <a:endParaRPr lang="en-US"/>
            </a:p>
          </p:txBody>
        </p:sp>
        <p:sp>
          <p:nvSpPr>
            <p:cNvPr id="979008" name="Oval 64"/>
            <p:cNvSpPr>
              <a:spLocks noChangeArrowheads="1"/>
            </p:cNvSpPr>
            <p:nvPr/>
          </p:nvSpPr>
          <p:spPr bwMode="auto">
            <a:xfrm>
              <a:off x="3556" y="1284"/>
              <a:ext cx="183" cy="188"/>
            </a:xfrm>
            <a:prstGeom prst="ellipse">
              <a:avLst/>
            </a:prstGeom>
            <a:solidFill>
              <a:srgbClr val="484848"/>
            </a:solidFill>
            <a:ln w="12700">
              <a:noFill/>
              <a:round/>
              <a:headEnd/>
              <a:tailEnd/>
            </a:ln>
            <a:effectLst/>
          </p:spPr>
          <p:txBody>
            <a:bodyPr wrap="none" anchor="ctr"/>
            <a:lstStyle/>
            <a:p>
              <a:endParaRPr lang="en-US"/>
            </a:p>
          </p:txBody>
        </p:sp>
        <p:sp>
          <p:nvSpPr>
            <p:cNvPr id="979009" name="Oval 65"/>
            <p:cNvSpPr>
              <a:spLocks noChangeArrowheads="1"/>
            </p:cNvSpPr>
            <p:nvPr/>
          </p:nvSpPr>
          <p:spPr bwMode="auto">
            <a:xfrm>
              <a:off x="3569" y="1297"/>
              <a:ext cx="158" cy="164"/>
            </a:xfrm>
            <a:prstGeom prst="ellipse">
              <a:avLst/>
            </a:prstGeom>
            <a:solidFill>
              <a:srgbClr val="444444"/>
            </a:solidFill>
            <a:ln w="12700">
              <a:noFill/>
              <a:round/>
              <a:headEnd/>
              <a:tailEnd/>
            </a:ln>
            <a:effectLst/>
          </p:spPr>
          <p:txBody>
            <a:bodyPr wrap="none" anchor="ctr"/>
            <a:lstStyle/>
            <a:p>
              <a:endParaRPr lang="en-US"/>
            </a:p>
          </p:txBody>
        </p:sp>
        <p:sp>
          <p:nvSpPr>
            <p:cNvPr id="979010" name="Oval 66"/>
            <p:cNvSpPr>
              <a:spLocks noChangeArrowheads="1"/>
            </p:cNvSpPr>
            <p:nvPr/>
          </p:nvSpPr>
          <p:spPr bwMode="auto">
            <a:xfrm>
              <a:off x="3580" y="1309"/>
              <a:ext cx="135" cy="139"/>
            </a:xfrm>
            <a:prstGeom prst="ellipse">
              <a:avLst/>
            </a:prstGeom>
            <a:solidFill>
              <a:srgbClr val="404040"/>
            </a:solidFill>
            <a:ln w="12700">
              <a:noFill/>
              <a:round/>
              <a:headEnd/>
              <a:tailEnd/>
            </a:ln>
            <a:effectLst/>
          </p:spPr>
          <p:txBody>
            <a:bodyPr wrap="none" anchor="ctr"/>
            <a:lstStyle/>
            <a:p>
              <a:endParaRPr lang="en-US"/>
            </a:p>
          </p:txBody>
        </p:sp>
        <p:sp>
          <p:nvSpPr>
            <p:cNvPr id="979011" name="Oval 67"/>
            <p:cNvSpPr>
              <a:spLocks noChangeArrowheads="1"/>
            </p:cNvSpPr>
            <p:nvPr/>
          </p:nvSpPr>
          <p:spPr bwMode="auto">
            <a:xfrm>
              <a:off x="3592" y="1322"/>
              <a:ext cx="112" cy="114"/>
            </a:xfrm>
            <a:prstGeom prst="ellipse">
              <a:avLst/>
            </a:prstGeom>
            <a:solidFill>
              <a:srgbClr val="3C3C3C"/>
            </a:solidFill>
            <a:ln w="12700">
              <a:noFill/>
              <a:round/>
              <a:headEnd/>
              <a:tailEnd/>
            </a:ln>
            <a:effectLst/>
          </p:spPr>
          <p:txBody>
            <a:bodyPr wrap="none" anchor="ctr"/>
            <a:lstStyle/>
            <a:p>
              <a:endParaRPr lang="en-US"/>
            </a:p>
          </p:txBody>
        </p:sp>
        <p:sp>
          <p:nvSpPr>
            <p:cNvPr id="979012" name="Oval 68"/>
            <p:cNvSpPr>
              <a:spLocks noChangeArrowheads="1"/>
            </p:cNvSpPr>
            <p:nvPr/>
          </p:nvSpPr>
          <p:spPr bwMode="auto">
            <a:xfrm>
              <a:off x="3253" y="975"/>
              <a:ext cx="787" cy="805"/>
            </a:xfrm>
            <a:prstGeom prst="ellipse">
              <a:avLst/>
            </a:prstGeom>
            <a:noFill/>
            <a:ln w="12700">
              <a:solidFill>
                <a:srgbClr val="000000"/>
              </a:solidFill>
              <a:round/>
              <a:headEnd/>
              <a:tailEnd/>
            </a:ln>
            <a:effectLst/>
          </p:spPr>
          <p:txBody>
            <a:bodyPr wrap="none" anchor="ctr"/>
            <a:lstStyle/>
            <a:p>
              <a:endParaRPr lang="en-US"/>
            </a:p>
          </p:txBody>
        </p:sp>
        <p:sp>
          <p:nvSpPr>
            <p:cNvPr id="979013" name="Line 69"/>
            <p:cNvSpPr>
              <a:spLocks noChangeShapeType="1"/>
            </p:cNvSpPr>
            <p:nvPr/>
          </p:nvSpPr>
          <p:spPr bwMode="auto">
            <a:xfrm flipV="1">
              <a:off x="2036" y="955"/>
              <a:ext cx="1603" cy="186"/>
            </a:xfrm>
            <a:prstGeom prst="line">
              <a:avLst/>
            </a:prstGeom>
            <a:noFill/>
            <a:ln w="50800">
              <a:solidFill>
                <a:srgbClr val="000000"/>
              </a:solidFill>
              <a:round/>
              <a:headEnd/>
              <a:tailEnd/>
            </a:ln>
            <a:effectLst/>
          </p:spPr>
          <p:txBody>
            <a:bodyPr wrap="none" anchor="ctr"/>
            <a:lstStyle/>
            <a:p>
              <a:endParaRPr lang="en-US"/>
            </a:p>
          </p:txBody>
        </p:sp>
        <p:sp>
          <p:nvSpPr>
            <p:cNvPr id="979014" name="Line 70"/>
            <p:cNvSpPr>
              <a:spLocks noChangeShapeType="1"/>
            </p:cNvSpPr>
            <p:nvPr/>
          </p:nvSpPr>
          <p:spPr bwMode="auto">
            <a:xfrm>
              <a:off x="2046" y="1632"/>
              <a:ext cx="1593" cy="147"/>
            </a:xfrm>
            <a:prstGeom prst="line">
              <a:avLst/>
            </a:prstGeom>
            <a:noFill/>
            <a:ln w="50800">
              <a:solidFill>
                <a:srgbClr val="000000"/>
              </a:solidFill>
              <a:round/>
              <a:headEnd/>
              <a:tailEnd/>
            </a:ln>
            <a:effectLst/>
          </p:spPr>
          <p:txBody>
            <a:bodyPr wrap="none" anchor="ctr"/>
            <a:lstStyle/>
            <a:p>
              <a:endParaRPr lang="en-US"/>
            </a:p>
          </p:txBody>
        </p:sp>
        <p:sp>
          <p:nvSpPr>
            <p:cNvPr id="979015" name="Oval 71"/>
            <p:cNvSpPr>
              <a:spLocks noChangeArrowheads="1"/>
            </p:cNvSpPr>
            <p:nvPr/>
          </p:nvSpPr>
          <p:spPr bwMode="auto">
            <a:xfrm>
              <a:off x="1966" y="1312"/>
              <a:ext cx="129" cy="132"/>
            </a:xfrm>
            <a:prstGeom prst="ellipse">
              <a:avLst/>
            </a:prstGeom>
            <a:solidFill>
              <a:srgbClr val="FFFFFF"/>
            </a:solidFill>
            <a:ln w="12700">
              <a:noFill/>
              <a:round/>
              <a:headEnd/>
              <a:tailEnd/>
            </a:ln>
            <a:effectLst/>
          </p:spPr>
          <p:txBody>
            <a:bodyPr wrap="none" anchor="ctr"/>
            <a:lstStyle/>
            <a:p>
              <a:endParaRPr lang="en-US"/>
            </a:p>
          </p:txBody>
        </p:sp>
        <p:sp>
          <p:nvSpPr>
            <p:cNvPr id="979016" name="Oval 72"/>
            <p:cNvSpPr>
              <a:spLocks noChangeArrowheads="1"/>
            </p:cNvSpPr>
            <p:nvPr/>
          </p:nvSpPr>
          <p:spPr bwMode="auto">
            <a:xfrm>
              <a:off x="3592" y="1312"/>
              <a:ext cx="129" cy="132"/>
            </a:xfrm>
            <a:prstGeom prst="ellipse">
              <a:avLst/>
            </a:prstGeom>
            <a:solidFill>
              <a:srgbClr val="FFFFFF"/>
            </a:solidFill>
            <a:ln w="12700">
              <a:noFill/>
              <a:round/>
              <a:headEnd/>
              <a:tailEnd/>
            </a:ln>
            <a:effectLst/>
          </p:spPr>
          <p:txBody>
            <a:bodyPr wrap="none" anchor="ctr"/>
            <a:lstStyle/>
            <a:p>
              <a:endParaRPr lang="en-US"/>
            </a:p>
          </p:txBody>
        </p:sp>
        <p:sp>
          <p:nvSpPr>
            <p:cNvPr id="979017" name="Rectangle 73"/>
            <p:cNvSpPr>
              <a:spLocks noChangeArrowheads="1"/>
            </p:cNvSpPr>
            <p:nvPr/>
          </p:nvSpPr>
          <p:spPr bwMode="auto">
            <a:xfrm>
              <a:off x="2579" y="1115"/>
              <a:ext cx="410" cy="229"/>
            </a:xfrm>
            <a:prstGeom prst="rect">
              <a:avLst/>
            </a:prstGeom>
            <a:noFill/>
            <a:ln w="12700">
              <a:noFill/>
              <a:miter lim="800000"/>
              <a:headEnd/>
              <a:tailEnd/>
            </a:ln>
            <a:effectLst/>
          </p:spPr>
          <p:txBody>
            <a:bodyPr wrap="none" lIns="90488" tIns="44450" rIns="90488" bIns="44450">
              <a:spAutoFit/>
            </a:bodyPr>
            <a:lstStyle/>
            <a:p>
              <a:r>
                <a:rPr lang="en-US" sz="1800">
                  <a:solidFill>
                    <a:srgbClr val="000000"/>
                  </a:solidFill>
                </a:rPr>
                <a:t>force</a:t>
              </a:r>
            </a:p>
          </p:txBody>
        </p:sp>
        <p:sp>
          <p:nvSpPr>
            <p:cNvPr id="979018" name="Line 74"/>
            <p:cNvSpPr>
              <a:spLocks noChangeShapeType="1"/>
            </p:cNvSpPr>
            <p:nvPr/>
          </p:nvSpPr>
          <p:spPr bwMode="auto">
            <a:xfrm>
              <a:off x="2635" y="1390"/>
              <a:ext cx="346" cy="0"/>
            </a:xfrm>
            <a:prstGeom prst="line">
              <a:avLst/>
            </a:prstGeom>
            <a:noFill/>
            <a:ln w="50800">
              <a:solidFill>
                <a:srgbClr val="000000"/>
              </a:solidFill>
              <a:round/>
              <a:headEnd/>
              <a:tailEnd/>
            </a:ln>
            <a:effectLst/>
          </p:spPr>
          <p:txBody>
            <a:bodyPr wrap="none" anchor="ctr"/>
            <a:lstStyle/>
            <a:p>
              <a:endParaRPr lang="en-US"/>
            </a:p>
          </p:txBody>
        </p:sp>
        <p:sp>
          <p:nvSpPr>
            <p:cNvPr id="979019" name="Freeform 75"/>
            <p:cNvSpPr>
              <a:spLocks/>
            </p:cNvSpPr>
            <p:nvPr/>
          </p:nvSpPr>
          <p:spPr bwMode="auto">
            <a:xfrm>
              <a:off x="2445" y="1316"/>
              <a:ext cx="234" cy="148"/>
            </a:xfrm>
            <a:custGeom>
              <a:avLst/>
              <a:gdLst/>
              <a:ahLst/>
              <a:cxnLst>
                <a:cxn ang="0">
                  <a:pos x="233" y="0"/>
                </a:cxn>
                <a:cxn ang="0">
                  <a:pos x="205" y="73"/>
                </a:cxn>
                <a:cxn ang="0">
                  <a:pos x="233" y="147"/>
                </a:cxn>
                <a:cxn ang="0">
                  <a:pos x="0" y="73"/>
                </a:cxn>
                <a:cxn ang="0">
                  <a:pos x="233" y="0"/>
                </a:cxn>
              </a:cxnLst>
              <a:rect l="0" t="0" r="r" b="b"/>
              <a:pathLst>
                <a:path w="234" h="148">
                  <a:moveTo>
                    <a:pt x="233" y="0"/>
                  </a:moveTo>
                  <a:lnTo>
                    <a:pt x="205" y="73"/>
                  </a:lnTo>
                  <a:lnTo>
                    <a:pt x="233" y="147"/>
                  </a:lnTo>
                  <a:lnTo>
                    <a:pt x="0" y="73"/>
                  </a:lnTo>
                  <a:lnTo>
                    <a:pt x="233" y="0"/>
                  </a:lnTo>
                </a:path>
              </a:pathLst>
            </a:custGeom>
            <a:solidFill>
              <a:srgbClr val="000000"/>
            </a:solidFill>
            <a:ln w="12700" cap="rnd" cmpd="sng">
              <a:noFill/>
              <a:prstDash val="solid"/>
              <a:round/>
              <a:headEnd type="none" w="med" len="med"/>
              <a:tailEnd type="none" w="med" len="med"/>
            </a:ln>
            <a:effectLst/>
          </p:spPr>
          <p:txBody>
            <a:bodyPr/>
            <a:lstStyle/>
            <a:p>
              <a:endParaRPr lang="en-US"/>
            </a:p>
          </p:txBody>
        </p:sp>
        <p:sp>
          <p:nvSpPr>
            <p:cNvPr id="979020" name="Freeform 76"/>
            <p:cNvSpPr>
              <a:spLocks/>
            </p:cNvSpPr>
            <p:nvPr/>
          </p:nvSpPr>
          <p:spPr bwMode="auto">
            <a:xfrm>
              <a:off x="2935" y="1316"/>
              <a:ext cx="234" cy="148"/>
            </a:xfrm>
            <a:custGeom>
              <a:avLst/>
              <a:gdLst/>
              <a:ahLst/>
              <a:cxnLst>
                <a:cxn ang="0">
                  <a:pos x="0" y="147"/>
                </a:cxn>
                <a:cxn ang="0">
                  <a:pos x="27" y="73"/>
                </a:cxn>
                <a:cxn ang="0">
                  <a:pos x="0" y="0"/>
                </a:cxn>
                <a:cxn ang="0">
                  <a:pos x="233" y="73"/>
                </a:cxn>
                <a:cxn ang="0">
                  <a:pos x="0" y="147"/>
                </a:cxn>
              </a:cxnLst>
              <a:rect l="0" t="0" r="r" b="b"/>
              <a:pathLst>
                <a:path w="234" h="148">
                  <a:moveTo>
                    <a:pt x="0" y="147"/>
                  </a:moveTo>
                  <a:lnTo>
                    <a:pt x="27" y="73"/>
                  </a:lnTo>
                  <a:lnTo>
                    <a:pt x="0" y="0"/>
                  </a:lnTo>
                  <a:lnTo>
                    <a:pt x="233" y="73"/>
                  </a:lnTo>
                  <a:lnTo>
                    <a:pt x="0" y="147"/>
                  </a:lnTo>
                </a:path>
              </a:pathLst>
            </a:custGeom>
            <a:solidFill>
              <a:srgbClr val="000000"/>
            </a:solidFill>
            <a:ln w="12700" cap="rnd" cmpd="sng">
              <a:noFill/>
              <a:prstDash val="solid"/>
              <a:round/>
              <a:headEnd type="none" w="med" len="med"/>
              <a:tailEnd type="none" w="med" len="med"/>
            </a:ln>
            <a:effectLst/>
          </p:spPr>
          <p:txBody>
            <a:bodyPr/>
            <a:lstStyle/>
            <a:p>
              <a:endParaRPr lang="en-US"/>
            </a:p>
          </p:txBody>
        </p:sp>
      </p:grpSp>
      <p:sp>
        <p:nvSpPr>
          <p:cNvPr id="979021" name="AutoShape 77"/>
          <p:cNvSpPr>
            <a:spLocks noChangeArrowheads="1"/>
          </p:cNvSpPr>
          <p:nvPr/>
        </p:nvSpPr>
        <p:spPr bwMode="auto">
          <a:xfrm>
            <a:off x="741363" y="3592513"/>
            <a:ext cx="7635875" cy="1658937"/>
          </a:xfrm>
          <a:prstGeom prst="roundRect">
            <a:avLst>
              <a:gd name="adj" fmla="val 12486"/>
            </a:avLst>
          </a:prstGeom>
          <a:solidFill>
            <a:srgbClr val="FFFFFF"/>
          </a:solidFill>
          <a:ln w="12700">
            <a:solidFill>
              <a:schemeClr val="tx1"/>
            </a:solidFill>
            <a:round/>
            <a:headEnd/>
            <a:tailEnd/>
          </a:ln>
          <a:effectLst/>
        </p:spPr>
        <p:txBody>
          <a:bodyPr wrap="none" anchor="ctr"/>
          <a:lstStyle/>
          <a:p>
            <a:endParaRPr lang="en-US"/>
          </a:p>
        </p:txBody>
      </p:sp>
      <p:sp>
        <p:nvSpPr>
          <p:cNvPr id="979022" name="Rectangle 78"/>
          <p:cNvSpPr>
            <a:spLocks noChangeArrowheads="1"/>
          </p:cNvSpPr>
          <p:nvPr/>
        </p:nvSpPr>
        <p:spPr bwMode="auto">
          <a:xfrm>
            <a:off x="1317625" y="3871913"/>
            <a:ext cx="6434138" cy="1003300"/>
          </a:xfrm>
          <a:prstGeom prst="rect">
            <a:avLst/>
          </a:prstGeom>
          <a:noFill/>
          <a:ln w="12700">
            <a:noFill/>
            <a:miter lim="800000"/>
            <a:headEnd/>
            <a:tailEnd/>
          </a:ln>
          <a:effectLst/>
        </p:spPr>
        <p:txBody>
          <a:bodyPr wrap="none" lIns="90488" tIns="44450" rIns="90488" bIns="44450">
            <a:spAutoFit/>
          </a:bodyPr>
          <a:lstStyle/>
          <a:p>
            <a:r>
              <a:rPr lang="en-US" sz="2000"/>
              <a:t>Eccentric sheaves will generate strong 1X radial components.</a:t>
            </a:r>
          </a:p>
          <a:p>
            <a:r>
              <a:rPr lang="en-US" sz="2000"/>
              <a:t>A common condition.</a:t>
            </a:r>
          </a:p>
          <a:p>
            <a:r>
              <a:rPr lang="en-US" sz="2000"/>
              <a:t>Looks like unbalance, but shows at both sheaves.</a:t>
            </a:r>
          </a:p>
        </p:txBody>
      </p:sp>
      <p:sp>
        <p:nvSpPr>
          <p:cNvPr id="979023" name="Rectangle 79"/>
          <p:cNvSpPr>
            <a:spLocks noChangeArrowheads="1"/>
          </p:cNvSpPr>
          <p:nvPr/>
        </p:nvSpPr>
        <p:spPr bwMode="auto">
          <a:xfrm>
            <a:off x="609600" y="381000"/>
            <a:ext cx="2514600" cy="698500"/>
          </a:xfrm>
          <a:prstGeom prst="rect">
            <a:avLst/>
          </a:prstGeom>
          <a:noFill/>
          <a:ln w="12700">
            <a:noFill/>
            <a:miter lim="800000"/>
            <a:headEnd/>
            <a:tailEnd/>
          </a:ln>
          <a:effectLst/>
        </p:spPr>
        <p:txBody>
          <a:bodyPr lIns="90488" tIns="44450" rIns="90488" bIns="44450">
            <a:spAutoFit/>
          </a:bodyPr>
          <a:lstStyle/>
          <a:p>
            <a:r>
              <a:rPr lang="en-US" sz="4000" b="1"/>
              <a:t>Belt Drive</a:t>
            </a:r>
            <a:endParaRPr lang="en-US" sz="2000"/>
          </a:p>
        </p:txBody>
      </p:sp>
      <p:sp>
        <p:nvSpPr>
          <p:cNvPr id="979024" name="Text Box 80"/>
          <p:cNvSpPr txBox="1">
            <a:spLocks noChangeArrowheads="1"/>
          </p:cNvSpPr>
          <p:nvPr/>
        </p:nvSpPr>
        <p:spPr bwMode="auto">
          <a:xfrm>
            <a:off x="4419600" y="457200"/>
            <a:ext cx="3625850" cy="641350"/>
          </a:xfrm>
          <a:prstGeom prst="rect">
            <a:avLst/>
          </a:prstGeom>
          <a:noFill/>
          <a:ln w="12700">
            <a:noFill/>
            <a:miter lim="800000"/>
            <a:headEnd/>
            <a:tailEnd/>
          </a:ln>
          <a:effectLst/>
        </p:spPr>
        <p:txBody>
          <a:bodyPr wrap="none">
            <a:spAutoFit/>
          </a:bodyPr>
          <a:lstStyle/>
          <a:p>
            <a:r>
              <a:rPr lang="en-US" sz="3600" b="1"/>
              <a:t>Eccentric sheaves</a:t>
            </a:r>
            <a:endParaRPr lang="en-US" sz="4000" b="1"/>
          </a:p>
        </p:txBody>
      </p:sp>
    </p:spTree>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70"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979971"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graphicFrame>
        <p:nvGraphicFramePr>
          <p:cNvPr id="979972" name="Object 4">
            <a:hlinkClick r:id="" action="ppaction://ole?verb=0"/>
          </p:cNvPr>
          <p:cNvGraphicFramePr>
            <a:graphicFrameLocks/>
          </p:cNvGraphicFramePr>
          <p:nvPr/>
        </p:nvGraphicFramePr>
        <p:xfrm>
          <a:off x="1601788" y="1341438"/>
          <a:ext cx="1914525" cy="3048000"/>
        </p:xfrm>
        <a:graphic>
          <a:graphicData uri="http://schemas.openxmlformats.org/presentationml/2006/ole">
            <mc:AlternateContent xmlns:mc="http://schemas.openxmlformats.org/markup-compatibility/2006">
              <mc:Choice xmlns:v="urn:schemas-microsoft-com:vml" Requires="v">
                <p:oleObj spid="_x0000_s979977" name="Document" r:id="rId3" imgW="1912680" imgH="3046320" progId="Word.Document.8">
                  <p:embed/>
                </p:oleObj>
              </mc:Choice>
              <mc:Fallback>
                <p:oleObj name="Document" r:id="rId3" imgW="1912680" imgH="3046320" progId="Word.Document.8">
                  <p:embed/>
                  <p:pic>
                    <p:nvPicPr>
                      <p:cNvPr id="0" name="Picture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1788" y="1341438"/>
                        <a:ext cx="1914525"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9973" name="Rectangle 5"/>
          <p:cNvSpPr>
            <a:spLocks noChangeArrowheads="1"/>
          </p:cNvSpPr>
          <p:nvPr/>
        </p:nvSpPr>
        <p:spPr bwMode="auto">
          <a:xfrm>
            <a:off x="685800" y="381000"/>
            <a:ext cx="1954213" cy="576263"/>
          </a:xfrm>
          <a:prstGeom prst="rect">
            <a:avLst/>
          </a:prstGeom>
          <a:noFill/>
          <a:ln w="12700">
            <a:noFill/>
            <a:miter lim="800000"/>
            <a:headEnd/>
            <a:tailEnd/>
          </a:ln>
          <a:effectLst/>
        </p:spPr>
        <p:txBody>
          <a:bodyPr wrap="none" lIns="90488" tIns="44450" rIns="90488" bIns="44450">
            <a:spAutoFit/>
          </a:bodyPr>
          <a:lstStyle/>
          <a:p>
            <a:pPr algn="ctr"/>
            <a:r>
              <a:rPr lang="en-US" sz="3200" b="1"/>
              <a:t>Belt Drive</a:t>
            </a:r>
            <a:endParaRPr lang="en-US" sz="2000"/>
          </a:p>
        </p:txBody>
      </p:sp>
      <p:graphicFrame>
        <p:nvGraphicFramePr>
          <p:cNvPr id="979974" name="Object 6">
            <a:hlinkClick r:id="" action="ppaction://ole?verb=0"/>
          </p:cNvPr>
          <p:cNvGraphicFramePr>
            <a:graphicFrameLocks/>
          </p:cNvGraphicFramePr>
          <p:nvPr/>
        </p:nvGraphicFramePr>
        <p:xfrm>
          <a:off x="5859463" y="1257300"/>
          <a:ext cx="1611312" cy="3025775"/>
        </p:xfrm>
        <a:graphic>
          <a:graphicData uri="http://schemas.openxmlformats.org/presentationml/2006/ole">
            <mc:AlternateContent xmlns:mc="http://schemas.openxmlformats.org/markup-compatibility/2006">
              <mc:Choice xmlns:v="urn:schemas-microsoft-com:vml" Requires="v">
                <p:oleObj spid="_x0000_s979978" name="Document" r:id="rId5" imgW="1609560" imgH="3024000" progId="Word.Document.8">
                  <p:embed/>
                </p:oleObj>
              </mc:Choice>
              <mc:Fallback>
                <p:oleObj name="Document" r:id="rId5" imgW="1609560" imgH="3024000" progId="Word.Document.8">
                  <p:embed/>
                  <p:pic>
                    <p:nvPicPr>
                      <p:cNvPr id="0" name="Picture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9463" y="1257300"/>
                        <a:ext cx="1611312" cy="302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9975" name="Rectangle 7"/>
          <p:cNvSpPr>
            <a:spLocks noChangeArrowheads="1"/>
          </p:cNvSpPr>
          <p:nvPr/>
        </p:nvSpPr>
        <p:spPr bwMode="auto">
          <a:xfrm>
            <a:off x="2232025" y="4411663"/>
            <a:ext cx="1044575" cy="454025"/>
          </a:xfrm>
          <a:prstGeom prst="rect">
            <a:avLst/>
          </a:prstGeom>
          <a:noFill/>
          <a:ln w="12700">
            <a:noFill/>
            <a:miter lim="800000"/>
            <a:headEnd/>
            <a:tailEnd/>
          </a:ln>
          <a:effectLst/>
        </p:spPr>
        <p:txBody>
          <a:bodyPr wrap="none" lIns="90488" tIns="44450" rIns="90488" bIns="44450">
            <a:spAutoFit/>
          </a:bodyPr>
          <a:lstStyle/>
          <a:p>
            <a:r>
              <a:rPr lang="en-US"/>
              <a:t>Off-set</a:t>
            </a:r>
          </a:p>
        </p:txBody>
      </p:sp>
      <p:sp>
        <p:nvSpPr>
          <p:cNvPr id="979976" name="Rectangle 8"/>
          <p:cNvSpPr>
            <a:spLocks noChangeArrowheads="1"/>
          </p:cNvSpPr>
          <p:nvPr/>
        </p:nvSpPr>
        <p:spPr bwMode="auto">
          <a:xfrm>
            <a:off x="6184900" y="4411663"/>
            <a:ext cx="1179513" cy="454025"/>
          </a:xfrm>
          <a:prstGeom prst="rect">
            <a:avLst/>
          </a:prstGeom>
          <a:noFill/>
          <a:ln w="12700">
            <a:noFill/>
            <a:miter lim="800000"/>
            <a:headEnd/>
            <a:tailEnd/>
          </a:ln>
          <a:effectLst/>
        </p:spPr>
        <p:txBody>
          <a:bodyPr wrap="none" lIns="90488" tIns="44450" rIns="90488" bIns="44450">
            <a:spAutoFit/>
          </a:bodyPr>
          <a:lstStyle/>
          <a:p>
            <a:r>
              <a:rPr lang="en-US"/>
              <a:t>Angular</a:t>
            </a:r>
          </a:p>
        </p:txBody>
      </p:sp>
      <p:sp>
        <p:nvSpPr>
          <p:cNvPr id="979977" name="AutoShape 9"/>
          <p:cNvSpPr>
            <a:spLocks noChangeArrowheads="1"/>
          </p:cNvSpPr>
          <p:nvPr/>
        </p:nvSpPr>
        <p:spPr bwMode="auto">
          <a:xfrm>
            <a:off x="985838" y="5019675"/>
            <a:ext cx="7635875" cy="1027113"/>
          </a:xfrm>
          <a:prstGeom prst="roundRect">
            <a:avLst>
              <a:gd name="adj" fmla="val 12486"/>
            </a:avLst>
          </a:prstGeom>
          <a:solidFill>
            <a:srgbClr val="FFFFFF"/>
          </a:solidFill>
          <a:ln w="12700">
            <a:solidFill>
              <a:schemeClr val="tx1"/>
            </a:solidFill>
            <a:round/>
            <a:headEnd/>
            <a:tailEnd/>
          </a:ln>
          <a:effectLst/>
        </p:spPr>
        <p:txBody>
          <a:bodyPr wrap="none" anchor="ctr"/>
          <a:lstStyle/>
          <a:p>
            <a:endParaRPr lang="en-US"/>
          </a:p>
        </p:txBody>
      </p:sp>
      <p:sp>
        <p:nvSpPr>
          <p:cNvPr id="979978" name="Rectangle 10"/>
          <p:cNvSpPr>
            <a:spLocks noChangeArrowheads="1"/>
          </p:cNvSpPr>
          <p:nvPr/>
        </p:nvSpPr>
        <p:spPr bwMode="auto">
          <a:xfrm>
            <a:off x="1431925" y="5303838"/>
            <a:ext cx="6851650" cy="515937"/>
          </a:xfrm>
          <a:prstGeom prst="rect">
            <a:avLst/>
          </a:prstGeom>
          <a:noFill/>
          <a:ln w="12700">
            <a:noFill/>
            <a:miter lim="800000"/>
            <a:headEnd/>
            <a:tailEnd/>
          </a:ln>
          <a:effectLst/>
        </p:spPr>
        <p:txBody>
          <a:bodyPr wrap="none" lIns="90488" tIns="44450" rIns="90488" bIns="44450">
            <a:spAutoFit/>
          </a:bodyPr>
          <a:lstStyle/>
          <a:p>
            <a:r>
              <a:rPr lang="en-US" sz="2800"/>
              <a:t>Axial vibrations at 1X and BF with harmonics.</a:t>
            </a:r>
          </a:p>
        </p:txBody>
      </p:sp>
      <p:sp>
        <p:nvSpPr>
          <p:cNvPr id="979979" name="Text Box 11"/>
          <p:cNvSpPr txBox="1">
            <a:spLocks noChangeArrowheads="1"/>
          </p:cNvSpPr>
          <p:nvPr/>
        </p:nvSpPr>
        <p:spPr bwMode="auto">
          <a:xfrm>
            <a:off x="4556125" y="447675"/>
            <a:ext cx="3395663" cy="519113"/>
          </a:xfrm>
          <a:prstGeom prst="rect">
            <a:avLst/>
          </a:prstGeom>
          <a:noFill/>
          <a:ln w="12700">
            <a:noFill/>
            <a:miter lim="800000"/>
            <a:headEnd/>
            <a:tailEnd/>
          </a:ln>
          <a:effectLst/>
        </p:spPr>
        <p:txBody>
          <a:bodyPr wrap="none">
            <a:spAutoFit/>
          </a:bodyPr>
          <a:lstStyle/>
          <a:p>
            <a:r>
              <a:rPr lang="en-US" sz="2800" b="1"/>
              <a:t>Sheave misalignment</a:t>
            </a:r>
          </a:p>
        </p:txBody>
      </p:sp>
    </p:spTree>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994" name="Rectangle 2"/>
          <p:cNvSpPr>
            <a:spLocks noGrp="1" noChangeArrowheads="1"/>
          </p:cNvSpPr>
          <p:nvPr>
            <p:ph type="title" idx="4294967295"/>
          </p:nvPr>
        </p:nvSpPr>
        <p:spPr>
          <a:xfrm>
            <a:off x="609600" y="2209800"/>
            <a:ext cx="7772400" cy="3124200"/>
          </a:xfrm>
          <a:noFill/>
          <a:ln/>
        </p:spPr>
        <p:txBody>
          <a:bodyPr lIns="90488" tIns="44450" rIns="90488" bIns="44450" anchor="ctr"/>
          <a:lstStyle/>
          <a:p>
            <a:r>
              <a:rPr lang="en-US" sz="8000" b="0"/>
              <a:t>Electrical Motors</a:t>
            </a:r>
          </a:p>
        </p:txBody>
      </p:sp>
    </p:spTree>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018"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982019"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graphicFrame>
        <p:nvGraphicFramePr>
          <p:cNvPr id="982020" name="Object 4">
            <a:hlinkClick r:id="" action="ppaction://ole?verb=0"/>
          </p:cNvPr>
          <p:cNvGraphicFramePr>
            <a:graphicFrameLocks/>
          </p:cNvGraphicFramePr>
          <p:nvPr/>
        </p:nvGraphicFramePr>
        <p:xfrm>
          <a:off x="1447800" y="2384425"/>
          <a:ext cx="2057400" cy="739775"/>
        </p:xfrm>
        <a:graphic>
          <a:graphicData uri="http://schemas.openxmlformats.org/presentationml/2006/ole">
            <mc:AlternateContent xmlns:mc="http://schemas.openxmlformats.org/markup-compatibility/2006">
              <mc:Choice xmlns:v="urn:schemas-microsoft-com:vml" Requires="v">
                <p:oleObj spid="_x0000_s982026" name="Equation" r:id="rId3" imgW="1130040" imgH="419040" progId="Equation.3">
                  <p:embed/>
                </p:oleObj>
              </mc:Choice>
              <mc:Fallback>
                <p:oleObj name="Equation" r:id="rId3" imgW="1130040" imgH="419040" progId="Equation.3">
                  <p:embed/>
                  <p:pic>
                    <p:nvPicPr>
                      <p:cNvPr id="0" name="Picture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384425"/>
                        <a:ext cx="2057400" cy="73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82021" name="Rectangle 5"/>
          <p:cNvSpPr>
            <a:spLocks noChangeArrowheads="1"/>
          </p:cNvSpPr>
          <p:nvPr/>
        </p:nvSpPr>
        <p:spPr bwMode="auto">
          <a:xfrm>
            <a:off x="1338263" y="1319213"/>
            <a:ext cx="3384550" cy="819150"/>
          </a:xfrm>
          <a:prstGeom prst="rect">
            <a:avLst/>
          </a:prstGeom>
          <a:noFill/>
          <a:ln w="12700">
            <a:noFill/>
            <a:miter lim="800000"/>
            <a:headEnd/>
            <a:tailEnd/>
          </a:ln>
          <a:effectLst/>
        </p:spPr>
        <p:txBody>
          <a:bodyPr wrap="none" lIns="90488" tIns="44450" rIns="90488" bIns="44450">
            <a:spAutoFit/>
          </a:bodyPr>
          <a:lstStyle/>
          <a:p>
            <a:r>
              <a:rPr lang="en-US" b="1"/>
              <a:t>Asyncronous AC motors</a:t>
            </a:r>
          </a:p>
          <a:p>
            <a:r>
              <a:rPr lang="en-US" b="1"/>
              <a:t>Running speed:</a:t>
            </a:r>
          </a:p>
        </p:txBody>
      </p:sp>
      <p:sp>
        <p:nvSpPr>
          <p:cNvPr id="982022" name="Rectangle 6"/>
          <p:cNvSpPr>
            <a:spLocks noChangeArrowheads="1"/>
          </p:cNvSpPr>
          <p:nvPr/>
        </p:nvSpPr>
        <p:spPr bwMode="auto">
          <a:xfrm>
            <a:off x="4195763" y="2309813"/>
            <a:ext cx="3605212" cy="819150"/>
          </a:xfrm>
          <a:prstGeom prst="rect">
            <a:avLst/>
          </a:prstGeom>
          <a:noFill/>
          <a:ln w="12700">
            <a:noFill/>
            <a:miter lim="800000"/>
            <a:headEnd/>
            <a:tailEnd/>
          </a:ln>
          <a:effectLst/>
        </p:spPr>
        <p:txBody>
          <a:bodyPr wrap="none" lIns="90488" tIns="44450" rIns="90488" bIns="44450">
            <a:spAutoFit/>
          </a:bodyPr>
          <a:lstStyle/>
          <a:p>
            <a:r>
              <a:rPr lang="en-US" b="1" i="1"/>
              <a:t>where 	p = number of poles</a:t>
            </a:r>
          </a:p>
          <a:p>
            <a:r>
              <a:rPr lang="en-US" b="1" i="1"/>
              <a:t>	f = line frequency</a:t>
            </a:r>
          </a:p>
        </p:txBody>
      </p:sp>
      <p:graphicFrame>
        <p:nvGraphicFramePr>
          <p:cNvPr id="982023" name="Object 7">
            <a:hlinkClick r:id="" action="ppaction://ole?verb=0"/>
          </p:cNvPr>
          <p:cNvGraphicFramePr>
            <a:graphicFrameLocks/>
          </p:cNvGraphicFramePr>
          <p:nvPr/>
        </p:nvGraphicFramePr>
        <p:xfrm>
          <a:off x="2462213" y="4967288"/>
          <a:ext cx="112712" cy="214312"/>
        </p:xfrm>
        <a:graphic>
          <a:graphicData uri="http://schemas.openxmlformats.org/presentationml/2006/ole">
            <mc:AlternateContent xmlns:mc="http://schemas.openxmlformats.org/markup-compatibility/2006">
              <mc:Choice xmlns:v="urn:schemas-microsoft-com:vml" Requires="v">
                <p:oleObj spid="_x0000_s982027" name="Equation" r:id="rId5" imgW="114120" imgH="215640" progId="Equation.3">
                  <p:embed/>
                </p:oleObj>
              </mc:Choice>
              <mc:Fallback>
                <p:oleObj name="Equation" r:id="rId5" imgW="114120" imgH="215640" progId="Equation.3">
                  <p:embed/>
                  <p:pic>
                    <p:nvPicPr>
                      <p:cNvPr id="0" name="Picture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62213" y="4967288"/>
                        <a:ext cx="112712"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82024" name="Rectangle 8"/>
          <p:cNvSpPr>
            <a:spLocks noChangeArrowheads="1"/>
          </p:cNvSpPr>
          <p:nvPr/>
        </p:nvSpPr>
        <p:spPr bwMode="auto">
          <a:xfrm>
            <a:off x="1338263" y="3471863"/>
            <a:ext cx="6434137" cy="819150"/>
          </a:xfrm>
          <a:prstGeom prst="rect">
            <a:avLst/>
          </a:prstGeom>
          <a:noFill/>
          <a:ln w="12700">
            <a:noFill/>
            <a:miter lim="800000"/>
            <a:headEnd/>
            <a:tailEnd/>
          </a:ln>
          <a:effectLst/>
        </p:spPr>
        <p:txBody>
          <a:bodyPr lIns="90488" tIns="44450" rIns="90488" bIns="44450">
            <a:spAutoFit/>
          </a:bodyPr>
          <a:lstStyle/>
          <a:p>
            <a:r>
              <a:rPr lang="en-US" b="1"/>
              <a:t>If no. of poles = 2.</a:t>
            </a:r>
          </a:p>
          <a:p>
            <a:r>
              <a:rPr lang="en-US" b="1"/>
              <a:t>The motor will have a sync. RPM of  3000</a:t>
            </a:r>
          </a:p>
        </p:txBody>
      </p:sp>
      <p:sp>
        <p:nvSpPr>
          <p:cNvPr id="982025" name="Rectangle 9"/>
          <p:cNvSpPr>
            <a:spLocks noChangeArrowheads="1"/>
          </p:cNvSpPr>
          <p:nvPr/>
        </p:nvSpPr>
        <p:spPr bwMode="auto">
          <a:xfrm>
            <a:off x="4365625" y="4826000"/>
            <a:ext cx="3409950" cy="454025"/>
          </a:xfrm>
          <a:prstGeom prst="rect">
            <a:avLst/>
          </a:prstGeom>
          <a:noFill/>
          <a:ln w="12700">
            <a:noFill/>
            <a:miter lim="800000"/>
            <a:headEnd/>
            <a:tailEnd/>
          </a:ln>
          <a:effectLst/>
        </p:spPr>
        <p:txBody>
          <a:bodyPr wrap="none" lIns="90488" tIns="44450" rIns="90488" bIns="44450">
            <a:spAutoFit/>
          </a:bodyPr>
          <a:lstStyle/>
          <a:p>
            <a:r>
              <a:rPr lang="en-US" b="1" i="1"/>
              <a:t>where 	fs = slip frequency</a:t>
            </a:r>
          </a:p>
        </p:txBody>
      </p:sp>
      <p:sp>
        <p:nvSpPr>
          <p:cNvPr id="982026" name="Rectangle 10"/>
          <p:cNvSpPr>
            <a:spLocks noChangeArrowheads="1"/>
          </p:cNvSpPr>
          <p:nvPr/>
        </p:nvSpPr>
        <p:spPr bwMode="auto">
          <a:xfrm>
            <a:off x="3252788" y="306388"/>
            <a:ext cx="2622550" cy="698500"/>
          </a:xfrm>
          <a:prstGeom prst="rect">
            <a:avLst/>
          </a:prstGeom>
          <a:noFill/>
          <a:ln w="12700">
            <a:noFill/>
            <a:miter lim="800000"/>
            <a:headEnd/>
            <a:tailEnd/>
          </a:ln>
          <a:effectLst/>
        </p:spPr>
        <p:txBody>
          <a:bodyPr wrap="none" lIns="90488" tIns="44450" rIns="90488" bIns="44450">
            <a:spAutoFit/>
          </a:bodyPr>
          <a:lstStyle/>
          <a:p>
            <a:pPr algn="ctr"/>
            <a:r>
              <a:rPr lang="en-US" sz="4000" b="1"/>
              <a:t>AC Motors</a:t>
            </a:r>
          </a:p>
        </p:txBody>
      </p:sp>
      <p:sp>
        <p:nvSpPr>
          <p:cNvPr id="982027" name="Text Box 11"/>
          <p:cNvSpPr txBox="1">
            <a:spLocks noChangeArrowheads="1"/>
          </p:cNvSpPr>
          <p:nvPr/>
        </p:nvSpPr>
        <p:spPr bwMode="auto">
          <a:xfrm>
            <a:off x="1219200" y="4876800"/>
            <a:ext cx="2251075" cy="701675"/>
          </a:xfrm>
          <a:prstGeom prst="rect">
            <a:avLst/>
          </a:prstGeom>
          <a:noFill/>
          <a:ln w="12700">
            <a:noFill/>
            <a:miter lim="800000"/>
            <a:headEnd/>
            <a:tailEnd/>
          </a:ln>
          <a:effectLst/>
        </p:spPr>
        <p:txBody>
          <a:bodyPr>
            <a:spAutoFit/>
          </a:bodyPr>
          <a:lstStyle/>
          <a:p>
            <a:r>
              <a:rPr lang="en-US" sz="2000" b="1">
                <a:latin typeface="Avenir 35" pitchFamily="2" charset="0"/>
              </a:rPr>
              <a:t>f</a:t>
            </a:r>
            <a:r>
              <a:rPr lang="en-US" sz="2000" b="1" baseline="-25000">
                <a:latin typeface="Avenir 35" pitchFamily="2" charset="0"/>
              </a:rPr>
              <a:t>s</a:t>
            </a:r>
            <a:r>
              <a:rPr lang="en-US" sz="2000" b="1">
                <a:latin typeface="Avenir 35" pitchFamily="2" charset="0"/>
              </a:rPr>
              <a:t> = RPM</a:t>
            </a:r>
            <a:r>
              <a:rPr lang="en-US" sz="2000" b="1" baseline="-25000">
                <a:latin typeface="Avenir 35" pitchFamily="2" charset="0"/>
              </a:rPr>
              <a:t>sync</a:t>
            </a:r>
            <a:r>
              <a:rPr lang="en-US" sz="2000" b="1">
                <a:latin typeface="Avenir 35" pitchFamily="2" charset="0"/>
              </a:rPr>
              <a:t> - RPM</a:t>
            </a:r>
            <a:endParaRPr lang="en-US" sz="1800">
              <a:latin typeface="Avenir 35" pitchFamily="2" charset="0"/>
            </a:endParaRPr>
          </a:p>
        </p:txBody>
      </p:sp>
    </p:spTree>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2"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983043"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
        <p:nvSpPr>
          <p:cNvPr id="983044" name="Rectangle 4"/>
          <p:cNvSpPr>
            <a:spLocks noChangeArrowheads="1"/>
          </p:cNvSpPr>
          <p:nvPr/>
        </p:nvSpPr>
        <p:spPr bwMode="auto">
          <a:xfrm>
            <a:off x="3252788" y="306388"/>
            <a:ext cx="2622550" cy="698500"/>
          </a:xfrm>
          <a:prstGeom prst="rect">
            <a:avLst/>
          </a:prstGeom>
          <a:noFill/>
          <a:ln w="12700">
            <a:noFill/>
            <a:miter lim="800000"/>
            <a:headEnd/>
            <a:tailEnd/>
          </a:ln>
          <a:effectLst/>
        </p:spPr>
        <p:txBody>
          <a:bodyPr wrap="none" lIns="90488" tIns="44450" rIns="90488" bIns="44450">
            <a:spAutoFit/>
          </a:bodyPr>
          <a:lstStyle/>
          <a:p>
            <a:pPr algn="ctr"/>
            <a:r>
              <a:rPr lang="en-US" sz="4000" b="1"/>
              <a:t>AC Motors</a:t>
            </a:r>
          </a:p>
        </p:txBody>
      </p:sp>
      <p:sp>
        <p:nvSpPr>
          <p:cNvPr id="983045" name="Rectangle 5"/>
          <p:cNvSpPr>
            <a:spLocks noChangeArrowheads="1"/>
          </p:cNvSpPr>
          <p:nvPr/>
        </p:nvSpPr>
        <p:spPr bwMode="auto">
          <a:xfrm>
            <a:off x="347663" y="1730375"/>
            <a:ext cx="8451850" cy="3009900"/>
          </a:xfrm>
          <a:prstGeom prst="rect">
            <a:avLst/>
          </a:prstGeom>
          <a:noFill/>
          <a:ln w="12700">
            <a:noFill/>
            <a:miter lim="800000"/>
            <a:headEnd/>
            <a:tailEnd/>
          </a:ln>
          <a:effectLst/>
        </p:spPr>
        <p:txBody>
          <a:bodyPr wrap="none" lIns="90488" tIns="44450" rIns="90488" bIns="44450">
            <a:spAutoFit/>
          </a:bodyPr>
          <a:lstStyle/>
          <a:p>
            <a:endParaRPr lang="en-US" b="1"/>
          </a:p>
          <a:p>
            <a:pPr>
              <a:buFont typeface="Wingdings" pitchFamily="2" charset="2"/>
              <a:buChar char="F"/>
            </a:pPr>
            <a:r>
              <a:rPr lang="en-US" b="1"/>
              <a:t>All electrical machines vibrates at 2 </a:t>
            </a:r>
            <a:r>
              <a:rPr lang="en-US" b="1" baseline="30000"/>
              <a:t>.</a:t>
            </a:r>
            <a:r>
              <a:rPr lang="en-US" b="1"/>
              <a:t> line frequency.</a:t>
            </a:r>
          </a:p>
          <a:p>
            <a:endParaRPr lang="en-US" b="1"/>
          </a:p>
          <a:p>
            <a:pPr>
              <a:buFont typeface="Wingdings" pitchFamily="2" charset="2"/>
              <a:buChar char="F"/>
            </a:pPr>
            <a:r>
              <a:rPr lang="en-US" b="1"/>
              <a:t>The reasons are expanding and collapsing magnetic fields.</a:t>
            </a:r>
          </a:p>
          <a:p>
            <a:endParaRPr lang="en-US" b="1"/>
          </a:p>
          <a:p>
            <a:pPr>
              <a:buFont typeface="Wingdings" pitchFamily="2" charset="2"/>
              <a:buChar char="F"/>
            </a:pPr>
            <a:r>
              <a:rPr lang="en-US" b="1"/>
              <a:t>This vibration is normal (to a degree).</a:t>
            </a:r>
          </a:p>
          <a:p>
            <a:endParaRPr lang="en-US" b="1"/>
          </a:p>
          <a:p>
            <a:pPr>
              <a:buFont typeface="Wingdings" pitchFamily="2" charset="2"/>
              <a:buChar char="F"/>
            </a:pPr>
            <a:r>
              <a:rPr lang="en-US" b="1"/>
              <a:t>The amplitude is a measure of the quality of the construction.</a:t>
            </a:r>
          </a:p>
        </p:txBody>
      </p:sp>
    </p:spTree>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4066"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984067"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
        <p:nvSpPr>
          <p:cNvPr id="984068" name="Rectangle 4"/>
          <p:cNvSpPr>
            <a:spLocks noChangeArrowheads="1"/>
          </p:cNvSpPr>
          <p:nvPr/>
        </p:nvSpPr>
        <p:spPr bwMode="auto">
          <a:xfrm>
            <a:off x="2971800" y="1219200"/>
            <a:ext cx="3140075" cy="576263"/>
          </a:xfrm>
          <a:prstGeom prst="rect">
            <a:avLst/>
          </a:prstGeom>
          <a:noFill/>
          <a:ln w="12700">
            <a:noFill/>
            <a:miter lim="800000"/>
            <a:headEnd/>
            <a:tailEnd/>
          </a:ln>
          <a:effectLst/>
        </p:spPr>
        <p:txBody>
          <a:bodyPr wrap="none" lIns="90488" tIns="44450" rIns="90488" bIns="44450">
            <a:spAutoFit/>
          </a:bodyPr>
          <a:lstStyle/>
          <a:p>
            <a:r>
              <a:rPr lang="en-US" sz="3200" b="1"/>
              <a:t>Coast Down Test</a:t>
            </a:r>
          </a:p>
        </p:txBody>
      </p:sp>
      <p:sp>
        <p:nvSpPr>
          <p:cNvPr id="984069" name="Rectangle 5"/>
          <p:cNvSpPr>
            <a:spLocks noChangeArrowheads="1"/>
          </p:cNvSpPr>
          <p:nvPr/>
        </p:nvSpPr>
        <p:spPr bwMode="auto">
          <a:xfrm>
            <a:off x="533400" y="2667000"/>
            <a:ext cx="8126413" cy="454025"/>
          </a:xfrm>
          <a:prstGeom prst="rect">
            <a:avLst/>
          </a:prstGeom>
          <a:noFill/>
          <a:ln w="12700">
            <a:noFill/>
            <a:miter lim="800000"/>
            <a:headEnd/>
            <a:tailEnd/>
          </a:ln>
          <a:effectLst/>
        </p:spPr>
        <p:txBody>
          <a:bodyPr wrap="none" lIns="90488" tIns="44450" rIns="90488" bIns="44450">
            <a:spAutoFit/>
          </a:bodyPr>
          <a:lstStyle/>
          <a:p>
            <a:r>
              <a:rPr lang="en-US" b="1"/>
              <a:t>Vibration suddenly drops down after switching off the power</a:t>
            </a:r>
            <a:endParaRPr lang="en-US"/>
          </a:p>
        </p:txBody>
      </p:sp>
      <p:sp>
        <p:nvSpPr>
          <p:cNvPr id="984070" name="Rectangle 6"/>
          <p:cNvSpPr>
            <a:spLocks noChangeArrowheads="1"/>
          </p:cNvSpPr>
          <p:nvPr/>
        </p:nvSpPr>
        <p:spPr bwMode="auto">
          <a:xfrm>
            <a:off x="3252788" y="306388"/>
            <a:ext cx="2622550" cy="698500"/>
          </a:xfrm>
          <a:prstGeom prst="rect">
            <a:avLst/>
          </a:prstGeom>
          <a:noFill/>
          <a:ln w="12700">
            <a:noFill/>
            <a:miter lim="800000"/>
            <a:headEnd/>
            <a:tailEnd/>
          </a:ln>
          <a:effectLst/>
        </p:spPr>
        <p:txBody>
          <a:bodyPr wrap="none" lIns="90488" tIns="44450" rIns="90488" bIns="44450">
            <a:spAutoFit/>
          </a:bodyPr>
          <a:lstStyle/>
          <a:p>
            <a:pPr algn="ctr"/>
            <a:r>
              <a:rPr lang="en-US" sz="4000" b="1"/>
              <a:t>AC Motors</a:t>
            </a:r>
          </a:p>
        </p:txBody>
      </p:sp>
    </p:spTree>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5090"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985091"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
        <p:nvSpPr>
          <p:cNvPr id="985092" name="Rectangle 4"/>
          <p:cNvSpPr>
            <a:spLocks noChangeArrowheads="1"/>
          </p:cNvSpPr>
          <p:nvPr/>
        </p:nvSpPr>
        <p:spPr bwMode="auto">
          <a:xfrm>
            <a:off x="3252788" y="306388"/>
            <a:ext cx="2622550" cy="698500"/>
          </a:xfrm>
          <a:prstGeom prst="rect">
            <a:avLst/>
          </a:prstGeom>
          <a:noFill/>
          <a:ln w="12700">
            <a:noFill/>
            <a:miter lim="800000"/>
            <a:headEnd/>
            <a:tailEnd/>
          </a:ln>
          <a:effectLst/>
        </p:spPr>
        <p:txBody>
          <a:bodyPr wrap="none" lIns="90488" tIns="44450" rIns="90488" bIns="44450">
            <a:spAutoFit/>
          </a:bodyPr>
          <a:lstStyle/>
          <a:p>
            <a:pPr algn="ctr"/>
            <a:r>
              <a:rPr lang="en-US" sz="4000" b="1"/>
              <a:t>AC Motors</a:t>
            </a:r>
          </a:p>
        </p:txBody>
      </p:sp>
      <p:sp>
        <p:nvSpPr>
          <p:cNvPr id="985093" name="Rectangle 5"/>
          <p:cNvSpPr>
            <a:spLocks noChangeArrowheads="1"/>
          </p:cNvSpPr>
          <p:nvPr/>
        </p:nvSpPr>
        <p:spPr bwMode="auto">
          <a:xfrm>
            <a:off x="1344613" y="1357313"/>
            <a:ext cx="6429375" cy="4470400"/>
          </a:xfrm>
          <a:prstGeom prst="rect">
            <a:avLst/>
          </a:prstGeom>
          <a:noFill/>
          <a:ln w="12700">
            <a:noFill/>
            <a:miter lim="800000"/>
            <a:headEnd/>
            <a:tailEnd/>
          </a:ln>
          <a:effectLst/>
        </p:spPr>
        <p:txBody>
          <a:bodyPr wrap="none" lIns="90488" tIns="44450" rIns="90488" bIns="44450">
            <a:spAutoFit/>
          </a:bodyPr>
          <a:lstStyle/>
          <a:p>
            <a:r>
              <a:rPr lang="en-US" b="1"/>
              <a:t>Faults possible to detect with vibration analysis:</a:t>
            </a:r>
          </a:p>
          <a:p>
            <a:r>
              <a:rPr lang="en-US"/>
              <a:t>Rotor thermal bow</a:t>
            </a:r>
          </a:p>
          <a:p>
            <a:r>
              <a:rPr lang="en-US"/>
              <a:t>Air gap eccentricity</a:t>
            </a:r>
          </a:p>
          <a:p>
            <a:r>
              <a:rPr lang="en-US"/>
              <a:t>Loose rotor</a:t>
            </a:r>
          </a:p>
          <a:p>
            <a:r>
              <a:rPr lang="en-US"/>
              <a:t>Eccentric rotor</a:t>
            </a:r>
          </a:p>
          <a:p>
            <a:r>
              <a:rPr lang="en-US"/>
              <a:t>Loose windings</a:t>
            </a:r>
          </a:p>
          <a:p>
            <a:endParaRPr lang="en-US"/>
          </a:p>
          <a:p>
            <a:r>
              <a:rPr lang="en-US" b="1"/>
              <a:t>Necessary data:</a:t>
            </a:r>
          </a:p>
          <a:p>
            <a:r>
              <a:rPr lang="en-US"/>
              <a:t>No. of stator slots 	(SPF)</a:t>
            </a:r>
          </a:p>
          <a:p>
            <a:r>
              <a:rPr lang="en-US"/>
              <a:t>No. of rotor bars 	(RBPF)</a:t>
            </a:r>
          </a:p>
          <a:p>
            <a:r>
              <a:rPr lang="en-US"/>
              <a:t>Line frequency	(LF)</a:t>
            </a:r>
          </a:p>
          <a:p>
            <a:r>
              <a:rPr lang="en-US"/>
              <a:t>Slip frequency		(SF)</a:t>
            </a:r>
          </a:p>
        </p:txBody>
      </p:sp>
    </p:spTree>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6114" name="Rectangle 1026"/>
          <p:cNvSpPr>
            <a:spLocks noGrp="1" noChangeArrowheads="1"/>
          </p:cNvSpPr>
          <p:nvPr>
            <p:ph type="title"/>
          </p:nvPr>
        </p:nvSpPr>
        <p:spPr>
          <a:xfrm>
            <a:off x="685800" y="390525"/>
            <a:ext cx="7772400" cy="496888"/>
          </a:xfrm>
          <a:noFill/>
          <a:ln/>
          <a:effectLst>
            <a:outerShdw dist="35921" dir="2700000" algn="ctr" rotWithShape="0">
              <a:schemeClr val="hlink"/>
            </a:outerShdw>
          </a:effectLst>
        </p:spPr>
        <p:txBody>
          <a:bodyPr lIns="92075" tIns="46038" rIns="92075" bIns="46038" anchor="b"/>
          <a:lstStyle/>
          <a:p>
            <a:r>
              <a:rPr lang="en-US"/>
              <a:t>ELECTRICAL  PROBLEMS</a:t>
            </a:r>
          </a:p>
        </p:txBody>
      </p:sp>
      <p:sp>
        <p:nvSpPr>
          <p:cNvPr id="986115" name="Rectangle 1027"/>
          <p:cNvSpPr>
            <a:spLocks noGrp="1" noChangeArrowheads="1"/>
          </p:cNvSpPr>
          <p:nvPr>
            <p:ph type="body" idx="1"/>
          </p:nvPr>
        </p:nvSpPr>
        <p:spPr>
          <a:xfrm>
            <a:off x="990600" y="4038600"/>
            <a:ext cx="7872413" cy="2438400"/>
          </a:xfrm>
          <a:noFill/>
          <a:ln/>
        </p:spPr>
        <p:txBody>
          <a:bodyPr lIns="92075" tIns="46038" rIns="92075" bIns="46038"/>
          <a:lstStyle/>
          <a:p>
            <a:r>
              <a:rPr lang="en-US" sz="2400"/>
              <a:t>Stator problems generate high amplitudes at          2F</a:t>
            </a:r>
            <a:r>
              <a:rPr lang="en-US" sz="2400" baseline="-25000"/>
              <a:t>L  </a:t>
            </a:r>
            <a:r>
              <a:rPr lang="en-US" sz="2400"/>
              <a:t>(2X line frequency )</a:t>
            </a:r>
          </a:p>
          <a:p>
            <a:r>
              <a:rPr lang="en-US" sz="2400"/>
              <a:t>Stator eccentricity produces uneven stationary air gap, vibration is very directional</a:t>
            </a:r>
          </a:p>
          <a:p>
            <a:r>
              <a:rPr lang="en-US" sz="2400"/>
              <a:t>Soft foot can produce an eccentric stator</a:t>
            </a:r>
          </a:p>
        </p:txBody>
      </p:sp>
      <p:sp>
        <p:nvSpPr>
          <p:cNvPr id="986116" name="Rectangle 1028"/>
          <p:cNvSpPr>
            <a:spLocks noChangeArrowheads="1"/>
          </p:cNvSpPr>
          <p:nvPr/>
        </p:nvSpPr>
        <p:spPr bwMode="auto">
          <a:xfrm>
            <a:off x="641350" y="1965325"/>
            <a:ext cx="3875088" cy="1187450"/>
          </a:xfrm>
          <a:prstGeom prst="rect">
            <a:avLst/>
          </a:prstGeom>
          <a:noFill/>
          <a:ln w="9525">
            <a:noFill/>
            <a:miter lim="800000"/>
            <a:headEnd/>
            <a:tailEnd/>
          </a:ln>
          <a:effectLst/>
        </p:spPr>
        <p:txBody>
          <a:bodyPr wrap="none" lIns="92075" tIns="46038" rIns="92075" bIns="46038">
            <a:spAutoFit/>
          </a:bodyPr>
          <a:lstStyle/>
          <a:p>
            <a:r>
              <a:rPr lang="en-US" b="1">
                <a:effectLst>
                  <a:outerShdw blurRad="38100" dist="38100" dir="2700000" algn="tl">
                    <a:srgbClr val="C0C0C0"/>
                  </a:outerShdw>
                </a:effectLst>
                <a:latin typeface="Arial" pitchFamily="34" charset="0"/>
              </a:rPr>
              <a:t>STATOR ECCENTRICITY</a:t>
            </a:r>
          </a:p>
          <a:p>
            <a:r>
              <a:rPr lang="en-US" b="1">
                <a:effectLst>
                  <a:outerShdw blurRad="38100" dist="38100" dir="2700000" algn="tl">
                    <a:srgbClr val="C0C0C0"/>
                  </a:outerShdw>
                </a:effectLst>
                <a:latin typeface="Arial" pitchFamily="34" charset="0"/>
              </a:rPr>
              <a:t>SHORTED LAMINATIONS</a:t>
            </a:r>
          </a:p>
          <a:p>
            <a:r>
              <a:rPr lang="en-US" b="1">
                <a:effectLst>
                  <a:outerShdw blurRad="38100" dist="38100" dir="2700000" algn="tl">
                    <a:srgbClr val="C0C0C0"/>
                  </a:outerShdw>
                </a:effectLst>
                <a:latin typeface="Arial" pitchFamily="34" charset="0"/>
              </a:rPr>
              <a:t>AND LOOSE IRON</a:t>
            </a:r>
          </a:p>
        </p:txBody>
      </p:sp>
      <p:graphicFrame>
        <p:nvGraphicFramePr>
          <p:cNvPr id="986117" name="Object 1029"/>
          <p:cNvGraphicFramePr>
            <a:graphicFrameLocks/>
          </p:cNvGraphicFramePr>
          <p:nvPr/>
        </p:nvGraphicFramePr>
        <p:xfrm>
          <a:off x="4645025" y="1219200"/>
          <a:ext cx="3727450" cy="2609850"/>
        </p:xfrm>
        <a:graphic>
          <a:graphicData uri="http://schemas.openxmlformats.org/presentationml/2006/ole">
            <mc:AlternateContent xmlns:mc="http://schemas.openxmlformats.org/markup-compatibility/2006">
              <mc:Choice xmlns:v="urn:schemas-microsoft-com:vml" Requires="v">
                <p:oleObj spid="_x0000_s986119" name="Bitmap Image" r:id="rId4" imgW="2590476" imgH="1428571" progId="Paint.Picture">
                  <p:embed/>
                </p:oleObj>
              </mc:Choice>
              <mc:Fallback>
                <p:oleObj name="Bitmap Image" r:id="rId4" imgW="2590476" imgH="1428571" progId="Paint.Picture">
                  <p:embed/>
                  <p:pic>
                    <p:nvPicPr>
                      <p:cNvPr id="0" name="Picture 102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5025" y="1219200"/>
                        <a:ext cx="3727450" cy="260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86115">
                                            <p:txEl>
                                              <p:pRg st="0" end="0"/>
                                            </p:txEl>
                                          </p:spTgt>
                                        </p:tgtEl>
                                        <p:attrNameLst>
                                          <p:attrName>style.visibility</p:attrName>
                                        </p:attrNameLst>
                                      </p:cBhvr>
                                      <p:to>
                                        <p:strVal val="visible"/>
                                      </p:to>
                                    </p:set>
                                    <p:animEffect transition="in" filter="wipe(left)">
                                      <p:cBhvr>
                                        <p:cTn id="7" dur="500"/>
                                        <p:tgtEl>
                                          <p:spTgt spid="986115">
                                            <p:txEl>
                                              <p:pRg st="0" end="0"/>
                                            </p:txEl>
                                          </p:spTgt>
                                        </p:tgtEl>
                                      </p:cBhvr>
                                    </p:animEffect>
                                  </p:childTnLst>
                                  <p:subTnLst>
                                    <p:animClr clrSpc="rgb" dir="cw">
                                      <p:cBhvr override="childStyle">
                                        <p:cTn dur="1" fill="hold" display="0" masterRel="nextClick" afterEffect="1"/>
                                        <p:tgtEl>
                                          <p:spTgt spid="986115">
                                            <p:txEl>
                                              <p:pRg st="0" end="0"/>
                                            </p:txEl>
                                          </p:spTgt>
                                        </p:tgtEl>
                                        <p:attrNameLst>
                                          <p:attrName>ppt_c</p:attrName>
                                        </p:attrNameLst>
                                      </p:cBhvr>
                                      <p:to>
                                        <a:srgbClr val="FAFD00"/>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86115">
                                            <p:txEl>
                                              <p:pRg st="1" end="1"/>
                                            </p:txEl>
                                          </p:spTgt>
                                        </p:tgtEl>
                                        <p:attrNameLst>
                                          <p:attrName>style.visibility</p:attrName>
                                        </p:attrNameLst>
                                      </p:cBhvr>
                                      <p:to>
                                        <p:strVal val="visible"/>
                                      </p:to>
                                    </p:set>
                                    <p:animEffect transition="in" filter="wipe(left)">
                                      <p:cBhvr>
                                        <p:cTn id="12" dur="500"/>
                                        <p:tgtEl>
                                          <p:spTgt spid="986115">
                                            <p:txEl>
                                              <p:pRg st="1" end="1"/>
                                            </p:txEl>
                                          </p:spTgt>
                                        </p:tgtEl>
                                      </p:cBhvr>
                                    </p:animEffect>
                                  </p:childTnLst>
                                  <p:subTnLst>
                                    <p:animClr clrSpc="rgb" dir="cw">
                                      <p:cBhvr override="childStyle">
                                        <p:cTn dur="1" fill="hold" display="0" masterRel="nextClick" afterEffect="1"/>
                                        <p:tgtEl>
                                          <p:spTgt spid="986115">
                                            <p:txEl>
                                              <p:pRg st="1" end="1"/>
                                            </p:txEl>
                                          </p:spTgt>
                                        </p:tgtEl>
                                        <p:attrNameLst>
                                          <p:attrName>ppt_c</p:attrName>
                                        </p:attrNameLst>
                                      </p:cBhvr>
                                      <p:to>
                                        <a:srgbClr val="FAFD00"/>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86115">
                                            <p:txEl>
                                              <p:pRg st="2" end="2"/>
                                            </p:txEl>
                                          </p:spTgt>
                                        </p:tgtEl>
                                        <p:attrNameLst>
                                          <p:attrName>style.visibility</p:attrName>
                                        </p:attrNameLst>
                                      </p:cBhvr>
                                      <p:to>
                                        <p:strVal val="visible"/>
                                      </p:to>
                                    </p:set>
                                    <p:animEffect transition="in" filter="wipe(left)">
                                      <p:cBhvr>
                                        <p:cTn id="17" dur="500"/>
                                        <p:tgtEl>
                                          <p:spTgt spid="986115">
                                            <p:txEl>
                                              <p:pRg st="2" end="2"/>
                                            </p:txEl>
                                          </p:spTgt>
                                        </p:tgtEl>
                                      </p:cBhvr>
                                    </p:animEffect>
                                  </p:childTnLst>
                                  <p:subTnLst>
                                    <p:animClr clrSpc="rgb" dir="cw">
                                      <p:cBhvr override="childStyle">
                                        <p:cTn dur="1" fill="hold" display="0" masterRel="nextClick" afterEffect="1"/>
                                        <p:tgtEl>
                                          <p:spTgt spid="986115">
                                            <p:txEl>
                                              <p:pRg st="2" end="2"/>
                                            </p:txEl>
                                          </p:spTgt>
                                        </p:tgtEl>
                                        <p:attrNameLst>
                                          <p:attrName>ppt_c</p:attrName>
                                        </p:attrNameLst>
                                      </p:cBhvr>
                                      <p:to>
                                        <a:srgbClr val="FAFD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6115" grpId="0" build="p"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2" name="Rectangle 2"/>
          <p:cNvSpPr>
            <a:spLocks noGrp="1" noChangeArrowheads="1"/>
          </p:cNvSpPr>
          <p:nvPr>
            <p:ph idx="1"/>
          </p:nvPr>
        </p:nvSpPr>
        <p:spPr>
          <a:xfrm>
            <a:off x="280988" y="1752600"/>
            <a:ext cx="8651875" cy="2682875"/>
          </a:xfrm>
          <a:noFill/>
          <a:ln/>
          <a:effectLst>
            <a:outerShdw dist="35921" dir="2700000" algn="ctr" rotWithShape="0">
              <a:srgbClr val="A2C1FE"/>
            </a:outerShdw>
          </a:effectLst>
        </p:spPr>
        <p:txBody>
          <a:bodyPr lIns="92075" tIns="46038" rIns="92075" bIns="46038">
            <a:spAutoFit/>
          </a:bodyPr>
          <a:lstStyle/>
          <a:p>
            <a:pPr marL="0" indent="0">
              <a:spcBef>
                <a:spcPct val="0"/>
              </a:spcBef>
              <a:buFontTx/>
              <a:buChar char="•"/>
            </a:pPr>
            <a:r>
              <a:rPr lang="en-US" sz="2000">
                <a:solidFill>
                  <a:srgbClr val="081D58"/>
                </a:solidFill>
                <a:effectLst>
                  <a:outerShdw blurRad="38100" dist="38100" dir="2700000" algn="tl">
                    <a:srgbClr val="C0C0C0"/>
                  </a:outerShdw>
                </a:effectLst>
              </a:rPr>
              <a:t>  Electrical line frequency.(</a:t>
            </a:r>
            <a:r>
              <a:rPr lang="en-US" sz="2000">
                <a:effectLst>
                  <a:outerShdw blurRad="38100" dist="38100" dir="2700000" algn="tl">
                    <a:srgbClr val="C0C0C0"/>
                  </a:outerShdw>
                </a:effectLst>
              </a:rPr>
              <a:t>FL</a:t>
            </a:r>
            <a:r>
              <a:rPr lang="en-US" sz="2000">
                <a:solidFill>
                  <a:srgbClr val="081D58"/>
                </a:solidFill>
                <a:effectLst>
                  <a:outerShdw blurRad="38100" dist="38100" dir="2700000" algn="tl">
                    <a:srgbClr val="C0C0C0"/>
                  </a:outerShdw>
                </a:effectLst>
              </a:rPr>
              <a:t>) = </a:t>
            </a:r>
            <a:r>
              <a:rPr lang="en-US" sz="2000">
                <a:effectLst>
                  <a:outerShdw blurRad="38100" dist="38100" dir="2700000" algn="tl">
                    <a:srgbClr val="C0C0C0"/>
                  </a:outerShdw>
                </a:effectLst>
              </a:rPr>
              <a:t>50Hz = 3000 cpm.</a:t>
            </a:r>
          </a:p>
          <a:p>
            <a:pPr marL="0" indent="0">
              <a:spcBef>
                <a:spcPct val="0"/>
              </a:spcBef>
              <a:buFontTx/>
              <a:buNone/>
            </a:pPr>
            <a:r>
              <a:rPr lang="en-US" sz="2000">
                <a:effectLst>
                  <a:outerShdw blurRad="38100" dist="38100" dir="2700000" algn="tl">
                    <a:srgbClr val="C0C0C0"/>
                  </a:outerShdw>
                </a:effectLst>
              </a:rPr>
              <a:t>                                                     60HZ = 3600 cpm</a:t>
            </a:r>
          </a:p>
          <a:p>
            <a:pPr marL="0" indent="0">
              <a:spcBef>
                <a:spcPct val="0"/>
              </a:spcBef>
              <a:buFontTx/>
              <a:buChar char="•"/>
            </a:pPr>
            <a:r>
              <a:rPr lang="en-US" sz="2000">
                <a:solidFill>
                  <a:srgbClr val="081D58"/>
                </a:solidFill>
                <a:effectLst>
                  <a:outerShdw blurRad="38100" dist="38100" dir="2700000" algn="tl">
                    <a:srgbClr val="C0C0C0"/>
                  </a:outerShdw>
                </a:effectLst>
              </a:rPr>
              <a:t>  No of poles.</a:t>
            </a:r>
            <a:r>
              <a:rPr lang="en-US" sz="2000">
                <a:solidFill>
                  <a:schemeClr val="hlink"/>
                </a:solidFill>
                <a:effectLst>
                  <a:outerShdw blurRad="38100" dist="38100" dir="2700000" algn="tl">
                    <a:srgbClr val="C0C0C0"/>
                  </a:outerShdw>
                </a:effectLst>
              </a:rPr>
              <a:t> </a:t>
            </a:r>
            <a:r>
              <a:rPr lang="en-US" sz="2000">
                <a:solidFill>
                  <a:schemeClr val="bg2"/>
                </a:solidFill>
                <a:effectLst>
                  <a:outerShdw blurRad="38100" dist="38100" dir="2700000" algn="tl">
                    <a:srgbClr val="C0C0C0"/>
                  </a:outerShdw>
                </a:effectLst>
              </a:rPr>
              <a:t>(</a:t>
            </a:r>
            <a:r>
              <a:rPr lang="en-US" sz="2000">
                <a:effectLst>
                  <a:outerShdw blurRad="38100" dist="38100" dir="2700000" algn="tl">
                    <a:srgbClr val="C0C0C0"/>
                  </a:outerShdw>
                </a:effectLst>
              </a:rPr>
              <a:t>P</a:t>
            </a:r>
            <a:r>
              <a:rPr lang="en-US" sz="2000">
                <a:solidFill>
                  <a:srgbClr val="081D58"/>
                </a:solidFill>
                <a:effectLst>
                  <a:outerShdw blurRad="38100" dist="38100" dir="2700000" algn="tl">
                    <a:srgbClr val="C0C0C0"/>
                  </a:outerShdw>
                </a:effectLst>
              </a:rPr>
              <a:t>) </a:t>
            </a:r>
          </a:p>
          <a:p>
            <a:pPr marL="0" indent="0">
              <a:lnSpc>
                <a:spcPct val="50000"/>
              </a:lnSpc>
              <a:spcBef>
                <a:spcPct val="0"/>
              </a:spcBef>
              <a:buFontTx/>
              <a:buNone/>
            </a:pPr>
            <a:endParaRPr lang="en-US" sz="2000">
              <a:solidFill>
                <a:srgbClr val="081D58"/>
              </a:solidFill>
              <a:effectLst>
                <a:outerShdw blurRad="38100" dist="38100" dir="2700000" algn="tl">
                  <a:srgbClr val="C0C0C0"/>
                </a:outerShdw>
              </a:effectLst>
            </a:endParaRPr>
          </a:p>
          <a:p>
            <a:pPr marL="0" indent="0">
              <a:spcBef>
                <a:spcPct val="0"/>
              </a:spcBef>
              <a:buFontTx/>
              <a:buChar char="•"/>
            </a:pPr>
            <a:r>
              <a:rPr lang="en-US" sz="2000">
                <a:solidFill>
                  <a:srgbClr val="081D58"/>
                </a:solidFill>
                <a:effectLst>
                  <a:outerShdw blurRad="38100" dist="38100" dir="2700000" algn="tl">
                    <a:srgbClr val="C0C0C0"/>
                  </a:outerShdw>
                </a:effectLst>
              </a:rPr>
              <a:t>  Rotor  Bar Pass Frequency (</a:t>
            </a:r>
            <a:r>
              <a:rPr lang="en-US" sz="2000">
                <a:effectLst>
                  <a:outerShdw blurRad="38100" dist="38100" dir="2700000" algn="tl">
                    <a:srgbClr val="C0C0C0"/>
                  </a:outerShdw>
                </a:effectLst>
              </a:rPr>
              <a:t>Fb) = No of rotor bars x </a:t>
            </a:r>
          </a:p>
          <a:p>
            <a:pPr marL="0" indent="0">
              <a:spcBef>
                <a:spcPct val="0"/>
              </a:spcBef>
              <a:buFontTx/>
              <a:buNone/>
            </a:pPr>
            <a:r>
              <a:rPr lang="en-US" sz="2000">
                <a:effectLst>
                  <a:outerShdw blurRad="38100" dist="38100" dir="2700000" algn="tl">
                    <a:srgbClr val="C0C0C0"/>
                  </a:outerShdw>
                </a:effectLst>
              </a:rPr>
              <a:t>                                                                                Rotor rpm.  </a:t>
            </a:r>
          </a:p>
          <a:p>
            <a:pPr marL="0" indent="0">
              <a:spcBef>
                <a:spcPct val="0"/>
              </a:spcBef>
              <a:buFontTx/>
              <a:buChar char="•"/>
            </a:pPr>
            <a:r>
              <a:rPr lang="en-US" sz="2000">
                <a:effectLst>
                  <a:outerShdw blurRad="38100" dist="38100" dir="2700000" algn="tl">
                    <a:srgbClr val="C0C0C0"/>
                  </a:outerShdw>
                </a:effectLst>
              </a:rPr>
              <a:t>  Synchronous speed (</a:t>
            </a:r>
            <a:r>
              <a:rPr lang="en-US" sz="2000" baseline="-25000">
                <a:effectLst>
                  <a:outerShdw blurRad="38100" dist="38100" dir="2700000" algn="tl">
                    <a:srgbClr val="C0C0C0"/>
                  </a:outerShdw>
                </a:effectLst>
              </a:rPr>
              <a:t>Ns) =  </a:t>
            </a:r>
            <a:r>
              <a:rPr lang="en-US" sz="2000">
                <a:effectLst>
                  <a:outerShdw blurRad="38100" dist="38100" dir="2700000" algn="tl">
                    <a:srgbClr val="C0C0C0"/>
                  </a:outerShdw>
                </a:effectLst>
              </a:rPr>
              <a:t>2xFL/P</a:t>
            </a:r>
          </a:p>
          <a:p>
            <a:pPr marL="0" indent="0">
              <a:spcBef>
                <a:spcPct val="0"/>
              </a:spcBef>
              <a:buFontTx/>
              <a:buChar char="•"/>
            </a:pPr>
            <a:r>
              <a:rPr lang="en-US" sz="2000">
                <a:effectLst>
                  <a:outerShdw blurRad="38100" dist="38100" dir="2700000" algn="tl">
                    <a:srgbClr val="C0C0C0"/>
                  </a:outerShdw>
                </a:effectLst>
              </a:rPr>
              <a:t>  Slip frequency ( F</a:t>
            </a:r>
            <a:r>
              <a:rPr lang="en-US" sz="2000" baseline="-25000">
                <a:effectLst>
                  <a:outerShdw blurRad="38100" dist="38100" dir="2700000" algn="tl">
                    <a:srgbClr val="C0C0C0"/>
                  </a:outerShdw>
                </a:effectLst>
              </a:rPr>
              <a:t>S </a:t>
            </a:r>
            <a:r>
              <a:rPr lang="en-US" sz="2000">
                <a:effectLst>
                  <a:outerShdw blurRad="38100" dist="38100" dir="2700000" algn="tl">
                    <a:srgbClr val="C0C0C0"/>
                  </a:outerShdw>
                </a:effectLst>
              </a:rPr>
              <a:t> )= Synchronous speed - Rotor rpm</a:t>
            </a:r>
          </a:p>
          <a:p>
            <a:pPr marL="0" indent="0">
              <a:spcBef>
                <a:spcPct val="0"/>
              </a:spcBef>
              <a:buFontTx/>
              <a:buChar char="•"/>
            </a:pPr>
            <a:r>
              <a:rPr lang="en-US" sz="2000">
                <a:effectLst>
                  <a:outerShdw blurRad="38100" dist="38100" dir="2700000" algn="tl">
                    <a:srgbClr val="C0C0C0"/>
                  </a:outerShdw>
                </a:effectLst>
              </a:rPr>
              <a:t>  Pole pass frequency (F</a:t>
            </a:r>
            <a:r>
              <a:rPr lang="en-US" sz="2000" baseline="-25000">
                <a:effectLst>
                  <a:outerShdw blurRad="38100" dist="38100" dir="2700000" algn="tl">
                    <a:srgbClr val="C0C0C0"/>
                  </a:outerShdw>
                </a:effectLst>
              </a:rPr>
              <a:t>P</a:t>
            </a:r>
            <a:r>
              <a:rPr lang="en-US" sz="2000">
                <a:effectLst>
                  <a:outerShdw blurRad="38100" dist="38100" dir="2700000" algn="tl">
                    <a:srgbClr val="C0C0C0"/>
                  </a:outerShdw>
                </a:effectLst>
              </a:rPr>
              <a:t> )= Slip Frequency x No of Poles.</a:t>
            </a:r>
          </a:p>
        </p:txBody>
      </p:sp>
      <p:sp>
        <p:nvSpPr>
          <p:cNvPr id="988163" name="Rectangle 3"/>
          <p:cNvSpPr>
            <a:spLocks noGrp="1" noChangeArrowheads="1"/>
          </p:cNvSpPr>
          <p:nvPr>
            <p:ph type="title"/>
          </p:nvPr>
        </p:nvSpPr>
        <p:spPr>
          <a:xfrm>
            <a:off x="352425" y="266700"/>
            <a:ext cx="8778875" cy="1028700"/>
          </a:xfrm>
          <a:noFill/>
          <a:ln/>
          <a:effectLst>
            <a:outerShdw dist="35921" dir="2700000" algn="ctr" rotWithShape="0">
              <a:schemeClr val="hlink"/>
            </a:outerShdw>
          </a:effectLst>
        </p:spPr>
        <p:txBody>
          <a:bodyPr lIns="92075" tIns="46038" rIns="92075" bIns="46038" anchor="b"/>
          <a:lstStyle/>
          <a:p>
            <a:r>
              <a:rPr lang="en-US" sz="2800"/>
              <a:t>FREQUENCIES PRODUCED BY ELECTRICAL MOTORS</a:t>
            </a:r>
            <a:r>
              <a:rPr lang="en-US" sz="2800">
                <a:solidFill>
                  <a:schemeClr val="hlink"/>
                </a:solidFill>
              </a:rPr>
              <a:t>.</a:t>
            </a:r>
          </a:p>
        </p:txBody>
      </p:sp>
      <p:sp>
        <p:nvSpPr>
          <p:cNvPr id="988164" name="Rectangle 4"/>
          <p:cNvSpPr>
            <a:spLocks noChangeArrowheads="1"/>
          </p:cNvSpPr>
          <p:nvPr/>
        </p:nvSpPr>
        <p:spPr bwMode="auto">
          <a:xfrm>
            <a:off x="3452813" y="6278563"/>
            <a:ext cx="169862" cy="396875"/>
          </a:xfrm>
          <a:prstGeom prst="rect">
            <a:avLst/>
          </a:prstGeom>
          <a:noFill/>
          <a:ln w="9525">
            <a:noFill/>
            <a:miter lim="800000"/>
            <a:headEnd/>
            <a:tailEnd/>
          </a:ln>
          <a:effectLst/>
        </p:spPr>
        <p:txBody>
          <a:bodyPr wrap="none" lIns="92075" tIns="46038" rIns="92075" bIns="46038">
            <a:spAutoFit/>
          </a:bodyPr>
          <a:lstStyle/>
          <a:p>
            <a:endParaRPr lang="en-GB" sz="2000" b="1">
              <a:solidFill>
                <a:schemeClr val="bg2"/>
              </a:solidFill>
              <a:latin typeface="Arial" pitchFamily="34" charset="0"/>
            </a:endParaRPr>
          </a:p>
        </p:txBody>
      </p:sp>
    </p:spTree>
  </p:cSld>
  <p:clrMapOvr>
    <a:masterClrMapping/>
  </p:clrMapOvr>
  <p:transition>
    <p:random/>
  </p:transition>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0210" name="Rectangle 2"/>
          <p:cNvSpPr>
            <a:spLocks noGrp="1" noChangeArrowheads="1"/>
          </p:cNvSpPr>
          <p:nvPr>
            <p:ph type="title"/>
          </p:nvPr>
        </p:nvSpPr>
        <p:spPr>
          <a:xfrm>
            <a:off x="685800" y="390525"/>
            <a:ext cx="7772400" cy="663575"/>
          </a:xfrm>
          <a:noFill/>
          <a:ln/>
          <a:effectLst>
            <a:outerShdw dist="35921" dir="2700000" algn="ctr" rotWithShape="0">
              <a:schemeClr val="hlink"/>
            </a:outerShdw>
          </a:effectLst>
        </p:spPr>
        <p:txBody>
          <a:bodyPr lIns="92075" tIns="46038" rIns="92075" bIns="46038" anchor="b"/>
          <a:lstStyle/>
          <a:p>
            <a:r>
              <a:rPr lang="en-US"/>
              <a:t>ELECTRICAL  PROBLEMS</a:t>
            </a:r>
          </a:p>
        </p:txBody>
      </p:sp>
      <p:sp>
        <p:nvSpPr>
          <p:cNvPr id="990211" name="Rectangle 3"/>
          <p:cNvSpPr>
            <a:spLocks noGrp="1" noChangeArrowheads="1"/>
          </p:cNvSpPr>
          <p:nvPr>
            <p:ph type="body" idx="1"/>
          </p:nvPr>
        </p:nvSpPr>
        <p:spPr>
          <a:xfrm>
            <a:off x="779463" y="4267200"/>
            <a:ext cx="7034212" cy="2438400"/>
          </a:xfrm>
          <a:noFill/>
          <a:ln/>
        </p:spPr>
        <p:txBody>
          <a:bodyPr lIns="92075" tIns="46038" rIns="92075" bIns="46038"/>
          <a:lstStyle/>
          <a:p>
            <a:r>
              <a:rPr lang="en-US" sz="2400"/>
              <a:t>Loose stator coils in synchronous motors generate high amplitude at Coil Pass Frequency</a:t>
            </a:r>
          </a:p>
          <a:p>
            <a:r>
              <a:rPr lang="en-US" sz="2400"/>
              <a:t>The coil pass frequency will be surrounded by 1X RPM sidebands</a:t>
            </a:r>
          </a:p>
        </p:txBody>
      </p:sp>
      <p:sp>
        <p:nvSpPr>
          <p:cNvPr id="990212" name="Rectangle 4"/>
          <p:cNvSpPr>
            <a:spLocks noChangeArrowheads="1"/>
          </p:cNvSpPr>
          <p:nvPr/>
        </p:nvSpPr>
        <p:spPr bwMode="auto">
          <a:xfrm>
            <a:off x="219075" y="2346325"/>
            <a:ext cx="3808413" cy="762000"/>
          </a:xfrm>
          <a:prstGeom prst="rect">
            <a:avLst/>
          </a:prstGeom>
          <a:noFill/>
          <a:ln w="9525">
            <a:noFill/>
            <a:miter lim="800000"/>
            <a:headEnd/>
            <a:tailEnd/>
          </a:ln>
          <a:effectLst/>
        </p:spPr>
        <p:txBody>
          <a:bodyPr wrap="none" lIns="92075" tIns="46038" rIns="92075" bIns="46038">
            <a:spAutoFit/>
          </a:bodyPr>
          <a:lstStyle/>
          <a:p>
            <a:r>
              <a:rPr lang="en-US" b="1">
                <a:effectLst>
                  <a:outerShdw blurRad="38100" dist="38100" dir="2700000" algn="tl">
                    <a:srgbClr val="C0C0C0"/>
                  </a:outerShdw>
                </a:effectLst>
                <a:latin typeface="Arial" pitchFamily="34" charset="0"/>
              </a:rPr>
              <a:t>SYNCHRONOUS MOTOR</a:t>
            </a:r>
          </a:p>
          <a:p>
            <a:r>
              <a:rPr lang="en-US" sz="2000" b="1">
                <a:effectLst>
                  <a:outerShdw blurRad="38100" dist="38100" dir="2700000" algn="tl">
                    <a:srgbClr val="C0C0C0"/>
                  </a:outerShdw>
                </a:effectLst>
                <a:latin typeface="Arial" pitchFamily="34" charset="0"/>
              </a:rPr>
              <a:t>(Loose Stator Coils)</a:t>
            </a:r>
          </a:p>
        </p:txBody>
      </p:sp>
      <p:graphicFrame>
        <p:nvGraphicFramePr>
          <p:cNvPr id="1060864" name="Object 0"/>
          <p:cNvGraphicFramePr>
            <a:graphicFrameLocks/>
          </p:cNvGraphicFramePr>
          <p:nvPr/>
        </p:nvGraphicFramePr>
        <p:xfrm>
          <a:off x="4511675" y="1524000"/>
          <a:ext cx="4008438" cy="2462213"/>
        </p:xfrm>
        <a:graphic>
          <a:graphicData uri="http://schemas.openxmlformats.org/presentationml/2006/ole">
            <mc:AlternateContent xmlns:mc="http://schemas.openxmlformats.org/markup-compatibility/2006">
              <mc:Choice xmlns:v="urn:schemas-microsoft-com:vml" Requires="v">
                <p:oleObj spid="_x0000_s1060866" name="Bitmap Image" r:id="rId4" imgW="2436162" imgH="1436575" progId="Paint.Picture">
                  <p:embed/>
                </p:oleObj>
              </mc:Choice>
              <mc:Fallback>
                <p:oleObj name="Bitmap Image" r:id="rId4" imgW="2436162" imgH="1436575" progId="Paint.Picture">
                  <p:embed/>
                  <p:pic>
                    <p:nvPicPr>
                      <p:cNvPr id="0" name="Picture 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1675" y="1524000"/>
                        <a:ext cx="4008438"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90214" name="Rectangle 6"/>
          <p:cNvSpPr>
            <a:spLocks noChangeArrowheads="1"/>
          </p:cNvSpPr>
          <p:nvPr/>
        </p:nvSpPr>
        <p:spPr bwMode="auto">
          <a:xfrm>
            <a:off x="3457575" y="6354763"/>
            <a:ext cx="171450" cy="396875"/>
          </a:xfrm>
          <a:prstGeom prst="rect">
            <a:avLst/>
          </a:prstGeom>
          <a:noFill/>
          <a:ln w="9525">
            <a:noFill/>
            <a:miter lim="800000"/>
            <a:headEnd/>
            <a:tailEnd/>
          </a:ln>
          <a:effectLst/>
        </p:spPr>
        <p:txBody>
          <a:bodyPr wrap="none" lIns="92075" tIns="46038" rIns="92075" bIns="46038">
            <a:spAutoFit/>
          </a:bodyPr>
          <a:lstStyle/>
          <a:p>
            <a:endParaRPr lang="en-GB" sz="2000" b="1">
              <a:solidFill>
                <a:schemeClr val="bg2"/>
              </a:solidFill>
              <a:latin typeface="Arial"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0211">
                                            <p:txEl>
                                              <p:pRg st="0" end="0"/>
                                            </p:txEl>
                                          </p:spTgt>
                                        </p:tgtEl>
                                        <p:attrNameLst>
                                          <p:attrName>style.visibility</p:attrName>
                                        </p:attrNameLst>
                                      </p:cBhvr>
                                      <p:to>
                                        <p:strVal val="visible"/>
                                      </p:to>
                                    </p:set>
                                    <p:animEffect transition="in" filter="wipe(left)">
                                      <p:cBhvr>
                                        <p:cTn id="7" dur="500"/>
                                        <p:tgtEl>
                                          <p:spTgt spid="990211">
                                            <p:txEl>
                                              <p:pRg st="0" end="0"/>
                                            </p:txEl>
                                          </p:spTgt>
                                        </p:tgtEl>
                                      </p:cBhvr>
                                    </p:animEffect>
                                  </p:childTnLst>
                                  <p:subTnLst>
                                    <p:animClr clrSpc="rgb" dir="cw">
                                      <p:cBhvr override="childStyle">
                                        <p:cTn dur="1" fill="hold" display="0" masterRel="nextClick" afterEffect="1"/>
                                        <p:tgtEl>
                                          <p:spTgt spid="990211">
                                            <p:txEl>
                                              <p:pRg st="0" end="0"/>
                                            </p:txEl>
                                          </p:spTgt>
                                        </p:tgtEl>
                                        <p:attrNameLst>
                                          <p:attrName>ppt_c</p:attrName>
                                        </p:attrNameLst>
                                      </p:cBhvr>
                                      <p:to>
                                        <a:srgbClr val="FAFD00"/>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0211">
                                            <p:txEl>
                                              <p:pRg st="1" end="1"/>
                                            </p:txEl>
                                          </p:spTgt>
                                        </p:tgtEl>
                                        <p:attrNameLst>
                                          <p:attrName>style.visibility</p:attrName>
                                        </p:attrNameLst>
                                      </p:cBhvr>
                                      <p:to>
                                        <p:strVal val="visible"/>
                                      </p:to>
                                    </p:set>
                                    <p:animEffect transition="in" filter="wipe(left)">
                                      <p:cBhvr>
                                        <p:cTn id="12" dur="500"/>
                                        <p:tgtEl>
                                          <p:spTgt spid="990211">
                                            <p:txEl>
                                              <p:pRg st="1" end="1"/>
                                            </p:txEl>
                                          </p:spTgt>
                                        </p:tgtEl>
                                      </p:cBhvr>
                                    </p:animEffect>
                                  </p:childTnLst>
                                  <p:subTnLst>
                                    <p:animClr clrSpc="rgb" dir="cw">
                                      <p:cBhvr override="childStyle">
                                        <p:cTn dur="1" fill="hold" display="0" masterRel="nextClick" afterEffect="1"/>
                                        <p:tgtEl>
                                          <p:spTgt spid="990211">
                                            <p:txEl>
                                              <p:pRg st="1" end="1"/>
                                            </p:txEl>
                                          </p:spTgt>
                                        </p:tgtEl>
                                        <p:attrNameLst>
                                          <p:attrName>ppt_c</p:attrName>
                                        </p:attrNameLst>
                                      </p:cBhvr>
                                      <p:to>
                                        <a:srgbClr val="FAFD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0211" grpId="0" build="p"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2258" name="Rectangle 2"/>
          <p:cNvSpPr>
            <a:spLocks noGrp="1" noChangeArrowheads="1"/>
          </p:cNvSpPr>
          <p:nvPr>
            <p:ph type="title"/>
          </p:nvPr>
        </p:nvSpPr>
        <p:spPr>
          <a:xfrm>
            <a:off x="685800" y="390525"/>
            <a:ext cx="7772400" cy="663575"/>
          </a:xfrm>
          <a:noFill/>
          <a:ln/>
          <a:effectLst>
            <a:outerShdw dist="35921" dir="2700000" algn="ctr" rotWithShape="0">
              <a:schemeClr val="hlink"/>
            </a:outerShdw>
          </a:effectLst>
        </p:spPr>
        <p:txBody>
          <a:bodyPr lIns="92075" tIns="46038" rIns="92075" bIns="46038" anchor="b"/>
          <a:lstStyle/>
          <a:p>
            <a:r>
              <a:rPr lang="en-US"/>
              <a:t>ELECTRICAL  PROBLEMS</a:t>
            </a:r>
          </a:p>
        </p:txBody>
      </p:sp>
      <p:sp>
        <p:nvSpPr>
          <p:cNvPr id="992259" name="Rectangle 3"/>
          <p:cNvSpPr>
            <a:spLocks noGrp="1" noChangeArrowheads="1"/>
          </p:cNvSpPr>
          <p:nvPr>
            <p:ph type="body" idx="1"/>
          </p:nvPr>
        </p:nvSpPr>
        <p:spPr>
          <a:xfrm>
            <a:off x="638175" y="4343400"/>
            <a:ext cx="7034213" cy="1905000"/>
          </a:xfrm>
          <a:noFill/>
          <a:ln/>
        </p:spPr>
        <p:txBody>
          <a:bodyPr lIns="92075" tIns="46038" rIns="92075" bIns="46038"/>
          <a:lstStyle/>
          <a:p>
            <a:r>
              <a:rPr lang="en-US" sz="2000"/>
              <a:t>Phasing problems can cause excessive vibration at 2F</a:t>
            </a:r>
            <a:r>
              <a:rPr lang="en-US" sz="2000" baseline="-25000"/>
              <a:t>L </a:t>
            </a:r>
            <a:r>
              <a:rPr lang="en-US" sz="2000"/>
              <a:t>with 1/3 F</a:t>
            </a:r>
            <a:r>
              <a:rPr lang="en-US" sz="2000" baseline="-25000"/>
              <a:t>L</a:t>
            </a:r>
            <a:r>
              <a:rPr lang="en-US" sz="2000"/>
              <a:t> sidebands </a:t>
            </a:r>
          </a:p>
          <a:p>
            <a:r>
              <a:rPr lang="en-US" sz="2000"/>
              <a:t>Levels at 2F</a:t>
            </a:r>
            <a:r>
              <a:rPr lang="en-US" sz="2000" baseline="-25000"/>
              <a:t>L</a:t>
            </a:r>
            <a:r>
              <a:rPr lang="en-US" sz="2000"/>
              <a:t> can exceed 25 mm/sec if left uncorrected</a:t>
            </a:r>
          </a:p>
          <a:p>
            <a:r>
              <a:rPr lang="en-US" sz="2000"/>
              <a:t>Particular problem if the defective connector is only occasionally making contact</a:t>
            </a:r>
          </a:p>
        </p:txBody>
      </p:sp>
      <p:sp>
        <p:nvSpPr>
          <p:cNvPr id="992260" name="Rectangle 4"/>
          <p:cNvSpPr>
            <a:spLocks noChangeArrowheads="1"/>
          </p:cNvSpPr>
          <p:nvPr/>
        </p:nvSpPr>
        <p:spPr bwMode="auto">
          <a:xfrm>
            <a:off x="723900" y="2270125"/>
            <a:ext cx="2863850" cy="1492250"/>
          </a:xfrm>
          <a:prstGeom prst="rect">
            <a:avLst/>
          </a:prstGeom>
          <a:noFill/>
          <a:ln w="9525">
            <a:noFill/>
            <a:miter lim="800000"/>
            <a:headEnd/>
            <a:tailEnd/>
          </a:ln>
          <a:effectLst/>
        </p:spPr>
        <p:txBody>
          <a:bodyPr lIns="92075" tIns="46038" rIns="92075" bIns="46038">
            <a:spAutoFit/>
          </a:bodyPr>
          <a:lstStyle/>
          <a:p>
            <a:r>
              <a:rPr lang="en-US" b="1">
                <a:effectLst>
                  <a:outerShdw blurRad="38100" dist="38100" dir="2700000" algn="tl">
                    <a:srgbClr val="C0C0C0"/>
                  </a:outerShdw>
                </a:effectLst>
                <a:latin typeface="Arial" pitchFamily="34" charset="0"/>
              </a:rPr>
              <a:t>POWER SUPPLY</a:t>
            </a:r>
          </a:p>
          <a:p>
            <a:r>
              <a:rPr lang="en-US" b="1">
                <a:effectLst>
                  <a:outerShdw blurRad="38100" dist="38100" dir="2700000" algn="tl">
                    <a:srgbClr val="C0C0C0"/>
                  </a:outerShdw>
                </a:effectLst>
                <a:latin typeface="Arial" pitchFamily="34" charset="0"/>
              </a:rPr>
              <a:t>PHASE PROBLEMS</a:t>
            </a:r>
          </a:p>
          <a:p>
            <a:r>
              <a:rPr lang="en-US" sz="2000" b="1">
                <a:effectLst>
                  <a:outerShdw blurRad="38100" dist="38100" dir="2700000" algn="tl">
                    <a:srgbClr val="C0C0C0"/>
                  </a:outerShdw>
                </a:effectLst>
                <a:latin typeface="Arial" pitchFamily="34" charset="0"/>
              </a:rPr>
              <a:t>(Loose Connector)</a:t>
            </a:r>
          </a:p>
        </p:txBody>
      </p:sp>
      <p:graphicFrame>
        <p:nvGraphicFramePr>
          <p:cNvPr id="1061888" name="Object 0"/>
          <p:cNvGraphicFramePr>
            <a:graphicFrameLocks/>
          </p:cNvGraphicFramePr>
          <p:nvPr/>
        </p:nvGraphicFramePr>
        <p:xfrm>
          <a:off x="4176713" y="1524000"/>
          <a:ext cx="3868737" cy="2667000"/>
        </p:xfrm>
        <a:graphic>
          <a:graphicData uri="http://schemas.openxmlformats.org/presentationml/2006/ole">
            <mc:AlternateContent xmlns:mc="http://schemas.openxmlformats.org/markup-compatibility/2006">
              <mc:Choice xmlns:v="urn:schemas-microsoft-com:vml" Requires="v">
                <p:oleObj spid="_x0000_s1061890" name="Bitmap Image" r:id="rId4" imgW="2436162" imgH="1514286" progId="Paint.Picture">
                  <p:embed/>
                </p:oleObj>
              </mc:Choice>
              <mc:Fallback>
                <p:oleObj name="Bitmap Image" r:id="rId4" imgW="2436162" imgH="1514286" progId="Paint.Picture">
                  <p:embed/>
                  <p:pic>
                    <p:nvPicPr>
                      <p:cNvPr id="0" name="Picture 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6713" y="1524000"/>
                        <a:ext cx="3868737"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2259">
                                            <p:txEl>
                                              <p:pRg st="0" end="0"/>
                                            </p:txEl>
                                          </p:spTgt>
                                        </p:tgtEl>
                                        <p:attrNameLst>
                                          <p:attrName>style.visibility</p:attrName>
                                        </p:attrNameLst>
                                      </p:cBhvr>
                                      <p:to>
                                        <p:strVal val="visible"/>
                                      </p:to>
                                    </p:set>
                                    <p:animEffect transition="in" filter="wipe(left)">
                                      <p:cBhvr>
                                        <p:cTn id="7" dur="500"/>
                                        <p:tgtEl>
                                          <p:spTgt spid="992259">
                                            <p:txEl>
                                              <p:pRg st="0" end="0"/>
                                            </p:txEl>
                                          </p:spTgt>
                                        </p:tgtEl>
                                      </p:cBhvr>
                                    </p:animEffect>
                                  </p:childTnLst>
                                  <p:subTnLst>
                                    <p:animClr clrSpc="rgb" dir="cw">
                                      <p:cBhvr override="childStyle">
                                        <p:cTn dur="1" fill="hold" display="0" masterRel="nextClick" afterEffect="1"/>
                                        <p:tgtEl>
                                          <p:spTgt spid="992259">
                                            <p:txEl>
                                              <p:pRg st="0" end="0"/>
                                            </p:txEl>
                                          </p:spTgt>
                                        </p:tgtEl>
                                        <p:attrNameLst>
                                          <p:attrName>ppt_c</p:attrName>
                                        </p:attrNameLst>
                                      </p:cBhvr>
                                      <p:to>
                                        <a:srgbClr val="FAFD00"/>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2259">
                                            <p:txEl>
                                              <p:pRg st="1" end="1"/>
                                            </p:txEl>
                                          </p:spTgt>
                                        </p:tgtEl>
                                        <p:attrNameLst>
                                          <p:attrName>style.visibility</p:attrName>
                                        </p:attrNameLst>
                                      </p:cBhvr>
                                      <p:to>
                                        <p:strVal val="visible"/>
                                      </p:to>
                                    </p:set>
                                    <p:animEffect transition="in" filter="wipe(left)">
                                      <p:cBhvr>
                                        <p:cTn id="12" dur="500"/>
                                        <p:tgtEl>
                                          <p:spTgt spid="992259">
                                            <p:txEl>
                                              <p:pRg st="1" end="1"/>
                                            </p:txEl>
                                          </p:spTgt>
                                        </p:tgtEl>
                                      </p:cBhvr>
                                    </p:animEffect>
                                  </p:childTnLst>
                                  <p:subTnLst>
                                    <p:animClr clrSpc="rgb" dir="cw">
                                      <p:cBhvr override="childStyle">
                                        <p:cTn dur="1" fill="hold" display="0" masterRel="nextClick" afterEffect="1"/>
                                        <p:tgtEl>
                                          <p:spTgt spid="992259">
                                            <p:txEl>
                                              <p:pRg st="1" end="1"/>
                                            </p:txEl>
                                          </p:spTgt>
                                        </p:tgtEl>
                                        <p:attrNameLst>
                                          <p:attrName>ppt_c</p:attrName>
                                        </p:attrNameLst>
                                      </p:cBhvr>
                                      <p:to>
                                        <a:srgbClr val="FAFD00"/>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92259">
                                            <p:txEl>
                                              <p:pRg st="2" end="2"/>
                                            </p:txEl>
                                          </p:spTgt>
                                        </p:tgtEl>
                                        <p:attrNameLst>
                                          <p:attrName>style.visibility</p:attrName>
                                        </p:attrNameLst>
                                      </p:cBhvr>
                                      <p:to>
                                        <p:strVal val="visible"/>
                                      </p:to>
                                    </p:set>
                                    <p:animEffect transition="in" filter="wipe(left)">
                                      <p:cBhvr>
                                        <p:cTn id="17" dur="500"/>
                                        <p:tgtEl>
                                          <p:spTgt spid="992259">
                                            <p:txEl>
                                              <p:pRg st="2" end="2"/>
                                            </p:txEl>
                                          </p:spTgt>
                                        </p:tgtEl>
                                      </p:cBhvr>
                                    </p:animEffect>
                                  </p:childTnLst>
                                  <p:subTnLst>
                                    <p:animClr clrSpc="rgb" dir="cw">
                                      <p:cBhvr override="childStyle">
                                        <p:cTn dur="1" fill="hold" display="0" masterRel="nextClick" afterEffect="1"/>
                                        <p:tgtEl>
                                          <p:spTgt spid="992259">
                                            <p:txEl>
                                              <p:pRg st="2" end="2"/>
                                            </p:txEl>
                                          </p:spTgt>
                                        </p:tgtEl>
                                        <p:attrNameLst>
                                          <p:attrName>ppt_c</p:attrName>
                                        </p:attrNameLst>
                                      </p:cBhvr>
                                      <p:to>
                                        <a:srgbClr val="FAFD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2259" grpId="0" build="p"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4306" name="Rectangle 2"/>
          <p:cNvSpPr>
            <a:spLocks noGrp="1" noChangeArrowheads="1"/>
          </p:cNvSpPr>
          <p:nvPr>
            <p:ph type="title"/>
          </p:nvPr>
        </p:nvSpPr>
        <p:spPr>
          <a:xfrm>
            <a:off x="685800" y="390525"/>
            <a:ext cx="7772400" cy="552450"/>
          </a:xfrm>
          <a:noFill/>
          <a:ln/>
          <a:effectLst>
            <a:outerShdw dist="35921" dir="2700000" algn="ctr" rotWithShape="0">
              <a:schemeClr val="hlink"/>
            </a:outerShdw>
          </a:effectLst>
        </p:spPr>
        <p:txBody>
          <a:bodyPr lIns="92075" tIns="46038" rIns="92075" bIns="46038" anchor="b"/>
          <a:lstStyle/>
          <a:p>
            <a:r>
              <a:rPr lang="en-US"/>
              <a:t>ELECTRICAL  PROBLEMS</a:t>
            </a:r>
          </a:p>
        </p:txBody>
      </p:sp>
      <p:sp>
        <p:nvSpPr>
          <p:cNvPr id="994307" name="Rectangle 3"/>
          <p:cNvSpPr>
            <a:spLocks noGrp="1" noChangeArrowheads="1"/>
          </p:cNvSpPr>
          <p:nvPr>
            <p:ph type="body" idx="1"/>
          </p:nvPr>
        </p:nvSpPr>
        <p:spPr>
          <a:xfrm>
            <a:off x="855663" y="4191000"/>
            <a:ext cx="7935912" cy="2286000"/>
          </a:xfrm>
          <a:noFill/>
          <a:ln/>
        </p:spPr>
        <p:txBody>
          <a:bodyPr lIns="92075" tIns="46038" rIns="92075" bIns="46038"/>
          <a:lstStyle/>
          <a:p>
            <a:r>
              <a:rPr lang="en-US" sz="2400"/>
              <a:t>Eccentric rotors produce a rotating variable air gap, this induces pulsating vibration</a:t>
            </a:r>
          </a:p>
          <a:p>
            <a:r>
              <a:rPr lang="en-US" sz="2400"/>
              <a:t>Often requires  zoom spectrum to separate 2F</a:t>
            </a:r>
            <a:r>
              <a:rPr lang="en-US" sz="2400" baseline="-25000"/>
              <a:t>L</a:t>
            </a:r>
            <a:r>
              <a:rPr lang="en-US" sz="2400"/>
              <a:t> and running speed harmonic</a:t>
            </a:r>
          </a:p>
          <a:p>
            <a:r>
              <a:rPr lang="en-US" sz="2400"/>
              <a:t>Common values of F</a:t>
            </a:r>
            <a:r>
              <a:rPr lang="en-US" sz="2400" baseline="-25000"/>
              <a:t>P</a:t>
            </a:r>
            <a:r>
              <a:rPr lang="en-US" sz="2400"/>
              <a:t> range from 20 - 120 CPM</a:t>
            </a:r>
          </a:p>
        </p:txBody>
      </p:sp>
      <p:grpSp>
        <p:nvGrpSpPr>
          <p:cNvPr id="994308" name="Group 4"/>
          <p:cNvGrpSpPr>
            <a:grpSpLocks/>
          </p:cNvGrpSpPr>
          <p:nvPr/>
        </p:nvGrpSpPr>
        <p:grpSpPr bwMode="auto">
          <a:xfrm>
            <a:off x="1069975" y="1219200"/>
            <a:ext cx="7129463" cy="2738438"/>
            <a:chOff x="730" y="768"/>
            <a:chExt cx="4865" cy="1725"/>
          </a:xfrm>
        </p:grpSpPr>
        <p:sp>
          <p:nvSpPr>
            <p:cNvPr id="994309" name="Rectangle 5"/>
            <p:cNvSpPr>
              <a:spLocks noChangeArrowheads="1"/>
            </p:cNvSpPr>
            <p:nvPr/>
          </p:nvSpPr>
          <p:spPr bwMode="auto">
            <a:xfrm>
              <a:off x="730" y="1238"/>
              <a:ext cx="2148" cy="748"/>
            </a:xfrm>
            <a:prstGeom prst="rect">
              <a:avLst/>
            </a:prstGeom>
            <a:noFill/>
            <a:ln w="9525">
              <a:noFill/>
              <a:miter lim="800000"/>
              <a:headEnd/>
              <a:tailEnd/>
            </a:ln>
            <a:effectLst>
              <a:outerShdw dist="107763" dir="2700000" algn="ctr" rotWithShape="0">
                <a:schemeClr val="bg1"/>
              </a:outerShdw>
            </a:effectLst>
          </p:spPr>
          <p:txBody>
            <a:bodyPr wrap="none" lIns="92075" tIns="46038" rIns="92075" bIns="46038">
              <a:spAutoFit/>
            </a:bodyPr>
            <a:lstStyle/>
            <a:p>
              <a:r>
                <a:rPr lang="en-US" b="1">
                  <a:effectLst>
                    <a:outerShdw blurRad="38100" dist="38100" dir="2700000" algn="tl">
                      <a:srgbClr val="C0C0C0"/>
                    </a:outerShdw>
                  </a:effectLst>
                  <a:latin typeface="Arial" pitchFamily="34" charset="0"/>
                </a:rPr>
                <a:t>ECCENTRIC ROTOR</a:t>
              </a:r>
            </a:p>
            <a:p>
              <a:r>
                <a:rPr lang="en-US" b="1">
                  <a:effectLst>
                    <a:outerShdw blurRad="38100" dist="38100" dir="2700000" algn="tl">
                      <a:srgbClr val="C0C0C0"/>
                    </a:outerShdw>
                  </a:effectLst>
                  <a:latin typeface="Arial" pitchFamily="34" charset="0"/>
                </a:rPr>
                <a:t>(</a:t>
              </a:r>
              <a:r>
                <a:rPr lang="en-US" sz="2000" b="1">
                  <a:effectLst>
                    <a:outerShdw blurRad="38100" dist="38100" dir="2700000" algn="tl">
                      <a:srgbClr val="C0C0C0"/>
                    </a:outerShdw>
                  </a:effectLst>
                  <a:latin typeface="Arial" pitchFamily="34" charset="0"/>
                </a:rPr>
                <a:t>Variable Air Gap</a:t>
              </a:r>
              <a:r>
                <a:rPr lang="en-US" b="1">
                  <a:effectLst>
                    <a:outerShdw blurRad="38100" dist="38100" dir="2700000" algn="tl">
                      <a:srgbClr val="C0C0C0"/>
                    </a:outerShdw>
                  </a:effectLst>
                  <a:latin typeface="Arial" pitchFamily="34" charset="0"/>
                </a:rPr>
                <a:t>)</a:t>
              </a:r>
            </a:p>
            <a:p>
              <a:endParaRPr lang="en-US" b="1">
                <a:solidFill>
                  <a:schemeClr val="hlink"/>
                </a:solidFill>
                <a:effectLst>
                  <a:outerShdw blurRad="38100" dist="38100" dir="2700000" algn="tl">
                    <a:srgbClr val="C0C0C0"/>
                  </a:outerShdw>
                </a:effectLst>
                <a:latin typeface="Arial" pitchFamily="34" charset="0"/>
              </a:endParaRPr>
            </a:p>
          </p:txBody>
        </p:sp>
        <p:graphicFrame>
          <p:nvGraphicFramePr>
            <p:cNvPr id="1062912" name="Object 0"/>
            <p:cNvGraphicFramePr>
              <a:graphicFrameLocks/>
            </p:cNvGraphicFramePr>
            <p:nvPr/>
          </p:nvGraphicFramePr>
          <p:xfrm>
            <a:off x="3075" y="768"/>
            <a:ext cx="2520" cy="1725"/>
          </p:xfrm>
          <a:graphic>
            <a:graphicData uri="http://schemas.openxmlformats.org/presentationml/2006/ole">
              <mc:AlternateContent xmlns:mc="http://schemas.openxmlformats.org/markup-compatibility/2006">
                <mc:Choice xmlns:v="urn:schemas-microsoft-com:vml" Requires="v">
                  <p:oleObj spid="_x0000_s1062914" name="Bitmap Image" r:id="rId4" imgW="2514286" imgH="1379493" progId="Paint.Picture">
                    <p:embed/>
                  </p:oleObj>
                </mc:Choice>
                <mc:Fallback>
                  <p:oleObj name="Bitmap Image" r:id="rId4" imgW="2514286" imgH="1379493" progId="Paint.Picture">
                    <p:embed/>
                    <p:pic>
                      <p:nvPicPr>
                        <p:cNvPr id="0" name="Picture 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5" y="768"/>
                          <a:ext cx="2520" cy="17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4307">
                                            <p:txEl>
                                              <p:pRg st="0" end="0"/>
                                            </p:txEl>
                                          </p:spTgt>
                                        </p:tgtEl>
                                        <p:attrNameLst>
                                          <p:attrName>style.visibility</p:attrName>
                                        </p:attrNameLst>
                                      </p:cBhvr>
                                      <p:to>
                                        <p:strVal val="visible"/>
                                      </p:to>
                                    </p:set>
                                    <p:animEffect transition="in" filter="wipe(left)">
                                      <p:cBhvr>
                                        <p:cTn id="7" dur="500"/>
                                        <p:tgtEl>
                                          <p:spTgt spid="994307">
                                            <p:txEl>
                                              <p:pRg st="0" end="0"/>
                                            </p:txEl>
                                          </p:spTgt>
                                        </p:tgtEl>
                                      </p:cBhvr>
                                    </p:animEffect>
                                  </p:childTnLst>
                                  <p:subTnLst>
                                    <p:animClr clrSpc="rgb" dir="cw">
                                      <p:cBhvr override="childStyle">
                                        <p:cTn dur="1" fill="hold" display="0" masterRel="nextClick" afterEffect="1"/>
                                        <p:tgtEl>
                                          <p:spTgt spid="994307">
                                            <p:txEl>
                                              <p:pRg st="0" end="0"/>
                                            </p:txEl>
                                          </p:spTgt>
                                        </p:tgtEl>
                                        <p:attrNameLst>
                                          <p:attrName>ppt_c</p:attrName>
                                        </p:attrNameLst>
                                      </p:cBhvr>
                                      <p:to>
                                        <a:srgbClr val="FAFD00"/>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4307">
                                            <p:txEl>
                                              <p:pRg st="1" end="1"/>
                                            </p:txEl>
                                          </p:spTgt>
                                        </p:tgtEl>
                                        <p:attrNameLst>
                                          <p:attrName>style.visibility</p:attrName>
                                        </p:attrNameLst>
                                      </p:cBhvr>
                                      <p:to>
                                        <p:strVal val="visible"/>
                                      </p:to>
                                    </p:set>
                                    <p:animEffect transition="in" filter="wipe(left)">
                                      <p:cBhvr>
                                        <p:cTn id="12" dur="500"/>
                                        <p:tgtEl>
                                          <p:spTgt spid="994307">
                                            <p:txEl>
                                              <p:pRg st="1" end="1"/>
                                            </p:txEl>
                                          </p:spTgt>
                                        </p:tgtEl>
                                      </p:cBhvr>
                                    </p:animEffect>
                                  </p:childTnLst>
                                  <p:subTnLst>
                                    <p:animClr clrSpc="rgb" dir="cw">
                                      <p:cBhvr override="childStyle">
                                        <p:cTn dur="1" fill="hold" display="0" masterRel="nextClick" afterEffect="1"/>
                                        <p:tgtEl>
                                          <p:spTgt spid="994307">
                                            <p:txEl>
                                              <p:pRg st="1" end="1"/>
                                            </p:txEl>
                                          </p:spTgt>
                                        </p:tgtEl>
                                        <p:attrNameLst>
                                          <p:attrName>ppt_c</p:attrName>
                                        </p:attrNameLst>
                                      </p:cBhvr>
                                      <p:to>
                                        <a:srgbClr val="FAFD00"/>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94307">
                                            <p:txEl>
                                              <p:pRg st="2" end="2"/>
                                            </p:txEl>
                                          </p:spTgt>
                                        </p:tgtEl>
                                        <p:attrNameLst>
                                          <p:attrName>style.visibility</p:attrName>
                                        </p:attrNameLst>
                                      </p:cBhvr>
                                      <p:to>
                                        <p:strVal val="visible"/>
                                      </p:to>
                                    </p:set>
                                    <p:animEffect transition="in" filter="wipe(left)">
                                      <p:cBhvr>
                                        <p:cTn id="17" dur="500"/>
                                        <p:tgtEl>
                                          <p:spTgt spid="994307">
                                            <p:txEl>
                                              <p:pRg st="2" end="2"/>
                                            </p:txEl>
                                          </p:spTgt>
                                        </p:tgtEl>
                                      </p:cBhvr>
                                    </p:animEffect>
                                  </p:childTnLst>
                                  <p:subTnLst>
                                    <p:animClr clrSpc="rgb" dir="cw">
                                      <p:cBhvr override="childStyle">
                                        <p:cTn dur="1" fill="hold" display="0" masterRel="nextClick" afterEffect="1"/>
                                        <p:tgtEl>
                                          <p:spTgt spid="994307">
                                            <p:txEl>
                                              <p:pRg st="2" end="2"/>
                                            </p:txEl>
                                          </p:spTgt>
                                        </p:tgtEl>
                                        <p:attrNameLst>
                                          <p:attrName>ppt_c</p:attrName>
                                        </p:attrNameLst>
                                      </p:cBhvr>
                                      <p:to>
                                        <a:srgbClr val="FAFD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4307" grpId="0" build="p"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6354" name="Rectangle 2"/>
          <p:cNvSpPr>
            <a:spLocks noGrp="1" noChangeArrowheads="1"/>
          </p:cNvSpPr>
          <p:nvPr>
            <p:ph type="title"/>
          </p:nvPr>
        </p:nvSpPr>
        <p:spPr>
          <a:xfrm>
            <a:off x="685800" y="390525"/>
            <a:ext cx="7772400" cy="608013"/>
          </a:xfrm>
          <a:noFill/>
          <a:ln/>
          <a:effectLst>
            <a:outerShdw dist="35921" dir="2700000" algn="ctr" rotWithShape="0">
              <a:schemeClr val="hlink"/>
            </a:outerShdw>
          </a:effectLst>
        </p:spPr>
        <p:txBody>
          <a:bodyPr lIns="92075" tIns="46038" rIns="92075" bIns="46038" anchor="b"/>
          <a:lstStyle/>
          <a:p>
            <a:r>
              <a:rPr lang="en-US"/>
              <a:t>ELECTRICAL  PROBLEMS</a:t>
            </a:r>
          </a:p>
        </p:txBody>
      </p:sp>
      <p:sp>
        <p:nvSpPr>
          <p:cNvPr id="996355" name="Rectangle 3"/>
          <p:cNvSpPr>
            <a:spLocks noGrp="1" noChangeArrowheads="1"/>
          </p:cNvSpPr>
          <p:nvPr>
            <p:ph type="body" idx="1"/>
          </p:nvPr>
        </p:nvSpPr>
        <p:spPr>
          <a:xfrm>
            <a:off x="779463" y="4267200"/>
            <a:ext cx="7591425" cy="2057400"/>
          </a:xfrm>
          <a:noFill/>
          <a:ln/>
        </p:spPr>
        <p:txBody>
          <a:bodyPr lIns="92075" tIns="46038" rIns="92075" bIns="46038"/>
          <a:lstStyle/>
          <a:p>
            <a:r>
              <a:rPr lang="en-US" sz="2000"/>
              <a:t>DC motor problems can be detected by the higher than normal amplitudes at SCR firing rate</a:t>
            </a:r>
          </a:p>
          <a:p>
            <a:r>
              <a:rPr lang="en-US" sz="2000"/>
              <a:t>These problems include broken field windings</a:t>
            </a:r>
          </a:p>
          <a:p>
            <a:r>
              <a:rPr lang="en-US" sz="2000"/>
              <a:t>Fuse and control card problems can cause high amplitude peaks at frequencies of 1X to 5X Line Frequency</a:t>
            </a:r>
          </a:p>
        </p:txBody>
      </p:sp>
      <p:sp>
        <p:nvSpPr>
          <p:cNvPr id="996356" name="Rectangle 4"/>
          <p:cNvSpPr>
            <a:spLocks noChangeArrowheads="1"/>
          </p:cNvSpPr>
          <p:nvPr/>
        </p:nvSpPr>
        <p:spPr bwMode="auto">
          <a:xfrm>
            <a:off x="869950" y="2270125"/>
            <a:ext cx="3654425" cy="457200"/>
          </a:xfrm>
          <a:prstGeom prst="rect">
            <a:avLst/>
          </a:prstGeom>
          <a:noFill/>
          <a:ln w="9525">
            <a:noFill/>
            <a:miter lim="800000"/>
            <a:headEnd/>
            <a:tailEnd/>
          </a:ln>
          <a:effectLst/>
        </p:spPr>
        <p:txBody>
          <a:bodyPr wrap="none" lIns="92075" tIns="46038" rIns="92075" bIns="46038">
            <a:spAutoFit/>
          </a:bodyPr>
          <a:lstStyle/>
          <a:p>
            <a:r>
              <a:rPr lang="en-US" b="1">
                <a:effectLst>
                  <a:outerShdw blurRad="38100" dist="38100" dir="2700000" algn="tl">
                    <a:srgbClr val="C0C0C0"/>
                  </a:outerShdw>
                </a:effectLst>
                <a:latin typeface="Arial" pitchFamily="34" charset="0"/>
              </a:rPr>
              <a:t>DC MOTOR PROBLEMS</a:t>
            </a:r>
          </a:p>
        </p:txBody>
      </p:sp>
      <p:graphicFrame>
        <p:nvGraphicFramePr>
          <p:cNvPr id="1063936" name="Object 0"/>
          <p:cNvGraphicFramePr>
            <a:graphicFrameLocks/>
          </p:cNvGraphicFramePr>
          <p:nvPr/>
        </p:nvGraphicFramePr>
        <p:xfrm>
          <a:off x="4659313" y="1371600"/>
          <a:ext cx="3675062" cy="2552700"/>
        </p:xfrm>
        <a:graphic>
          <a:graphicData uri="http://schemas.openxmlformats.org/presentationml/2006/ole">
            <mc:AlternateContent xmlns:mc="http://schemas.openxmlformats.org/markup-compatibility/2006">
              <mc:Choice xmlns:v="urn:schemas-microsoft-com:vml" Requires="v">
                <p:oleObj spid="_x0000_s1063938" name="Bitmap Image" r:id="rId4" imgW="2474881" imgH="1466667" progId="Paint.Picture">
                  <p:embed/>
                </p:oleObj>
              </mc:Choice>
              <mc:Fallback>
                <p:oleObj name="Bitmap Image" r:id="rId4" imgW="2474881" imgH="1466667" progId="Paint.Picture">
                  <p:embed/>
                  <p:pic>
                    <p:nvPicPr>
                      <p:cNvPr id="0" name="Picture 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9313" y="1371600"/>
                        <a:ext cx="3675062" cy="25527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6355">
                                            <p:txEl>
                                              <p:pRg st="0" end="0"/>
                                            </p:txEl>
                                          </p:spTgt>
                                        </p:tgtEl>
                                        <p:attrNameLst>
                                          <p:attrName>style.visibility</p:attrName>
                                        </p:attrNameLst>
                                      </p:cBhvr>
                                      <p:to>
                                        <p:strVal val="visible"/>
                                      </p:to>
                                    </p:set>
                                    <p:animEffect transition="in" filter="wipe(left)">
                                      <p:cBhvr>
                                        <p:cTn id="7" dur="500"/>
                                        <p:tgtEl>
                                          <p:spTgt spid="996355">
                                            <p:txEl>
                                              <p:pRg st="0" end="0"/>
                                            </p:txEl>
                                          </p:spTgt>
                                        </p:tgtEl>
                                      </p:cBhvr>
                                    </p:animEffect>
                                  </p:childTnLst>
                                  <p:subTnLst>
                                    <p:animClr clrSpc="rgb" dir="cw">
                                      <p:cBhvr override="childStyle">
                                        <p:cTn dur="1" fill="hold" display="0" masterRel="nextClick" afterEffect="1"/>
                                        <p:tgtEl>
                                          <p:spTgt spid="996355">
                                            <p:txEl>
                                              <p:pRg st="0" end="0"/>
                                            </p:txEl>
                                          </p:spTgt>
                                        </p:tgtEl>
                                        <p:attrNameLst>
                                          <p:attrName>ppt_c</p:attrName>
                                        </p:attrNameLst>
                                      </p:cBhvr>
                                      <p:to>
                                        <a:srgbClr val="FAFD00"/>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6355">
                                            <p:txEl>
                                              <p:pRg st="1" end="1"/>
                                            </p:txEl>
                                          </p:spTgt>
                                        </p:tgtEl>
                                        <p:attrNameLst>
                                          <p:attrName>style.visibility</p:attrName>
                                        </p:attrNameLst>
                                      </p:cBhvr>
                                      <p:to>
                                        <p:strVal val="visible"/>
                                      </p:to>
                                    </p:set>
                                    <p:animEffect transition="in" filter="wipe(left)">
                                      <p:cBhvr>
                                        <p:cTn id="12" dur="500"/>
                                        <p:tgtEl>
                                          <p:spTgt spid="996355">
                                            <p:txEl>
                                              <p:pRg st="1" end="1"/>
                                            </p:txEl>
                                          </p:spTgt>
                                        </p:tgtEl>
                                      </p:cBhvr>
                                    </p:animEffect>
                                  </p:childTnLst>
                                  <p:subTnLst>
                                    <p:animClr clrSpc="rgb" dir="cw">
                                      <p:cBhvr override="childStyle">
                                        <p:cTn dur="1" fill="hold" display="0" masterRel="nextClick" afterEffect="1"/>
                                        <p:tgtEl>
                                          <p:spTgt spid="996355">
                                            <p:txEl>
                                              <p:pRg st="1" end="1"/>
                                            </p:txEl>
                                          </p:spTgt>
                                        </p:tgtEl>
                                        <p:attrNameLst>
                                          <p:attrName>ppt_c</p:attrName>
                                        </p:attrNameLst>
                                      </p:cBhvr>
                                      <p:to>
                                        <a:srgbClr val="FAFD00"/>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96355">
                                            <p:txEl>
                                              <p:pRg st="2" end="2"/>
                                            </p:txEl>
                                          </p:spTgt>
                                        </p:tgtEl>
                                        <p:attrNameLst>
                                          <p:attrName>style.visibility</p:attrName>
                                        </p:attrNameLst>
                                      </p:cBhvr>
                                      <p:to>
                                        <p:strVal val="visible"/>
                                      </p:to>
                                    </p:set>
                                    <p:animEffect transition="in" filter="wipe(left)">
                                      <p:cBhvr>
                                        <p:cTn id="17" dur="500"/>
                                        <p:tgtEl>
                                          <p:spTgt spid="996355">
                                            <p:txEl>
                                              <p:pRg st="2" end="2"/>
                                            </p:txEl>
                                          </p:spTgt>
                                        </p:tgtEl>
                                      </p:cBhvr>
                                    </p:animEffect>
                                  </p:childTnLst>
                                  <p:subTnLst>
                                    <p:animClr clrSpc="rgb" dir="cw">
                                      <p:cBhvr override="childStyle">
                                        <p:cTn dur="1" fill="hold" display="0" masterRel="nextClick" afterEffect="1"/>
                                        <p:tgtEl>
                                          <p:spTgt spid="996355">
                                            <p:txEl>
                                              <p:pRg st="2" end="2"/>
                                            </p:txEl>
                                          </p:spTgt>
                                        </p:tgtEl>
                                        <p:attrNameLst>
                                          <p:attrName>ppt_c</p:attrName>
                                        </p:attrNameLst>
                                      </p:cBhvr>
                                      <p:to>
                                        <a:srgbClr val="FAFD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6355" grpId="0" build="p"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8402" name="Rectangle 2"/>
          <p:cNvSpPr>
            <a:spLocks noGrp="1" noChangeArrowheads="1"/>
          </p:cNvSpPr>
          <p:nvPr>
            <p:ph type="title"/>
          </p:nvPr>
        </p:nvSpPr>
        <p:spPr>
          <a:xfrm>
            <a:off x="0" y="304800"/>
            <a:ext cx="8305800" cy="419100"/>
          </a:xfrm>
          <a:noFill/>
          <a:ln/>
          <a:effectLst>
            <a:outerShdw dist="35921" dir="2700000" algn="ctr" rotWithShape="0">
              <a:schemeClr val="hlink"/>
            </a:outerShdw>
          </a:effectLst>
        </p:spPr>
        <p:txBody>
          <a:bodyPr lIns="92075" tIns="46038" rIns="92075" bIns="46038" anchor="b"/>
          <a:lstStyle/>
          <a:p>
            <a:r>
              <a:rPr lang="en-US" sz="2800"/>
              <a:t>ELECTRICAL  PROBLEMS</a:t>
            </a:r>
          </a:p>
        </p:txBody>
      </p:sp>
      <p:sp>
        <p:nvSpPr>
          <p:cNvPr id="998403" name="Rectangle 3"/>
          <p:cNvSpPr>
            <a:spLocks noGrp="1" noChangeArrowheads="1"/>
          </p:cNvSpPr>
          <p:nvPr>
            <p:ph type="body" idx="1"/>
          </p:nvPr>
        </p:nvSpPr>
        <p:spPr>
          <a:xfrm>
            <a:off x="638175" y="4343400"/>
            <a:ext cx="7034213" cy="2438400"/>
          </a:xfrm>
          <a:noFill/>
          <a:ln/>
        </p:spPr>
        <p:txBody>
          <a:bodyPr lIns="92075" tIns="46038" rIns="92075" bIns="46038"/>
          <a:lstStyle/>
          <a:p>
            <a:r>
              <a:rPr lang="en-US" sz="2000"/>
              <a:t>1X, 2X, 3X, RPM with pole pass frequency sidebands indicates rotor bar problems.</a:t>
            </a:r>
          </a:p>
          <a:p>
            <a:r>
              <a:rPr lang="en-US" sz="2000"/>
              <a:t>2X line frequency sidebands on rotor bar pass frequency (RBPF) indicates loose rotor bars.</a:t>
            </a:r>
          </a:p>
          <a:p>
            <a:r>
              <a:rPr lang="en-US" sz="2000"/>
              <a:t>Often high levels at 2X  &amp; 3X rotor bar pass frequency and only low level at 1X rotor bar pass frequency.</a:t>
            </a:r>
          </a:p>
        </p:txBody>
      </p:sp>
      <p:sp>
        <p:nvSpPr>
          <p:cNvPr id="998404" name="Rectangle 4"/>
          <p:cNvSpPr>
            <a:spLocks noChangeArrowheads="1"/>
          </p:cNvSpPr>
          <p:nvPr/>
        </p:nvSpPr>
        <p:spPr bwMode="auto">
          <a:xfrm>
            <a:off x="219075" y="762000"/>
            <a:ext cx="3095625" cy="457200"/>
          </a:xfrm>
          <a:prstGeom prst="rect">
            <a:avLst/>
          </a:prstGeom>
          <a:noFill/>
          <a:ln w="9525">
            <a:noFill/>
            <a:miter lim="800000"/>
            <a:headEnd/>
            <a:tailEnd/>
          </a:ln>
          <a:effectLst/>
        </p:spPr>
        <p:txBody>
          <a:bodyPr lIns="92075" tIns="46038" rIns="92075" bIns="46038">
            <a:spAutoFit/>
          </a:bodyPr>
          <a:lstStyle/>
          <a:p>
            <a:r>
              <a:rPr lang="en-US" b="1">
                <a:effectLst>
                  <a:outerShdw blurRad="38100" dist="38100" dir="2700000" algn="tl">
                    <a:srgbClr val="C0C0C0"/>
                  </a:outerShdw>
                </a:effectLst>
                <a:latin typeface="Arial" pitchFamily="34" charset="0"/>
              </a:rPr>
              <a:t>ROTOR PROBLEMS</a:t>
            </a:r>
          </a:p>
        </p:txBody>
      </p:sp>
      <p:grpSp>
        <p:nvGrpSpPr>
          <p:cNvPr id="998405" name="Group 5"/>
          <p:cNvGrpSpPr>
            <a:grpSpLocks/>
          </p:cNvGrpSpPr>
          <p:nvPr/>
        </p:nvGrpSpPr>
        <p:grpSpPr bwMode="auto">
          <a:xfrm>
            <a:off x="328613" y="1219200"/>
            <a:ext cx="8362950" cy="2895600"/>
            <a:chOff x="224" y="768"/>
            <a:chExt cx="5707" cy="1824"/>
          </a:xfrm>
        </p:grpSpPr>
        <p:graphicFrame>
          <p:nvGraphicFramePr>
            <p:cNvPr id="1064960" name="Object 0"/>
            <p:cNvGraphicFramePr>
              <a:graphicFrameLocks/>
            </p:cNvGraphicFramePr>
            <p:nvPr/>
          </p:nvGraphicFramePr>
          <p:xfrm>
            <a:off x="3411" y="768"/>
            <a:ext cx="2520" cy="1824"/>
          </p:xfrm>
          <a:graphic>
            <a:graphicData uri="http://schemas.openxmlformats.org/presentationml/2006/ole">
              <mc:AlternateContent xmlns:mc="http://schemas.openxmlformats.org/markup-compatibility/2006">
                <mc:Choice xmlns:v="urn:schemas-microsoft-com:vml" Requires="v">
                  <p:oleObj spid="_x0000_s1064966" name="Bitmap Image" r:id="rId4" imgW="2819048" imgH="1971429" progId="Paint.Picture">
                    <p:embed/>
                  </p:oleObj>
                </mc:Choice>
                <mc:Fallback>
                  <p:oleObj name="Bitmap Image" r:id="rId4" imgW="2819048" imgH="1971429" progId="Paint.Picture">
                    <p:embed/>
                    <p:pic>
                      <p:nvPicPr>
                        <p:cNvPr id="0" name="Picture 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1" y="768"/>
                          <a:ext cx="2520" cy="1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98407" name="Group 7"/>
            <p:cNvGrpSpPr>
              <a:grpSpLocks/>
            </p:cNvGrpSpPr>
            <p:nvPr/>
          </p:nvGrpSpPr>
          <p:grpSpPr bwMode="auto">
            <a:xfrm>
              <a:off x="224" y="768"/>
              <a:ext cx="2784" cy="1812"/>
              <a:chOff x="224" y="768"/>
              <a:chExt cx="2784" cy="1812"/>
            </a:xfrm>
          </p:grpSpPr>
          <p:graphicFrame>
            <p:nvGraphicFramePr>
              <p:cNvPr id="1064961" name="Object 1"/>
              <p:cNvGraphicFramePr>
                <a:graphicFrameLocks/>
              </p:cNvGraphicFramePr>
              <p:nvPr/>
            </p:nvGraphicFramePr>
            <p:xfrm>
              <a:off x="224" y="1728"/>
              <a:ext cx="2784" cy="852"/>
            </p:xfrm>
            <a:graphic>
              <a:graphicData uri="http://schemas.openxmlformats.org/presentationml/2006/ole">
                <mc:AlternateContent xmlns:mc="http://schemas.openxmlformats.org/markup-compatibility/2006">
                  <mc:Choice xmlns:v="urn:schemas-microsoft-com:vml" Requires="v">
                    <p:oleObj spid="_x0000_s1064967" name="Bitmap Image" r:id="rId6" imgW="2389212" imgH="893583" progId="Paint.Picture">
                      <p:embed/>
                    </p:oleObj>
                  </mc:Choice>
                  <mc:Fallback>
                    <p:oleObj name="Bitmap Image" r:id="rId6" imgW="2389212" imgH="893583" progId="Paint.Picture">
                      <p:embed/>
                      <p:pic>
                        <p:nvPicPr>
                          <p:cNvPr id="0" name="Picture 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4" y="1728"/>
                            <a:ext cx="2784" cy="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64962" name="Object 2"/>
              <p:cNvGraphicFramePr>
                <a:graphicFrameLocks/>
              </p:cNvGraphicFramePr>
              <p:nvPr/>
            </p:nvGraphicFramePr>
            <p:xfrm>
              <a:off x="224" y="768"/>
              <a:ext cx="2784" cy="912"/>
            </p:xfrm>
            <a:graphic>
              <a:graphicData uri="http://schemas.openxmlformats.org/presentationml/2006/ole">
                <mc:AlternateContent xmlns:mc="http://schemas.openxmlformats.org/markup-compatibility/2006">
                  <mc:Choice xmlns:v="urn:schemas-microsoft-com:vml" Requires="v">
                    <p:oleObj spid="_x0000_s1064968" name="Bitmap Image" r:id="rId8" imgW="2312450" imgH="893583" progId="Paint.Picture">
                      <p:embed/>
                    </p:oleObj>
                  </mc:Choice>
                  <mc:Fallback>
                    <p:oleObj name="Bitmap Image" r:id="rId8" imgW="2312450" imgH="893583" progId="Paint.Picture">
                      <p:embed/>
                      <p:pic>
                        <p:nvPicPr>
                          <p:cNvPr id="0" name="Picture 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4" y="768"/>
                            <a:ext cx="2784" cy="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8403">
                                            <p:txEl>
                                              <p:pRg st="0" end="0"/>
                                            </p:txEl>
                                          </p:spTgt>
                                        </p:tgtEl>
                                        <p:attrNameLst>
                                          <p:attrName>style.visibility</p:attrName>
                                        </p:attrNameLst>
                                      </p:cBhvr>
                                      <p:to>
                                        <p:strVal val="visible"/>
                                      </p:to>
                                    </p:set>
                                    <p:animEffect transition="in" filter="wipe(left)">
                                      <p:cBhvr>
                                        <p:cTn id="7" dur="500"/>
                                        <p:tgtEl>
                                          <p:spTgt spid="998403">
                                            <p:txEl>
                                              <p:pRg st="0" end="0"/>
                                            </p:txEl>
                                          </p:spTgt>
                                        </p:tgtEl>
                                      </p:cBhvr>
                                    </p:animEffect>
                                  </p:childTnLst>
                                  <p:subTnLst>
                                    <p:animClr clrSpc="rgb" dir="cw">
                                      <p:cBhvr override="childStyle">
                                        <p:cTn dur="1" fill="hold" display="0" masterRel="nextClick" afterEffect="1"/>
                                        <p:tgtEl>
                                          <p:spTgt spid="998403">
                                            <p:txEl>
                                              <p:pRg st="0" end="0"/>
                                            </p:txEl>
                                          </p:spTgt>
                                        </p:tgtEl>
                                        <p:attrNameLst>
                                          <p:attrName>ppt_c</p:attrName>
                                        </p:attrNameLst>
                                      </p:cBhvr>
                                      <p:to>
                                        <a:srgbClr val="FAFD00"/>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8403">
                                            <p:txEl>
                                              <p:pRg st="1" end="1"/>
                                            </p:txEl>
                                          </p:spTgt>
                                        </p:tgtEl>
                                        <p:attrNameLst>
                                          <p:attrName>style.visibility</p:attrName>
                                        </p:attrNameLst>
                                      </p:cBhvr>
                                      <p:to>
                                        <p:strVal val="visible"/>
                                      </p:to>
                                    </p:set>
                                    <p:animEffect transition="in" filter="wipe(left)">
                                      <p:cBhvr>
                                        <p:cTn id="12" dur="500"/>
                                        <p:tgtEl>
                                          <p:spTgt spid="998403">
                                            <p:txEl>
                                              <p:pRg st="1" end="1"/>
                                            </p:txEl>
                                          </p:spTgt>
                                        </p:tgtEl>
                                      </p:cBhvr>
                                    </p:animEffect>
                                  </p:childTnLst>
                                  <p:subTnLst>
                                    <p:animClr clrSpc="rgb" dir="cw">
                                      <p:cBhvr override="childStyle">
                                        <p:cTn dur="1" fill="hold" display="0" masterRel="nextClick" afterEffect="1"/>
                                        <p:tgtEl>
                                          <p:spTgt spid="998403">
                                            <p:txEl>
                                              <p:pRg st="1" end="1"/>
                                            </p:txEl>
                                          </p:spTgt>
                                        </p:tgtEl>
                                        <p:attrNameLst>
                                          <p:attrName>ppt_c</p:attrName>
                                        </p:attrNameLst>
                                      </p:cBhvr>
                                      <p:to>
                                        <a:srgbClr val="FAFD00"/>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98403">
                                            <p:txEl>
                                              <p:pRg st="2" end="2"/>
                                            </p:txEl>
                                          </p:spTgt>
                                        </p:tgtEl>
                                        <p:attrNameLst>
                                          <p:attrName>style.visibility</p:attrName>
                                        </p:attrNameLst>
                                      </p:cBhvr>
                                      <p:to>
                                        <p:strVal val="visible"/>
                                      </p:to>
                                    </p:set>
                                    <p:animEffect transition="in" filter="wipe(left)">
                                      <p:cBhvr>
                                        <p:cTn id="17" dur="500"/>
                                        <p:tgtEl>
                                          <p:spTgt spid="998403">
                                            <p:txEl>
                                              <p:pRg st="2" end="2"/>
                                            </p:txEl>
                                          </p:spTgt>
                                        </p:tgtEl>
                                      </p:cBhvr>
                                    </p:animEffect>
                                  </p:childTnLst>
                                  <p:subTnLst>
                                    <p:animClr clrSpc="rgb" dir="cw">
                                      <p:cBhvr override="childStyle">
                                        <p:cTn dur="1" fill="hold" display="0" masterRel="nextClick" afterEffect="1"/>
                                        <p:tgtEl>
                                          <p:spTgt spid="998403">
                                            <p:txEl>
                                              <p:pRg st="2" end="2"/>
                                            </p:txEl>
                                          </p:spTgt>
                                        </p:tgtEl>
                                        <p:attrNameLst>
                                          <p:attrName>ppt_c</p:attrName>
                                        </p:attrNameLst>
                                      </p:cBhvr>
                                      <p:to>
                                        <a:srgbClr val="FAFD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8403" grpId="0" build="p"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450"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1000451"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
        <p:nvSpPr>
          <p:cNvPr id="1000452" name="Rectangle 4"/>
          <p:cNvSpPr>
            <a:spLocks noChangeArrowheads="1"/>
          </p:cNvSpPr>
          <p:nvPr/>
        </p:nvSpPr>
        <p:spPr bwMode="auto">
          <a:xfrm>
            <a:off x="1165225" y="4978400"/>
            <a:ext cx="7040563" cy="1184275"/>
          </a:xfrm>
          <a:prstGeom prst="rect">
            <a:avLst/>
          </a:prstGeom>
          <a:noFill/>
          <a:ln w="12700">
            <a:noFill/>
            <a:miter lim="800000"/>
            <a:headEnd/>
            <a:tailEnd/>
          </a:ln>
          <a:effectLst/>
        </p:spPr>
        <p:txBody>
          <a:bodyPr wrap="none" lIns="90488" tIns="44450" rIns="90488" bIns="44450">
            <a:spAutoFit/>
          </a:bodyPr>
          <a:lstStyle/>
          <a:p>
            <a:r>
              <a:rPr lang="en-US"/>
              <a:t>In order to find 2 X slip sidebands around F</a:t>
            </a:r>
            <a:r>
              <a:rPr lang="en-US" baseline="-25000"/>
              <a:t>L</a:t>
            </a:r>
            <a:r>
              <a:rPr lang="en-US"/>
              <a:t>, a analyzer</a:t>
            </a:r>
          </a:p>
          <a:p>
            <a:r>
              <a:rPr lang="en-US"/>
              <a:t>with high resolution, and preferably zoom around 50 Hz</a:t>
            </a:r>
          </a:p>
          <a:p>
            <a:r>
              <a:rPr lang="en-US"/>
              <a:t>is needed.</a:t>
            </a:r>
          </a:p>
        </p:txBody>
      </p:sp>
      <p:sp>
        <p:nvSpPr>
          <p:cNvPr id="1000453" name="Rectangle 5"/>
          <p:cNvSpPr>
            <a:spLocks noChangeArrowheads="1"/>
          </p:cNvSpPr>
          <p:nvPr/>
        </p:nvSpPr>
        <p:spPr bwMode="auto">
          <a:xfrm>
            <a:off x="2597150" y="4349750"/>
            <a:ext cx="577850" cy="273050"/>
          </a:xfrm>
          <a:prstGeom prst="rect">
            <a:avLst/>
          </a:prstGeom>
          <a:gradFill rotWithShape="0">
            <a:gsLst>
              <a:gs pos="0">
                <a:srgbClr val="919191">
                  <a:gamma/>
                  <a:shade val="69804"/>
                  <a:invGamma/>
                </a:srgbClr>
              </a:gs>
              <a:gs pos="50000">
                <a:srgbClr val="919191"/>
              </a:gs>
              <a:gs pos="100000">
                <a:srgbClr val="919191">
                  <a:gamma/>
                  <a:shade val="69804"/>
                  <a:invGamma/>
                </a:srgbClr>
              </a:gs>
            </a:gsLst>
            <a:lin ang="5400000" scaled="1"/>
          </a:gradFill>
          <a:ln w="12700">
            <a:solidFill>
              <a:schemeClr val="tx1"/>
            </a:solidFill>
            <a:miter lim="800000"/>
            <a:headEnd/>
            <a:tailEnd/>
          </a:ln>
          <a:effectLst/>
        </p:spPr>
        <p:txBody>
          <a:bodyPr wrap="none" anchor="ctr"/>
          <a:lstStyle/>
          <a:p>
            <a:endParaRPr lang="en-US"/>
          </a:p>
        </p:txBody>
      </p:sp>
      <p:graphicFrame>
        <p:nvGraphicFramePr>
          <p:cNvPr id="1000454" name="Object 6">
            <a:hlinkClick r:id="" action="ppaction://ole?verb=0"/>
          </p:cNvPr>
          <p:cNvGraphicFramePr>
            <a:graphicFrameLocks/>
          </p:cNvGraphicFramePr>
          <p:nvPr/>
        </p:nvGraphicFramePr>
        <p:xfrm>
          <a:off x="2184400" y="1924050"/>
          <a:ext cx="3702050" cy="2108200"/>
        </p:xfrm>
        <a:graphic>
          <a:graphicData uri="http://schemas.openxmlformats.org/presentationml/2006/ole">
            <mc:AlternateContent xmlns:mc="http://schemas.openxmlformats.org/markup-compatibility/2006">
              <mc:Choice xmlns:v="urn:schemas-microsoft-com:vml" Requires="v">
                <p:oleObj spid="_x0000_s1000456" name="Bitmap Image" r:id="rId3" imgW="3698640" imgH="2106360" progId="Paint.Picture">
                  <p:embed/>
                </p:oleObj>
              </mc:Choice>
              <mc:Fallback>
                <p:oleObj name="Bitmap Image" r:id="rId3" imgW="3698640" imgH="2106360" progId="Paint.Picture">
                  <p:embed/>
                  <p:pic>
                    <p:nvPicPr>
                      <p:cNvPr id="0"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4400" y="1924050"/>
                        <a:ext cx="3702050" cy="210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00455" name="Oval 7"/>
          <p:cNvSpPr>
            <a:spLocks noChangeArrowheads="1"/>
          </p:cNvSpPr>
          <p:nvPr/>
        </p:nvSpPr>
        <p:spPr bwMode="auto">
          <a:xfrm>
            <a:off x="3149600" y="4349750"/>
            <a:ext cx="120650" cy="273050"/>
          </a:xfrm>
          <a:prstGeom prst="ellipse">
            <a:avLst/>
          </a:prstGeom>
          <a:solidFill>
            <a:schemeClr val="bg2"/>
          </a:solidFill>
          <a:ln w="12700">
            <a:solidFill>
              <a:schemeClr val="tx1"/>
            </a:solidFill>
            <a:round/>
            <a:headEnd/>
            <a:tailEnd/>
          </a:ln>
          <a:effectLst/>
        </p:spPr>
        <p:txBody>
          <a:bodyPr wrap="none" anchor="ctr"/>
          <a:lstStyle/>
          <a:p>
            <a:endParaRPr lang="en-US"/>
          </a:p>
        </p:txBody>
      </p:sp>
      <p:sp>
        <p:nvSpPr>
          <p:cNvPr id="1000456" name="Arc 8"/>
          <p:cNvSpPr>
            <a:spLocks/>
          </p:cNvSpPr>
          <p:nvPr/>
        </p:nvSpPr>
        <p:spPr bwMode="auto">
          <a:xfrm>
            <a:off x="3181350" y="2990850"/>
            <a:ext cx="1289050" cy="1498600"/>
          </a:xfrm>
          <a:custGeom>
            <a:avLst/>
            <a:gdLst>
              <a:gd name="G0" fmla="+- 0 0 0"/>
              <a:gd name="G1" fmla="+- 0 0 0"/>
              <a:gd name="G2" fmla="+- 21600 0 0"/>
              <a:gd name="T0" fmla="*/ 21600 w 21600"/>
              <a:gd name="T1" fmla="*/ 23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599" y="22"/>
                </a:moveTo>
                <a:cubicBezTo>
                  <a:pt x="21587" y="11943"/>
                  <a:pt x="11920" y="21599"/>
                  <a:pt x="0" y="21600"/>
                </a:cubicBezTo>
              </a:path>
              <a:path w="21600" h="21600" stroke="0" extrusionOk="0">
                <a:moveTo>
                  <a:pt x="21599" y="22"/>
                </a:moveTo>
                <a:cubicBezTo>
                  <a:pt x="21587" y="11943"/>
                  <a:pt x="11920" y="21599"/>
                  <a:pt x="0" y="21600"/>
                </a:cubicBezTo>
                <a:lnTo>
                  <a:pt x="0" y="0"/>
                </a:lnTo>
                <a:close/>
              </a:path>
            </a:pathLst>
          </a:custGeom>
          <a:noFill/>
          <a:ln w="12700" cap="rnd">
            <a:solidFill>
              <a:schemeClr val="tx1"/>
            </a:solidFill>
            <a:round/>
            <a:headEnd/>
            <a:tailEnd/>
          </a:ln>
          <a:effectLst/>
        </p:spPr>
        <p:txBody>
          <a:bodyPr wrap="none" anchor="ctr"/>
          <a:lstStyle/>
          <a:p>
            <a:endParaRPr lang="en-US"/>
          </a:p>
        </p:txBody>
      </p:sp>
      <p:sp>
        <p:nvSpPr>
          <p:cNvPr id="1000457" name="Arc 9"/>
          <p:cNvSpPr>
            <a:spLocks/>
          </p:cNvSpPr>
          <p:nvPr/>
        </p:nvSpPr>
        <p:spPr bwMode="auto">
          <a:xfrm>
            <a:off x="3200400" y="3028950"/>
            <a:ext cx="1346200" cy="1460500"/>
          </a:xfrm>
          <a:custGeom>
            <a:avLst/>
            <a:gdLst>
              <a:gd name="G0" fmla="+- 0 0 0"/>
              <a:gd name="G1" fmla="+- 0 0 0"/>
              <a:gd name="G2" fmla="+- 21600 0 0"/>
              <a:gd name="T0" fmla="*/ 21600 w 21600"/>
              <a:gd name="T1" fmla="*/ 24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599" y="23"/>
                </a:moveTo>
                <a:cubicBezTo>
                  <a:pt x="21586" y="11943"/>
                  <a:pt x="11919" y="21599"/>
                  <a:pt x="0" y="21600"/>
                </a:cubicBezTo>
              </a:path>
              <a:path w="21600" h="21600" stroke="0" extrusionOk="0">
                <a:moveTo>
                  <a:pt x="21599" y="23"/>
                </a:moveTo>
                <a:cubicBezTo>
                  <a:pt x="21586" y="11943"/>
                  <a:pt x="11919" y="21599"/>
                  <a:pt x="0" y="21600"/>
                </a:cubicBezTo>
                <a:lnTo>
                  <a:pt x="0" y="0"/>
                </a:lnTo>
                <a:close/>
              </a:path>
            </a:pathLst>
          </a:custGeom>
          <a:noFill/>
          <a:ln w="12700" cap="rnd">
            <a:solidFill>
              <a:schemeClr val="tx1"/>
            </a:solidFill>
            <a:round/>
            <a:headEnd/>
            <a:tailEnd/>
          </a:ln>
          <a:effectLst/>
        </p:spPr>
        <p:txBody>
          <a:bodyPr wrap="none" anchor="ctr"/>
          <a:lstStyle/>
          <a:p>
            <a:endParaRPr lang="en-US"/>
          </a:p>
        </p:txBody>
      </p:sp>
      <p:sp>
        <p:nvSpPr>
          <p:cNvPr id="1000458" name="Arc 10"/>
          <p:cNvSpPr>
            <a:spLocks/>
          </p:cNvSpPr>
          <p:nvPr/>
        </p:nvSpPr>
        <p:spPr bwMode="auto">
          <a:xfrm>
            <a:off x="3276600" y="2990850"/>
            <a:ext cx="1327150" cy="1479550"/>
          </a:xfrm>
          <a:custGeom>
            <a:avLst/>
            <a:gdLst>
              <a:gd name="G0" fmla="+- 0 0 0"/>
              <a:gd name="G1" fmla="+- 0 0 0"/>
              <a:gd name="G2" fmla="+- 21600 0 0"/>
              <a:gd name="T0" fmla="*/ 21600 w 21600"/>
              <a:gd name="T1" fmla="*/ 23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599" y="22"/>
                </a:moveTo>
                <a:cubicBezTo>
                  <a:pt x="21587" y="11943"/>
                  <a:pt x="11920" y="21599"/>
                  <a:pt x="0" y="21600"/>
                </a:cubicBezTo>
              </a:path>
              <a:path w="21600" h="21600" stroke="0" extrusionOk="0">
                <a:moveTo>
                  <a:pt x="21599" y="22"/>
                </a:moveTo>
                <a:cubicBezTo>
                  <a:pt x="21587" y="11943"/>
                  <a:pt x="11920" y="21599"/>
                  <a:pt x="0" y="21600"/>
                </a:cubicBezTo>
                <a:lnTo>
                  <a:pt x="0" y="0"/>
                </a:lnTo>
                <a:close/>
              </a:path>
            </a:pathLst>
          </a:custGeom>
          <a:noFill/>
          <a:ln w="12700" cap="rnd">
            <a:solidFill>
              <a:schemeClr val="tx1"/>
            </a:solidFill>
            <a:round/>
            <a:headEnd/>
            <a:tailEnd/>
          </a:ln>
          <a:effectLst/>
        </p:spPr>
        <p:txBody>
          <a:bodyPr wrap="none" anchor="ctr"/>
          <a:lstStyle/>
          <a:p>
            <a:endParaRPr lang="en-US"/>
          </a:p>
        </p:txBody>
      </p:sp>
      <p:sp>
        <p:nvSpPr>
          <p:cNvPr id="1000459" name="Line 11"/>
          <p:cNvSpPr>
            <a:spLocks noChangeShapeType="1"/>
          </p:cNvSpPr>
          <p:nvPr/>
        </p:nvSpPr>
        <p:spPr bwMode="auto">
          <a:xfrm flipH="1">
            <a:off x="2586038" y="4333875"/>
            <a:ext cx="630237" cy="0"/>
          </a:xfrm>
          <a:prstGeom prst="line">
            <a:avLst/>
          </a:prstGeom>
          <a:noFill/>
          <a:ln w="12700">
            <a:solidFill>
              <a:schemeClr val="tx1"/>
            </a:solidFill>
            <a:round/>
            <a:headEnd/>
            <a:tailEnd/>
          </a:ln>
          <a:effectLst/>
        </p:spPr>
        <p:txBody>
          <a:bodyPr wrap="none" anchor="ctr"/>
          <a:lstStyle/>
          <a:p>
            <a:endParaRPr lang="en-US"/>
          </a:p>
        </p:txBody>
      </p:sp>
      <p:sp>
        <p:nvSpPr>
          <p:cNvPr id="1000460" name="Line 12"/>
          <p:cNvSpPr>
            <a:spLocks noChangeShapeType="1"/>
          </p:cNvSpPr>
          <p:nvPr/>
        </p:nvSpPr>
        <p:spPr bwMode="auto">
          <a:xfrm flipH="1">
            <a:off x="2586038" y="4629150"/>
            <a:ext cx="630237" cy="0"/>
          </a:xfrm>
          <a:prstGeom prst="line">
            <a:avLst/>
          </a:prstGeom>
          <a:noFill/>
          <a:ln w="12700">
            <a:solidFill>
              <a:schemeClr val="tx1"/>
            </a:solidFill>
            <a:round/>
            <a:headEnd/>
            <a:tailEnd/>
          </a:ln>
          <a:effectLst/>
        </p:spPr>
        <p:txBody>
          <a:bodyPr wrap="none" anchor="ctr"/>
          <a:lstStyle/>
          <a:p>
            <a:endParaRPr lang="en-US"/>
          </a:p>
        </p:txBody>
      </p:sp>
      <p:sp>
        <p:nvSpPr>
          <p:cNvPr id="1000461" name="Oval 13"/>
          <p:cNvSpPr>
            <a:spLocks noChangeArrowheads="1"/>
          </p:cNvSpPr>
          <p:nvPr/>
        </p:nvSpPr>
        <p:spPr bwMode="auto">
          <a:xfrm>
            <a:off x="4283075" y="3378200"/>
            <a:ext cx="177800" cy="139700"/>
          </a:xfrm>
          <a:prstGeom prst="ellipse">
            <a:avLst/>
          </a:prstGeom>
          <a:noFill/>
          <a:ln w="12700">
            <a:solidFill>
              <a:schemeClr val="tx1"/>
            </a:solidFill>
            <a:round/>
            <a:headEnd/>
            <a:tailEnd/>
          </a:ln>
          <a:effectLst/>
        </p:spPr>
        <p:txBody>
          <a:bodyPr wrap="none" anchor="ctr"/>
          <a:lstStyle/>
          <a:p>
            <a:endParaRPr lang="en-US"/>
          </a:p>
        </p:txBody>
      </p:sp>
      <p:sp>
        <p:nvSpPr>
          <p:cNvPr id="1000462" name="Line 14"/>
          <p:cNvSpPr>
            <a:spLocks noChangeShapeType="1"/>
          </p:cNvSpPr>
          <p:nvPr/>
        </p:nvSpPr>
        <p:spPr bwMode="auto">
          <a:xfrm flipH="1" flipV="1">
            <a:off x="2332038" y="3074988"/>
            <a:ext cx="1966912" cy="385762"/>
          </a:xfrm>
          <a:prstGeom prst="line">
            <a:avLst/>
          </a:prstGeom>
          <a:noFill/>
          <a:ln w="25400">
            <a:solidFill>
              <a:schemeClr val="tx1"/>
            </a:solidFill>
            <a:round/>
            <a:headEnd/>
            <a:tailEnd/>
          </a:ln>
          <a:effectLst/>
        </p:spPr>
        <p:txBody>
          <a:bodyPr wrap="none" anchor="ctr"/>
          <a:lstStyle/>
          <a:p>
            <a:endParaRPr lang="en-US"/>
          </a:p>
        </p:txBody>
      </p:sp>
      <p:sp>
        <p:nvSpPr>
          <p:cNvPr id="1000463" name="Rectangle 15"/>
          <p:cNvSpPr>
            <a:spLocks noChangeArrowheads="1"/>
          </p:cNvSpPr>
          <p:nvPr/>
        </p:nvSpPr>
        <p:spPr bwMode="auto">
          <a:xfrm>
            <a:off x="1870075" y="2819400"/>
            <a:ext cx="1308100" cy="333375"/>
          </a:xfrm>
          <a:prstGeom prst="rect">
            <a:avLst/>
          </a:prstGeom>
          <a:noFill/>
          <a:ln w="12700">
            <a:noFill/>
            <a:miter lim="800000"/>
            <a:headEnd/>
            <a:tailEnd/>
          </a:ln>
          <a:effectLst/>
        </p:spPr>
        <p:txBody>
          <a:bodyPr wrap="none" lIns="90488" tIns="44450" rIns="90488" bIns="44450">
            <a:spAutoFit/>
          </a:bodyPr>
          <a:lstStyle/>
          <a:p>
            <a:r>
              <a:rPr lang="en-US" sz="1600"/>
              <a:t>current clamp</a:t>
            </a:r>
          </a:p>
        </p:txBody>
      </p:sp>
      <p:sp>
        <p:nvSpPr>
          <p:cNvPr id="1000464" name="Rectangle 16"/>
          <p:cNvSpPr>
            <a:spLocks noChangeArrowheads="1"/>
          </p:cNvSpPr>
          <p:nvPr/>
        </p:nvSpPr>
        <p:spPr bwMode="auto">
          <a:xfrm>
            <a:off x="1981200" y="1066800"/>
            <a:ext cx="4583113" cy="454025"/>
          </a:xfrm>
          <a:prstGeom prst="rect">
            <a:avLst/>
          </a:prstGeom>
          <a:noFill/>
          <a:ln w="12700">
            <a:noFill/>
            <a:miter lim="800000"/>
            <a:headEnd/>
            <a:tailEnd/>
          </a:ln>
          <a:effectLst/>
        </p:spPr>
        <p:txBody>
          <a:bodyPr lIns="90488" tIns="44450" rIns="90488" bIns="44450">
            <a:spAutoFit/>
          </a:bodyPr>
          <a:lstStyle/>
          <a:p>
            <a:r>
              <a:rPr lang="en-US"/>
              <a:t>Frequency analysis of input current</a:t>
            </a:r>
          </a:p>
        </p:txBody>
      </p:sp>
      <p:sp>
        <p:nvSpPr>
          <p:cNvPr id="1000465" name="Rectangle 17"/>
          <p:cNvSpPr>
            <a:spLocks noChangeArrowheads="1"/>
          </p:cNvSpPr>
          <p:nvPr/>
        </p:nvSpPr>
        <p:spPr bwMode="auto">
          <a:xfrm>
            <a:off x="3124200" y="1657350"/>
            <a:ext cx="2876550" cy="438150"/>
          </a:xfrm>
          <a:prstGeom prst="rect">
            <a:avLst/>
          </a:prstGeom>
          <a:solidFill>
            <a:schemeClr val="folHlink"/>
          </a:solidFill>
          <a:ln w="12700">
            <a:noFill/>
            <a:miter lim="800000"/>
            <a:headEnd/>
            <a:tailEnd/>
          </a:ln>
          <a:effectLst/>
        </p:spPr>
        <p:txBody>
          <a:bodyPr wrap="none" anchor="ctr"/>
          <a:lstStyle/>
          <a:p>
            <a:endParaRPr lang="en-US"/>
          </a:p>
        </p:txBody>
      </p:sp>
      <p:sp>
        <p:nvSpPr>
          <p:cNvPr id="1000466" name="Rectangle 18"/>
          <p:cNvSpPr>
            <a:spLocks noChangeArrowheads="1"/>
          </p:cNvSpPr>
          <p:nvPr/>
        </p:nvSpPr>
        <p:spPr bwMode="auto">
          <a:xfrm>
            <a:off x="3252788" y="306388"/>
            <a:ext cx="2622550" cy="698500"/>
          </a:xfrm>
          <a:prstGeom prst="rect">
            <a:avLst/>
          </a:prstGeom>
          <a:noFill/>
          <a:ln w="12700">
            <a:noFill/>
            <a:miter lim="800000"/>
            <a:headEnd/>
            <a:tailEnd/>
          </a:ln>
          <a:effectLst/>
        </p:spPr>
        <p:txBody>
          <a:bodyPr wrap="none" lIns="90488" tIns="44450" rIns="90488" bIns="44450">
            <a:spAutoFit/>
          </a:bodyPr>
          <a:lstStyle/>
          <a:p>
            <a:pPr algn="ctr"/>
            <a:r>
              <a:rPr lang="en-US" sz="4000" b="1"/>
              <a:t>AC Motors</a:t>
            </a:r>
          </a:p>
        </p:txBody>
      </p:sp>
    </p:spTree>
  </p:cSld>
  <p:clrMapOvr>
    <a:masterClrMapping/>
  </p:clrMapOvr>
  <p:transition spd="me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474" name="Rectangle 2"/>
          <p:cNvSpPr>
            <a:spLocks noGrp="1" noChangeArrowheads="1"/>
          </p:cNvSpPr>
          <p:nvPr>
            <p:ph type="title" idx="4294967295"/>
          </p:nvPr>
        </p:nvSpPr>
        <p:spPr>
          <a:xfrm>
            <a:off x="685800" y="2819400"/>
            <a:ext cx="7772400" cy="1143000"/>
          </a:xfrm>
        </p:spPr>
        <p:txBody>
          <a:bodyPr/>
          <a:lstStyle/>
          <a:p>
            <a:r>
              <a:rPr lang="en-US"/>
              <a:t>Resonance</a:t>
            </a:r>
          </a:p>
        </p:txBody>
      </p:sp>
    </p:spTree>
  </p:cSld>
  <p:clrMapOvr>
    <a:masterClrMapping/>
  </p:clrMapOvr>
  <p:transition spd="med"/>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2498" name="Rectangle 2"/>
          <p:cNvSpPr>
            <a:spLocks noGrp="1" noChangeArrowheads="1"/>
          </p:cNvSpPr>
          <p:nvPr>
            <p:ph type="title"/>
          </p:nvPr>
        </p:nvSpPr>
        <p:spPr>
          <a:xfrm>
            <a:off x="1252538" y="228600"/>
            <a:ext cx="6611937" cy="647700"/>
          </a:xfrm>
          <a:noFill/>
          <a:ln/>
          <a:effectLst>
            <a:outerShdw dist="35921" dir="2700000" algn="ctr" rotWithShape="0">
              <a:schemeClr val="hlink"/>
            </a:outerShdw>
          </a:effectLst>
        </p:spPr>
        <p:txBody>
          <a:bodyPr lIns="92075" tIns="46038" rIns="92075" bIns="46038" anchor="b"/>
          <a:lstStyle/>
          <a:p>
            <a:r>
              <a:rPr lang="en-US"/>
              <a:t>RESONANCE</a:t>
            </a:r>
          </a:p>
        </p:txBody>
      </p:sp>
      <p:sp>
        <p:nvSpPr>
          <p:cNvPr id="1002499" name="Rectangle 3"/>
          <p:cNvSpPr>
            <a:spLocks noGrp="1" noChangeArrowheads="1"/>
          </p:cNvSpPr>
          <p:nvPr>
            <p:ph type="body" idx="1"/>
          </p:nvPr>
        </p:nvSpPr>
        <p:spPr>
          <a:xfrm>
            <a:off x="1201738" y="3427413"/>
            <a:ext cx="6594475" cy="2238375"/>
          </a:xfrm>
          <a:noFill/>
          <a:ln/>
        </p:spPr>
        <p:txBody>
          <a:bodyPr lIns="92075" tIns="46038" rIns="92075" bIns="46038"/>
          <a:lstStyle/>
          <a:p>
            <a:r>
              <a:rPr lang="en-US" sz="2000"/>
              <a:t>Resonance occurs when the Forcing Frequency coincides with a Natural Frequency</a:t>
            </a:r>
          </a:p>
          <a:p>
            <a:r>
              <a:rPr lang="en-US" sz="2000"/>
              <a:t>180</a:t>
            </a:r>
            <a:r>
              <a:rPr lang="en-US" sz="2000" baseline="30000"/>
              <a:t>0 </a:t>
            </a:r>
            <a:r>
              <a:rPr lang="en-US" sz="2000"/>
              <a:t>phase change occurs when shaft speed passes through resonance</a:t>
            </a:r>
          </a:p>
          <a:p>
            <a:r>
              <a:rPr lang="en-US" sz="2000"/>
              <a:t>High amplitudes of vibration will be present when a system is in resonance</a:t>
            </a:r>
          </a:p>
        </p:txBody>
      </p:sp>
      <p:graphicFrame>
        <p:nvGraphicFramePr>
          <p:cNvPr id="1065984" name="Object 0"/>
          <p:cNvGraphicFramePr>
            <a:graphicFrameLocks/>
          </p:cNvGraphicFramePr>
          <p:nvPr/>
        </p:nvGraphicFramePr>
        <p:xfrm>
          <a:off x="428625" y="1066800"/>
          <a:ext cx="3611563" cy="2514600"/>
        </p:xfrm>
        <a:graphic>
          <a:graphicData uri="http://schemas.openxmlformats.org/presentationml/2006/ole">
            <mc:AlternateContent xmlns:mc="http://schemas.openxmlformats.org/markup-compatibility/2006">
              <mc:Choice xmlns:v="urn:schemas-microsoft-com:vml" Requires="v">
                <p:oleObj spid="_x0000_s1065988" name="Bitmap Image" r:id="rId4" imgW="3103941" imgH="1436575" progId="Paint.Picture">
                  <p:embed/>
                </p:oleObj>
              </mc:Choice>
              <mc:Fallback>
                <p:oleObj name="Bitmap Image" r:id="rId4" imgW="3103941" imgH="1436575" progId="Paint.Picture">
                  <p:embed/>
                  <p:pic>
                    <p:nvPicPr>
                      <p:cNvPr id="0" name="Picture 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625" y="1066800"/>
                        <a:ext cx="3611563"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65985" name="Object 1"/>
          <p:cNvGraphicFramePr>
            <a:graphicFrameLocks/>
          </p:cNvGraphicFramePr>
          <p:nvPr/>
        </p:nvGraphicFramePr>
        <p:xfrm>
          <a:off x="4879975" y="990600"/>
          <a:ext cx="3727450" cy="2590800"/>
        </p:xfrm>
        <a:graphic>
          <a:graphicData uri="http://schemas.openxmlformats.org/presentationml/2006/ole">
            <mc:AlternateContent xmlns:mc="http://schemas.openxmlformats.org/markup-compatibility/2006">
              <mc:Choice xmlns:v="urn:schemas-microsoft-com:vml" Requires="v">
                <p:oleObj spid="_x0000_s1065989" name="Bitmap Image" r:id="rId6" imgW="2331483" imgH="998152" progId="Paint.Picture">
                  <p:embed/>
                </p:oleObj>
              </mc:Choice>
              <mc:Fallback>
                <p:oleObj name="Bitmap Image" r:id="rId6" imgW="2331483" imgH="998152" progId="Paint.Picture">
                  <p:embed/>
                  <p:pic>
                    <p:nvPicPr>
                      <p:cNvPr id="0" name="Picture 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9975" y="990600"/>
                        <a:ext cx="372745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02499">
                                            <p:txEl>
                                              <p:pRg st="0" end="0"/>
                                            </p:txEl>
                                          </p:spTgt>
                                        </p:tgtEl>
                                        <p:attrNameLst>
                                          <p:attrName>style.visibility</p:attrName>
                                        </p:attrNameLst>
                                      </p:cBhvr>
                                      <p:to>
                                        <p:strVal val="visible"/>
                                      </p:to>
                                    </p:set>
                                    <p:animEffect transition="in" filter="wipe(left)">
                                      <p:cBhvr>
                                        <p:cTn id="7" dur="500"/>
                                        <p:tgtEl>
                                          <p:spTgt spid="1002499">
                                            <p:txEl>
                                              <p:pRg st="0" end="0"/>
                                            </p:txEl>
                                          </p:spTgt>
                                        </p:tgtEl>
                                      </p:cBhvr>
                                    </p:animEffect>
                                  </p:childTnLst>
                                  <p:subTnLst>
                                    <p:animClr clrSpc="rgb" dir="cw">
                                      <p:cBhvr override="childStyle">
                                        <p:cTn dur="1" fill="hold" display="0" masterRel="nextClick" afterEffect="1"/>
                                        <p:tgtEl>
                                          <p:spTgt spid="1002499">
                                            <p:txEl>
                                              <p:pRg st="0" end="0"/>
                                            </p:txEl>
                                          </p:spTgt>
                                        </p:tgtEl>
                                        <p:attrNameLst>
                                          <p:attrName>ppt_c</p:attrName>
                                        </p:attrNameLst>
                                      </p:cBhvr>
                                      <p:to>
                                        <a:srgbClr val="FAFD00"/>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2499">
                                            <p:txEl>
                                              <p:pRg st="1" end="1"/>
                                            </p:txEl>
                                          </p:spTgt>
                                        </p:tgtEl>
                                        <p:attrNameLst>
                                          <p:attrName>style.visibility</p:attrName>
                                        </p:attrNameLst>
                                      </p:cBhvr>
                                      <p:to>
                                        <p:strVal val="visible"/>
                                      </p:to>
                                    </p:set>
                                    <p:animEffect transition="in" filter="wipe(left)">
                                      <p:cBhvr>
                                        <p:cTn id="12" dur="500"/>
                                        <p:tgtEl>
                                          <p:spTgt spid="1002499">
                                            <p:txEl>
                                              <p:pRg st="1" end="1"/>
                                            </p:txEl>
                                          </p:spTgt>
                                        </p:tgtEl>
                                      </p:cBhvr>
                                    </p:animEffect>
                                  </p:childTnLst>
                                  <p:subTnLst>
                                    <p:animClr clrSpc="rgb" dir="cw">
                                      <p:cBhvr override="childStyle">
                                        <p:cTn dur="1" fill="hold" display="0" masterRel="nextClick" afterEffect="1"/>
                                        <p:tgtEl>
                                          <p:spTgt spid="1002499">
                                            <p:txEl>
                                              <p:pRg st="1" end="1"/>
                                            </p:txEl>
                                          </p:spTgt>
                                        </p:tgtEl>
                                        <p:attrNameLst>
                                          <p:attrName>ppt_c</p:attrName>
                                        </p:attrNameLst>
                                      </p:cBhvr>
                                      <p:to>
                                        <a:srgbClr val="FAFD00"/>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2499">
                                            <p:txEl>
                                              <p:pRg st="2" end="2"/>
                                            </p:txEl>
                                          </p:spTgt>
                                        </p:tgtEl>
                                        <p:attrNameLst>
                                          <p:attrName>style.visibility</p:attrName>
                                        </p:attrNameLst>
                                      </p:cBhvr>
                                      <p:to>
                                        <p:strVal val="visible"/>
                                      </p:to>
                                    </p:set>
                                    <p:animEffect transition="in" filter="wipe(left)">
                                      <p:cBhvr>
                                        <p:cTn id="17" dur="500"/>
                                        <p:tgtEl>
                                          <p:spTgt spid="1002499">
                                            <p:txEl>
                                              <p:pRg st="2" end="2"/>
                                            </p:txEl>
                                          </p:spTgt>
                                        </p:tgtEl>
                                      </p:cBhvr>
                                    </p:animEffect>
                                  </p:childTnLst>
                                  <p:subTnLst>
                                    <p:animClr clrSpc="rgb" dir="cw">
                                      <p:cBhvr override="childStyle">
                                        <p:cTn dur="1" fill="hold" display="0" masterRel="nextClick" afterEffect="1"/>
                                        <p:tgtEl>
                                          <p:spTgt spid="1002499">
                                            <p:txEl>
                                              <p:pRg st="2" end="2"/>
                                            </p:txEl>
                                          </p:spTgt>
                                        </p:tgtEl>
                                        <p:attrNameLst>
                                          <p:attrName>ppt_c</p:attrName>
                                        </p:attrNameLst>
                                      </p:cBhvr>
                                      <p:to>
                                        <a:srgbClr val="FAFD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499" grpId="0" build="p"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45506" name="Picture 2"/>
          <p:cNvPicPr>
            <a:picLocks noChangeAspect="1" noChangeArrowheads="1"/>
          </p:cNvPicPr>
          <p:nvPr/>
        </p:nvPicPr>
        <p:blipFill>
          <a:blip r:embed="rId2" cstate="print"/>
          <a:srcRect/>
          <a:stretch>
            <a:fillRect/>
          </a:stretch>
        </p:blipFill>
        <p:spPr bwMode="auto">
          <a:xfrm>
            <a:off x="-228600" y="-61913"/>
            <a:ext cx="9372600" cy="6919913"/>
          </a:xfrm>
          <a:prstGeom prst="rect">
            <a:avLst/>
          </a:prstGeom>
          <a:noFill/>
          <a:ln w="9525">
            <a:noFill/>
            <a:miter lim="800000"/>
            <a:headEnd/>
            <a:tailEnd/>
          </a:ln>
          <a:effectLst/>
        </p:spPr>
      </p:pic>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8098" name="Rectangle 2"/>
          <p:cNvSpPr>
            <a:spLocks noGrp="1" noChangeArrowheads="1"/>
          </p:cNvSpPr>
          <p:nvPr>
            <p:ph type="title"/>
          </p:nvPr>
        </p:nvSpPr>
        <p:spPr>
          <a:xfrm>
            <a:off x="1252538" y="228600"/>
            <a:ext cx="6611937" cy="647700"/>
          </a:xfrm>
          <a:ln/>
          <a:effectLst>
            <a:outerShdw dist="35921" dir="2700000" algn="ctr" rotWithShape="0">
              <a:schemeClr val="hlink"/>
            </a:outerShdw>
          </a:effectLst>
        </p:spPr>
        <p:txBody>
          <a:bodyPr lIns="92075" tIns="46038" rIns="92075" bIns="46038" anchor="b"/>
          <a:lstStyle/>
          <a:p>
            <a:endParaRPr lang="en-US"/>
          </a:p>
        </p:txBody>
      </p:sp>
      <p:sp>
        <p:nvSpPr>
          <p:cNvPr id="1028099" name="Rectangle 3"/>
          <p:cNvSpPr>
            <a:spLocks noGrp="1" noChangeArrowheads="1"/>
          </p:cNvSpPr>
          <p:nvPr>
            <p:ph type="body" idx="1"/>
          </p:nvPr>
        </p:nvSpPr>
        <p:spPr>
          <a:xfrm>
            <a:off x="1219200" y="1447800"/>
            <a:ext cx="6594475" cy="3048000"/>
          </a:xfrm>
          <a:noFill/>
          <a:ln/>
        </p:spPr>
        <p:txBody>
          <a:bodyPr lIns="92075" tIns="46038" rIns="92075" bIns="46038"/>
          <a:lstStyle/>
          <a:p>
            <a:pPr algn="ctr">
              <a:lnSpc>
                <a:spcPct val="120000"/>
              </a:lnSpc>
              <a:spcBef>
                <a:spcPct val="30000"/>
              </a:spcBef>
              <a:spcAft>
                <a:spcPct val="30000"/>
              </a:spcAft>
              <a:buFontTx/>
              <a:buNone/>
            </a:pPr>
            <a:r>
              <a:rPr lang="en-US" sz="3600"/>
              <a:t>IF YOUR ONLY TOOL IS A HAMMER, THEN EVERY OBJECT APPEARS TO BE A NAIL</a:t>
            </a:r>
            <a:r>
              <a:rPr lang="en-US" sz="240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8099">
                                            <p:txEl>
                                              <p:pRg st="0" end="0"/>
                                            </p:txEl>
                                          </p:spTgt>
                                        </p:tgtEl>
                                        <p:attrNameLst>
                                          <p:attrName>style.visibility</p:attrName>
                                        </p:attrNameLst>
                                      </p:cBhvr>
                                      <p:to>
                                        <p:strVal val="visible"/>
                                      </p:to>
                                    </p:set>
                                    <p:animEffect transition="in" filter="wipe(left)">
                                      <p:cBhvr>
                                        <p:cTn id="7" dur="500"/>
                                        <p:tgtEl>
                                          <p:spTgt spid="1028099">
                                            <p:txEl>
                                              <p:pRg st="0" end="0"/>
                                            </p:txEl>
                                          </p:spTgt>
                                        </p:tgtEl>
                                      </p:cBhvr>
                                    </p:animEffect>
                                  </p:childTnLst>
                                  <p:subTnLst>
                                    <p:animClr clrSpc="rgb" dir="cw">
                                      <p:cBhvr override="childStyle">
                                        <p:cTn dur="1" fill="hold" display="0" masterRel="nextClick" afterEffect="1"/>
                                        <p:tgtEl>
                                          <p:spTgt spid="1028099">
                                            <p:txEl>
                                              <p:pRg st="0" end="0"/>
                                            </p:txEl>
                                          </p:spTgt>
                                        </p:tgtEl>
                                        <p:attrNameLst>
                                          <p:attrName>ppt_c</p:attrName>
                                        </p:attrNameLst>
                                      </p:cBhvr>
                                      <p:to>
                                        <a:srgbClr val="FAFD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099" grpId="0" build="p" autoUpdateAnimBg="0"/>
    </p:bldLst>
  </p:timing>
</p:sld>
</file>

<file path=ppt/theme/theme1.xml><?xml version="1.0" encoding="utf-8"?>
<a:theme xmlns:a="http://schemas.openxmlformats.org/drawingml/2006/main" name="SKF RS temp USA">
  <a:themeElements>
    <a:clrScheme name="SKF RS temp US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KF RS temp USA">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SKF RS temp US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KF RS temp US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KF RS temp US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KF RS temp US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KF RS temp US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KF RS temp US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KF RS temp US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C:\Official\SKF RS temp USA.pot</Template>
  <TotalTime>13761</TotalTime>
  <Words>3377</Words>
  <Application>Microsoft Office PowerPoint</Application>
  <PresentationFormat>On-screen Show (4:3)</PresentationFormat>
  <Paragraphs>787</Paragraphs>
  <Slides>107</Slides>
  <Notes>30</Notes>
  <HiddenSlides>2</HiddenSlides>
  <MMClips>1</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6</vt:i4>
      </vt:variant>
      <vt:variant>
        <vt:lpstr>Slide Titles</vt:lpstr>
      </vt:variant>
      <vt:variant>
        <vt:i4>107</vt:i4>
      </vt:variant>
    </vt:vector>
  </HeadingPairs>
  <TitlesOfParts>
    <vt:vector size="126" baseType="lpstr">
      <vt:lpstr>Arial</vt:lpstr>
      <vt:lpstr>Arial Black</vt:lpstr>
      <vt:lpstr>Arial MT Black</vt:lpstr>
      <vt:lpstr>Avenir 35</vt:lpstr>
      <vt:lpstr>Book Antiqua</vt:lpstr>
      <vt:lpstr>Courier New</vt:lpstr>
      <vt:lpstr>Monotype Sorts</vt:lpstr>
      <vt:lpstr>Symbol</vt:lpstr>
      <vt:lpstr>Times New Roman</vt:lpstr>
      <vt:lpstr>Wingdings</vt:lpstr>
      <vt:lpstr>Wingdings 2</vt:lpstr>
      <vt:lpstr>ZapfDingbats BT</vt:lpstr>
      <vt:lpstr>SKF RS temp USA</vt:lpstr>
      <vt:lpstr>Bitmap Image</vt:lpstr>
      <vt:lpstr>Drawing</vt:lpstr>
      <vt:lpstr>Paint Shop Pro Image</vt:lpstr>
      <vt:lpstr>Equation</vt:lpstr>
      <vt:lpstr>Document</vt:lpstr>
      <vt:lpstr>Equation.2</vt:lpstr>
      <vt:lpstr>Vibration Analysis </vt:lpstr>
      <vt:lpstr>PowerPoint Presentation</vt:lpstr>
      <vt:lpstr>PowerPoint Presentation</vt:lpstr>
      <vt:lpstr>PowerPoint Presentation</vt:lpstr>
      <vt:lpstr>PowerPoint Presentation</vt:lpstr>
      <vt:lpstr>PowerPoint Presentation</vt:lpstr>
      <vt:lpstr>Time Waveform</vt:lpstr>
      <vt:lpstr>Frequency &amp; Amplitude</vt:lpstr>
      <vt:lpstr>Physical Significance Of  Vibration Characteristics</vt:lpstr>
      <vt:lpstr>PowerPoint Presentation</vt:lpstr>
      <vt:lpstr>Amplitude Measurement </vt:lpstr>
      <vt:lpstr>PowerPoint Presentation</vt:lpstr>
      <vt:lpstr>PowerPoint Presentation</vt:lpstr>
      <vt:lpstr>Physical Significance Of Vibration  Amplitude </vt:lpstr>
      <vt:lpstr>PowerPoint Presentation</vt:lpstr>
      <vt:lpstr>PowerPoint Presentation</vt:lpstr>
      <vt:lpstr>What Is The Advantage Of Using Velocity?</vt:lpstr>
      <vt:lpstr>Scales Of Amplitude </vt:lpstr>
      <vt:lpstr>Vibration Transducers</vt:lpstr>
      <vt:lpstr>Proximity Probe</vt:lpstr>
      <vt:lpstr>PowerPoint Presentation</vt:lpstr>
      <vt:lpstr>PowerPoint Presentation</vt:lpstr>
      <vt:lpstr>PowerPoint Presentation</vt:lpstr>
      <vt:lpstr>Accelerometer</vt:lpstr>
      <vt:lpstr>PowerPoint Presentation</vt:lpstr>
      <vt:lpstr>Time Waveform</vt:lpstr>
      <vt:lpstr>Time Waveform</vt:lpstr>
      <vt:lpstr>Time Waveform</vt:lpstr>
      <vt:lpstr>Time Waveform</vt:lpstr>
      <vt:lpstr>Time Waveform</vt:lpstr>
      <vt:lpstr>Time Waveform</vt:lpstr>
      <vt:lpstr>Signal Acquisition</vt:lpstr>
      <vt:lpstr>FFT SPECTRUM  A calculation method of converting a time waveform to a frequency display that shows the relationship of discrete frequencies and their amplitudes</vt:lpstr>
      <vt:lpstr>Frequency Domain</vt:lpstr>
      <vt:lpstr>FFT Signal Processing</vt:lpstr>
      <vt:lpstr>Frequency Domain</vt:lpstr>
      <vt:lpstr>A Typical FFT Spectrum</vt:lpstr>
      <vt:lpstr>A Typical FFT Spectrum</vt:lpstr>
      <vt:lpstr>Phase</vt:lpstr>
      <vt:lpstr>What Is Phase?</vt:lpstr>
      <vt:lpstr>Importance Of Phase</vt:lpstr>
      <vt:lpstr>How Phase Angle Is Measured?</vt:lpstr>
      <vt:lpstr>PowerPoint Presentation</vt:lpstr>
      <vt:lpstr>Diagnosing Machine Faults</vt:lpstr>
      <vt:lpstr>Unbalance</vt:lpstr>
      <vt:lpstr>What is unbalance?</vt:lpstr>
      <vt:lpstr>Causes of unbalance</vt:lpstr>
      <vt:lpstr>Characteristics of unbalance</vt:lpstr>
      <vt:lpstr>Unbalance</vt:lpstr>
      <vt:lpstr>Unbalance</vt:lpstr>
      <vt:lpstr>What is Misalignment?</vt:lpstr>
      <vt:lpstr>PowerPoint Presentation</vt:lpstr>
      <vt:lpstr>Types of Misalignment</vt:lpstr>
      <vt:lpstr>Misalignment</vt:lpstr>
      <vt:lpstr>PowerPoint Presentation</vt:lpstr>
      <vt:lpstr>Misalignment</vt:lpstr>
      <vt:lpstr>Misalignment</vt:lpstr>
      <vt:lpstr>Mechanical   Looseness</vt:lpstr>
      <vt:lpstr>Causes</vt:lpstr>
      <vt:lpstr>Types of Looseness</vt:lpstr>
      <vt:lpstr>Characteristics of Looseness</vt:lpstr>
      <vt:lpstr>Mechanical Looseness</vt:lpstr>
      <vt:lpstr>Mechanical Looseness</vt:lpstr>
      <vt:lpstr>Rolling  Element Bearing</vt:lpstr>
      <vt:lpstr>PowerPoint Presentation</vt:lpstr>
      <vt:lpstr>PowerPoint Presentation</vt:lpstr>
      <vt:lpstr>PowerPoint Presentation</vt:lpstr>
      <vt:lpstr>Why Does Bearing Fail?</vt:lpstr>
      <vt:lpstr>Bearing Failure Stages</vt:lpstr>
      <vt:lpstr>Stage - 2</vt:lpstr>
      <vt:lpstr>Stage - 3</vt:lpstr>
      <vt:lpstr>Stage - 4</vt:lpstr>
      <vt:lpstr>PowerPoint Presentation</vt:lpstr>
      <vt:lpstr>PowerPoint Presentation</vt:lpstr>
      <vt:lpstr>Anti-friction Bearing Faults</vt:lpstr>
      <vt:lpstr>Envelope Detection</vt:lpstr>
      <vt:lpstr>Gear Box</vt:lpstr>
      <vt:lpstr>PowerPoint Presentation</vt:lpstr>
      <vt:lpstr>Gear Box Defects</vt:lpstr>
      <vt:lpstr>PowerPoint Presentation</vt:lpstr>
      <vt:lpstr>Normal Spectrum</vt:lpstr>
      <vt:lpstr>Tooth Wear</vt:lpstr>
      <vt:lpstr>Gear Eccentricity &amp; Backlash</vt:lpstr>
      <vt:lpstr>Gear Misalignment</vt:lpstr>
      <vt:lpstr>Cracked / Broken Tooth</vt:lpstr>
      <vt:lpstr>Hunting Tooth</vt:lpstr>
      <vt:lpstr>PowerPoint Presentation</vt:lpstr>
      <vt:lpstr>PowerPoint Presentation</vt:lpstr>
      <vt:lpstr>PowerPoint Presentation</vt:lpstr>
      <vt:lpstr>PowerPoint Presentation</vt:lpstr>
      <vt:lpstr>Electrical Motors</vt:lpstr>
      <vt:lpstr>PowerPoint Presentation</vt:lpstr>
      <vt:lpstr>PowerPoint Presentation</vt:lpstr>
      <vt:lpstr>PowerPoint Presentation</vt:lpstr>
      <vt:lpstr>PowerPoint Presentation</vt:lpstr>
      <vt:lpstr>ELECTRICAL  PROBLEMS</vt:lpstr>
      <vt:lpstr>FREQUENCIES PRODUCED BY ELECTRICAL MOTORS.</vt:lpstr>
      <vt:lpstr>ELECTRICAL  PROBLEMS</vt:lpstr>
      <vt:lpstr>ELECTRICAL  PROBLEMS</vt:lpstr>
      <vt:lpstr>ELECTRICAL  PROBLEMS</vt:lpstr>
      <vt:lpstr>ELECTRICAL  PROBLEMS</vt:lpstr>
      <vt:lpstr>ELECTRICAL  PROBLEMS</vt:lpstr>
      <vt:lpstr>PowerPoint Presentation</vt:lpstr>
      <vt:lpstr>Resonance</vt:lpstr>
      <vt:lpstr>RESONANCE</vt:lpstr>
      <vt:lpstr>PowerPoint Presentation</vt:lpstr>
      <vt:lpstr>PowerPoint Presentation</vt:lpstr>
    </vt:vector>
  </TitlesOfParts>
  <Company>SKF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SKF492E</dc:title>
  <dc:subject>Company Presentation</dc:subject>
  <dc:creator>Vinay M Shenwai (   विनय मदन शेनवाइ )</dc:creator>
  <cp:keywords>AB Diagraf</cp:keywords>
  <dc:description>Project Managers: anders.belin@diagraf.se, inger.cramer@diagraf.se_x000d_
Graphic Design: roland.williams@diagraf.se, liz.johansson@diagraf.se</dc:description>
  <cp:lastModifiedBy>Vinay Shenwai</cp:lastModifiedBy>
  <cp:revision>367</cp:revision>
  <cp:lastPrinted>2000-01-10T14:06:29Z</cp:lastPrinted>
  <dcterms:created xsi:type="dcterms:W3CDTF">1999-09-17T13:04:44Z</dcterms:created>
  <dcterms:modified xsi:type="dcterms:W3CDTF">2026-04-01T11:50:09Z</dcterms:modified>
</cp:coreProperties>
</file>